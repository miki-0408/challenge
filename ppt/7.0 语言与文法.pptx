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32"/>
  </p:notesMasterIdLst>
  <p:handoutMasterIdLst>
    <p:handoutMasterId r:id="rId33"/>
  </p:handoutMasterIdLst>
  <p:sldIdLst>
    <p:sldId id="257" r:id="rId2"/>
    <p:sldId id="262" r:id="rId3"/>
    <p:sldId id="263" r:id="rId4"/>
    <p:sldId id="264" r:id="rId5"/>
    <p:sldId id="265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304" r:id="rId14"/>
    <p:sldId id="305" r:id="rId15"/>
    <p:sldId id="309" r:id="rId16"/>
    <p:sldId id="276" r:id="rId17"/>
    <p:sldId id="307" r:id="rId18"/>
    <p:sldId id="275" r:id="rId19"/>
    <p:sldId id="295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7" r:id="rId28"/>
    <p:sldId id="302" r:id="rId29"/>
    <p:sldId id="301" r:id="rId30"/>
    <p:sldId id="303" r:id="rId3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FFFF00"/>
    <a:srgbClr val="00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3066" autoAdjust="0"/>
  </p:normalViewPr>
  <p:slideViewPr>
    <p:cSldViewPr>
      <p:cViewPr varScale="1">
        <p:scale>
          <a:sx n="83" d="100"/>
          <a:sy n="83" d="100"/>
        </p:scale>
        <p:origin x="76" y="2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14" d="100"/>
          <a:sy n="114" d="100"/>
        </p:scale>
        <p:origin x="273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2398" y="1905000"/>
            <a:ext cx="6815669" cy="1481666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295402" y="1524001"/>
            <a:ext cx="9601196" cy="4495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1295402" y="609600"/>
            <a:ext cx="9601196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295402" y="1524001"/>
            <a:ext cx="4754880" cy="4495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1295402" y="609600"/>
            <a:ext cx="9601196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/>
          </p:nvPr>
        </p:nvSpPr>
        <p:spPr>
          <a:xfrm>
            <a:off x="6141720" y="1524001"/>
            <a:ext cx="4754878" cy="4495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2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24600"/>
            <a:ext cx="2844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E42F5C2-5D40-40E0-A627-C2C5FC2FD3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30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609600"/>
            <a:ext cx="9601196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1524001"/>
            <a:ext cx="9601196" cy="4495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5" name="Straight Connector 6"/>
          <p:cNvCxnSpPr/>
          <p:nvPr userDrawn="1"/>
        </p:nvCxnSpPr>
        <p:spPr>
          <a:xfrm>
            <a:off x="1396169" y="1447800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5" r:id="rId3"/>
    <p:sldLayoutId id="2147484306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电子科技大学</a:t>
            </a:r>
          </a:p>
          <a:p>
            <a:r>
              <a:rPr lang="zh-CN" altLang="en-US" sz="2000" dirty="0"/>
              <a:t>计算机科学与工程学院</a:t>
            </a:r>
          </a:p>
          <a:p>
            <a:r>
              <a:rPr lang="zh-CN" altLang="en-US" sz="2000" dirty="0"/>
              <a:t>余盛季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6000" dirty="0"/>
              <a:t>文法与语言</a:t>
            </a:r>
          </a:p>
        </p:txBody>
      </p:sp>
    </p:spTree>
    <p:extLst>
      <p:ext uri="{BB962C8B-B14F-4D97-AF65-F5344CB8AC3E}">
        <p14:creationId xmlns:p14="http://schemas.microsoft.com/office/powerpoint/2010/main" val="234608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文法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3200" b="1" dirty="0">
                <a:solidFill>
                  <a:srgbClr val="0000FF"/>
                </a:solidFill>
              </a:rPr>
              <a:t>文法</a:t>
            </a:r>
            <a:r>
              <a:rPr lang="en-US" altLang="zh-CN" sz="3200" b="1" dirty="0">
                <a:solidFill>
                  <a:srgbClr val="0000FF"/>
                </a:solidFill>
              </a:rPr>
              <a:t>G</a:t>
            </a:r>
            <a:r>
              <a:rPr lang="zh-CN" altLang="en-US" dirty="0"/>
              <a:t>定义成一个四元式：</a:t>
            </a:r>
            <a:endParaRPr lang="en-US" altLang="zh-CN" dirty="0"/>
          </a:p>
          <a:p>
            <a:pPr algn="just"/>
            <a:r>
              <a:rPr lang="en-US" altLang="zh-CN" dirty="0"/>
              <a:t>G = ( V</a:t>
            </a:r>
            <a:r>
              <a:rPr lang="en-US" altLang="zh-CN" baseline="-25000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P )</a:t>
            </a:r>
          </a:p>
          <a:p>
            <a:pPr algn="just"/>
            <a:r>
              <a:rPr lang="en-US" altLang="zh-CN" dirty="0"/>
              <a:t>V</a:t>
            </a:r>
            <a:r>
              <a:rPr lang="en-US" altLang="zh-CN" baseline="-25000" dirty="0"/>
              <a:t>T  </a:t>
            </a:r>
            <a:r>
              <a:rPr lang="zh-CN" altLang="en-US" dirty="0"/>
              <a:t>是</a:t>
            </a:r>
            <a:r>
              <a:rPr lang="zh-CN" altLang="en-US" sz="3200" b="1" dirty="0">
                <a:solidFill>
                  <a:srgbClr val="0000FF"/>
                </a:solidFill>
              </a:rPr>
              <a:t>终结符</a:t>
            </a:r>
            <a:r>
              <a:rPr lang="zh-CN" altLang="en-US" dirty="0"/>
              <a:t>的非空有限集；</a:t>
            </a:r>
          </a:p>
          <a:p>
            <a:pPr algn="just"/>
            <a:r>
              <a:rPr lang="en-US" altLang="zh-CN" dirty="0"/>
              <a:t>V</a:t>
            </a:r>
            <a:r>
              <a:rPr lang="en-US" altLang="zh-CN" baseline="-25000" dirty="0"/>
              <a:t>N  </a:t>
            </a:r>
            <a:r>
              <a:rPr lang="zh-CN" altLang="en-US" dirty="0"/>
              <a:t>是</a:t>
            </a:r>
            <a:r>
              <a:rPr lang="zh-CN" altLang="en-US" sz="3200" b="1" dirty="0">
                <a:solidFill>
                  <a:srgbClr val="0000FF"/>
                </a:solidFill>
              </a:rPr>
              <a:t>非终结符</a:t>
            </a:r>
            <a:r>
              <a:rPr lang="zh-CN" altLang="en-US" dirty="0"/>
              <a:t>的非空有限集； </a:t>
            </a:r>
          </a:p>
          <a:p>
            <a:pPr algn="just"/>
            <a:r>
              <a:rPr lang="en-US" altLang="zh-CN" dirty="0"/>
              <a:t>S</a:t>
            </a:r>
            <a:r>
              <a:rPr lang="zh-CN" altLang="en-US" dirty="0"/>
              <a:t>  是文法的</a:t>
            </a:r>
            <a:r>
              <a:rPr lang="zh-CN" altLang="en-US" sz="3200" b="1" dirty="0">
                <a:solidFill>
                  <a:srgbClr val="0000FF"/>
                </a:solidFill>
              </a:rPr>
              <a:t>开始符</a:t>
            </a:r>
            <a:r>
              <a:rPr lang="zh-CN" altLang="en-US" dirty="0"/>
              <a:t>， </a:t>
            </a:r>
            <a:r>
              <a:rPr lang="en-US" altLang="zh-CN" dirty="0"/>
              <a:t>S ∈ V</a:t>
            </a:r>
            <a:r>
              <a:rPr lang="en-US" altLang="zh-CN" baseline="-25000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</a:p>
          <a:p>
            <a:pPr algn="just"/>
            <a:r>
              <a:rPr lang="en-GB" altLang="zh-CN" dirty="0"/>
              <a:t>P  </a:t>
            </a:r>
            <a:r>
              <a:rPr lang="zh-CN" altLang="en-US" dirty="0"/>
              <a:t>是</a:t>
            </a:r>
            <a:r>
              <a:rPr lang="zh-CN" altLang="en-GB" sz="3200" b="1" dirty="0">
                <a:solidFill>
                  <a:srgbClr val="0000FF"/>
                </a:solidFill>
              </a:rPr>
              <a:t>产生式</a:t>
            </a:r>
            <a:r>
              <a:rPr lang="zh-CN" altLang="en-GB" dirty="0"/>
              <a:t>的非空有限集。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89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产生式</a:t>
            </a:r>
            <a:endParaRPr lang="en-US" dirty="0"/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GB" dirty="0"/>
              <a:t>产生式是一个有序偶对</a:t>
            </a:r>
            <a:r>
              <a:rPr lang="en-GB" altLang="zh-CN" dirty="0"/>
              <a:t>(</a:t>
            </a:r>
            <a:r>
              <a:rPr lang="en-US" altLang="zh-CN" dirty="0">
                <a:sym typeface="Symbol" pitchFamily="18" charset="2"/>
              </a:rPr>
              <a:t></a:t>
            </a:r>
            <a:r>
              <a:rPr lang="zh-CN" altLang="en-US" dirty="0"/>
              <a:t>，</a:t>
            </a:r>
            <a:r>
              <a:rPr lang="zh-CN" altLang="en-US" dirty="0">
                <a:sym typeface="Symbol" pitchFamily="18" charset="2"/>
              </a:rPr>
              <a:t>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zh-CN" altLang="en-US" dirty="0">
                <a:sym typeface="Symbol" pitchFamily="18" charset="2"/>
              </a:rPr>
              <a:t>记为：</a:t>
            </a:r>
          </a:p>
          <a:p>
            <a:pPr algn="just">
              <a:lnSpc>
                <a:spcPct val="90000"/>
              </a:lnSpc>
            </a:pPr>
            <a:r>
              <a:rPr lang="zh-CN" altLang="en-US" dirty="0">
                <a:sym typeface="Symbol" pitchFamily="18" charset="2"/>
              </a:rPr>
              <a:t></a:t>
            </a:r>
            <a:r>
              <a:rPr lang="zh-CN" altLang="en-US" dirty="0"/>
              <a:t>→</a:t>
            </a:r>
            <a:r>
              <a:rPr lang="zh-CN" altLang="en-US" dirty="0">
                <a:sym typeface="Symbol" pitchFamily="18" charset="2"/>
              </a:rPr>
              <a:t></a:t>
            </a:r>
            <a:endParaRPr lang="en-US" altLang="zh-CN" dirty="0">
              <a:sym typeface="Symbol" pitchFamily="18" charset="2"/>
            </a:endParaRPr>
          </a:p>
          <a:p>
            <a:pPr algn="just">
              <a:lnSpc>
                <a:spcPct val="90000"/>
              </a:lnSpc>
            </a:pPr>
            <a:endParaRPr lang="zh-CN" altLang="en-US" dirty="0"/>
          </a:p>
          <a:p>
            <a:pPr algn="just">
              <a:lnSpc>
                <a:spcPct val="90000"/>
              </a:lnSpc>
            </a:pPr>
            <a:r>
              <a:rPr lang="zh-CN" altLang="en-US" dirty="0">
                <a:sym typeface="Symbol" pitchFamily="18" charset="2"/>
              </a:rPr>
              <a:t>是</a:t>
            </a:r>
            <a:r>
              <a:rPr lang="zh-CN" altLang="en-US" dirty="0"/>
              <a:t>至少包含一个</a:t>
            </a:r>
            <a:r>
              <a:rPr lang="zh-CN" altLang="en-US" sz="3200" b="1" dirty="0">
                <a:solidFill>
                  <a:srgbClr val="0000FF"/>
                </a:solidFill>
              </a:rPr>
              <a:t>非终结符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0000FF"/>
                </a:solidFill>
              </a:rPr>
              <a:t>符号串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>
              <a:lnSpc>
                <a:spcPct val="90000"/>
              </a:lnSpc>
            </a:pPr>
            <a:r>
              <a:rPr lang="en-US" altLang="zh-CN" dirty="0">
                <a:sym typeface="Symbol" pitchFamily="18" charset="2"/>
              </a:rPr>
              <a:t></a:t>
            </a:r>
            <a:r>
              <a:rPr lang="zh-CN" altLang="en-US" dirty="0">
                <a:sym typeface="Symbol" pitchFamily="18" charset="2"/>
              </a:rPr>
              <a:t>是任意</a:t>
            </a:r>
            <a:r>
              <a:rPr lang="zh-CN" altLang="en-US" sz="3200" b="1" dirty="0">
                <a:solidFill>
                  <a:srgbClr val="0000FF"/>
                </a:solidFill>
                <a:sym typeface="Symbol" pitchFamily="18" charset="2"/>
              </a:rPr>
              <a:t>符号</a:t>
            </a:r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/>
              <a:t>V = V</a:t>
            </a:r>
            <a:r>
              <a:rPr lang="en-US" altLang="zh-CN" baseline="-25000" dirty="0"/>
              <a:t>T </a:t>
            </a:r>
            <a:r>
              <a:rPr lang="en-US" altLang="zh-CN" dirty="0"/>
              <a:t>∪ V</a:t>
            </a:r>
            <a:r>
              <a:rPr lang="en-US" altLang="zh-CN" baseline="-25000" dirty="0"/>
              <a:t>N</a:t>
            </a:r>
            <a:r>
              <a:rPr lang="zh-CN" altLang="en-US" dirty="0">
                <a:sym typeface="Symbol" pitchFamily="18" charset="2"/>
              </a:rPr>
              <a:t>）</a:t>
            </a:r>
            <a:r>
              <a:rPr lang="zh-CN" altLang="en-US" dirty="0"/>
              <a:t>组成的</a:t>
            </a:r>
            <a:r>
              <a:rPr lang="zh-CN" altLang="en-US" sz="3200" b="1" dirty="0">
                <a:solidFill>
                  <a:srgbClr val="0000FF"/>
                </a:solidFill>
              </a:rPr>
              <a:t>符号串。</a:t>
            </a:r>
            <a:endParaRPr lang="zh-CN" altLang="en-US" dirty="0">
              <a:sym typeface="Symbol" pitchFamily="18" charset="2"/>
            </a:endParaRPr>
          </a:p>
          <a:p>
            <a:pPr algn="just">
              <a:lnSpc>
                <a:spcPct val="90000"/>
              </a:lnSpc>
            </a:pPr>
            <a:r>
              <a:rPr lang="zh-CN" altLang="en-US" dirty="0"/>
              <a:t>→读作“定义为”。</a:t>
            </a:r>
            <a:endParaRPr lang="en-US" altLang="zh-CN" baseline="30000" dirty="0"/>
          </a:p>
        </p:txBody>
      </p:sp>
    </p:spTree>
    <p:extLst>
      <p:ext uri="{BB962C8B-B14F-4D97-AF65-F5344CB8AC3E}">
        <p14:creationId xmlns:p14="http://schemas.microsoft.com/office/powerpoint/2010/main" val="404059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</a:t>
            </a:r>
            <a:r>
              <a:rPr lang="en-US" altLang="zh-CN" dirty="0"/>
              <a:t> → </a:t>
            </a:r>
            <a:r>
              <a:rPr lang="en-US" altLang="zh-CN" dirty="0">
                <a:sym typeface="Symbol" pitchFamily="18" charset="2"/>
              </a:rPr>
              <a:t></a:t>
            </a:r>
            <a:r>
              <a:rPr lang="en-US" altLang="zh-CN" baseline="-25000" dirty="0"/>
              <a:t>1</a:t>
            </a:r>
          </a:p>
          <a:p>
            <a:pPr algn="just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</a:t>
            </a:r>
            <a:r>
              <a:rPr lang="en-US" altLang="zh-CN" dirty="0"/>
              <a:t> → </a:t>
            </a:r>
            <a:r>
              <a:rPr lang="en-US" altLang="zh-CN" dirty="0">
                <a:sym typeface="Symbol" pitchFamily="18" charset="2"/>
              </a:rPr>
              <a:t></a:t>
            </a:r>
            <a:r>
              <a:rPr lang="en-US" altLang="zh-CN" baseline="-25000" dirty="0"/>
              <a:t>2</a:t>
            </a:r>
          </a:p>
          <a:p>
            <a:pPr algn="just">
              <a:lnSpc>
                <a:spcPct val="40000"/>
              </a:lnSpc>
            </a:pPr>
            <a:r>
              <a:rPr lang="en-US" altLang="zh-CN" dirty="0"/>
              <a:t>…</a:t>
            </a:r>
            <a:r>
              <a:rPr lang="en-US" altLang="zh-CN" dirty="0">
                <a:sym typeface="Symbol" pitchFamily="18" charset="2"/>
              </a:rPr>
              <a:t> </a:t>
            </a:r>
          </a:p>
          <a:p>
            <a:pPr algn="just">
              <a:lnSpc>
                <a:spcPct val="40000"/>
              </a:lnSpc>
            </a:pPr>
            <a:r>
              <a:rPr lang="en-US" altLang="zh-CN" dirty="0">
                <a:sym typeface="Symbol" pitchFamily="18" charset="2"/>
              </a:rPr>
              <a:t></a:t>
            </a:r>
            <a:r>
              <a:rPr lang="en-US" altLang="zh-CN" dirty="0"/>
              <a:t> → </a:t>
            </a:r>
            <a:r>
              <a:rPr lang="en-US" altLang="zh-CN" dirty="0">
                <a:sym typeface="Symbol" pitchFamily="18" charset="2"/>
              </a:rPr>
              <a:t></a:t>
            </a:r>
            <a:r>
              <a:rPr lang="en-US" altLang="zh-CN" baseline="-25000" dirty="0"/>
              <a:t>n</a:t>
            </a:r>
          </a:p>
          <a:p>
            <a:pPr>
              <a:spcBef>
                <a:spcPct val="0"/>
              </a:spcBef>
              <a:buClrTx/>
              <a:buSzTx/>
            </a:pPr>
            <a:endParaRPr lang="en-US" altLang="zh-CN" dirty="0">
              <a:sym typeface="Symbol" pitchFamily="18" charset="2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zh-CN" altLang="en-US" dirty="0">
                <a:sym typeface="Symbol" pitchFamily="18" charset="2"/>
              </a:rPr>
              <a:t>可简写为：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zh-CN" altLang="en-US" dirty="0">
                <a:sym typeface="Symbol" pitchFamily="18" charset="2"/>
              </a:rPr>
              <a:t></a:t>
            </a:r>
            <a:r>
              <a:rPr lang="zh-CN" altLang="en-US" dirty="0"/>
              <a:t> → </a:t>
            </a:r>
            <a:r>
              <a:rPr lang="zh-CN" altLang="en-US" dirty="0">
                <a:sym typeface="Symbol" pitchFamily="18" charset="2"/>
              </a:rPr>
              <a:t></a:t>
            </a:r>
            <a:r>
              <a:rPr lang="en-US" altLang="zh-CN" baseline="-25000" dirty="0"/>
              <a:t>1</a:t>
            </a:r>
            <a:r>
              <a:rPr lang="en-US" altLang="zh-CN" dirty="0"/>
              <a:t> | </a:t>
            </a:r>
            <a:r>
              <a:rPr lang="en-US" altLang="zh-CN" dirty="0">
                <a:sym typeface="Symbol" pitchFamily="18" charset="2"/>
              </a:rPr>
              <a:t></a:t>
            </a:r>
            <a:r>
              <a:rPr lang="en-US" altLang="zh-CN" baseline="-25000" dirty="0"/>
              <a:t>2</a:t>
            </a:r>
            <a:r>
              <a:rPr lang="en-US" altLang="zh-CN" dirty="0"/>
              <a:t> | … | </a:t>
            </a:r>
            <a:r>
              <a:rPr lang="en-US" altLang="zh-CN" dirty="0">
                <a:sym typeface="Symbol" pitchFamily="18" charset="2"/>
              </a:rPr>
              <a:t></a:t>
            </a:r>
            <a:r>
              <a:rPr lang="en-US" altLang="zh-CN" baseline="-25000" dirty="0"/>
              <a:t>n</a:t>
            </a:r>
          </a:p>
          <a:p>
            <a:pPr algn="just">
              <a:lnSpc>
                <a:spcPct val="40000"/>
              </a:lnSpc>
            </a:pPr>
            <a:endParaRPr lang="en-US" altLang="zh-CN" sz="3600" b="1" dirty="0">
              <a:ea typeface="仿宋_GB2312" pitchFamily="49" charset="-122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710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dirty="0"/>
              <a:t>描述文法，直接给出</a:t>
            </a:r>
            <a:r>
              <a:rPr lang="zh-CN" altLang="en-US" sz="3200" b="1" dirty="0">
                <a:solidFill>
                  <a:srgbClr val="0000FF"/>
                </a:solidFill>
              </a:rPr>
              <a:t>产生式集合</a:t>
            </a:r>
            <a:r>
              <a:rPr lang="zh-CN" altLang="en-US" dirty="0"/>
              <a:t>即可。</a:t>
            </a:r>
          </a:p>
          <a:p>
            <a:pPr algn="just">
              <a:lnSpc>
                <a:spcPct val="90000"/>
              </a:lnSpc>
            </a:pPr>
            <a:r>
              <a:rPr lang="zh-CN" altLang="en-US" dirty="0"/>
              <a:t>例如，算术表达式的文法：</a:t>
            </a:r>
            <a:endParaRPr lang="en-US" altLang="zh-CN" dirty="0"/>
          </a:p>
          <a:p>
            <a:pPr algn="just"/>
            <a:r>
              <a:rPr lang="en-US" altLang="zh-CN" dirty="0"/>
              <a:t>E → E + T | T</a:t>
            </a:r>
          </a:p>
          <a:p>
            <a:pPr algn="just"/>
            <a:r>
              <a:rPr lang="en-US" altLang="zh-CN" dirty="0"/>
              <a:t>T → T * F | F</a:t>
            </a:r>
          </a:p>
          <a:p>
            <a:pPr algn="just"/>
            <a:r>
              <a:rPr lang="en-US" altLang="zh-CN" dirty="0"/>
              <a:t>F → ( E 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567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直接推导</a:t>
            </a:r>
            <a:r>
              <a:rPr lang="zh-CN" altLang="en-US" dirty="0"/>
              <a:t>（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 </a:t>
            </a:r>
            <a:r>
              <a:rPr lang="zh-CN" altLang="en-US" dirty="0">
                <a:sym typeface="Symbol" pitchFamily="18" charset="2"/>
              </a:rPr>
              <a:t>）</a:t>
            </a:r>
            <a:endParaRPr lang="en-US" altLang="zh-CN" dirty="0">
              <a:sym typeface="Symbol" pitchFamily="18" charset="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用产生式</a:t>
            </a:r>
            <a:r>
              <a:rPr lang="zh-CN" altLang="en-US" sz="3200" b="1" dirty="0">
                <a:solidFill>
                  <a:srgbClr val="0000FF"/>
                </a:solidFill>
              </a:rPr>
              <a:t>右边</a:t>
            </a:r>
            <a:r>
              <a:rPr lang="zh-CN" altLang="en-US" dirty="0"/>
              <a:t>替换产生式</a:t>
            </a:r>
            <a:r>
              <a:rPr lang="zh-CN" altLang="en-US" sz="3200" b="1" dirty="0">
                <a:solidFill>
                  <a:srgbClr val="0000FF"/>
                </a:solidFill>
              </a:rPr>
              <a:t>左边</a:t>
            </a:r>
            <a:r>
              <a:rPr lang="zh-CN" altLang="en-US" dirty="0"/>
              <a:t>的过程叫做直接推导。</a:t>
            </a:r>
            <a:endParaRPr lang="en-US" altLang="zh-CN" dirty="0"/>
          </a:p>
          <a:p>
            <a:pPr algn="just">
              <a:lnSpc>
                <a:spcPct val="140000"/>
              </a:lnSpc>
            </a:pPr>
            <a:r>
              <a:rPr lang="zh-CN" altLang="en-US" dirty="0"/>
              <a:t>例如：</a:t>
            </a:r>
            <a:r>
              <a:rPr lang="en-US" altLang="zh-CN" dirty="0"/>
              <a:t>wα</a:t>
            </a:r>
            <a:r>
              <a:rPr lang="en-US" altLang="zh-CN" dirty="0">
                <a:sym typeface="Symbol" pitchFamily="18" charset="2"/>
              </a:rPr>
              <a:t>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wβ</a:t>
            </a:r>
            <a:r>
              <a:rPr lang="en-US" altLang="zh-CN" dirty="0">
                <a:sym typeface="Symbol" pitchFamily="18" charset="2"/>
              </a:rPr>
              <a:t>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语言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361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zh-CN" altLang="en-US" sz="3200" b="1" dirty="0">
                    <a:solidFill>
                      <a:srgbClr val="0000FF"/>
                    </a:solidFill>
                  </a:rPr>
                  <a:t>推导</a:t>
                </a:r>
                <a:r>
                  <a:rPr lang="zh-CN" altLang="en-US" sz="3200" dirty="0"/>
                  <a:t>（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3200" i="1">
                            <a:latin typeface="Cambria Math"/>
                          </a:rPr>
                          <m:t>∗</m:t>
                        </m:r>
                        <m:r>
                          <a:rPr lang="en-US" altLang="zh-CN" sz="3200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或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3200" i="1">
                            <a:latin typeface="Cambria Math"/>
                          </a:rPr>
                          <m:t>+</m:t>
                        </m:r>
                        <m:r>
                          <a:rPr lang="en-US" altLang="zh-CN" sz="3200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sz="3200" dirty="0">
                    <a:sym typeface="Symbol" pitchFamily="18" charset="2"/>
                  </a:rPr>
                  <a:t> </a:t>
                </a:r>
                <a:r>
                  <a:rPr lang="zh-CN" altLang="en-US" sz="3200" dirty="0"/>
                  <a:t>）</a:t>
                </a:r>
                <a:endParaRPr lang="en-US" altLang="zh-CN" sz="3200" dirty="0">
                  <a:sym typeface="Symbol" pitchFamily="18" charset="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dirty="0"/>
                  <a:t>若干次（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2……</a:t>
                </a:r>
                <a:r>
                  <a:rPr lang="zh-CN" altLang="en-US" dirty="0"/>
                  <a:t>次）直接推导叫做推导。其中，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次以上用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/>
                          </a:rPr>
                          <m:t>∗</m:t>
                        </m:r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表示，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次以上用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>
                    <a:sym typeface="Symbol" pitchFamily="18" charset="2"/>
                  </a:rPr>
                  <a:t> </a:t>
                </a:r>
                <a:r>
                  <a:rPr lang="zh-CN" altLang="en-US" dirty="0">
                    <a:sym typeface="Symbol" pitchFamily="18" charset="2"/>
                  </a:rPr>
                  <a:t>表示。</a:t>
                </a:r>
                <a:endParaRPr lang="en-US" altLang="zh-CN" dirty="0"/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dirty="0"/>
                  <a:t>例如：</a:t>
                </a:r>
                <a:r>
                  <a:rPr lang="en-US" altLang="zh-CN" dirty="0"/>
                  <a:t>α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/>
                          </a:rPr>
                          <m:t>∗</m:t>
                        </m:r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α</a:t>
                </a:r>
                <a:r>
                  <a:rPr lang="en-US" altLang="zh-CN" baseline="-25000" dirty="0"/>
                  <a:t>n  </a:t>
                </a:r>
                <a:r>
                  <a:rPr lang="zh-CN" altLang="en-US" baseline="-25000" dirty="0"/>
                  <a:t>、 </a:t>
                </a:r>
                <a:r>
                  <a:rPr lang="en-US" altLang="zh-CN" dirty="0"/>
                  <a:t>α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α</a:t>
                </a:r>
                <a:r>
                  <a:rPr lang="en-US" altLang="zh-CN" baseline="-25000" dirty="0"/>
                  <a:t>n</a:t>
                </a:r>
                <a:r>
                  <a:rPr lang="en-US" altLang="zh-CN" sz="4400" b="1" dirty="0">
                    <a:ea typeface="仿宋_GB2312" pitchFamily="49" charset="-122"/>
                  </a:rPr>
                  <a:t>  </a:t>
                </a:r>
              </a:p>
              <a:p>
                <a:pPr algn="just">
                  <a:lnSpc>
                    <a:spcPct val="14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6236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52" r="-1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22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文法：</a:t>
            </a:r>
            <a:r>
              <a:rPr lang="en-US" altLang="zh-CN" dirty="0"/>
              <a:t>E → E+E│E*E│(E)│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针对符号串</a:t>
            </a:r>
            <a:r>
              <a:rPr lang="en-US" altLang="zh-CN" dirty="0" err="1"/>
              <a:t>i+i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zh-CN" altLang="en-US" dirty="0"/>
              <a:t>，可以有不同的</a:t>
            </a:r>
            <a:r>
              <a:rPr lang="zh-CN" altLang="en-US" dirty="0">
                <a:sym typeface="Symbol" pitchFamily="18" charset="2"/>
              </a:rPr>
              <a:t>推导方法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>
                <a:sym typeface="Symbol" pitchFamily="18" charset="2"/>
              </a:rPr>
              <a:t>推导方法</a:t>
            </a:r>
            <a:r>
              <a:rPr lang="en-US" altLang="zh-CN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：</a:t>
            </a:r>
            <a:endParaRPr lang="zh-CN" altLang="en-US" dirty="0"/>
          </a:p>
          <a:p>
            <a:pPr>
              <a:lnSpc>
                <a:spcPct val="110000"/>
              </a:lnSpc>
            </a:pPr>
            <a:endParaRPr lang="zh-CN" altLang="en-US" sz="3200" b="1" dirty="0">
              <a:ea typeface="仿宋_GB2312" pitchFamily="49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推导实例</a:t>
            </a:r>
            <a:endParaRPr lang="en-US" dirty="0"/>
          </a:p>
        </p:txBody>
      </p:sp>
      <p:sp>
        <p:nvSpPr>
          <p:cNvPr id="624644" name="Rectangle 4"/>
          <p:cNvSpPr>
            <a:spLocks noChangeArrowheads="1"/>
          </p:cNvSpPr>
          <p:nvPr/>
        </p:nvSpPr>
        <p:spPr bwMode="auto">
          <a:xfrm>
            <a:off x="2855913" y="3505200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>
                <a:latin typeface="+mn-lt"/>
                <a:sym typeface="Symbol" pitchFamily="18" charset="2"/>
              </a:rPr>
              <a:t></a:t>
            </a:r>
          </a:p>
        </p:txBody>
      </p:sp>
      <p:sp>
        <p:nvSpPr>
          <p:cNvPr id="624645" name="Rectangle 5"/>
          <p:cNvSpPr>
            <a:spLocks noChangeArrowheads="1"/>
          </p:cNvSpPr>
          <p:nvPr/>
        </p:nvSpPr>
        <p:spPr bwMode="auto">
          <a:xfrm>
            <a:off x="2424113" y="3505200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GB" altLang="zh-CN" sz="3600" b="1" dirty="0">
                <a:solidFill>
                  <a:srgbClr val="0000FF"/>
                </a:solidFill>
                <a:latin typeface="+mn-lt"/>
                <a:ea typeface="+mn-ea"/>
              </a:rPr>
              <a:t>E</a:t>
            </a:r>
            <a:endParaRPr lang="en-US" altLang="zh-CN" sz="3600" b="1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624646" name="Rectangle 6"/>
          <p:cNvSpPr>
            <a:spLocks noChangeArrowheads="1"/>
          </p:cNvSpPr>
          <p:nvPr/>
        </p:nvSpPr>
        <p:spPr bwMode="auto">
          <a:xfrm>
            <a:off x="3408363" y="3579594"/>
            <a:ext cx="1174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3600" b="1" dirty="0">
                <a:solidFill>
                  <a:srgbClr val="0000FF"/>
                </a:solidFill>
                <a:latin typeface="+mn-lt"/>
                <a:ea typeface="+mn-ea"/>
                <a:sym typeface="Symbol" pitchFamily="18" charset="2"/>
              </a:rPr>
              <a:t>E</a:t>
            </a:r>
            <a:r>
              <a:rPr kumimoji="1" lang="en-US" altLang="zh-CN" sz="3200" dirty="0">
                <a:latin typeface="+mn-lt"/>
                <a:sym typeface="Symbol" pitchFamily="18" charset="2"/>
              </a:rPr>
              <a:t>+E</a:t>
            </a:r>
          </a:p>
        </p:txBody>
      </p:sp>
      <p:sp>
        <p:nvSpPr>
          <p:cNvPr id="624647" name="Rectangle 7"/>
          <p:cNvSpPr>
            <a:spLocks noChangeArrowheads="1"/>
          </p:cNvSpPr>
          <p:nvPr/>
        </p:nvSpPr>
        <p:spPr bwMode="auto">
          <a:xfrm>
            <a:off x="4943476" y="3505200"/>
            <a:ext cx="57626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 dirty="0">
                <a:latin typeface="+mn-lt"/>
                <a:sym typeface="Symbol" pitchFamily="18" charset="2"/>
              </a:rPr>
              <a:t></a:t>
            </a:r>
          </a:p>
        </p:txBody>
      </p:sp>
      <p:sp>
        <p:nvSpPr>
          <p:cNvPr id="624648" name="Rectangle 8"/>
          <p:cNvSpPr>
            <a:spLocks noChangeArrowheads="1"/>
          </p:cNvSpPr>
          <p:nvPr/>
        </p:nvSpPr>
        <p:spPr bwMode="auto">
          <a:xfrm>
            <a:off x="4953000" y="4296569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 dirty="0">
                <a:latin typeface="+mn-lt"/>
                <a:sym typeface="Symbol" pitchFamily="18" charset="2"/>
              </a:rPr>
              <a:t></a:t>
            </a:r>
          </a:p>
        </p:txBody>
      </p:sp>
      <p:sp>
        <p:nvSpPr>
          <p:cNvPr id="624649" name="Rectangle 9"/>
          <p:cNvSpPr>
            <a:spLocks noChangeArrowheads="1"/>
          </p:cNvSpPr>
          <p:nvPr/>
        </p:nvSpPr>
        <p:spPr bwMode="auto">
          <a:xfrm>
            <a:off x="6672263" y="3505200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>
                <a:latin typeface="+mn-lt"/>
                <a:sym typeface="Symbol" pitchFamily="18" charset="2"/>
              </a:rPr>
              <a:t></a:t>
            </a:r>
          </a:p>
        </p:txBody>
      </p:sp>
      <p:sp>
        <p:nvSpPr>
          <p:cNvPr id="624650" name="Rectangle 10"/>
          <p:cNvSpPr>
            <a:spLocks noChangeArrowheads="1"/>
          </p:cNvSpPr>
          <p:nvPr/>
        </p:nvSpPr>
        <p:spPr bwMode="auto">
          <a:xfrm>
            <a:off x="2855913" y="4296569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>
                <a:latin typeface="+mn-lt"/>
                <a:sym typeface="Symbol" pitchFamily="18" charset="2"/>
              </a:rPr>
              <a:t></a:t>
            </a:r>
          </a:p>
        </p:txBody>
      </p:sp>
      <p:sp>
        <p:nvSpPr>
          <p:cNvPr id="624651" name="Rectangle 11"/>
          <p:cNvSpPr>
            <a:spLocks noChangeArrowheads="1"/>
          </p:cNvSpPr>
          <p:nvPr/>
        </p:nvSpPr>
        <p:spPr bwMode="auto">
          <a:xfrm>
            <a:off x="5387976" y="3579594"/>
            <a:ext cx="11398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GB" altLang="zh-CN" sz="3200" dirty="0" err="1">
                <a:latin typeface="+mn-lt"/>
                <a:sym typeface="Symbol" pitchFamily="18" charset="2"/>
              </a:rPr>
              <a:t>i</a:t>
            </a:r>
            <a:r>
              <a:rPr kumimoji="1" lang="en-US" altLang="zh-CN" sz="3200" dirty="0">
                <a:latin typeface="+mn-lt"/>
                <a:sym typeface="Symbol" pitchFamily="18" charset="2"/>
              </a:rPr>
              <a:t>+</a:t>
            </a:r>
            <a:r>
              <a:rPr lang="en-US" altLang="zh-CN" sz="3600" b="1" dirty="0">
                <a:solidFill>
                  <a:srgbClr val="0000FF"/>
                </a:solidFill>
                <a:latin typeface="+mn-lt"/>
                <a:ea typeface="+mn-ea"/>
                <a:sym typeface="Symbol" pitchFamily="18" charset="2"/>
              </a:rPr>
              <a:t>E</a:t>
            </a:r>
          </a:p>
        </p:txBody>
      </p:sp>
      <p:sp>
        <p:nvSpPr>
          <p:cNvPr id="624652" name="Rectangle 12"/>
          <p:cNvSpPr>
            <a:spLocks noChangeArrowheads="1"/>
          </p:cNvSpPr>
          <p:nvPr/>
        </p:nvSpPr>
        <p:spPr bwMode="auto">
          <a:xfrm>
            <a:off x="7183439" y="3579594"/>
            <a:ext cx="17922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 dirty="0" err="1">
                <a:latin typeface="+mn-lt"/>
                <a:sym typeface="Symbol" pitchFamily="18" charset="2"/>
              </a:rPr>
              <a:t>i+</a:t>
            </a:r>
            <a:r>
              <a:rPr lang="en-US" altLang="zh-CN" sz="3600" b="1" dirty="0" err="1">
                <a:solidFill>
                  <a:srgbClr val="0000FF"/>
                </a:solidFill>
                <a:latin typeface="+mn-lt"/>
                <a:ea typeface="+mn-ea"/>
                <a:sym typeface="Symbol" pitchFamily="18" charset="2"/>
              </a:rPr>
              <a:t>E</a:t>
            </a:r>
            <a:r>
              <a:rPr kumimoji="1" lang="en-US" altLang="zh-CN" sz="3200" dirty="0">
                <a:latin typeface="+mn-lt"/>
                <a:sym typeface="Symbol" pitchFamily="18" charset="2"/>
              </a:rPr>
              <a:t>*E</a:t>
            </a:r>
          </a:p>
        </p:txBody>
      </p:sp>
      <p:sp>
        <p:nvSpPr>
          <p:cNvPr id="624653" name="Rectangle 13"/>
          <p:cNvSpPr>
            <a:spLocks noChangeArrowheads="1"/>
          </p:cNvSpPr>
          <p:nvPr/>
        </p:nvSpPr>
        <p:spPr bwMode="auto">
          <a:xfrm>
            <a:off x="3352800" y="4370963"/>
            <a:ext cx="15049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 dirty="0" err="1">
                <a:latin typeface="+mn-lt"/>
                <a:sym typeface="Symbol" pitchFamily="18" charset="2"/>
              </a:rPr>
              <a:t>i+i</a:t>
            </a:r>
            <a:r>
              <a:rPr kumimoji="1" lang="en-US" altLang="zh-CN" sz="3200" dirty="0">
                <a:latin typeface="+mn-lt"/>
                <a:sym typeface="Symbol" pitchFamily="18" charset="2"/>
              </a:rPr>
              <a:t>*</a:t>
            </a:r>
            <a:r>
              <a:rPr lang="en-US" altLang="zh-CN" sz="3600" b="1" dirty="0">
                <a:solidFill>
                  <a:srgbClr val="0000FF"/>
                </a:solidFill>
                <a:latin typeface="+mn-lt"/>
                <a:ea typeface="+mn-ea"/>
                <a:sym typeface="Symbol" pitchFamily="18" charset="2"/>
              </a:rPr>
              <a:t>E</a:t>
            </a:r>
          </a:p>
        </p:txBody>
      </p:sp>
      <p:sp>
        <p:nvSpPr>
          <p:cNvPr id="624654" name="Rectangle 14"/>
          <p:cNvSpPr>
            <a:spLocks noChangeArrowheads="1"/>
          </p:cNvSpPr>
          <p:nvPr/>
        </p:nvSpPr>
        <p:spPr bwMode="auto">
          <a:xfrm>
            <a:off x="5257800" y="4432519"/>
            <a:ext cx="15668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1" lang="en-US" altLang="zh-CN" sz="3200" dirty="0" err="1">
                <a:latin typeface="+mn-lt"/>
                <a:sym typeface="Symbol" pitchFamily="18" charset="2"/>
              </a:rPr>
              <a:t>i+i</a:t>
            </a:r>
            <a:r>
              <a:rPr kumimoji="1" lang="en-US" altLang="zh-CN" sz="3200" dirty="0">
                <a:latin typeface="+mn-lt"/>
                <a:sym typeface="Symbol" pitchFamily="18" charset="2"/>
              </a:rPr>
              <a:t>*</a:t>
            </a:r>
            <a:r>
              <a:rPr kumimoji="1" lang="en-US" altLang="zh-CN" sz="3200" dirty="0" err="1">
                <a:latin typeface="+mn-lt"/>
                <a:sym typeface="Symbol" pitchFamily="18" charset="2"/>
              </a:rPr>
              <a:t>i</a:t>
            </a:r>
            <a:endParaRPr kumimoji="1" lang="en-US" altLang="zh-CN" sz="3200" dirty="0"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8871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2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2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2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2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62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3" grpId="0" uiExpand="1" build="p"/>
      <p:bldP spid="624644" grpId="0"/>
      <p:bldP spid="624645" grpId="0"/>
      <p:bldP spid="624646" grpId="0"/>
      <p:bldP spid="624647" grpId="0"/>
      <p:bldP spid="624648" grpId="0"/>
      <p:bldP spid="624649" grpId="0"/>
      <p:bldP spid="624650" grpId="0"/>
      <p:bldP spid="624651" grpId="0"/>
      <p:bldP spid="624652" grpId="0"/>
      <p:bldP spid="624653" grpId="0"/>
      <p:bldP spid="6246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E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 E+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0000FF"/>
                </a:solidFill>
                <a:ea typeface="仿宋_GB2312" pitchFamily="49" charset="-122"/>
                <a:sym typeface="Symbol" pitchFamily="18" charset="2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仿宋_GB2312" pitchFamily="49" charset="-122"/>
                <a:sym typeface="Symbol" pitchFamily="18" charset="2"/>
              </a:rPr>
              <a:t> 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 E+E*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a typeface="仿宋_GB2312" pitchFamily="49" charset="-122"/>
                <a:sym typeface="Symbol" pitchFamily="18" charset="2"/>
              </a:rPr>
              <a:t>   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 E+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endParaRPr lang="en-US" altLang="zh-CN" dirty="0">
              <a:ea typeface="仿宋_GB2312" pitchFamily="49" charset="-122"/>
              <a:sym typeface="Symbol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</a:t>
            </a:r>
            <a:r>
              <a:rPr lang="en-US" altLang="zh-CN" sz="3200" b="1" dirty="0" err="1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+i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i+i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推导方法</a:t>
            </a:r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2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5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5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5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5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5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5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5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5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 E*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E+</a:t>
            </a:r>
            <a:r>
              <a:rPr lang="en-US" altLang="zh-CN" sz="3200" b="1" dirty="0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</a:t>
            </a:r>
            <a:r>
              <a:rPr lang="en-US" altLang="zh-CN" sz="3200" b="1" dirty="0" err="1">
                <a:solidFill>
                  <a:srgbClr val="0000FF"/>
                </a:solidFill>
                <a:sym typeface="Symbol" pitchFamily="18" charset="2"/>
              </a:rPr>
              <a:t>E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+i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仿宋_GB2312" pitchFamily="49" charset="-122"/>
                <a:sym typeface="Symbol" pitchFamily="18" charset="2"/>
              </a:rPr>
              <a:t>    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i+i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*</a:t>
            </a:r>
            <a:r>
              <a:rPr lang="en-US" altLang="zh-CN" dirty="0" err="1">
                <a:ea typeface="仿宋_GB2312" pitchFamily="49" charset="-122"/>
                <a:sym typeface="Symbol" pitchFamily="18" charset="2"/>
              </a:rPr>
              <a:t>i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推导方法</a:t>
            </a:r>
            <a:r>
              <a:rPr lang="en-US" altLang="zh-CN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45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句型和句子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669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文法 </a:t>
                </a:r>
                <a:r>
                  <a:rPr lang="en-US" altLang="zh-CN" dirty="0"/>
                  <a:t>G 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 V</a:t>
                </a:r>
                <a:r>
                  <a:rPr lang="en-US" altLang="zh-CN" baseline="-20000" dirty="0"/>
                  <a:t>T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V</a:t>
                </a:r>
                <a:r>
                  <a:rPr lang="en-US" altLang="zh-CN" baseline="-20000" dirty="0"/>
                  <a:t>N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 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α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若</a:t>
                </a:r>
                <a:r>
                  <a:rPr lang="en-US" altLang="zh-CN" dirty="0"/>
                  <a:t>α</a:t>
                </a:r>
                <a:r>
                  <a:rPr lang="en-US" altLang="zh-CN" dirty="0">
                    <a:sym typeface="Symbol" pitchFamily="18" charset="2"/>
                  </a:rPr>
                  <a:t>V</a:t>
                </a:r>
                <a:r>
                  <a:rPr lang="en-US" altLang="zh-CN" baseline="30000" dirty="0">
                    <a:sym typeface="Symbol" pitchFamily="18" charset="2"/>
                  </a:rPr>
                  <a:t>*</a:t>
                </a:r>
                <a:r>
                  <a:rPr lang="en-US" altLang="zh-CN" dirty="0">
                    <a:sym typeface="Symbol" pitchFamily="18" charset="2"/>
                  </a:rPr>
                  <a:t> </a:t>
                </a:r>
                <a:r>
                  <a:rPr lang="zh-CN" altLang="en-US" dirty="0">
                    <a:sym typeface="Symbol" pitchFamily="18" charset="2"/>
                  </a:rPr>
                  <a:t>，则</a:t>
                </a:r>
                <a:r>
                  <a:rPr lang="en-US" altLang="zh-CN" dirty="0"/>
                  <a:t>α</a:t>
                </a:r>
                <a:r>
                  <a:rPr lang="zh-CN" altLang="en-US" dirty="0"/>
                  <a:t>为文法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的一个</a:t>
                </a:r>
                <a:r>
                  <a:rPr lang="zh-CN" altLang="en-US" sz="3200" b="1" dirty="0">
                    <a:solidFill>
                      <a:srgbClr val="0000FF"/>
                    </a:solidFill>
                  </a:rPr>
                  <a:t>句型</a:t>
                </a:r>
                <a:r>
                  <a:rPr lang="zh-CN" altLang="en-US" dirty="0"/>
                  <a:t>。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若</a:t>
                </a:r>
                <a:r>
                  <a:rPr lang="en-US" altLang="zh-CN" dirty="0"/>
                  <a:t>α</a:t>
                </a:r>
                <a:r>
                  <a:rPr lang="en-US" altLang="zh-CN" dirty="0">
                    <a:sym typeface="Symbol" pitchFamily="18" charset="2"/>
                  </a:rPr>
                  <a:t>V</a:t>
                </a:r>
                <a:r>
                  <a:rPr lang="en-US" altLang="zh-CN" baseline="-20000" dirty="0">
                    <a:sym typeface="Symbol" pitchFamily="18" charset="2"/>
                  </a:rPr>
                  <a:t>T</a:t>
                </a:r>
                <a:r>
                  <a:rPr lang="en-US" altLang="zh-CN" baseline="30000" dirty="0">
                    <a:sym typeface="Symbol" pitchFamily="18" charset="2"/>
                  </a:rPr>
                  <a:t>*</a:t>
                </a:r>
                <a:r>
                  <a:rPr lang="en-US" altLang="zh-CN" dirty="0">
                    <a:sym typeface="Symbol" pitchFamily="18" charset="2"/>
                  </a:rPr>
                  <a:t> </a:t>
                </a:r>
                <a:r>
                  <a:rPr lang="zh-CN" altLang="en-US" dirty="0">
                    <a:sym typeface="Symbol" pitchFamily="18" charset="2"/>
                  </a:rPr>
                  <a:t>，则</a:t>
                </a:r>
                <a:r>
                  <a:rPr lang="en-US" altLang="zh-CN" dirty="0"/>
                  <a:t>α</a:t>
                </a:r>
                <a:r>
                  <a:rPr lang="zh-CN" altLang="en-US" dirty="0"/>
                  <a:t>为文法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的一个</a:t>
                </a:r>
                <a:r>
                  <a:rPr lang="zh-CN" altLang="en-US" sz="3200" b="1" dirty="0">
                    <a:solidFill>
                      <a:srgbClr val="0000FF"/>
                    </a:solidFill>
                  </a:rPr>
                  <a:t>句子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6266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1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26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句型与句子的关系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宋体" pitchFamily="2" charset="-122"/>
              </a:rPr>
              <a:t>只含终结符的</a:t>
            </a:r>
            <a:r>
              <a:rPr lang="zh-CN" altLang="en-US" sz="3200" b="1" dirty="0">
                <a:solidFill>
                  <a:srgbClr val="0000FF"/>
                </a:solidFill>
              </a:rPr>
              <a:t>句型</a:t>
            </a:r>
            <a:r>
              <a:rPr lang="zh-CN" altLang="en-US" dirty="0">
                <a:latin typeface="宋体" pitchFamily="2" charset="-122"/>
              </a:rPr>
              <a:t>就是一个</a:t>
            </a:r>
            <a:r>
              <a:rPr lang="zh-CN" altLang="en-US" sz="3200" b="1" dirty="0">
                <a:solidFill>
                  <a:srgbClr val="0000FF"/>
                </a:solidFill>
              </a:rPr>
              <a:t>句子</a:t>
            </a:r>
            <a:r>
              <a:rPr lang="zh-CN" altLang="en-US" dirty="0">
                <a:latin typeface="宋体" pitchFamily="2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句子</a:t>
            </a:r>
            <a:r>
              <a:rPr lang="zh-CN" altLang="en-US" dirty="0">
                <a:latin typeface="宋体" pitchFamily="2" charset="-122"/>
              </a:rPr>
              <a:t>一定是</a:t>
            </a:r>
            <a:r>
              <a:rPr lang="zh-CN" altLang="en-US" sz="3200" b="1" dirty="0">
                <a:solidFill>
                  <a:srgbClr val="0000FF"/>
                </a:solidFill>
              </a:rPr>
              <a:t>句型</a:t>
            </a:r>
            <a:r>
              <a:rPr lang="zh-CN" altLang="en-US" dirty="0">
                <a:latin typeface="宋体" pitchFamily="2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句型</a:t>
            </a:r>
            <a:r>
              <a:rPr lang="zh-CN" altLang="en-US" dirty="0">
                <a:latin typeface="宋体" pitchFamily="2" charset="-122"/>
              </a:rPr>
              <a:t>不一定是</a:t>
            </a:r>
            <a:r>
              <a:rPr lang="zh-CN" altLang="en-US" sz="3200" b="1" dirty="0">
                <a:solidFill>
                  <a:srgbClr val="0000FF"/>
                </a:solidFill>
              </a:rPr>
              <a:t>句子</a:t>
            </a:r>
            <a:r>
              <a:rPr lang="zh-CN" altLang="en-US" dirty="0">
                <a:latin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054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语法树</a:t>
            </a:r>
          </a:p>
        </p:txBody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对一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个</a:t>
            </a:r>
            <a:r>
              <a:rPr lang="zh-CN" altLang="en-US" sz="3200" b="1">
                <a:solidFill>
                  <a:srgbClr val="0000FF"/>
                </a:solidFill>
              </a:rPr>
              <a:t>句子</a:t>
            </a:r>
            <a:r>
              <a:rPr lang="en-US" altLang="zh-CN" sz="3200" b="1">
                <a:solidFill>
                  <a:srgbClr val="0000FF"/>
                </a:solidFill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</a:rPr>
              <a:t>句型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的推导过程不止一种，可以用一棵树来表示多种不同的推导，称为</a:t>
            </a:r>
            <a:r>
              <a:rPr lang="zh-CN" altLang="en-US" sz="3200" b="1" dirty="0">
                <a:solidFill>
                  <a:srgbClr val="0000FF"/>
                </a:solidFill>
              </a:rPr>
              <a:t>语法树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（也称为</a:t>
            </a:r>
            <a:r>
              <a:rPr lang="zh-CN" altLang="en-US" sz="3200" b="1" dirty="0">
                <a:solidFill>
                  <a:srgbClr val="0000FF"/>
                </a:solidFill>
              </a:rPr>
              <a:t>推导树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）。语法树可以表示一个句子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句型的</a:t>
            </a:r>
            <a:r>
              <a:rPr lang="zh-CN" altLang="en-US" sz="3200" b="1" dirty="0">
                <a:solidFill>
                  <a:srgbClr val="0000FF"/>
                </a:solidFill>
              </a:rPr>
              <a:t>语法结构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的层次。</a:t>
            </a:r>
            <a:endParaRPr lang="en-US" altLang="zh-CN" dirty="0">
              <a:solidFill>
                <a:srgbClr val="000000"/>
              </a:solidFill>
              <a:latin typeface="宋体" pitchFamily="2" charset="-122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语法树</a:t>
            </a:r>
            <a:r>
              <a:rPr lang="zh-CN" altLang="en-US" dirty="0">
                <a:latin typeface="宋体" pitchFamily="2" charset="-122"/>
              </a:rPr>
              <a:t>是一棵倒置的树，结点是</a:t>
            </a:r>
            <a:r>
              <a:rPr lang="zh-CN" altLang="en-US" dirty="0"/>
              <a:t>文法</a:t>
            </a:r>
            <a:r>
              <a:rPr lang="en-US" altLang="zh-CN" dirty="0"/>
              <a:t>G</a:t>
            </a:r>
            <a:r>
              <a:rPr lang="zh-CN" altLang="en-US" dirty="0">
                <a:latin typeface="宋体" pitchFamily="2" charset="-122"/>
              </a:rPr>
              <a:t>的非终结符或终结符；根结点是文法的开始符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；每个</a:t>
            </a:r>
            <a:r>
              <a:rPr lang="zh-CN" altLang="en-US" sz="3200" b="1" dirty="0">
                <a:solidFill>
                  <a:srgbClr val="0000FF"/>
                </a:solidFill>
              </a:rPr>
              <a:t>结点</a:t>
            </a:r>
            <a:r>
              <a:rPr lang="zh-CN" altLang="en-US" dirty="0"/>
              <a:t>与其</a:t>
            </a:r>
            <a:r>
              <a:rPr lang="zh-CN" altLang="en-US" sz="3200" b="1" dirty="0">
                <a:solidFill>
                  <a:srgbClr val="0000FF"/>
                </a:solidFill>
              </a:rPr>
              <a:t>子结点</a:t>
            </a:r>
            <a:r>
              <a:rPr lang="zh-CN" altLang="en-US" dirty="0"/>
              <a:t>都符合某个</a:t>
            </a:r>
            <a:r>
              <a:rPr lang="zh-CN" altLang="en-US" sz="3200" b="1" dirty="0">
                <a:solidFill>
                  <a:srgbClr val="0000FF"/>
                </a:solidFill>
              </a:rPr>
              <a:t>产生式</a:t>
            </a:r>
            <a:r>
              <a:rPr lang="zh-CN" altLang="en-US" dirty="0"/>
              <a:t>的</a:t>
            </a:r>
            <a:r>
              <a:rPr lang="zh-CN" altLang="en-US"/>
              <a:t>关系。</a:t>
            </a:r>
            <a:endParaRPr lang="en-US" altLang="zh-CN"/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语法</a:t>
            </a:r>
            <a:r>
              <a:rPr lang="zh-CN" altLang="en-US">
                <a:latin typeface="宋体" pitchFamily="2" charset="-122"/>
              </a:rPr>
              <a:t>树的</a:t>
            </a:r>
            <a:r>
              <a:rPr lang="zh-CN" altLang="en-US" sz="3200" b="1">
                <a:solidFill>
                  <a:srgbClr val="0000FF"/>
                </a:solidFill>
              </a:rPr>
              <a:t>边缘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：语法</a:t>
            </a:r>
            <a:r>
              <a:rPr lang="zh-CN" altLang="en-US">
                <a:latin typeface="宋体" pitchFamily="2" charset="-122"/>
              </a:rPr>
              <a:t>树的所有</a:t>
            </a:r>
            <a:r>
              <a:rPr lang="zh-CN" altLang="en-US" sz="3200" b="1">
                <a:solidFill>
                  <a:srgbClr val="0000FF"/>
                </a:solidFill>
              </a:rPr>
              <a:t>叶结点</a:t>
            </a:r>
            <a:r>
              <a:rPr lang="zh-CN" altLang="en-US">
                <a:latin typeface="宋体" pitchFamily="2" charset="-122"/>
              </a:rPr>
              <a:t>从左到右的连接。</a:t>
            </a:r>
            <a:endParaRPr lang="zh-CN" altLang="en-US"/>
          </a:p>
          <a:p>
            <a:pPr algn="just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52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对于文法</a:t>
            </a:r>
          </a:p>
          <a:p>
            <a:r>
              <a:rPr lang="en-US" altLang="zh-CN" dirty="0">
                <a:solidFill>
                  <a:srgbClr val="000000"/>
                </a:solidFill>
              </a:rPr>
              <a:t>E → E + E │ E * E │ ( E ) │ 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endParaRPr lang="en-US" altLang="zh-CN" dirty="0">
              <a:solidFill>
                <a:srgbClr val="0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句子 </a:t>
            </a:r>
            <a:r>
              <a:rPr lang="en-US" altLang="zh-CN" dirty="0" err="1">
                <a:solidFill>
                  <a:srgbClr val="000000"/>
                </a:solidFill>
              </a:rPr>
              <a:t>i+i</a:t>
            </a:r>
            <a:r>
              <a:rPr lang="en-US" altLang="zh-CN" dirty="0">
                <a:solidFill>
                  <a:srgbClr val="000000"/>
                </a:solidFill>
              </a:rPr>
              <a:t>*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的语法树为：</a:t>
            </a:r>
          </a:p>
        </p:txBody>
      </p:sp>
      <p:sp>
        <p:nvSpPr>
          <p:cNvPr id="4" name="Text Box 34">
            <a:extLst>
              <a:ext uri="{FF2B5EF4-FFF2-40B4-BE49-F238E27FC236}">
                <a16:creationId xmlns:a16="http://schemas.microsoft.com/office/drawing/2014/main" id="{2CD3D30E-5B3B-45B2-96FA-A383CF47A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49" y="2547936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5" name="Line 36">
            <a:extLst>
              <a:ext uri="{FF2B5EF4-FFF2-40B4-BE49-F238E27FC236}">
                <a16:creationId xmlns:a16="http://schemas.microsoft.com/office/drawing/2014/main" id="{6DA34135-E141-4E48-ACB0-E957813D38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2930525"/>
            <a:ext cx="6858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" name="Line 37">
            <a:extLst>
              <a:ext uri="{FF2B5EF4-FFF2-40B4-BE49-F238E27FC236}">
                <a16:creationId xmlns:a16="http://schemas.microsoft.com/office/drawing/2014/main" id="{7E87FEB4-74D6-487E-9F0B-FAD3CEDFE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930525"/>
            <a:ext cx="68580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CF82F5A5-55E9-4A43-9470-12BE17BDA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006725"/>
            <a:ext cx="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7B2AD1E9-E9BC-463A-A371-439631667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2861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09E64FD6-7EBD-4DF8-9906-5D7AA9DD5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3115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135B9387-A501-4E5E-853D-2D4B566AD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3276601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/>
              <a:t>+</a:t>
            </a:r>
          </a:p>
        </p:txBody>
      </p:sp>
      <p:sp>
        <p:nvSpPr>
          <p:cNvPr id="11" name="Line 42">
            <a:extLst>
              <a:ext uri="{FF2B5EF4-FFF2-40B4-BE49-F238E27FC236}">
                <a16:creationId xmlns:a16="http://schemas.microsoft.com/office/drawing/2014/main" id="{C8C8B99F-9B8C-45CA-8A61-3D5AB679CC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3657600"/>
            <a:ext cx="6096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2" name="Line 43">
            <a:extLst>
              <a:ext uri="{FF2B5EF4-FFF2-40B4-BE49-F238E27FC236}">
                <a16:creationId xmlns:a16="http://schemas.microsoft.com/office/drawing/2014/main" id="{5C259D53-AE75-4AA2-955B-016418AC2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3657600"/>
            <a:ext cx="5334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3" name="Line 44">
            <a:extLst>
              <a:ext uri="{FF2B5EF4-FFF2-40B4-BE49-F238E27FC236}">
                <a16:creationId xmlns:a16="http://schemas.microsoft.com/office/drawing/2014/main" id="{C6CB5BBD-E36A-4082-B524-E96571111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733800"/>
            <a:ext cx="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7A5785CF-7B36-4123-BF9D-6DF58CC2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3962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27E8B920-FE4E-40BC-9B7F-9682538C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9211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5B290DB0-3422-49DD-A4CE-D8B9A97F7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1148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17" name="Line 48">
            <a:extLst>
              <a:ext uri="{FF2B5EF4-FFF2-40B4-BE49-F238E27FC236}">
                <a16:creationId xmlns:a16="http://schemas.microsoft.com/office/drawing/2014/main" id="{B1AC1A3A-AD2A-4F26-A188-6087697CC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43434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8" name="Line 49">
            <a:extLst>
              <a:ext uri="{FF2B5EF4-FFF2-40B4-BE49-F238E27FC236}">
                <a16:creationId xmlns:a16="http://schemas.microsoft.com/office/drawing/2014/main" id="{9AC95BC6-68BF-4504-AC5D-BE374433C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378325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9" name="Text Box 50">
            <a:extLst>
              <a:ext uri="{FF2B5EF4-FFF2-40B4-BE49-F238E27FC236}">
                <a16:creationId xmlns:a16="http://schemas.microsoft.com/office/drawing/2014/main" id="{6F32BCF2-62AF-491F-8FA8-70ECBF7E0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48768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0089D5A2-056F-40BE-8589-64F4C3A50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35525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F71478F0-6B47-4BC7-A2B7-81A041844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6576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DA13C76E-5774-42D3-936F-A96D74DD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2259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89396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7B1F588-5DA2-4F85-8DAF-285DE00B5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>
                <a:solidFill>
                  <a:srgbClr val="0000FF"/>
                </a:solidFill>
              </a:rPr>
              <a:t>句型</a:t>
            </a:r>
            <a:r>
              <a:rPr lang="en-US" altLang="zh-CN" sz="3200" b="1">
                <a:solidFill>
                  <a:srgbClr val="0000FF"/>
                </a:solidFill>
              </a:rPr>
              <a:t>/</a:t>
            </a:r>
            <a:r>
              <a:rPr lang="zh-CN" altLang="en-US" sz="3200" b="1">
                <a:solidFill>
                  <a:srgbClr val="0000FF"/>
                </a:solidFill>
              </a:rPr>
              <a:t>句子</a:t>
            </a:r>
            <a:r>
              <a:rPr lang="zh-CN" altLang="en-US"/>
              <a:t>：语法树的边缘。</a:t>
            </a:r>
          </a:p>
          <a:p>
            <a:r>
              <a:rPr lang="zh-CN" altLang="en-US" sz="3200" b="1">
                <a:solidFill>
                  <a:srgbClr val="0000FF"/>
                </a:solidFill>
              </a:rPr>
              <a:t>短语</a:t>
            </a:r>
            <a:r>
              <a:rPr lang="zh-CN" altLang="en-US"/>
              <a:t>：任意子树的边缘</a:t>
            </a:r>
          </a:p>
          <a:p>
            <a:r>
              <a:rPr lang="zh-CN" altLang="en-US" sz="3200" b="1">
                <a:solidFill>
                  <a:srgbClr val="0000FF"/>
                </a:solidFill>
              </a:rPr>
              <a:t>直接短语</a:t>
            </a:r>
            <a:r>
              <a:rPr lang="zh-CN" altLang="en-US"/>
              <a:t>：有且仅有两层的子树的边缘</a:t>
            </a:r>
            <a:endParaRPr lang="en-US" altLang="zh-CN"/>
          </a:p>
          <a:p>
            <a:r>
              <a:rPr lang="zh-CN" altLang="en-US" sz="3200" b="1">
                <a:solidFill>
                  <a:srgbClr val="0000FF"/>
                </a:solidFill>
              </a:rPr>
              <a:t>句柄</a:t>
            </a:r>
            <a:r>
              <a:rPr lang="zh-CN" altLang="en-US"/>
              <a:t>：位于最左边的直接短语</a:t>
            </a:r>
            <a:endParaRPr lang="en-US" altLang="zh-CN"/>
          </a:p>
          <a:p>
            <a:r>
              <a:rPr lang="zh-CN" altLang="en-US" sz="3200" b="1">
                <a:solidFill>
                  <a:srgbClr val="0000FF"/>
                </a:solidFill>
              </a:rPr>
              <a:t>素短语</a:t>
            </a:r>
            <a:r>
              <a:rPr lang="zh-CN" altLang="en-US"/>
              <a:t>：最小的包含终结符的短语。</a:t>
            </a:r>
            <a:endParaRPr lang="zh-CN" altLang="en-US">
              <a:sym typeface="Symbol" pitchFamily="18" charset="2"/>
            </a:endParaRPr>
          </a:p>
          <a:p>
            <a:r>
              <a:rPr lang="zh-CN" altLang="en-US" sz="3200" b="1">
                <a:solidFill>
                  <a:srgbClr val="0000FF"/>
                </a:solidFill>
              </a:rPr>
              <a:t>最左素短语</a:t>
            </a:r>
            <a:r>
              <a:rPr lang="zh-CN" altLang="en-US"/>
              <a:t>：位于最左边的素短语。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18C923A-47B2-4AF4-A3BF-9FC147EA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09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30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文法</a:t>
            </a:r>
            <a:r>
              <a:rPr lang="en-US" altLang="zh-CN"/>
              <a:t>G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/>
              <a:t>	E </a:t>
            </a:r>
            <a:r>
              <a:rPr lang="en-US" altLang="zh-CN" dirty="0"/>
              <a:t>→ E+T | T</a:t>
            </a:r>
          </a:p>
          <a:p>
            <a:r>
              <a:rPr lang="en-US" altLang="zh-CN"/>
              <a:t>	T </a:t>
            </a:r>
            <a:r>
              <a:rPr lang="en-US" altLang="zh-CN" dirty="0"/>
              <a:t>→ T*F | F</a:t>
            </a:r>
          </a:p>
          <a:p>
            <a:r>
              <a:rPr lang="en-US" altLang="zh-CN"/>
              <a:t>	F </a:t>
            </a:r>
            <a:r>
              <a:rPr lang="en-US" altLang="zh-CN" dirty="0"/>
              <a:t>→ (E) </a:t>
            </a:r>
            <a:r>
              <a:rPr lang="en-US" altLang="zh-CN"/>
              <a:t>| i</a:t>
            </a:r>
          </a:p>
          <a:p>
            <a:endParaRPr lang="en-US" altLang="zh-CN" dirty="0"/>
          </a:p>
          <a:p>
            <a:r>
              <a:rPr lang="zh-CN" altLang="en-US"/>
              <a:t>求句型 </a:t>
            </a:r>
            <a:r>
              <a:rPr lang="en-US" altLang="zh-CN"/>
              <a:t>T*F+i </a:t>
            </a:r>
            <a:r>
              <a:rPr lang="zh-CN" altLang="en-US"/>
              <a:t>的：</a:t>
            </a:r>
            <a:endParaRPr lang="en-US" altLang="zh-CN"/>
          </a:p>
          <a:p>
            <a:r>
              <a:rPr lang="zh-CN" altLang="en-US"/>
              <a:t>短语、直接短语、句柄、最左素短语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</a:p>
        </p:txBody>
      </p:sp>
      <p:sp>
        <p:nvSpPr>
          <p:cNvPr id="655364" name="Oval 4"/>
          <p:cNvSpPr>
            <a:spLocks noChangeArrowheads="1"/>
          </p:cNvSpPr>
          <p:nvPr/>
        </p:nvSpPr>
        <p:spPr bwMode="auto">
          <a:xfrm>
            <a:off x="5181600" y="1676400"/>
            <a:ext cx="5562600" cy="3276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55365" name="Group 5"/>
          <p:cNvGrpSpPr>
            <a:grpSpLocks/>
          </p:cNvGrpSpPr>
          <p:nvPr/>
        </p:nvGrpSpPr>
        <p:grpSpPr bwMode="auto">
          <a:xfrm>
            <a:off x="6210197" y="1676400"/>
            <a:ext cx="2749550" cy="2971800"/>
            <a:chOff x="1498" y="1440"/>
            <a:chExt cx="1732" cy="1872"/>
          </a:xfrm>
        </p:grpSpPr>
        <p:sp>
          <p:nvSpPr>
            <p:cNvPr id="18442" name="Text Box 6"/>
            <p:cNvSpPr txBox="1">
              <a:spLocks noChangeArrowheads="1"/>
            </p:cNvSpPr>
            <p:nvPr/>
          </p:nvSpPr>
          <p:spPr bwMode="auto">
            <a:xfrm>
              <a:off x="2496" y="144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8443" name="Line 7"/>
            <p:cNvSpPr>
              <a:spLocks noChangeShapeType="1"/>
            </p:cNvSpPr>
            <p:nvPr/>
          </p:nvSpPr>
          <p:spPr bwMode="auto">
            <a:xfrm flipH="1">
              <a:off x="2074" y="1654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8"/>
            <p:cNvSpPr>
              <a:spLocks noChangeShapeType="1"/>
            </p:cNvSpPr>
            <p:nvPr/>
          </p:nvSpPr>
          <p:spPr bwMode="auto">
            <a:xfrm>
              <a:off x="2698" y="165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Line 9"/>
            <p:cNvSpPr>
              <a:spLocks noChangeShapeType="1"/>
            </p:cNvSpPr>
            <p:nvPr/>
          </p:nvSpPr>
          <p:spPr bwMode="auto">
            <a:xfrm>
              <a:off x="2602" y="1702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Text Box 10"/>
            <p:cNvSpPr txBox="1">
              <a:spLocks noChangeArrowheads="1"/>
            </p:cNvSpPr>
            <p:nvPr/>
          </p:nvSpPr>
          <p:spPr bwMode="auto">
            <a:xfrm>
              <a:off x="1930" y="184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8447" name="Text Box 11"/>
            <p:cNvSpPr txBox="1">
              <a:spLocks noChangeArrowheads="1"/>
            </p:cNvSpPr>
            <p:nvPr/>
          </p:nvSpPr>
          <p:spPr bwMode="auto">
            <a:xfrm>
              <a:off x="2986" y="189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8448" name="Text Box 12"/>
            <p:cNvSpPr txBox="1">
              <a:spLocks noChangeArrowheads="1"/>
            </p:cNvSpPr>
            <p:nvPr/>
          </p:nvSpPr>
          <p:spPr bwMode="auto">
            <a:xfrm>
              <a:off x="2506" y="1920"/>
              <a:ext cx="2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8449" name="Line 13"/>
            <p:cNvSpPr>
              <a:spLocks noChangeShapeType="1"/>
            </p:cNvSpPr>
            <p:nvPr/>
          </p:nvSpPr>
          <p:spPr bwMode="auto">
            <a:xfrm flipH="1">
              <a:off x="1642" y="2592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4"/>
            <p:cNvSpPr>
              <a:spLocks noChangeShapeType="1"/>
            </p:cNvSpPr>
            <p:nvPr/>
          </p:nvSpPr>
          <p:spPr bwMode="auto">
            <a:xfrm>
              <a:off x="2122" y="2592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5"/>
            <p:cNvSpPr>
              <a:spLocks noChangeShapeType="1"/>
            </p:cNvSpPr>
            <p:nvPr/>
          </p:nvSpPr>
          <p:spPr bwMode="auto">
            <a:xfrm>
              <a:off x="2026" y="208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Text Box 16"/>
            <p:cNvSpPr txBox="1">
              <a:spLocks noChangeArrowheads="1"/>
            </p:cNvSpPr>
            <p:nvPr/>
          </p:nvSpPr>
          <p:spPr bwMode="auto">
            <a:xfrm>
              <a:off x="1930" y="240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8453" name="Line 17"/>
            <p:cNvSpPr>
              <a:spLocks noChangeShapeType="1"/>
            </p:cNvSpPr>
            <p:nvPr/>
          </p:nvSpPr>
          <p:spPr bwMode="auto">
            <a:xfrm>
              <a:off x="2026" y="2688"/>
              <a:ext cx="1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Text Box 18"/>
            <p:cNvSpPr txBox="1">
              <a:spLocks noChangeArrowheads="1"/>
            </p:cNvSpPr>
            <p:nvPr/>
          </p:nvSpPr>
          <p:spPr bwMode="auto">
            <a:xfrm>
              <a:off x="1498" y="292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8455" name="Text Box 19"/>
            <p:cNvSpPr txBox="1">
              <a:spLocks noChangeArrowheads="1"/>
            </p:cNvSpPr>
            <p:nvPr/>
          </p:nvSpPr>
          <p:spPr bwMode="auto">
            <a:xfrm>
              <a:off x="2362" y="297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8456" name="Line 20"/>
            <p:cNvSpPr>
              <a:spLocks noChangeShapeType="1"/>
            </p:cNvSpPr>
            <p:nvPr/>
          </p:nvSpPr>
          <p:spPr bwMode="auto">
            <a:xfrm>
              <a:off x="3082" y="2134"/>
              <a:ext cx="1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Text Box 21"/>
            <p:cNvSpPr txBox="1">
              <a:spLocks noChangeArrowheads="1"/>
            </p:cNvSpPr>
            <p:nvPr/>
          </p:nvSpPr>
          <p:spPr bwMode="auto">
            <a:xfrm>
              <a:off x="2986" y="2470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8458" name="Line 22"/>
            <p:cNvSpPr>
              <a:spLocks noChangeShapeType="1"/>
            </p:cNvSpPr>
            <p:nvPr/>
          </p:nvSpPr>
          <p:spPr bwMode="auto">
            <a:xfrm>
              <a:off x="3082" y="2736"/>
              <a:ext cx="1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Text Box 23"/>
            <p:cNvSpPr txBox="1">
              <a:spLocks noChangeArrowheads="1"/>
            </p:cNvSpPr>
            <p:nvPr/>
          </p:nvSpPr>
          <p:spPr bwMode="auto">
            <a:xfrm>
              <a:off x="3034" y="3024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8460" name="Text Box 24"/>
            <p:cNvSpPr txBox="1">
              <a:spLocks noChangeArrowheads="1"/>
            </p:cNvSpPr>
            <p:nvPr/>
          </p:nvSpPr>
          <p:spPr bwMode="auto">
            <a:xfrm>
              <a:off x="193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655385" name="Oval 25"/>
          <p:cNvSpPr>
            <a:spLocks noChangeArrowheads="1"/>
          </p:cNvSpPr>
          <p:nvPr/>
        </p:nvSpPr>
        <p:spPr bwMode="auto">
          <a:xfrm>
            <a:off x="6041923" y="3276600"/>
            <a:ext cx="19812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386" name="Oval 26"/>
          <p:cNvSpPr>
            <a:spLocks noChangeArrowheads="1"/>
          </p:cNvSpPr>
          <p:nvPr/>
        </p:nvSpPr>
        <p:spPr bwMode="auto">
          <a:xfrm>
            <a:off x="8416822" y="3276600"/>
            <a:ext cx="609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animBg="1"/>
      <p:bldP spid="655385" grpId="0" animBg="1"/>
      <p:bldP spid="65538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二义性</a:t>
            </a:r>
            <a:endParaRPr lang="en-US" dirty="0"/>
          </a:p>
        </p:txBody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2" y="1524001"/>
            <a:ext cx="9601196" cy="4495800"/>
          </a:xfrm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宋体" pitchFamily="2" charset="-122"/>
              </a:rPr>
              <a:t>如果一个句子有两棵（或以上）不同的</a:t>
            </a: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语法</a:t>
            </a:r>
            <a:r>
              <a:rPr lang="zh-CN" altLang="en-US" dirty="0">
                <a:latin typeface="宋体" pitchFamily="2" charset="-122"/>
              </a:rPr>
              <a:t>树，即有两种（或以上）不同的语法结构，则该句子存在两种（或以上）不同的含义，称该句子存在</a:t>
            </a:r>
            <a:r>
              <a:rPr lang="zh-CN" altLang="en-US" sz="3200" b="1" dirty="0">
                <a:solidFill>
                  <a:srgbClr val="0000FF"/>
                </a:solidFill>
              </a:rPr>
              <a:t>二义性</a:t>
            </a:r>
            <a:r>
              <a:rPr lang="zh-CN" altLang="en-US" dirty="0">
                <a:latin typeface="宋体" pitchFamily="2" charset="-122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1FF33B49-DE05-4EBF-8E77-DC8BD2B31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289299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Times New Roman" pitchFamily="18" charset="0"/>
              </a:rPr>
              <a:t>E</a:t>
            </a:r>
          </a:p>
        </p:txBody>
      </p:sp>
      <p:sp>
        <p:nvSpPr>
          <p:cNvPr id="5" name="Line 11">
            <a:extLst>
              <a:ext uri="{FF2B5EF4-FFF2-40B4-BE49-F238E27FC236}">
                <a16:creationId xmlns:a16="http://schemas.microsoft.com/office/drawing/2014/main" id="{1F5F939E-CD72-4A4C-B328-0ADFDD2BF2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07363" y="3657600"/>
            <a:ext cx="6858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C05A0B16-F236-4E79-A887-A13E83BC0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7963" y="3657600"/>
            <a:ext cx="68580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" name="Line 13">
            <a:extLst>
              <a:ext uri="{FF2B5EF4-FFF2-40B4-BE49-F238E27FC236}">
                <a16:creationId xmlns:a16="http://schemas.microsoft.com/office/drawing/2014/main" id="{82BA0DC2-47CC-46F8-951F-631751B8E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5563" y="3733800"/>
            <a:ext cx="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E2C65BA0-D3B4-43CE-8BBB-629D2572B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5509" y="3970340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3E9343B3-F14C-4C54-B6D7-5EEB57F3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163" y="40132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0713A42C-AC03-4829-B429-3FDB5FF3D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288" y="400367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/>
              <a:t>*</a:t>
            </a: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099483D0-D55B-4C85-8A90-81865B2662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69163" y="4343400"/>
            <a:ext cx="6096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2" name="Line 18">
            <a:extLst>
              <a:ext uri="{FF2B5EF4-FFF2-40B4-BE49-F238E27FC236}">
                <a16:creationId xmlns:a16="http://schemas.microsoft.com/office/drawing/2014/main" id="{6622E83E-63BE-472C-A17A-8F137272B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3563" y="4343400"/>
            <a:ext cx="5334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7938C74D-CE92-4629-97B7-BCE10B33F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1163" y="4343400"/>
            <a:ext cx="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41CA2CA0-5646-4370-85CB-C2F7FAE4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46482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9389C212-C9BE-4008-83BF-23428D20E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4563" y="46482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0D9518CC-F811-445E-BF41-DE2607AD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4689475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+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4C5E4CEB-A54F-475A-90FE-C1A410D2E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63" y="51054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8" name="Line 24">
            <a:extLst>
              <a:ext uri="{FF2B5EF4-FFF2-40B4-BE49-F238E27FC236}">
                <a16:creationId xmlns:a16="http://schemas.microsoft.com/office/drawing/2014/main" id="{E89A3161-FA4C-40E9-8000-08CF86A8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1054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9A3BF9F0-A63F-4207-B662-9F6BD8B34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55626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CA6DE8A0-8AA9-479B-B151-08EBF0770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777" y="5562600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D6801856-E03B-4A3B-992E-FE19FF17A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7563" y="44196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9AAA9981-7FE8-4464-B694-8E5270366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163" y="49530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23" name="Text Box 34">
            <a:extLst>
              <a:ext uri="{FF2B5EF4-FFF2-40B4-BE49-F238E27FC236}">
                <a16:creationId xmlns:a16="http://schemas.microsoft.com/office/drawing/2014/main" id="{0F33767C-CBAB-4CE6-ADF5-46A9E5597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49" y="3233736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24" name="Line 36">
            <a:extLst>
              <a:ext uri="{FF2B5EF4-FFF2-40B4-BE49-F238E27FC236}">
                <a16:creationId xmlns:a16="http://schemas.microsoft.com/office/drawing/2014/main" id="{F17B0CD6-94F7-4179-AB86-CDECDFB3F8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3616325"/>
            <a:ext cx="6858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25" name="Line 37">
            <a:extLst>
              <a:ext uri="{FF2B5EF4-FFF2-40B4-BE49-F238E27FC236}">
                <a16:creationId xmlns:a16="http://schemas.microsoft.com/office/drawing/2014/main" id="{3EA08622-BFD9-42E4-A25E-B369C65EE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616325"/>
            <a:ext cx="68580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23E3B9C6-A9F9-4C18-85E3-C24076C03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692525"/>
            <a:ext cx="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27" name="Text Box 39">
            <a:extLst>
              <a:ext uri="{FF2B5EF4-FFF2-40B4-BE49-F238E27FC236}">
                <a16:creationId xmlns:a16="http://schemas.microsoft.com/office/drawing/2014/main" id="{6C82FEEC-DED3-4455-8DD6-A309A9492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9719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28" name="Text Box 40">
            <a:extLst>
              <a:ext uri="{FF2B5EF4-FFF2-40B4-BE49-F238E27FC236}">
                <a16:creationId xmlns:a16="http://schemas.microsoft.com/office/drawing/2014/main" id="{93DED669-630B-4C8C-85C3-208A90825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9973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29" name="Text Box 41">
            <a:extLst>
              <a:ext uri="{FF2B5EF4-FFF2-40B4-BE49-F238E27FC236}">
                <a16:creationId xmlns:a16="http://schemas.microsoft.com/office/drawing/2014/main" id="{8BCCCA03-F068-448E-AB24-1A3A8D59B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3962401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/>
              <a:t>+</a:t>
            </a:r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ACD7DE5C-E287-4AC6-902E-4A85001E82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4343400"/>
            <a:ext cx="6096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83F74BAB-0BA7-4435-8789-85A4DF2DD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343400"/>
            <a:ext cx="533400" cy="381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32" name="Line 44">
            <a:extLst>
              <a:ext uri="{FF2B5EF4-FFF2-40B4-BE49-F238E27FC236}">
                <a16:creationId xmlns:a16="http://schemas.microsoft.com/office/drawing/2014/main" id="{E17E527A-A3F0-434C-B0A7-3F6895C5D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419600"/>
            <a:ext cx="0" cy="457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33" name="Text Box 45">
            <a:extLst>
              <a:ext uri="{FF2B5EF4-FFF2-40B4-BE49-F238E27FC236}">
                <a16:creationId xmlns:a16="http://schemas.microsoft.com/office/drawing/2014/main" id="{F6A9933C-1E1C-472F-8636-BC762994D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6482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34" name="Text Box 46">
            <a:extLst>
              <a:ext uri="{FF2B5EF4-FFF2-40B4-BE49-F238E27FC236}">
                <a16:creationId xmlns:a16="http://schemas.microsoft.com/office/drawing/2014/main" id="{AE240BD4-77D7-44A9-99E1-35C80153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6069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E</a:t>
            </a:r>
          </a:p>
        </p:txBody>
      </p:sp>
      <p:sp>
        <p:nvSpPr>
          <p:cNvPr id="35" name="Text Box 47">
            <a:extLst>
              <a:ext uri="{FF2B5EF4-FFF2-40B4-BE49-F238E27FC236}">
                <a16:creationId xmlns:a16="http://schemas.microsoft.com/office/drawing/2014/main" id="{6293B6B9-A105-46C9-A688-EA845DDF0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8006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36" name="Line 48">
            <a:extLst>
              <a:ext uri="{FF2B5EF4-FFF2-40B4-BE49-F238E27FC236}">
                <a16:creationId xmlns:a16="http://schemas.microsoft.com/office/drawing/2014/main" id="{B2057B8C-E519-4860-BB33-25EA9C7DF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0292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37" name="Line 49">
            <a:extLst>
              <a:ext uri="{FF2B5EF4-FFF2-40B4-BE49-F238E27FC236}">
                <a16:creationId xmlns:a16="http://schemas.microsoft.com/office/drawing/2014/main" id="{0F924033-3DBE-45EB-9270-017ABD006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064125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38" name="Text Box 50">
            <a:extLst>
              <a:ext uri="{FF2B5EF4-FFF2-40B4-BE49-F238E27FC236}">
                <a16:creationId xmlns:a16="http://schemas.microsoft.com/office/drawing/2014/main" id="{ED5944B2-108C-41E2-B083-FD2C26383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5626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39" name="Text Box 51">
            <a:extLst>
              <a:ext uri="{FF2B5EF4-FFF2-40B4-BE49-F238E27FC236}">
                <a16:creationId xmlns:a16="http://schemas.microsoft.com/office/drawing/2014/main" id="{98938970-432D-48D6-82B6-373F82297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21325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i</a:t>
            </a:r>
          </a:p>
        </p:txBody>
      </p:sp>
      <p:sp>
        <p:nvSpPr>
          <p:cNvPr id="40" name="Line 52">
            <a:extLst>
              <a:ext uri="{FF2B5EF4-FFF2-40B4-BE49-F238E27FC236}">
                <a16:creationId xmlns:a16="http://schemas.microsoft.com/office/drawing/2014/main" id="{86F9983F-9586-44C2-9F53-E0A7940EC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343400"/>
            <a:ext cx="0" cy="533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41" name="Text Box 53">
            <a:extLst>
              <a:ext uri="{FF2B5EF4-FFF2-40B4-BE49-F238E27FC236}">
                <a16:creationId xmlns:a16="http://schemas.microsoft.com/office/drawing/2014/main" id="{40FE3B7A-0C84-4526-80C3-320A2301A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117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03280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文法产生的语言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873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文法 </a:t>
                </a:r>
                <a:r>
                  <a:rPr lang="en-US" altLang="zh-CN" dirty="0"/>
                  <a:t>G 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 V</a:t>
                </a:r>
                <a:r>
                  <a:rPr lang="en-US" altLang="zh-CN" baseline="-20000" dirty="0"/>
                  <a:t>T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V</a:t>
                </a:r>
                <a:r>
                  <a:rPr lang="en-US" altLang="zh-CN" baseline="-20000" dirty="0"/>
                  <a:t>N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 )</a:t>
                </a:r>
              </a:p>
              <a:p>
                <a:pPr>
                  <a:lnSpc>
                    <a:spcPct val="140000"/>
                  </a:lnSpc>
                </a:pPr>
                <a:r>
                  <a:rPr lang="zh-CN" altLang="en-US" dirty="0"/>
                  <a:t>产生的所有</a:t>
                </a:r>
                <a:r>
                  <a:rPr lang="zh-CN" altLang="en-US" sz="3200" b="1" dirty="0">
                    <a:solidFill>
                      <a:srgbClr val="0000FF"/>
                    </a:solidFill>
                  </a:rPr>
                  <a:t>句子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的</a:t>
                </a:r>
                <a:r>
                  <a:rPr lang="zh-CN" altLang="en-US" sz="3200" b="1" dirty="0">
                    <a:solidFill>
                      <a:srgbClr val="0000FF"/>
                    </a:solidFill>
                  </a:rPr>
                  <a:t>集合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称为由文法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产生的</a:t>
                </a:r>
                <a:r>
                  <a:rPr lang="zh-CN" altLang="en-US" sz="3200" b="1" dirty="0">
                    <a:solidFill>
                      <a:srgbClr val="0000FF"/>
                    </a:solidFill>
                  </a:rPr>
                  <a:t>语言</a:t>
                </a:r>
                <a:r>
                  <a:rPr lang="zh-CN" altLang="en-US" dirty="0"/>
                  <a:t>，记为</a:t>
                </a:r>
                <a:r>
                  <a:rPr lang="en-US" altLang="zh-CN" sz="3200" b="1" dirty="0">
                    <a:solidFill>
                      <a:srgbClr val="0000FF"/>
                    </a:solidFill>
                  </a:rPr>
                  <a:t>L(G)</a:t>
                </a:r>
                <a:r>
                  <a:rPr lang="zh-CN" altLang="en-US" dirty="0"/>
                  <a:t>，即</a:t>
                </a:r>
              </a:p>
              <a:p>
                <a:pPr>
                  <a:lnSpc>
                    <a:spcPct val="140000"/>
                  </a:lnSpc>
                </a:pPr>
                <a:r>
                  <a:rPr lang="en-US" altLang="zh-CN" dirty="0">
                    <a:ea typeface="仿宋_GB2312" pitchFamily="49" charset="-122"/>
                  </a:rPr>
                  <a:t>L(G) = { α │ </a:t>
                </a:r>
                <a:r>
                  <a:rPr lang="en-US" altLang="zh-CN" dirty="0">
                    <a:solidFill>
                      <a:srgbClr val="000000"/>
                    </a:solidFill>
                    <a:ea typeface="仿宋_GB2312" pitchFamily="49" charset="-122"/>
                  </a:rPr>
                  <a:t>S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>
                    <a:sym typeface="Symbol" pitchFamily="18" charset="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仿宋_GB2312" pitchFamily="49" charset="-122"/>
                  </a:rPr>
                  <a:t>α </a:t>
                </a:r>
                <a:r>
                  <a:rPr lang="zh-CN" altLang="en-US" sz="3200" dirty="0">
                    <a:sym typeface="Symbol" pitchFamily="18" charset="2"/>
                  </a:rPr>
                  <a:t>且 </a:t>
                </a:r>
                <a:r>
                  <a:rPr lang="en-US" altLang="zh-CN" dirty="0">
                    <a:ea typeface="仿宋_GB2312" pitchFamily="49" charset="-122"/>
                  </a:rPr>
                  <a:t>α </a:t>
                </a:r>
                <a:r>
                  <a:rPr lang="en-US" altLang="zh-CN" dirty="0">
                    <a:ea typeface="仿宋_GB2312" pitchFamily="49" charset="-122"/>
                    <a:sym typeface="Symbol" pitchFamily="18" charset="2"/>
                  </a:rPr>
                  <a:t>V</a:t>
                </a:r>
                <a:r>
                  <a:rPr lang="en-US" altLang="zh-CN" baseline="-20000" dirty="0">
                    <a:ea typeface="仿宋_GB2312" pitchFamily="49" charset="-122"/>
                    <a:sym typeface="Symbol" pitchFamily="18" charset="2"/>
                  </a:rPr>
                  <a:t>T </a:t>
                </a:r>
                <a:r>
                  <a:rPr lang="en-US" altLang="zh-CN" baseline="30000" dirty="0">
                    <a:solidFill>
                      <a:srgbClr val="000000"/>
                    </a:solidFill>
                    <a:ea typeface="仿宋_GB2312" pitchFamily="49" charset="-122"/>
                  </a:rPr>
                  <a:t>*</a:t>
                </a:r>
                <a:r>
                  <a:rPr lang="en-US" altLang="zh-CN" baseline="-20000" dirty="0">
                    <a:ea typeface="仿宋_GB2312" pitchFamily="49" charset="-122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仿宋_GB2312" pitchFamily="49" charset="-122"/>
                  </a:rPr>
                  <a:t>}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287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1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1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文法的重要特性：用</a:t>
            </a:r>
            <a:r>
              <a:rPr lang="zh-CN" altLang="en-US" sz="3200" b="1" dirty="0">
                <a:solidFill>
                  <a:srgbClr val="0000FF"/>
                </a:solidFill>
              </a:rPr>
              <a:t>有限</a:t>
            </a:r>
            <a:r>
              <a:rPr lang="zh-CN" altLang="en-US" dirty="0"/>
              <a:t>规则描述</a:t>
            </a:r>
            <a:r>
              <a:rPr lang="zh-CN" altLang="en-US" sz="3200" b="1" dirty="0">
                <a:solidFill>
                  <a:srgbClr val="0000FF"/>
                </a:solidFill>
              </a:rPr>
              <a:t>无穷</a:t>
            </a:r>
            <a:r>
              <a:rPr lang="zh-CN" altLang="en-US" dirty="0"/>
              <a:t>的语言。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文法的等价：对两个文法</a:t>
            </a:r>
            <a:r>
              <a:rPr lang="en-US" altLang="zh-CN" dirty="0"/>
              <a:t>G</a:t>
            </a:r>
            <a:r>
              <a:rPr lang="zh-CN" altLang="en-US" dirty="0"/>
              <a:t>和</a:t>
            </a:r>
            <a:r>
              <a:rPr lang="en-US" altLang="zh-CN" dirty="0"/>
              <a:t>G’</a:t>
            </a:r>
            <a:r>
              <a:rPr lang="zh-CN" altLang="en-US" dirty="0"/>
              <a:t>，如果</a:t>
            </a:r>
            <a:r>
              <a:rPr lang="en-US" altLang="zh-CN" sz="3200" b="1" dirty="0">
                <a:solidFill>
                  <a:srgbClr val="0000FF"/>
                </a:solidFill>
              </a:rPr>
              <a:t>L(G) = L(G’)</a:t>
            </a:r>
            <a:r>
              <a:rPr lang="zh-CN" altLang="en-US" dirty="0"/>
              <a:t>，则称文法</a:t>
            </a:r>
            <a:r>
              <a:rPr lang="en-US" altLang="zh-CN" dirty="0"/>
              <a:t>G</a:t>
            </a:r>
            <a:r>
              <a:rPr lang="zh-CN" altLang="en-US" dirty="0"/>
              <a:t>和文法</a:t>
            </a:r>
            <a:r>
              <a:rPr lang="en-US" altLang="zh-CN" dirty="0"/>
              <a:t>G’</a:t>
            </a:r>
            <a:r>
              <a:rPr lang="zh-CN" altLang="en-US" sz="3200" b="1" dirty="0">
                <a:solidFill>
                  <a:srgbClr val="0000FF"/>
                </a:solidFill>
              </a:rPr>
              <a:t>等价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9642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陈述句</a:t>
            </a:r>
            <a:r>
              <a:rPr lang="en-US" altLang="zh-CN" dirty="0"/>
              <a:t>&gt; → &lt;</a:t>
            </a:r>
            <a:r>
              <a:rPr lang="zh-CN" altLang="en-US" dirty="0"/>
              <a:t>主语</a:t>
            </a:r>
            <a:r>
              <a:rPr lang="en-US" altLang="zh-CN" dirty="0"/>
              <a:t>&gt; &lt;</a:t>
            </a:r>
            <a:r>
              <a:rPr lang="zh-CN" altLang="en-US" dirty="0"/>
              <a:t>谓语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主语</a:t>
            </a:r>
            <a:r>
              <a:rPr lang="en-US" altLang="zh-CN" dirty="0"/>
              <a:t>&gt; → I | Students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谓语</a:t>
            </a:r>
            <a:r>
              <a:rPr lang="en-US" altLang="zh-CN" dirty="0"/>
              <a:t>&gt; → study | run</a:t>
            </a:r>
          </a:p>
          <a:p>
            <a:endParaRPr lang="en-US" altLang="zh-CN" dirty="0"/>
          </a:p>
          <a:p>
            <a:r>
              <a:rPr lang="zh-CN" altLang="en-US" dirty="0"/>
              <a:t>语言：一种简单的陈述句。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50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字母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 &lt;</a:t>
            </a:r>
            <a:r>
              <a:rPr lang="zh-CN" altLang="en-US" dirty="0"/>
              <a:t>字母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标识符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 &lt;</a:t>
            </a:r>
            <a:r>
              <a:rPr lang="zh-CN" altLang="en-US" dirty="0"/>
              <a:t>数字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字母</a:t>
            </a:r>
            <a:r>
              <a:rPr lang="en-US" altLang="zh-CN" dirty="0"/>
              <a:t>&gt; → A | … | Z | a | … | z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数字</a:t>
            </a:r>
            <a:r>
              <a:rPr lang="en-US" altLang="zh-CN" dirty="0"/>
              <a:t>&gt; → 0 | … | 9</a:t>
            </a:r>
          </a:p>
          <a:p>
            <a:endParaRPr lang="en-US" altLang="zh-CN" dirty="0"/>
          </a:p>
          <a:p>
            <a:r>
              <a:rPr lang="zh-CN" altLang="en-US" dirty="0"/>
              <a:t>语言：字母开头，后跟若干字母或数字的标识符。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5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( &lt;</a:t>
            </a:r>
            <a:r>
              <a:rPr lang="zh-CN" altLang="en-US" dirty="0"/>
              <a:t>表达式</a:t>
            </a:r>
            <a:r>
              <a:rPr lang="en-US" altLang="zh-CN" dirty="0"/>
              <a:t>&gt; )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 → &lt;</a:t>
            </a:r>
            <a:r>
              <a:rPr lang="zh-CN" altLang="en-US" dirty="0"/>
              <a:t>表达式</a:t>
            </a:r>
            <a:r>
              <a:rPr lang="en-US" altLang="zh-CN" dirty="0"/>
              <a:t>&gt; &lt;</a:t>
            </a:r>
            <a:r>
              <a:rPr lang="zh-CN" altLang="en-US" dirty="0"/>
              <a:t>运算符</a:t>
            </a:r>
            <a:r>
              <a:rPr lang="en-US" altLang="zh-CN" dirty="0"/>
              <a:t>&gt;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运算符</a:t>
            </a:r>
            <a:r>
              <a:rPr lang="en-US" altLang="zh-CN" dirty="0"/>
              <a:t>&gt; → + | - | * | /</a:t>
            </a:r>
          </a:p>
          <a:p>
            <a:endParaRPr lang="en-US" altLang="zh-CN" dirty="0"/>
          </a:p>
          <a:p>
            <a:r>
              <a:rPr lang="zh-CN" altLang="en-US" dirty="0"/>
              <a:t>语言：由标识符和四则混合运算及括号构成的表达式。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189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4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 → E + T | T</a:t>
            </a:r>
          </a:p>
          <a:p>
            <a:r>
              <a:rPr lang="en-US" altLang="zh-CN" dirty="0"/>
              <a:t>T → T * F | F</a:t>
            </a:r>
          </a:p>
          <a:p>
            <a:r>
              <a:rPr lang="en-US" altLang="zh-CN" dirty="0"/>
              <a:t>F → ( E 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语言：由符号 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+</a:t>
            </a:r>
            <a:r>
              <a:rPr lang="zh-CN" altLang="en-US" dirty="0"/>
              <a:t>、*、</a:t>
            </a:r>
            <a:r>
              <a:rPr lang="en-US" altLang="zh-CN" dirty="0"/>
              <a:t>(</a:t>
            </a:r>
            <a:r>
              <a:rPr lang="zh-CN" altLang="en-US" dirty="0"/>
              <a:t>、</a:t>
            </a:r>
            <a:r>
              <a:rPr lang="en-US" altLang="zh-CN" dirty="0"/>
              <a:t>)</a:t>
            </a:r>
            <a:r>
              <a:rPr lang="zh-CN" altLang="en-US" dirty="0"/>
              <a:t>构成的表达式。</a:t>
            </a:r>
          </a:p>
        </p:txBody>
      </p:sp>
    </p:spTree>
    <p:extLst>
      <p:ext uri="{BB962C8B-B14F-4D97-AF65-F5344CB8AC3E}">
        <p14:creationId xmlns:p14="http://schemas.microsoft.com/office/powerpoint/2010/main" val="307509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5</a:t>
            </a: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dirty="0"/>
              <a:t>S → 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dirty="0" err="1"/>
              <a:t>aB</a:t>
            </a:r>
            <a:endParaRPr lang="en-US" altLang="zh-CN" dirty="0"/>
          </a:p>
          <a:p>
            <a:pPr algn="just"/>
            <a:r>
              <a:rPr lang="en-US" altLang="zh-CN" dirty="0"/>
              <a:t>B → </a:t>
            </a:r>
            <a:r>
              <a:rPr lang="en-US" altLang="zh-CN" dirty="0" err="1"/>
              <a:t>bB</a:t>
            </a:r>
            <a:r>
              <a:rPr lang="en-US" altLang="zh-CN" dirty="0"/>
              <a:t> | </a:t>
            </a:r>
            <a:r>
              <a:rPr lang="en-US" altLang="zh-CN" dirty="0" err="1"/>
              <a:t>bC</a:t>
            </a:r>
            <a:endParaRPr lang="en-US" altLang="zh-CN" dirty="0"/>
          </a:p>
          <a:p>
            <a:pPr algn="just"/>
            <a:r>
              <a:rPr lang="en-US" altLang="zh-CN" dirty="0"/>
              <a:t>C→ </a:t>
            </a:r>
            <a:r>
              <a:rPr lang="en-US" altLang="zh-CN" dirty="0" err="1"/>
              <a:t>cC</a:t>
            </a:r>
            <a:r>
              <a:rPr lang="en-US" altLang="zh-CN" dirty="0"/>
              <a:t> | c</a:t>
            </a:r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语言：</a:t>
            </a:r>
            <a:r>
              <a:rPr lang="en-US" altLang="zh-CN" dirty="0"/>
              <a:t> {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</a:t>
            </a:r>
            <a:r>
              <a:rPr lang="en-US" altLang="zh-CN" baseline="30000" dirty="0" err="1">
                <a:sym typeface="Symbol" pitchFamily="18" charset="2"/>
              </a:rPr>
              <a:t>j</a:t>
            </a:r>
            <a:r>
              <a:rPr lang="en-US" altLang="zh-CN" dirty="0" err="1">
                <a:sym typeface="Symbol" pitchFamily="18" charset="2"/>
              </a:rPr>
              <a:t>c</a:t>
            </a:r>
            <a:r>
              <a:rPr lang="en-US" altLang="zh-CN" baseline="30000" dirty="0" err="1">
                <a:sym typeface="Symbol" pitchFamily="18" charset="2"/>
              </a:rPr>
              <a:t>k</a:t>
            </a:r>
            <a:r>
              <a:rPr lang="en-US" altLang="zh-CN" dirty="0"/>
              <a:t> | </a:t>
            </a:r>
            <a:r>
              <a:rPr lang="en-US" altLang="zh-CN" dirty="0" err="1"/>
              <a:t>i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en-US" altLang="zh-CN" dirty="0">
                <a:sym typeface="Symbol" pitchFamily="18" charset="2"/>
              </a:rPr>
              <a:t></a:t>
            </a:r>
            <a:r>
              <a:rPr lang="en-US" altLang="zh-CN" dirty="0"/>
              <a:t>1}</a:t>
            </a:r>
          </a:p>
        </p:txBody>
      </p:sp>
    </p:spTree>
    <p:extLst>
      <p:ext uri="{BB962C8B-B14F-4D97-AF65-F5344CB8AC3E}">
        <p14:creationId xmlns:p14="http://schemas.microsoft.com/office/powerpoint/2010/main" val="186371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语言实例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dirty="0">
                <a:ea typeface="仿宋_GB2312" pitchFamily="49" charset="-122"/>
              </a:rPr>
              <a:t>S → </a:t>
            </a:r>
            <a:r>
              <a:rPr lang="en-US" altLang="zh-CN" dirty="0" err="1">
                <a:ea typeface="仿宋_GB2312" pitchFamily="49" charset="-122"/>
              </a:rPr>
              <a:t>aSBC</a:t>
            </a:r>
            <a:r>
              <a:rPr lang="en-US" altLang="zh-CN" dirty="0">
                <a:ea typeface="仿宋_GB2312" pitchFamily="49" charset="-122"/>
              </a:rPr>
              <a:t> │ </a:t>
            </a:r>
            <a:r>
              <a:rPr lang="en-US" altLang="zh-CN" dirty="0" err="1">
                <a:ea typeface="仿宋_GB2312" pitchFamily="49" charset="-122"/>
              </a:rPr>
              <a:t>abC</a:t>
            </a:r>
            <a:endParaRPr lang="en-US" altLang="zh-CN" dirty="0">
              <a:ea typeface="仿宋_GB2312" pitchFamily="49" charset="-122"/>
            </a:endParaRPr>
          </a:p>
          <a:p>
            <a:pPr algn="just"/>
            <a:r>
              <a:rPr lang="en-US" altLang="zh-CN" dirty="0">
                <a:ea typeface="仿宋_GB2312" pitchFamily="49" charset="-122"/>
              </a:rPr>
              <a:t>CB → BC</a:t>
            </a:r>
          </a:p>
          <a:p>
            <a:pPr algn="just"/>
            <a:r>
              <a:rPr lang="en-US" altLang="zh-CN" dirty="0" err="1">
                <a:ea typeface="仿宋_GB2312" pitchFamily="49" charset="-122"/>
              </a:rPr>
              <a:t>bB</a:t>
            </a:r>
            <a:r>
              <a:rPr lang="en-US" altLang="zh-CN" dirty="0">
                <a:ea typeface="仿宋_GB2312" pitchFamily="49" charset="-122"/>
              </a:rPr>
              <a:t> → bb</a:t>
            </a:r>
          </a:p>
          <a:p>
            <a:pPr algn="just"/>
            <a:r>
              <a:rPr lang="en-US" altLang="zh-CN" dirty="0" err="1">
                <a:ea typeface="仿宋_GB2312" pitchFamily="49" charset="-122"/>
              </a:rPr>
              <a:t>bC</a:t>
            </a:r>
            <a:r>
              <a:rPr lang="en-US" altLang="zh-CN" dirty="0">
                <a:ea typeface="仿宋_GB2312" pitchFamily="49" charset="-122"/>
              </a:rPr>
              <a:t> → </a:t>
            </a:r>
            <a:r>
              <a:rPr lang="en-US" altLang="zh-CN" dirty="0" err="1">
                <a:ea typeface="仿宋_GB2312" pitchFamily="49" charset="-122"/>
              </a:rPr>
              <a:t>bc</a:t>
            </a:r>
            <a:endParaRPr lang="en-US" altLang="zh-CN" dirty="0">
              <a:ea typeface="仿宋_GB2312" pitchFamily="49" charset="-122"/>
            </a:endParaRPr>
          </a:p>
          <a:p>
            <a:pPr algn="just"/>
            <a:r>
              <a:rPr lang="en-US" altLang="zh-CN" dirty="0" err="1">
                <a:ea typeface="仿宋_GB2312" pitchFamily="49" charset="-122"/>
              </a:rPr>
              <a:t>cC</a:t>
            </a:r>
            <a:r>
              <a:rPr lang="en-US" altLang="zh-CN" dirty="0">
                <a:ea typeface="仿宋_GB2312" pitchFamily="49" charset="-122"/>
              </a:rPr>
              <a:t> → cc</a:t>
            </a:r>
          </a:p>
        </p:txBody>
      </p:sp>
    </p:spTree>
    <p:extLst>
      <p:ext uri="{BB962C8B-B14F-4D97-AF65-F5344CB8AC3E}">
        <p14:creationId xmlns:p14="http://schemas.microsoft.com/office/powerpoint/2010/main" val="11189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  </a:t>
            </a:r>
            <a:r>
              <a:rPr lang="en-US" altLang="zh-CN" dirty="0">
                <a:sym typeface="Symbol" pitchFamily="18" charset="2"/>
              </a:rPr>
              <a:t>…  a</a:t>
            </a:r>
            <a:r>
              <a:rPr lang="en-US" altLang="zh-CN" baseline="30000" dirty="0">
                <a:sym typeface="Symbol" pitchFamily="18" charset="2"/>
              </a:rPr>
              <a:t>i-1</a:t>
            </a:r>
            <a:r>
              <a:rPr lang="en-US" altLang="zh-CN" dirty="0">
                <a:sym typeface="Symbol" pitchFamily="18" charset="2"/>
              </a:rPr>
              <a:t>S(BC)</a:t>
            </a:r>
            <a:r>
              <a:rPr lang="en-US" altLang="zh-CN" baseline="30000" dirty="0">
                <a:sym typeface="Symbol" pitchFamily="18" charset="2"/>
              </a:rPr>
              <a:t>i-1</a:t>
            </a:r>
          </a:p>
          <a:p>
            <a:r>
              <a:rPr lang="en-US" altLang="zh-CN" dirty="0">
                <a:sym typeface="Symbol" pitchFamily="18" charset="2"/>
              </a:rPr>
              <a:t> a</a:t>
            </a:r>
            <a:r>
              <a:rPr lang="en-US" altLang="zh-CN" baseline="30000" dirty="0">
                <a:sym typeface="Symbol" pitchFamily="18" charset="2"/>
              </a:rPr>
              <a:t>i-</a:t>
            </a:r>
            <a:r>
              <a:rPr lang="en-US" altLang="zh-CN" baseline="30000" dirty="0" err="1">
                <a:sym typeface="Symbol" pitchFamily="18" charset="2"/>
              </a:rPr>
              <a:t>1</a:t>
            </a:r>
            <a:r>
              <a:rPr lang="en-US" altLang="zh-CN" dirty="0" err="1">
                <a:sym typeface="Symbol" pitchFamily="18" charset="2"/>
              </a:rPr>
              <a:t>abC</a:t>
            </a:r>
            <a:r>
              <a:rPr lang="en-US" altLang="zh-CN" dirty="0">
                <a:sym typeface="Symbol" pitchFamily="18" charset="2"/>
              </a:rPr>
              <a:t>(BC)</a:t>
            </a:r>
            <a:r>
              <a:rPr lang="en-US" altLang="zh-CN" baseline="30000" dirty="0">
                <a:sym typeface="Symbol" pitchFamily="18" charset="2"/>
              </a:rPr>
              <a:t>i-1</a:t>
            </a:r>
          </a:p>
          <a:p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bB</a:t>
            </a:r>
            <a:r>
              <a:rPr lang="en-US" altLang="zh-CN" baseline="30000" dirty="0" err="1">
                <a:sym typeface="Symbol" pitchFamily="18" charset="2"/>
              </a:rPr>
              <a:t>i-1</a:t>
            </a:r>
            <a:r>
              <a:rPr lang="en-US" altLang="zh-CN" dirty="0" err="1">
                <a:sym typeface="Symbol" pitchFamily="18" charset="2"/>
              </a:rPr>
              <a:t>C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baseline="30000" dirty="0">
                <a:sym typeface="Symbol" pitchFamily="18" charset="2"/>
              </a:rPr>
              <a:t>   </a:t>
            </a:r>
            <a:r>
              <a:rPr lang="en-US" altLang="zh-CN" dirty="0">
                <a:sym typeface="Symbol" pitchFamily="18" charset="2"/>
              </a:rPr>
              <a:t>…</a:t>
            </a:r>
          </a:p>
          <a:p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C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baseline="30000" dirty="0">
                <a:sym typeface="Symbol" pitchFamily="18" charset="2"/>
              </a:rPr>
              <a:t>   </a:t>
            </a:r>
            <a:r>
              <a:rPr lang="en-US" altLang="zh-CN" dirty="0">
                <a:sym typeface="Symbol" pitchFamily="18" charset="2"/>
              </a:rPr>
              <a:t>…</a:t>
            </a:r>
            <a:endParaRPr lang="en-US" altLang="zh-CN" baseline="30000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cC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baseline="30000" dirty="0">
                <a:sym typeface="Symbol" pitchFamily="18" charset="2"/>
              </a:rPr>
              <a:t>-1  </a:t>
            </a:r>
            <a:r>
              <a:rPr lang="en-US" altLang="zh-CN" dirty="0">
                <a:sym typeface="Symbol" pitchFamily="18" charset="2"/>
              </a:rPr>
              <a:t>…</a:t>
            </a:r>
            <a:endParaRPr lang="en-US" altLang="zh-CN" baseline="30000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c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endParaRPr lang="en-US" altLang="zh-CN" baseline="30000" dirty="0">
              <a:sym typeface="Symbol" pitchFamily="18" charset="2"/>
            </a:endParaRPr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语言：</a:t>
            </a:r>
            <a:r>
              <a:rPr lang="en-US" altLang="zh-CN" dirty="0"/>
              <a:t>{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b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 err="1">
                <a:sym typeface="Symbol" pitchFamily="18" charset="2"/>
              </a:rPr>
              <a:t>c</a:t>
            </a:r>
            <a:r>
              <a:rPr lang="en-US" altLang="zh-CN" baseline="30000" dirty="0" err="1">
                <a:sym typeface="Symbol" pitchFamily="18" charset="2"/>
              </a:rPr>
              <a:t>i</a:t>
            </a:r>
            <a:r>
              <a:rPr lang="en-US" altLang="zh-CN" dirty="0"/>
              <a:t> | </a:t>
            </a:r>
            <a:r>
              <a:rPr lang="en-US" altLang="zh-CN" dirty="0" err="1">
                <a:ea typeface="仿宋_GB2312" pitchFamily="49" charset="-122"/>
              </a:rPr>
              <a:t>i</a:t>
            </a:r>
            <a:r>
              <a:rPr lang="en-US" altLang="zh-CN" dirty="0">
                <a:ea typeface="仿宋_GB2312" pitchFamily="49" charset="-122"/>
              </a:rPr>
              <a:t> </a:t>
            </a:r>
            <a:r>
              <a:rPr lang="en-US" altLang="zh-CN" dirty="0">
                <a:ea typeface="仿宋_GB2312" pitchFamily="49" charset="-122"/>
                <a:sym typeface="Symbol" pitchFamily="18" charset="2"/>
              </a:rPr>
              <a:t></a:t>
            </a:r>
            <a:r>
              <a:rPr lang="en-US" altLang="zh-CN" dirty="0">
                <a:ea typeface="仿宋_GB2312" pitchFamily="49" charset="-122"/>
              </a:rPr>
              <a:t>1</a:t>
            </a:r>
            <a:r>
              <a:rPr lang="en-US" altLang="zh-CN" dirty="0"/>
              <a:t>}</a:t>
            </a:r>
            <a:endParaRPr lang="en-US" altLang="zh-CN" baseline="300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680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2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2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语言的设计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200" dirty="0"/>
              <a:t>程序设计语言主要由两部分组成：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r>
              <a:rPr lang="zh-CN" altLang="en-US" sz="3200" b="1" dirty="0">
                <a:solidFill>
                  <a:srgbClr val="0000FF"/>
                </a:solidFill>
              </a:rPr>
              <a:t>语言</a:t>
            </a:r>
            <a:r>
              <a:rPr lang="zh-CN" altLang="en-US" dirty="0"/>
              <a:t> </a:t>
            </a:r>
            <a:r>
              <a:rPr lang="en-US" altLang="zh-CN" dirty="0"/>
              <a:t>= </a:t>
            </a:r>
            <a:r>
              <a:rPr lang="zh-CN" altLang="en-US" sz="3200" b="1" dirty="0">
                <a:solidFill>
                  <a:srgbClr val="0000FF"/>
                </a:solidFill>
              </a:rPr>
              <a:t>语法</a:t>
            </a:r>
            <a:r>
              <a:rPr lang="zh-CN" altLang="en-US" dirty="0"/>
              <a:t> </a:t>
            </a:r>
            <a:r>
              <a:rPr lang="en-US" altLang="zh-CN" dirty="0"/>
              <a:t>+ </a:t>
            </a:r>
            <a:r>
              <a:rPr lang="zh-CN" altLang="en-US" sz="3200" b="1" dirty="0">
                <a:solidFill>
                  <a:srgbClr val="0000FF"/>
                </a:solidFill>
              </a:rPr>
              <a:t>语义</a:t>
            </a:r>
          </a:p>
          <a:p>
            <a:r>
              <a:rPr lang="zh-CN" altLang="en-US" sz="3200" b="1" dirty="0">
                <a:solidFill>
                  <a:srgbClr val="0000FF"/>
                </a:solidFill>
              </a:rPr>
              <a:t>语法</a:t>
            </a:r>
            <a:r>
              <a:rPr lang="zh-CN" altLang="en-US" dirty="0"/>
              <a:t>：用以构造程序及其成分（语法单位）的规则的集合。</a:t>
            </a:r>
          </a:p>
          <a:p>
            <a:r>
              <a:rPr lang="zh-CN" altLang="en-US" sz="3200" b="1" dirty="0">
                <a:solidFill>
                  <a:srgbClr val="0000FF"/>
                </a:solidFill>
              </a:rPr>
              <a:t>语义</a:t>
            </a:r>
            <a:r>
              <a:rPr lang="zh-CN" altLang="en-US" dirty="0"/>
              <a:t>：用以规定语法正确的语法单位的含义的规则的集合。</a:t>
            </a:r>
          </a:p>
        </p:txBody>
      </p:sp>
    </p:spTree>
    <p:extLst>
      <p:ext uri="{BB962C8B-B14F-4D97-AF65-F5344CB8AC3E}">
        <p14:creationId xmlns:p14="http://schemas.microsoft.com/office/powerpoint/2010/main" val="61715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表达式的设计</a:t>
            </a:r>
            <a:endParaRPr lang="en-US" altLang="zh-CN" dirty="0"/>
          </a:p>
          <a:p>
            <a:r>
              <a:rPr lang="zh-CN" altLang="en-US" dirty="0"/>
              <a:t>语句的设计</a:t>
            </a:r>
            <a:endParaRPr lang="en-US" altLang="zh-CN" dirty="0"/>
          </a:p>
          <a:p>
            <a:r>
              <a:rPr lang="zh-CN" altLang="en-US" dirty="0"/>
              <a:t>程序单元的设计</a:t>
            </a:r>
            <a:endParaRPr lang="en-US" altLang="zh-CN" dirty="0"/>
          </a:p>
          <a:p>
            <a:r>
              <a:rPr lang="zh-CN" altLang="en-US" dirty="0"/>
              <a:t>程序的设计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48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C-</a:t>
            </a:r>
            <a:r>
              <a:rPr lang="zh-CN" altLang="en-US" dirty="0"/>
              <a:t>语言的设计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语言的设计</a:t>
            </a:r>
          </a:p>
          <a:p>
            <a:r>
              <a:rPr lang="en-US" altLang="zh-CN" dirty="0"/>
              <a:t>C++</a:t>
            </a:r>
            <a:r>
              <a:rPr lang="zh-CN" altLang="en-US" dirty="0"/>
              <a:t>语言的设计</a:t>
            </a:r>
          </a:p>
          <a:p>
            <a:r>
              <a:rPr lang="en-US" altLang="zh-CN" dirty="0"/>
              <a:t>Java</a:t>
            </a:r>
            <a:r>
              <a:rPr lang="zh-CN" altLang="en-US" dirty="0"/>
              <a:t>语言的设计</a:t>
            </a:r>
          </a:p>
        </p:txBody>
      </p:sp>
    </p:spTree>
    <p:extLst>
      <p:ext uri="{BB962C8B-B14F-4D97-AF65-F5344CB8AC3E}">
        <p14:creationId xmlns:p14="http://schemas.microsoft.com/office/powerpoint/2010/main" val="177889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</a:t>
            </a:r>
            <a:r>
              <a:rPr lang="zh-CN" altLang="en-US" dirty="0"/>
              <a:t>练习</a:t>
            </a:r>
            <a:endParaRPr lang="en-US" dirty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根据</a:t>
            </a:r>
            <a:r>
              <a:rPr lang="en-US" altLang="zh-CN" dirty="0"/>
              <a:t>C-</a:t>
            </a:r>
            <a:r>
              <a:rPr lang="zh-CN" altLang="en-US" dirty="0"/>
              <a:t>语言的文法，画出一个简单的程序的语法树。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根据</a:t>
            </a:r>
            <a:r>
              <a:rPr lang="en-US" altLang="zh-CN" dirty="0"/>
              <a:t>C</a:t>
            </a:r>
            <a:r>
              <a:rPr lang="zh-CN" altLang="en-US" dirty="0"/>
              <a:t>语言的文法，画出一个简单的程序的语法树。</a:t>
            </a:r>
            <a:endParaRPr lang="en-US" altLang="zh-CN" dirty="0"/>
          </a:p>
          <a:p>
            <a:r>
              <a:rPr lang="en-US" altLang="zh-CN" dirty="0"/>
              <a:t>(3) </a:t>
            </a:r>
            <a:r>
              <a:rPr lang="zh-CN" altLang="en-US" dirty="0"/>
              <a:t>设计一个新语言的文法，画出一个简单的程序的语法树。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858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3989</TotalTime>
  <Words>1348</Words>
  <Application>Microsoft Office PowerPoint</Application>
  <PresentationFormat>宽屏</PresentationFormat>
  <Paragraphs>210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宋体</vt:lpstr>
      <vt:lpstr>Arial</vt:lpstr>
      <vt:lpstr>Cambria Math</vt:lpstr>
      <vt:lpstr>Corbel</vt:lpstr>
      <vt:lpstr>Times New Roman</vt:lpstr>
      <vt:lpstr>环保</vt:lpstr>
      <vt:lpstr>文法与语言</vt:lpstr>
      <vt:lpstr>1. 文法</vt:lpstr>
      <vt:lpstr>产生式</vt:lpstr>
      <vt:lpstr>PowerPoint 演示文稿</vt:lpstr>
      <vt:lpstr>PowerPoint 演示文稿</vt:lpstr>
      <vt:lpstr>2. 语言</vt:lpstr>
      <vt:lpstr>PowerPoint 演示文稿</vt:lpstr>
      <vt:lpstr>推导实例</vt:lpstr>
      <vt:lpstr>推导方法2</vt:lpstr>
      <vt:lpstr>推导方法3</vt:lpstr>
      <vt:lpstr>句型和句子</vt:lpstr>
      <vt:lpstr>句型与句子的关系</vt:lpstr>
      <vt:lpstr>语法树</vt:lpstr>
      <vt:lpstr>PowerPoint 演示文稿</vt:lpstr>
      <vt:lpstr>PowerPoint 演示文稿</vt:lpstr>
      <vt:lpstr>实例</vt:lpstr>
      <vt:lpstr>二义性</vt:lpstr>
      <vt:lpstr>文法产生的语言</vt:lpstr>
      <vt:lpstr>PowerPoint 演示文稿</vt:lpstr>
      <vt:lpstr>语言实例1</vt:lpstr>
      <vt:lpstr>语言实例2</vt:lpstr>
      <vt:lpstr>语言实例3</vt:lpstr>
      <vt:lpstr>语言实例4</vt:lpstr>
      <vt:lpstr>语言实例5</vt:lpstr>
      <vt:lpstr>语言实例6</vt:lpstr>
      <vt:lpstr>PowerPoint 演示文稿</vt:lpstr>
      <vt:lpstr>3. 语言的设计</vt:lpstr>
      <vt:lpstr>设计内容</vt:lpstr>
      <vt:lpstr>设计实例</vt:lpstr>
      <vt:lpstr>课后练习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1028</cp:revision>
  <cp:lastPrinted>1601-01-01T00:00:00Z</cp:lastPrinted>
  <dcterms:created xsi:type="dcterms:W3CDTF">1601-01-01T00:00:00Z</dcterms:created>
  <dcterms:modified xsi:type="dcterms:W3CDTF">2021-02-22T04:19:11Z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