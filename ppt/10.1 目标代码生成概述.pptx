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4"/>
  </p:notesMasterIdLst>
  <p:handoutMasterIdLst>
    <p:handoutMasterId r:id="rId15"/>
  </p:handoutMasterIdLst>
  <p:sldIdLst>
    <p:sldId id="370" r:id="rId2"/>
    <p:sldId id="257" r:id="rId3"/>
    <p:sldId id="258" r:id="rId4"/>
    <p:sldId id="259" r:id="rId5"/>
    <p:sldId id="371" r:id="rId6"/>
    <p:sldId id="372" r:id="rId7"/>
    <p:sldId id="373" r:id="rId8"/>
    <p:sldId id="374" r:id="rId9"/>
    <p:sldId id="377" r:id="rId10"/>
    <p:sldId id="375" r:id="rId11"/>
    <p:sldId id="376" r:id="rId12"/>
    <p:sldId id="378" r:id="rId1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89778" autoAdjust="0"/>
  </p:normalViewPr>
  <p:slideViewPr>
    <p:cSldViewPr>
      <p:cViewPr varScale="1">
        <p:scale>
          <a:sx n="94" d="100"/>
          <a:sy n="94" d="100"/>
        </p:scale>
        <p:origin x="1092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7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7366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292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596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第十章 目标代码生成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目标代码生成概述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简单代码生成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寄存器分配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存储空间分配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67BC837-BD63-48BE-9925-5D7273E2E2C7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目标代码生成的任务是将中间代码翻译成等价的目标代码。</a:t>
            </a:r>
          </a:p>
          <a:p>
            <a:r>
              <a:rPr lang="zh-CN" altLang="en-US" dirty="0"/>
              <a:t>输入：中间代码（三地址码）</a:t>
            </a:r>
          </a:p>
          <a:p>
            <a:r>
              <a:rPr lang="zh-CN" altLang="en-US" dirty="0"/>
              <a:t>输出：目标代码（汇编代码）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目标代码生成的任务</a:t>
            </a:r>
          </a:p>
        </p:txBody>
      </p:sp>
    </p:spTree>
    <p:extLst>
      <p:ext uri="{BB962C8B-B14F-4D97-AF65-F5344CB8AC3E}">
        <p14:creationId xmlns:p14="http://schemas.microsoft.com/office/powerpoint/2010/main" val="38001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针对特定的目标计算机，目标代码生成须要考虑的主要问题包括：</a:t>
            </a:r>
            <a:endParaRPr lang="en-US" altLang="zh-CN" dirty="0"/>
          </a:p>
          <a:p>
            <a:r>
              <a:rPr lang="en-US" altLang="zh-CN" dirty="0"/>
              <a:t>1.	</a:t>
            </a:r>
            <a:r>
              <a:rPr lang="zh-CN" altLang="en-US" dirty="0"/>
              <a:t>目标计算机的指令系统</a:t>
            </a:r>
          </a:p>
          <a:p>
            <a:r>
              <a:rPr lang="en-US" altLang="zh-CN" dirty="0"/>
              <a:t>2.	</a:t>
            </a:r>
            <a:r>
              <a:rPr lang="zh-CN" altLang="en-US" dirty="0"/>
              <a:t>目标计算机的寄存器分配</a:t>
            </a:r>
          </a:p>
          <a:p>
            <a:r>
              <a:rPr lang="en-US" altLang="zh-CN" dirty="0"/>
              <a:t>3.	</a:t>
            </a:r>
            <a:r>
              <a:rPr lang="zh-CN" altLang="en-US" dirty="0"/>
              <a:t>目标计算机的存储空间分配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7EE41DA-CBE1-41D7-9E12-B52CCA2E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主要问题</a:t>
            </a:r>
          </a:p>
        </p:txBody>
      </p:sp>
    </p:spTree>
    <p:extLst>
      <p:ext uri="{BB962C8B-B14F-4D97-AF65-F5344CB8AC3E}">
        <p14:creationId xmlns:p14="http://schemas.microsoft.com/office/powerpoint/2010/main" val="283455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GAM</a:t>
            </a:r>
            <a:r>
              <a:rPr lang="zh-CN" altLang="en-US" dirty="0"/>
              <a:t>（</a:t>
            </a:r>
            <a:r>
              <a:rPr lang="en-US" altLang="zh-CN" dirty="0"/>
              <a:t> General Abstract Machine </a:t>
            </a:r>
            <a:r>
              <a:rPr lang="zh-CN" altLang="en-US" dirty="0"/>
              <a:t>），一个冯</a:t>
            </a:r>
            <a:r>
              <a:rPr lang="en-US" altLang="zh-CN" dirty="0"/>
              <a:t>●</a:t>
            </a:r>
            <a:r>
              <a:rPr lang="zh-CN" altLang="en-US" dirty="0"/>
              <a:t>诺依曼体系结构的抽象计算机，目前（不代表将来）没有真实的硬件实现，可用虚拟机模拟实现。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	</a:t>
            </a:r>
            <a:r>
              <a:rPr lang="zh-CN" altLang="en-US" dirty="0"/>
              <a:t>寄存器</a:t>
            </a:r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存储空间</a:t>
            </a:r>
            <a:endParaRPr lang="en-US" altLang="zh-CN" dirty="0"/>
          </a:p>
          <a:p>
            <a:r>
              <a:rPr lang="en-US" altLang="zh-CN" dirty="0"/>
              <a:t>3.	</a:t>
            </a:r>
            <a:r>
              <a:rPr lang="zh-CN" altLang="en-US" dirty="0"/>
              <a:t>指令系统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63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20000" y="900000"/>
            <a:ext cx="10176600" cy="5237998"/>
          </a:xfrm>
        </p:spPr>
        <p:txBody>
          <a:bodyPr/>
          <a:lstStyle/>
          <a:p>
            <a:r>
              <a:rPr lang="zh-CN" altLang="en-US" dirty="0"/>
              <a:t>专用寄存器、通用寄存器，共</a:t>
            </a:r>
            <a:r>
              <a:rPr lang="en-US" altLang="zh-CN" dirty="0"/>
              <a:t>16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位寄存器。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专用寄存器</a:t>
            </a:r>
            <a:endParaRPr lang="pt-BR" altLang="zh-CN" dirty="0">
              <a:solidFill>
                <a:srgbClr val="EE853E"/>
              </a:solidFill>
            </a:endParaRPr>
          </a:p>
          <a:p>
            <a:r>
              <a:rPr lang="pt-BR" altLang="zh-CN" dirty="0"/>
              <a:t>R0</a:t>
            </a:r>
            <a:r>
              <a:rPr lang="zh-CN" altLang="en-US" dirty="0"/>
              <a:t>：标志位（</a:t>
            </a:r>
            <a:r>
              <a:rPr lang="pt-BR" altLang="zh-CN" dirty="0"/>
              <a:t>FLAG</a:t>
            </a:r>
            <a:r>
              <a:rPr lang="zh-CN" altLang="en-US" dirty="0"/>
              <a:t>）</a:t>
            </a:r>
            <a:endParaRPr lang="pt-BR" altLang="zh-CN" dirty="0"/>
          </a:p>
          <a:p>
            <a:r>
              <a:rPr lang="pt-BR" altLang="zh-CN" dirty="0"/>
              <a:t>R1</a:t>
            </a:r>
            <a:r>
              <a:rPr lang="zh-CN" altLang="en-US" dirty="0"/>
              <a:t>：指令指针（</a:t>
            </a:r>
            <a:r>
              <a:rPr lang="pt-BR" altLang="zh-CN" dirty="0"/>
              <a:t>IP</a:t>
            </a:r>
            <a:r>
              <a:rPr lang="zh-CN" altLang="en-US" dirty="0"/>
              <a:t>）</a:t>
            </a:r>
            <a:endParaRPr lang="pt-BR" altLang="zh-CN" dirty="0"/>
          </a:p>
          <a:p>
            <a:r>
              <a:rPr lang="pt-BR" altLang="zh-CN" dirty="0"/>
              <a:t>R2</a:t>
            </a:r>
            <a:r>
              <a:rPr lang="zh-CN" altLang="en-US" dirty="0"/>
              <a:t>：基址指针（</a:t>
            </a:r>
            <a:r>
              <a:rPr lang="pt-BR" altLang="zh-CN" dirty="0"/>
              <a:t>BP</a:t>
            </a:r>
            <a:r>
              <a:rPr lang="zh-CN" altLang="en-US" dirty="0"/>
              <a:t>）</a:t>
            </a:r>
            <a:endParaRPr lang="pt-BR" altLang="zh-CN" dirty="0"/>
          </a:p>
          <a:p>
            <a:r>
              <a:rPr lang="pt-BR" altLang="zh-CN" dirty="0"/>
              <a:t>R3</a:t>
            </a:r>
            <a:r>
              <a:rPr lang="zh-CN" altLang="en-US" dirty="0"/>
              <a:t>：跳转指针（</a:t>
            </a:r>
            <a:r>
              <a:rPr lang="pt-BR" altLang="zh-CN" dirty="0"/>
              <a:t>JP</a:t>
            </a:r>
            <a:r>
              <a:rPr lang="zh-CN" altLang="en-US" dirty="0"/>
              <a:t>）</a:t>
            </a:r>
            <a:endParaRPr lang="pt-BR" altLang="zh-CN" dirty="0"/>
          </a:p>
          <a:p>
            <a:r>
              <a:rPr lang="pt-BR" altLang="zh-CN" dirty="0"/>
              <a:t>R4</a:t>
            </a:r>
            <a:r>
              <a:rPr lang="zh-CN" altLang="en-US" dirty="0"/>
              <a:t>：临时结果（</a:t>
            </a:r>
            <a:r>
              <a:rPr lang="pt-BR" altLang="zh-CN" dirty="0"/>
              <a:t>TP</a:t>
            </a:r>
            <a:r>
              <a:rPr lang="zh-CN" altLang="en-US" dirty="0"/>
              <a:t>）</a:t>
            </a:r>
            <a:endParaRPr lang="pt-BR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寄存器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FF44EB-6082-43F7-9AF5-D01C47F8F55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pt-BR" dirty="0">
                <a:solidFill>
                  <a:srgbClr val="EE853E"/>
                </a:solidFill>
              </a:rPr>
              <a:t>通用寄存器</a:t>
            </a:r>
            <a:r>
              <a:rPr lang="zh-CN" altLang="pt-BR" dirty="0"/>
              <a:t> </a:t>
            </a:r>
            <a:endParaRPr lang="en-US" altLang="zh-CN" dirty="0"/>
          </a:p>
          <a:p>
            <a:r>
              <a:rPr lang="pt-BR" altLang="zh-CN" dirty="0"/>
              <a:t>R5 ~ R15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220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96BF0B9-9970-4B00-A90B-92EF7E2EF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代码空间、数据空间，共</a:t>
            </a:r>
            <a:r>
              <a:rPr lang="en-US" altLang="zh-CN" dirty="0" err="1"/>
              <a:t>4G</a:t>
            </a:r>
            <a:r>
              <a:rPr lang="zh-CN" altLang="en-US" dirty="0"/>
              <a:t>字节存储空间：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94E708-2C7B-410C-89C2-6E9E8FB8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存储空间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9C366DB-5A65-467B-B3AA-9AEE56BAF588}"/>
              </a:ext>
            </a:extLst>
          </p:cNvPr>
          <p:cNvGrpSpPr/>
          <p:nvPr/>
        </p:nvGrpSpPr>
        <p:grpSpPr>
          <a:xfrm>
            <a:off x="3657600" y="1600200"/>
            <a:ext cx="4821641" cy="4381620"/>
            <a:chOff x="3657600" y="1600200"/>
            <a:chExt cx="4821641" cy="438162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CF2D70E1-1E18-481B-AFB0-739CDA8AB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641" y="1638785"/>
              <a:ext cx="3276600" cy="426720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88FAA643-1EC9-410F-8370-5BCCA0F72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3772385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D53F9F06-6AF0-483B-8D0C-BC371ABD7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2385917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3B8B7A84-3D9C-4FC8-B3E3-F2A5D9318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3086585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1FB12E23-C796-41C6-A4E5-2ECB673A7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641" y="5248869"/>
              <a:ext cx="327660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DDE75E71-2AE3-4A2C-AC57-EAE731DBD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2918" y="1786720"/>
              <a:ext cx="800219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代码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22DE8267-9C2A-4751-878E-FCD354D8A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5141" y="2518984"/>
              <a:ext cx="1415772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静态数据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49085DE6-AD23-495F-964B-3E889F4E8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806" y="3185087"/>
              <a:ext cx="492443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栈</a:t>
              </a: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CD423946-1C03-41BD-8C76-4E3254E11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806" y="5353252"/>
              <a:ext cx="492443" cy="4616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堆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EE5A6CE5-01C2-40CB-ACBE-39CF6FA4F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3027" y="3772386"/>
              <a:ext cx="0" cy="457199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132574E9-FD96-44EF-BFB6-204981393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63027" y="4839185"/>
              <a:ext cx="0" cy="40968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CA3A2D25-6894-4393-A0E2-21BA634E8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793" y="4353082"/>
              <a:ext cx="74468" cy="73572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79F2E5D8-07A8-4AF4-BC2A-67459A689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793" y="4513364"/>
              <a:ext cx="74468" cy="73572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20" name="Oval 17">
              <a:extLst>
                <a:ext uri="{FF2B5EF4-FFF2-40B4-BE49-F238E27FC236}">
                  <a16:creationId xmlns:a16="http://schemas.microsoft.com/office/drawing/2014/main" id="{10893360-03E4-4C19-90D1-67CEC9C19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793" y="4665764"/>
              <a:ext cx="74468" cy="73572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 b="1">
                <a:solidFill>
                  <a:schemeClr val="bg1"/>
                </a:solidFill>
              </a:endParaRPr>
            </a:p>
          </p:txBody>
        </p:sp>
        <p:sp>
          <p:nvSpPr>
            <p:cNvPr id="21" name="Line 32">
              <a:extLst>
                <a:ext uri="{FF2B5EF4-FFF2-40B4-BE49-F238E27FC236}">
                  <a16:creationId xmlns:a16="http://schemas.microsoft.com/office/drawing/2014/main" id="{83CA1047-EA29-4A34-9139-4204D9665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2020" y="2047744"/>
              <a:ext cx="0" cy="348750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20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3A4033D-CBB9-4313-8D1B-6806688A7D2B}"/>
                </a:ext>
              </a:extLst>
            </p:cNvPr>
            <p:cNvSpPr txBox="1"/>
            <p:nvPr/>
          </p:nvSpPr>
          <p:spPr>
            <a:xfrm>
              <a:off x="3657600" y="1600200"/>
              <a:ext cx="1468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00000000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9DDF57D-44C1-4CB0-B369-1441A7512A24}"/>
                </a:ext>
              </a:extLst>
            </p:cNvPr>
            <p:cNvSpPr txBox="1"/>
            <p:nvPr/>
          </p:nvSpPr>
          <p:spPr>
            <a:xfrm>
              <a:off x="3657600" y="5581710"/>
              <a:ext cx="1468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FFFFFFFF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26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C77AE28-81CD-431F-BACD-8A3CCD1FD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精简指令集，每条指令占</a:t>
            </a:r>
            <a:r>
              <a:rPr lang="en-US" altLang="zh-CN" dirty="0"/>
              <a:t>8</a:t>
            </a:r>
            <a:r>
              <a:rPr lang="zh-CN" altLang="en-US" dirty="0"/>
              <a:t>个字节，分为</a:t>
            </a:r>
            <a:r>
              <a:rPr lang="en-US" altLang="zh-CN" dirty="0"/>
              <a:t>4</a:t>
            </a:r>
            <a:r>
              <a:rPr lang="zh-CN" altLang="en-US" dirty="0"/>
              <a:t>个字段。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字段</a:t>
            </a:r>
            <a:r>
              <a:rPr lang="en-US" altLang="zh-CN" dirty="0"/>
              <a:t>1</a:t>
            </a:r>
            <a:r>
              <a:rPr lang="zh-CN" altLang="en-US" dirty="0"/>
              <a:t>（第</a:t>
            </a:r>
            <a:r>
              <a:rPr lang="en-US" altLang="zh-CN" dirty="0"/>
              <a:t>1~</a:t>
            </a: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字节）：</a:t>
            </a:r>
            <a:r>
              <a:rPr lang="zh-CN" altLang="en-US" dirty="0">
                <a:solidFill>
                  <a:srgbClr val="EE853E"/>
                </a:solidFill>
              </a:rPr>
              <a:t>操作码</a:t>
            </a:r>
            <a:endParaRPr lang="en-US" altLang="zh-CN" dirty="0"/>
          </a:p>
          <a:p>
            <a:r>
              <a:rPr lang="zh-CN" altLang="en-US" dirty="0"/>
              <a:t>字段</a:t>
            </a:r>
            <a:r>
              <a:rPr lang="en-US" altLang="zh-CN" dirty="0"/>
              <a:t>2</a:t>
            </a:r>
            <a:r>
              <a:rPr lang="zh-CN" altLang="en-US" dirty="0"/>
              <a:t>（第</a:t>
            </a:r>
            <a:r>
              <a:rPr lang="en-US" altLang="zh-CN" dirty="0"/>
              <a:t>3</a:t>
            </a:r>
            <a:r>
              <a:rPr lang="zh-CN" altLang="en-US" dirty="0"/>
              <a:t>字节）：</a:t>
            </a:r>
            <a:r>
              <a:rPr lang="zh-CN" altLang="en-US" dirty="0">
                <a:solidFill>
                  <a:srgbClr val="EE853E"/>
                </a:solidFill>
              </a:rPr>
              <a:t>目标寄存器编号</a:t>
            </a:r>
            <a:endParaRPr lang="en-US" altLang="zh-CN" dirty="0"/>
          </a:p>
          <a:p>
            <a:r>
              <a:rPr lang="zh-CN" altLang="en-US" dirty="0"/>
              <a:t>字段</a:t>
            </a:r>
            <a:r>
              <a:rPr lang="en-US" altLang="zh-CN" dirty="0"/>
              <a:t>3</a:t>
            </a:r>
            <a:r>
              <a:rPr lang="zh-CN" altLang="en-US" dirty="0"/>
              <a:t>（第</a:t>
            </a:r>
            <a:r>
              <a:rPr lang="en-US" altLang="zh-CN" dirty="0"/>
              <a:t>4</a:t>
            </a:r>
            <a:r>
              <a:rPr lang="zh-CN" altLang="en-US"/>
              <a:t>字节）：</a:t>
            </a:r>
            <a:r>
              <a:rPr lang="zh-CN" altLang="en-US" dirty="0">
                <a:solidFill>
                  <a:srgbClr val="EE853E"/>
                </a:solidFill>
              </a:rPr>
              <a:t>源寄存器编号</a:t>
            </a:r>
            <a:endParaRPr lang="en-US" altLang="zh-CN" dirty="0"/>
          </a:p>
          <a:p>
            <a:r>
              <a:rPr lang="zh-CN" altLang="en-US" dirty="0"/>
              <a:t>字段</a:t>
            </a:r>
            <a:r>
              <a:rPr lang="en-US" altLang="zh-CN" dirty="0"/>
              <a:t>4</a:t>
            </a:r>
            <a:r>
              <a:rPr lang="zh-CN" altLang="en-US" dirty="0"/>
              <a:t>（第</a:t>
            </a:r>
            <a:r>
              <a:rPr lang="en-US" altLang="zh-CN" dirty="0"/>
              <a:t>5~</a:t>
            </a:r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字节）：</a:t>
            </a:r>
            <a:r>
              <a:rPr lang="zh-CN" altLang="en-US" dirty="0">
                <a:solidFill>
                  <a:srgbClr val="EE853E"/>
                </a:solidFill>
              </a:rPr>
              <a:t>常数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13F1B35-4D18-45B9-AD7E-E4237A87E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指令系统</a:t>
            </a:r>
          </a:p>
        </p:txBody>
      </p:sp>
    </p:spTree>
    <p:extLst>
      <p:ext uri="{BB962C8B-B14F-4D97-AF65-F5344CB8AC3E}">
        <p14:creationId xmlns:p14="http://schemas.microsoft.com/office/powerpoint/2010/main" val="247551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3AB537A-03C2-4DA4-83B2-B8185FE05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LOD  Rx, N					# </a:t>
            </a:r>
            <a:r>
              <a:rPr lang="en-US" altLang="zh-CN" dirty="0" err="1"/>
              <a:t>0x10</a:t>
            </a:r>
            <a:r>
              <a:rPr lang="en-US" altLang="zh-CN" dirty="0"/>
              <a:t> </a:t>
            </a:r>
            <a:r>
              <a:rPr lang="zh-CN" altLang="en-US" dirty="0"/>
              <a:t>寄存器 </a:t>
            </a:r>
            <a:r>
              <a:rPr lang="en-US" altLang="zh-CN" dirty="0"/>
              <a:t>&lt; </a:t>
            </a:r>
            <a:r>
              <a:rPr lang="zh-CN" altLang="en-US" dirty="0"/>
              <a:t>常数</a:t>
            </a:r>
          </a:p>
          <a:p>
            <a:r>
              <a:rPr lang="en-US" altLang="zh-CN" dirty="0"/>
              <a:t>LOD  Rx, Ry					# </a:t>
            </a:r>
            <a:r>
              <a:rPr lang="en-US" altLang="zh-CN" dirty="0" err="1"/>
              <a:t>0x11</a:t>
            </a:r>
            <a:r>
              <a:rPr lang="en-US" altLang="zh-CN" dirty="0"/>
              <a:t> </a:t>
            </a:r>
            <a:r>
              <a:rPr lang="zh-CN" altLang="en-US" dirty="0"/>
              <a:t>寄存器 </a:t>
            </a:r>
            <a:r>
              <a:rPr lang="en-US" altLang="zh-CN" dirty="0"/>
              <a:t>&lt; </a:t>
            </a:r>
            <a:r>
              <a:rPr lang="zh-CN" altLang="en-US" dirty="0"/>
              <a:t>寄存器</a:t>
            </a:r>
          </a:p>
          <a:p>
            <a:r>
              <a:rPr lang="en-US" altLang="zh-CN" dirty="0"/>
              <a:t>LOD  Rx, Ry +/- N			# </a:t>
            </a:r>
            <a:r>
              <a:rPr lang="en-US" altLang="zh-CN" dirty="0" err="1"/>
              <a:t>0x12</a:t>
            </a:r>
            <a:r>
              <a:rPr lang="en-US" altLang="zh-CN" dirty="0"/>
              <a:t> </a:t>
            </a:r>
            <a:r>
              <a:rPr lang="zh-CN" altLang="en-US" dirty="0"/>
              <a:t>寄存器 </a:t>
            </a:r>
            <a:r>
              <a:rPr lang="en-US" altLang="zh-CN" dirty="0"/>
              <a:t>&lt; </a:t>
            </a:r>
            <a:r>
              <a:rPr lang="zh-CN" altLang="en-US" dirty="0"/>
              <a:t>寄存器 </a:t>
            </a:r>
            <a:r>
              <a:rPr lang="en-US" altLang="zh-CN" dirty="0"/>
              <a:t>+/- </a:t>
            </a:r>
            <a:r>
              <a:rPr lang="zh-CN" altLang="en-US" dirty="0"/>
              <a:t>常数</a:t>
            </a:r>
          </a:p>
          <a:p>
            <a:r>
              <a:rPr lang="en-US" altLang="zh-CN" dirty="0"/>
              <a:t>LOD  Rx, ( N )				# </a:t>
            </a:r>
            <a:r>
              <a:rPr lang="en-US" altLang="zh-CN" dirty="0" err="1"/>
              <a:t>0x13</a:t>
            </a:r>
            <a:r>
              <a:rPr lang="en-US" altLang="zh-CN" dirty="0"/>
              <a:t> </a:t>
            </a:r>
            <a:r>
              <a:rPr lang="zh-CN" altLang="en-US" dirty="0"/>
              <a:t>寄存器 </a:t>
            </a:r>
            <a:r>
              <a:rPr lang="en-US" altLang="zh-CN" dirty="0"/>
              <a:t>&lt; </a:t>
            </a:r>
            <a:r>
              <a:rPr lang="zh-CN" altLang="en-US" dirty="0"/>
              <a:t>内存（地址：常数）</a:t>
            </a:r>
          </a:p>
          <a:p>
            <a:r>
              <a:rPr lang="en-US" altLang="zh-CN" dirty="0"/>
              <a:t>LOD  Rx, ( Ry )				# </a:t>
            </a:r>
            <a:r>
              <a:rPr lang="en-US" altLang="zh-CN" dirty="0" err="1"/>
              <a:t>0x14</a:t>
            </a:r>
            <a:r>
              <a:rPr lang="en-US" altLang="zh-CN" dirty="0"/>
              <a:t> </a:t>
            </a:r>
            <a:r>
              <a:rPr lang="zh-CN" altLang="en-US" dirty="0"/>
              <a:t>寄存器 </a:t>
            </a:r>
            <a:r>
              <a:rPr lang="en-US" altLang="zh-CN" dirty="0"/>
              <a:t>&lt; </a:t>
            </a:r>
            <a:r>
              <a:rPr lang="zh-CN" altLang="en-US" dirty="0"/>
              <a:t>内存（地址：寄存器）</a:t>
            </a:r>
          </a:p>
          <a:p>
            <a:r>
              <a:rPr lang="en-US" altLang="zh-CN" dirty="0"/>
              <a:t>LOD  Rx, ( Ry +/- N )		# </a:t>
            </a:r>
            <a:r>
              <a:rPr lang="en-US" altLang="zh-CN" dirty="0" err="1"/>
              <a:t>0x15</a:t>
            </a:r>
            <a:r>
              <a:rPr lang="en-US" altLang="zh-CN" dirty="0"/>
              <a:t> </a:t>
            </a:r>
            <a:r>
              <a:rPr lang="zh-CN" altLang="en-US" dirty="0"/>
              <a:t>寄存器 </a:t>
            </a:r>
            <a:r>
              <a:rPr lang="en-US" altLang="zh-CN" dirty="0"/>
              <a:t>&lt; </a:t>
            </a:r>
            <a:r>
              <a:rPr lang="zh-CN" altLang="en-US" dirty="0"/>
              <a:t>内存（地址：寄存器 </a:t>
            </a:r>
            <a:r>
              <a:rPr lang="en-US" altLang="zh-CN" dirty="0"/>
              <a:t>+/- </a:t>
            </a:r>
            <a:r>
              <a:rPr lang="zh-CN" altLang="en-US" dirty="0"/>
              <a:t>常数）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E3DDB7A-FB17-47E0-A251-B65D0F79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装载指令（装载到寄存器）</a:t>
            </a:r>
          </a:p>
        </p:txBody>
      </p:sp>
    </p:spTree>
    <p:extLst>
      <p:ext uri="{BB962C8B-B14F-4D97-AF65-F5344CB8AC3E}">
        <p14:creationId xmlns:p14="http://schemas.microsoft.com/office/powerpoint/2010/main" val="340263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D49B7BB-4FEC-44E5-AB61-1418AC07E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STO</a:t>
            </a:r>
            <a:r>
              <a:rPr lang="en-US" altLang="zh-CN" dirty="0"/>
              <a:t>  ( Rx ), N				# </a:t>
            </a:r>
            <a:r>
              <a:rPr lang="en-US" altLang="zh-CN" dirty="0" err="1"/>
              <a:t>0x20</a:t>
            </a:r>
            <a:r>
              <a:rPr lang="en-US" altLang="zh-CN" dirty="0"/>
              <a:t> </a:t>
            </a:r>
            <a:r>
              <a:rPr lang="zh-CN" altLang="en-US" dirty="0"/>
              <a:t>内存（地址：寄存器）</a:t>
            </a:r>
            <a:r>
              <a:rPr lang="en-US" altLang="zh-CN" dirty="0"/>
              <a:t>&lt; </a:t>
            </a:r>
            <a:r>
              <a:rPr lang="zh-CN" altLang="en-US" dirty="0"/>
              <a:t>常数</a:t>
            </a:r>
          </a:p>
          <a:p>
            <a:r>
              <a:rPr lang="en-US" altLang="zh-CN" dirty="0" err="1"/>
              <a:t>STO</a:t>
            </a:r>
            <a:r>
              <a:rPr lang="en-US" altLang="zh-CN" dirty="0"/>
              <a:t>  ( Rx ), Ry				# </a:t>
            </a:r>
            <a:r>
              <a:rPr lang="en-US" altLang="zh-CN" dirty="0" err="1"/>
              <a:t>0x21</a:t>
            </a:r>
            <a:r>
              <a:rPr lang="en-US" altLang="zh-CN" dirty="0"/>
              <a:t> </a:t>
            </a:r>
            <a:r>
              <a:rPr lang="zh-CN" altLang="en-US" dirty="0"/>
              <a:t>内存（地址：寄存器）</a:t>
            </a:r>
            <a:r>
              <a:rPr lang="en-US" altLang="zh-CN" dirty="0"/>
              <a:t>&lt; </a:t>
            </a:r>
            <a:r>
              <a:rPr lang="zh-CN" altLang="en-US" dirty="0"/>
              <a:t>寄存器</a:t>
            </a:r>
          </a:p>
          <a:p>
            <a:r>
              <a:rPr lang="en-US" altLang="zh-CN" dirty="0" err="1"/>
              <a:t>STO</a:t>
            </a:r>
            <a:r>
              <a:rPr lang="en-US" altLang="zh-CN" dirty="0"/>
              <a:t>  ( Rx ), Ry +/- N		# </a:t>
            </a:r>
            <a:r>
              <a:rPr lang="en-US" altLang="zh-CN" dirty="0" err="1"/>
              <a:t>0x22</a:t>
            </a:r>
            <a:r>
              <a:rPr lang="en-US" altLang="zh-CN" dirty="0"/>
              <a:t> </a:t>
            </a:r>
            <a:r>
              <a:rPr lang="zh-CN" altLang="en-US" dirty="0"/>
              <a:t>内存（地址：寄存器）</a:t>
            </a:r>
            <a:r>
              <a:rPr lang="en-US" altLang="zh-CN" dirty="0"/>
              <a:t>&lt; </a:t>
            </a:r>
            <a:r>
              <a:rPr lang="zh-CN" altLang="en-US" dirty="0"/>
              <a:t>寄存器 </a:t>
            </a:r>
            <a:r>
              <a:rPr lang="en-US" altLang="zh-CN" dirty="0"/>
              <a:t>+/- </a:t>
            </a:r>
            <a:r>
              <a:rPr lang="zh-CN" altLang="en-US" dirty="0"/>
              <a:t>常数</a:t>
            </a:r>
          </a:p>
          <a:p>
            <a:r>
              <a:rPr lang="en-US" altLang="zh-CN" dirty="0" err="1"/>
              <a:t>STO</a:t>
            </a:r>
            <a:r>
              <a:rPr lang="en-US" altLang="zh-CN" dirty="0"/>
              <a:t>  ( Rx +/- N ), Ry		# </a:t>
            </a:r>
            <a:r>
              <a:rPr lang="en-US" altLang="zh-CN" dirty="0" err="1"/>
              <a:t>0x23</a:t>
            </a:r>
            <a:r>
              <a:rPr lang="en-US" altLang="zh-CN" dirty="0"/>
              <a:t> </a:t>
            </a:r>
            <a:r>
              <a:rPr lang="zh-CN" altLang="en-US" dirty="0"/>
              <a:t>内存（地址：寄存器 </a:t>
            </a:r>
            <a:r>
              <a:rPr lang="en-US" altLang="zh-CN" dirty="0"/>
              <a:t>+/- </a:t>
            </a:r>
            <a:r>
              <a:rPr lang="zh-CN" altLang="en-US" dirty="0"/>
              <a:t>常数）</a:t>
            </a:r>
            <a:r>
              <a:rPr lang="en-US" altLang="zh-CN" dirty="0"/>
              <a:t>&lt; </a:t>
            </a:r>
            <a:r>
              <a:rPr lang="zh-CN" altLang="en-US" dirty="0"/>
              <a:t>寄存器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EBD62D-F91C-4DF0-B70C-24F99F5E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保存指令（保存到内存）</a:t>
            </a:r>
          </a:p>
        </p:txBody>
      </p:sp>
    </p:spTree>
    <p:extLst>
      <p:ext uri="{BB962C8B-B14F-4D97-AF65-F5344CB8AC3E}">
        <p14:creationId xmlns:p14="http://schemas.microsoft.com/office/powerpoint/2010/main" val="350386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54AAA1A-A9F9-44F1-A032-BCF4065BD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  Rx, N						# </a:t>
            </a:r>
            <a:r>
              <a:rPr lang="en-US" altLang="zh-CN" dirty="0" err="1"/>
              <a:t>0x30</a:t>
            </a:r>
            <a:r>
              <a:rPr lang="en-US" altLang="zh-CN" dirty="0"/>
              <a:t> </a:t>
            </a:r>
            <a:r>
              <a:rPr lang="zh-CN" altLang="en-US" dirty="0"/>
              <a:t>加常数</a:t>
            </a:r>
          </a:p>
          <a:p>
            <a:r>
              <a:rPr lang="en-US" altLang="zh-CN" dirty="0"/>
              <a:t>ADD  Rx, Ry					# </a:t>
            </a:r>
            <a:r>
              <a:rPr lang="en-US" altLang="zh-CN" dirty="0" err="1"/>
              <a:t>0x31</a:t>
            </a:r>
            <a:r>
              <a:rPr lang="en-US" altLang="zh-CN" dirty="0"/>
              <a:t> </a:t>
            </a:r>
            <a:r>
              <a:rPr lang="zh-CN" altLang="en-US" dirty="0"/>
              <a:t>加寄存器</a:t>
            </a:r>
          </a:p>
          <a:p>
            <a:r>
              <a:rPr lang="en-US" altLang="zh-CN" dirty="0"/>
              <a:t>SUB  Rx, N 						# </a:t>
            </a:r>
            <a:r>
              <a:rPr lang="en-US" altLang="zh-CN" dirty="0" err="1"/>
              <a:t>0x40</a:t>
            </a:r>
            <a:r>
              <a:rPr lang="en-US" altLang="zh-CN" dirty="0"/>
              <a:t> </a:t>
            </a:r>
            <a:r>
              <a:rPr lang="zh-CN" altLang="en-US" dirty="0"/>
              <a:t>减常数</a:t>
            </a:r>
          </a:p>
          <a:p>
            <a:r>
              <a:rPr lang="en-US" altLang="zh-CN" dirty="0"/>
              <a:t>SUB  Rx, Ry						# </a:t>
            </a:r>
            <a:r>
              <a:rPr lang="en-US" altLang="zh-CN" dirty="0" err="1"/>
              <a:t>0x41</a:t>
            </a:r>
            <a:r>
              <a:rPr lang="en-US" altLang="zh-CN" dirty="0"/>
              <a:t> </a:t>
            </a:r>
            <a:r>
              <a:rPr lang="zh-CN" altLang="en-US" dirty="0"/>
              <a:t>减寄存器</a:t>
            </a:r>
          </a:p>
          <a:p>
            <a:r>
              <a:rPr lang="en-US" altLang="zh-CN" dirty="0" err="1"/>
              <a:t>MUL</a:t>
            </a:r>
            <a:r>
              <a:rPr lang="en-US" altLang="zh-CN" dirty="0"/>
              <a:t>  Rx, N 						# </a:t>
            </a:r>
            <a:r>
              <a:rPr lang="en-US" altLang="zh-CN" dirty="0" err="1"/>
              <a:t>0x50</a:t>
            </a:r>
            <a:r>
              <a:rPr lang="en-US" altLang="zh-CN" dirty="0"/>
              <a:t> </a:t>
            </a:r>
            <a:r>
              <a:rPr lang="zh-CN" altLang="en-US" dirty="0"/>
              <a:t>乘常数</a:t>
            </a:r>
          </a:p>
          <a:p>
            <a:r>
              <a:rPr lang="en-US" altLang="zh-CN" dirty="0" err="1"/>
              <a:t>MUL</a:t>
            </a:r>
            <a:r>
              <a:rPr lang="en-US" altLang="zh-CN" dirty="0"/>
              <a:t>  Rx, Ry					# </a:t>
            </a:r>
            <a:r>
              <a:rPr lang="en-US" altLang="zh-CN" dirty="0" err="1"/>
              <a:t>0x51</a:t>
            </a:r>
            <a:r>
              <a:rPr lang="en-US" altLang="zh-CN" dirty="0"/>
              <a:t> </a:t>
            </a:r>
            <a:r>
              <a:rPr lang="zh-CN" altLang="en-US" dirty="0"/>
              <a:t>乘寄存器</a:t>
            </a:r>
          </a:p>
          <a:p>
            <a:r>
              <a:rPr lang="en-US" altLang="zh-CN" dirty="0"/>
              <a:t>DIV  Rx, N 						# </a:t>
            </a:r>
            <a:r>
              <a:rPr lang="en-US" altLang="zh-CN" dirty="0" err="1"/>
              <a:t>0x60</a:t>
            </a:r>
            <a:r>
              <a:rPr lang="en-US" altLang="zh-CN" dirty="0"/>
              <a:t> </a:t>
            </a:r>
            <a:r>
              <a:rPr lang="zh-CN" altLang="en-US" dirty="0"/>
              <a:t>除常数</a:t>
            </a:r>
          </a:p>
          <a:p>
            <a:r>
              <a:rPr lang="en-US" altLang="zh-CN" dirty="0"/>
              <a:t>DIV  Rx, Ry						# </a:t>
            </a:r>
            <a:r>
              <a:rPr lang="en-US" altLang="zh-CN" dirty="0" err="1"/>
              <a:t>0x61</a:t>
            </a:r>
            <a:r>
              <a:rPr lang="en-US" altLang="zh-CN" dirty="0"/>
              <a:t> </a:t>
            </a:r>
            <a:r>
              <a:rPr lang="zh-CN" altLang="en-US" dirty="0"/>
              <a:t>除寄存器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2555783-D67F-4B22-8E24-8D01215E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算术运算指令</a:t>
            </a:r>
          </a:p>
        </p:txBody>
      </p:sp>
    </p:spTree>
    <p:extLst>
      <p:ext uri="{BB962C8B-B14F-4D97-AF65-F5344CB8AC3E}">
        <p14:creationId xmlns:p14="http://schemas.microsoft.com/office/powerpoint/2010/main" val="402606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628F46C-DE80-4B96-B3F5-806EA0A47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JMP</a:t>
            </a:r>
            <a:r>
              <a:rPr lang="en-US" altLang="zh-CN" dirty="0"/>
              <a:t>  N							# </a:t>
            </a:r>
            <a:r>
              <a:rPr lang="en-US" altLang="zh-CN" dirty="0" err="1"/>
              <a:t>0x80</a:t>
            </a:r>
            <a:r>
              <a:rPr lang="en-US" altLang="zh-CN" dirty="0"/>
              <a:t> </a:t>
            </a:r>
            <a:r>
              <a:rPr lang="zh-CN" altLang="en-US" dirty="0"/>
              <a:t>常数</a:t>
            </a:r>
          </a:p>
          <a:p>
            <a:r>
              <a:rPr lang="en-US" altLang="zh-CN" dirty="0" err="1"/>
              <a:t>JMP</a:t>
            </a:r>
            <a:r>
              <a:rPr lang="en-US" altLang="zh-CN" dirty="0"/>
              <a:t>  Rx							# </a:t>
            </a:r>
            <a:r>
              <a:rPr lang="en-US" altLang="zh-CN" dirty="0" err="1"/>
              <a:t>0x81</a:t>
            </a:r>
            <a:r>
              <a:rPr lang="en-US" altLang="zh-CN" dirty="0"/>
              <a:t> </a:t>
            </a:r>
            <a:r>
              <a:rPr lang="zh-CN" altLang="en-US" dirty="0"/>
              <a:t>寄存器</a:t>
            </a:r>
          </a:p>
          <a:p>
            <a:r>
              <a:rPr lang="en-US" altLang="zh-CN" dirty="0" err="1"/>
              <a:t>TST</a:t>
            </a:r>
            <a:r>
              <a:rPr lang="en-US" altLang="zh-CN" dirty="0"/>
              <a:t>  Rx							# </a:t>
            </a:r>
            <a:r>
              <a:rPr lang="en-US" altLang="zh-CN" dirty="0" err="1"/>
              <a:t>0x70</a:t>
            </a:r>
            <a:r>
              <a:rPr lang="en-US" altLang="zh-CN" dirty="0"/>
              <a:t> </a:t>
            </a:r>
            <a:r>
              <a:rPr lang="zh-CN" altLang="en-US" dirty="0"/>
              <a:t>测试寄存器</a:t>
            </a:r>
            <a:endParaRPr lang="en-US" altLang="zh-CN" dirty="0"/>
          </a:p>
          <a:p>
            <a:r>
              <a:rPr lang="en-US" altLang="zh-CN" dirty="0"/>
              <a:t>JEZ  N							# </a:t>
            </a:r>
            <a:r>
              <a:rPr lang="en-US" altLang="zh-CN" dirty="0" err="1"/>
              <a:t>0x82</a:t>
            </a:r>
            <a:r>
              <a:rPr lang="en-US" altLang="zh-CN" dirty="0"/>
              <a:t> </a:t>
            </a:r>
            <a:r>
              <a:rPr lang="zh-CN" altLang="en-US" dirty="0"/>
              <a:t>常数</a:t>
            </a:r>
          </a:p>
          <a:p>
            <a:r>
              <a:rPr lang="en-US" altLang="zh-CN" dirty="0"/>
              <a:t>JEZ  Rx							# </a:t>
            </a:r>
            <a:r>
              <a:rPr lang="en-US" altLang="zh-CN" dirty="0" err="1"/>
              <a:t>0x83</a:t>
            </a:r>
            <a:r>
              <a:rPr lang="en-US" altLang="zh-CN" dirty="0"/>
              <a:t> </a:t>
            </a:r>
            <a:r>
              <a:rPr lang="zh-CN" altLang="en-US" dirty="0"/>
              <a:t>寄存器</a:t>
            </a:r>
          </a:p>
          <a:p>
            <a:r>
              <a:rPr lang="en-US" altLang="zh-CN" dirty="0" err="1"/>
              <a:t>JNZ</a:t>
            </a:r>
            <a:r>
              <a:rPr lang="en-US" altLang="zh-CN" dirty="0"/>
              <a:t>  N							# </a:t>
            </a:r>
            <a:r>
              <a:rPr lang="en-US" altLang="zh-CN" dirty="0" err="1"/>
              <a:t>0x84</a:t>
            </a:r>
            <a:r>
              <a:rPr lang="en-US" altLang="zh-CN" dirty="0"/>
              <a:t> </a:t>
            </a:r>
            <a:r>
              <a:rPr lang="zh-CN" altLang="en-US" dirty="0"/>
              <a:t>常数</a:t>
            </a:r>
          </a:p>
          <a:p>
            <a:r>
              <a:rPr lang="en-US" altLang="zh-CN" dirty="0" err="1"/>
              <a:t>JNZ</a:t>
            </a:r>
            <a:r>
              <a:rPr lang="en-US" altLang="zh-CN" dirty="0"/>
              <a:t>  Rx							# </a:t>
            </a:r>
            <a:r>
              <a:rPr lang="en-US" altLang="zh-CN" dirty="0" err="1"/>
              <a:t>0x85</a:t>
            </a:r>
            <a:r>
              <a:rPr lang="en-US" altLang="zh-CN" dirty="0"/>
              <a:t> </a:t>
            </a:r>
            <a:r>
              <a:rPr lang="zh-CN" altLang="en-US" dirty="0"/>
              <a:t>寄存器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4AB7A6-4A1F-4BEC-90E8-32612337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转移指令</a:t>
            </a:r>
          </a:p>
        </p:txBody>
      </p:sp>
    </p:spTree>
    <p:extLst>
      <p:ext uri="{BB962C8B-B14F-4D97-AF65-F5344CB8AC3E}">
        <p14:creationId xmlns:p14="http://schemas.microsoft.com/office/powerpoint/2010/main" val="36991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EAA137-1AB8-4DC4-898B-858C3135F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END							# </a:t>
            </a:r>
            <a:r>
              <a:rPr lang="en-US" altLang="zh-CN" dirty="0" err="1"/>
              <a:t>0x00</a:t>
            </a:r>
            <a:r>
              <a:rPr lang="en-US" altLang="zh-CN" dirty="0"/>
              <a:t> </a:t>
            </a:r>
            <a:r>
              <a:rPr lang="zh-CN" altLang="en-US" dirty="0"/>
              <a:t>结束</a:t>
            </a:r>
          </a:p>
          <a:p>
            <a:r>
              <a:rPr lang="en-US" altLang="zh-CN" dirty="0"/>
              <a:t>NOP							# </a:t>
            </a:r>
            <a:r>
              <a:rPr lang="en-US" altLang="zh-CN" dirty="0" err="1"/>
              <a:t>0x01</a:t>
            </a:r>
            <a:r>
              <a:rPr lang="en-US" altLang="zh-CN" dirty="0"/>
              <a:t> </a:t>
            </a:r>
            <a:r>
              <a:rPr lang="zh-CN" altLang="en-US" dirty="0"/>
              <a:t>空转</a:t>
            </a:r>
          </a:p>
          <a:p>
            <a:r>
              <a:rPr lang="en-US" altLang="zh-CN" dirty="0"/>
              <a:t>OUT							# </a:t>
            </a:r>
            <a:r>
              <a:rPr lang="en-US" altLang="zh-CN" dirty="0" err="1"/>
              <a:t>0x02</a:t>
            </a:r>
            <a:r>
              <a:rPr lang="en-US" altLang="zh-CN" dirty="0"/>
              <a:t> </a:t>
            </a:r>
            <a:r>
              <a:rPr lang="zh-CN" altLang="en-US" dirty="0"/>
              <a:t>输出</a:t>
            </a:r>
          </a:p>
          <a:p>
            <a:r>
              <a:rPr lang="en-US" altLang="zh-CN" dirty="0"/>
              <a:t>DBS  1, 1, 1, 1, 1			# N/A  </a:t>
            </a:r>
            <a:r>
              <a:rPr lang="zh-CN" altLang="en-US" dirty="0"/>
              <a:t>定义多个字符</a:t>
            </a:r>
          </a:p>
          <a:p>
            <a:r>
              <a:rPr lang="en-US" altLang="zh-CN" dirty="0" err="1"/>
              <a:t>DBN</a:t>
            </a:r>
            <a:r>
              <a:rPr lang="en-US" altLang="zh-CN" dirty="0"/>
              <a:t>  1, 5					# N/A  </a:t>
            </a:r>
            <a:r>
              <a:rPr lang="zh-CN" altLang="en-US" dirty="0"/>
              <a:t>重复定义字符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94ABAA9-2846-45CD-B79A-330242AD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其它指令</a:t>
            </a:r>
          </a:p>
        </p:txBody>
      </p:sp>
    </p:spTree>
    <p:extLst>
      <p:ext uri="{BB962C8B-B14F-4D97-AF65-F5344CB8AC3E}">
        <p14:creationId xmlns:p14="http://schemas.microsoft.com/office/powerpoint/2010/main" val="398450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7587</TotalTime>
  <Words>737</Words>
  <Application>Microsoft Office PowerPoint</Application>
  <PresentationFormat>宽屏</PresentationFormat>
  <Paragraphs>83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Wingdings</vt:lpstr>
      <vt:lpstr>环保</vt:lpstr>
      <vt:lpstr>第十章 目标代码生成</vt:lpstr>
      <vt:lpstr>目标代码生成的任务</vt:lpstr>
      <vt:lpstr>主要问题</vt:lpstr>
      <vt:lpstr>GAM</vt:lpstr>
      <vt:lpstr>寄存器</vt:lpstr>
      <vt:lpstr>存储空间</vt:lpstr>
      <vt:lpstr>指令系统</vt:lpstr>
      <vt:lpstr>装载指令（装载到寄存器）</vt:lpstr>
      <vt:lpstr>保存指令（保存到内存）</vt:lpstr>
      <vt:lpstr>算术运算指令</vt:lpstr>
      <vt:lpstr>转移指令</vt:lpstr>
      <vt:lpstr>其它指令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1306</cp:revision>
  <cp:lastPrinted>1601-01-01T00:00:00Z</cp:lastPrinted>
  <dcterms:created xsi:type="dcterms:W3CDTF">1601-01-01T00:00:00Z</dcterms:created>
  <dcterms:modified xsi:type="dcterms:W3CDTF">2020-05-30T15:21:51Z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