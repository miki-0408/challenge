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1"/>
  </p:notesMasterIdLst>
  <p:handoutMasterIdLst>
    <p:handoutMasterId r:id="rId22"/>
  </p:handoutMasterIdLst>
  <p:sldIdLst>
    <p:sldId id="922" r:id="rId2"/>
    <p:sldId id="304" r:id="rId3"/>
    <p:sldId id="923" r:id="rId4"/>
    <p:sldId id="305" r:id="rId5"/>
    <p:sldId id="306" r:id="rId6"/>
    <p:sldId id="309" r:id="rId7"/>
    <p:sldId id="311" r:id="rId8"/>
    <p:sldId id="313" r:id="rId9"/>
    <p:sldId id="924" r:id="rId10"/>
    <p:sldId id="315" r:id="rId11"/>
    <p:sldId id="318" r:id="rId12"/>
    <p:sldId id="925" r:id="rId13"/>
    <p:sldId id="320" r:id="rId14"/>
    <p:sldId id="321" r:id="rId15"/>
    <p:sldId id="322" r:id="rId16"/>
    <p:sldId id="324" r:id="rId17"/>
    <p:sldId id="325" r:id="rId18"/>
    <p:sldId id="926" r:id="rId19"/>
    <p:sldId id="327" r:id="rId20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65" d="100"/>
          <a:sy n="65" d="100"/>
        </p:scale>
        <p:origin x="74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xmlns="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xmlns="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xmlns="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xmlns="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xmlns="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xmlns="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xmlns="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xmlns="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xmlns="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xmlns="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xmlns="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xmlns="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xmlns="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xmlns="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xmlns="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xmlns="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程序语言的设计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863816" y="1638300"/>
            <a:ext cx="6464368" cy="372023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xmlns="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xmlns="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xmlns="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xmlns="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xmlns="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xmlns="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xmlns="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xmlns="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xmlns="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xmlns="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xmlns="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xmlns="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xmlns="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xmlns="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第一节 高级程序设计语言的定义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第二节 形式语言与文法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rgbClr val="EE853E"/>
                  </a:solidFill>
                  <a:latin typeface="+mj-ea"/>
                  <a:ea typeface="+mj-ea"/>
                </a:rPr>
                <a:t>第三节 高级程序设计语言的设计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高级程序设计语言实例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72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设计的依据：面向的</a:t>
            </a:r>
            <a:r>
              <a:rPr lang="zh-CN" altLang="en-US" dirty="0">
                <a:solidFill>
                  <a:srgbClr val="EE853E"/>
                </a:solidFill>
              </a:rPr>
              <a:t>问题</a:t>
            </a:r>
            <a:r>
              <a:rPr lang="zh-CN" altLang="en-US" dirty="0"/>
              <a:t>和面向的</a:t>
            </a:r>
            <a:r>
              <a:rPr lang="zh-CN" altLang="en-US" dirty="0">
                <a:solidFill>
                  <a:srgbClr val="EE853E"/>
                </a:solidFill>
              </a:rPr>
              <a:t>机器</a:t>
            </a:r>
          </a:p>
          <a:p>
            <a:r>
              <a:rPr lang="zh-CN" altLang="en-US" dirty="0"/>
              <a:t>设计内容（语法）：</a:t>
            </a:r>
            <a:r>
              <a:rPr lang="zh-CN" altLang="en-US" dirty="0">
                <a:solidFill>
                  <a:srgbClr val="EE853E"/>
                </a:solidFill>
              </a:rPr>
              <a:t>表达式、语句、程序单元、程序</a:t>
            </a:r>
          </a:p>
          <a:p>
            <a:r>
              <a:rPr lang="zh-CN" altLang="en-US" dirty="0"/>
              <a:t>描述方式：</a:t>
            </a:r>
            <a:endParaRPr lang="en-US" altLang="zh-CN" dirty="0"/>
          </a:p>
          <a:p>
            <a:r>
              <a:rPr lang="zh-CN" altLang="en-US" dirty="0"/>
              <a:t>语法 </a:t>
            </a:r>
            <a:r>
              <a:rPr lang="en-US" altLang="zh-CN" dirty="0"/>
              <a:t>—— </a:t>
            </a:r>
            <a:r>
              <a:rPr lang="en-US" altLang="zh-CN" dirty="0">
                <a:solidFill>
                  <a:srgbClr val="EE853E"/>
                </a:solidFill>
              </a:rPr>
              <a:t>BNF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语义 </a:t>
            </a:r>
            <a:r>
              <a:rPr lang="en-US" altLang="zh-CN" dirty="0"/>
              <a:t>—— </a:t>
            </a:r>
            <a:r>
              <a:rPr lang="zh-CN" altLang="en-US" dirty="0">
                <a:solidFill>
                  <a:srgbClr val="EE853E"/>
                </a:solidFill>
              </a:rPr>
              <a:t>自然语言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xmlns="" id="{6DDE66C3-8E43-426C-85DF-EC1E3DFD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高级程序设计语言的设计</a:t>
            </a:r>
          </a:p>
        </p:txBody>
      </p:sp>
    </p:spTree>
    <p:extLst>
      <p:ext uri="{BB962C8B-B14F-4D97-AF65-F5344CB8AC3E}">
        <p14:creationId xmlns:p14="http://schemas.microsoft.com/office/powerpoint/2010/main" val="343747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程序语言的设计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A563D2E1-5945-4393-9A28-DF176DB229F3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966203" cy="2711612"/>
            <a:chOff x="1449652" y="2320203"/>
            <a:chExt cx="4724869" cy="2719152"/>
          </a:xfrm>
        </p:grpSpPr>
        <p:grpSp>
          <p:nvGrpSpPr>
            <p:cNvPr id="30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4B834B1-7E11-4152-A77C-15A0BB93CFFA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5" name="Freeform 45">
                <a:extLst>
                  <a:ext uri="{FF2B5EF4-FFF2-40B4-BE49-F238E27FC236}">
                    <a16:creationId xmlns:a16="http://schemas.microsoft.com/office/drawing/2014/main" xmlns="" id="{E63B6474-B2BF-43F4-AB6D-9FC2C2C13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6">
                <a:extLst>
                  <a:ext uri="{FF2B5EF4-FFF2-40B4-BE49-F238E27FC236}">
                    <a16:creationId xmlns:a16="http://schemas.microsoft.com/office/drawing/2014/main" xmlns="" id="{3B26680D-10AD-4347-97AF-106000B60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7">
                <a:extLst>
                  <a:ext uri="{FF2B5EF4-FFF2-40B4-BE49-F238E27FC236}">
                    <a16:creationId xmlns:a16="http://schemas.microsoft.com/office/drawing/2014/main" xmlns="" id="{5731EF02-7BFE-495F-A3B3-0E34DAB39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8">
                <a:extLst>
                  <a:ext uri="{FF2B5EF4-FFF2-40B4-BE49-F238E27FC236}">
                    <a16:creationId xmlns:a16="http://schemas.microsoft.com/office/drawing/2014/main" xmlns="" id="{B4DF4346-11BC-428E-867D-B270CD26A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Freeform 49">
                <a:extLst>
                  <a:ext uri="{FF2B5EF4-FFF2-40B4-BE49-F238E27FC236}">
                    <a16:creationId xmlns:a16="http://schemas.microsoft.com/office/drawing/2014/main" xmlns="" id="{AC6E8CA7-61FA-4DF0-AA94-5829712D5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Rectangle 50">
                <a:extLst>
                  <a:ext uri="{FF2B5EF4-FFF2-40B4-BE49-F238E27FC236}">
                    <a16:creationId xmlns:a16="http://schemas.microsoft.com/office/drawing/2014/main" xmlns="" id="{11903CBC-A7AA-4A96-BC39-7DAE0E80A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Freeform 51">
                <a:extLst>
                  <a:ext uri="{FF2B5EF4-FFF2-40B4-BE49-F238E27FC236}">
                    <a16:creationId xmlns:a16="http://schemas.microsoft.com/office/drawing/2014/main" xmlns="" id="{749349CF-9E4A-4EC3-8D29-303642B7F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2">
                <a:extLst>
                  <a:ext uri="{FF2B5EF4-FFF2-40B4-BE49-F238E27FC236}">
                    <a16:creationId xmlns:a16="http://schemas.microsoft.com/office/drawing/2014/main" xmlns="" id="{AB6DB606-C911-4FDD-AAC5-E9FD614D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Rectangle 53">
                <a:extLst>
                  <a:ext uri="{FF2B5EF4-FFF2-40B4-BE49-F238E27FC236}">
                    <a16:creationId xmlns:a16="http://schemas.microsoft.com/office/drawing/2014/main" xmlns="" id="{4BEF50C3-030A-42CA-9EA7-FED5BB98E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4">
                <a:extLst>
                  <a:ext uri="{FF2B5EF4-FFF2-40B4-BE49-F238E27FC236}">
                    <a16:creationId xmlns:a16="http://schemas.microsoft.com/office/drawing/2014/main" xmlns="" id="{3027579F-95E4-40B4-BB39-536B72BF5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5">
                <a:extLst>
                  <a:ext uri="{FF2B5EF4-FFF2-40B4-BE49-F238E27FC236}">
                    <a16:creationId xmlns:a16="http://schemas.microsoft.com/office/drawing/2014/main" xmlns="" id="{B3C5433E-CAF5-4271-B352-F72926599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6">
                <a:extLst>
                  <a:ext uri="{FF2B5EF4-FFF2-40B4-BE49-F238E27FC236}">
                    <a16:creationId xmlns:a16="http://schemas.microsoft.com/office/drawing/2014/main" xmlns="" id="{EEEBA92F-A6C6-4839-8CAC-4C200EBE7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Oval 57">
                <a:extLst>
                  <a:ext uri="{FF2B5EF4-FFF2-40B4-BE49-F238E27FC236}">
                    <a16:creationId xmlns:a16="http://schemas.microsoft.com/office/drawing/2014/main" xmlns="" id="{4628FB61-1CFF-4BAE-9C59-BF9B99872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8" name="Freeform 58">
                <a:extLst>
                  <a:ext uri="{FF2B5EF4-FFF2-40B4-BE49-F238E27FC236}">
                    <a16:creationId xmlns:a16="http://schemas.microsoft.com/office/drawing/2014/main" xmlns="" id="{64089EE7-97A8-4FB6-8B97-0E5831539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31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B4C88D07-2866-44EB-B2C1-1BBE36E2280F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高级程序设计语言的定义</a:t>
              </a:r>
            </a:p>
          </p:txBody>
        </p:sp>
        <p:sp>
          <p:nvSpPr>
            <p:cNvPr id="32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423708C-E27D-44F0-B9FB-832A09AF8B8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形式语言与文法</a:t>
              </a:r>
            </a:p>
          </p:txBody>
        </p:sp>
        <p:sp>
          <p:nvSpPr>
            <p:cNvPr id="33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21F40BA5-235C-4276-95B4-ADDF952547C7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第三节 高级程序设计语言的设计</a:t>
              </a:r>
            </a:p>
          </p:txBody>
        </p:sp>
        <p:sp>
          <p:nvSpPr>
            <p:cNvPr id="34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AFEE4512-A224-4160-9322-8C132C2CBCBF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高级程序设计语言实例</a:t>
              </a:r>
            </a:p>
          </p:txBody>
        </p:sp>
      </p:grp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xmlns="" id="{3B5DA263-8B37-44D1-8C24-56DA1DBD38DB}"/>
              </a:ext>
            </a:extLst>
          </p:cNvPr>
          <p:cNvSpPr/>
          <p:nvPr/>
        </p:nvSpPr>
        <p:spPr>
          <a:xfrm rot="5400000">
            <a:off x="6721392" y="1676404"/>
            <a:ext cx="2711615" cy="3505200"/>
          </a:xfrm>
          <a:prstGeom prst="wedgeRoundRectCallout">
            <a:avLst>
              <a:gd name="adj1" fmla="val 9985"/>
              <a:gd name="adj2" fmla="val 58718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表达式的设计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语句的设计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程序单元的设计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程序的设计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66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逻辑</a:t>
            </a:r>
            <a:r>
              <a:rPr lang="zh-CN" altLang="en-US" dirty="0"/>
              <a:t>表达式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关系</a:t>
            </a:r>
            <a:r>
              <a:rPr lang="zh-CN" altLang="en-US" dirty="0"/>
              <a:t>表达式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算术</a:t>
            </a:r>
            <a:r>
              <a:rPr lang="zh-CN" altLang="en-US" dirty="0"/>
              <a:t>表达式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表达式的设计</a:t>
            </a:r>
          </a:p>
        </p:txBody>
      </p:sp>
    </p:spTree>
    <p:extLst>
      <p:ext uri="{BB962C8B-B14F-4D97-AF65-F5344CB8AC3E}">
        <p14:creationId xmlns:p14="http://schemas.microsoft.com/office/powerpoint/2010/main" val="378923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逻辑表达式</a:t>
            </a:r>
            <a:endParaRPr lang="en-US" altLang="zh-CN" dirty="0"/>
          </a:p>
          <a:p>
            <a:r>
              <a:rPr lang="en-US" altLang="zh-CN" dirty="0"/>
              <a:t>&lt;</a:t>
            </a:r>
            <a:r>
              <a:rPr lang="zh-CN" altLang="en-US" dirty="0"/>
              <a:t>逻辑表达式</a:t>
            </a:r>
            <a:r>
              <a:rPr lang="en-US" altLang="zh-CN" dirty="0"/>
              <a:t>&gt; →	&lt;</a:t>
            </a:r>
            <a:r>
              <a:rPr lang="zh-CN" altLang="en-US" dirty="0"/>
              <a:t>布尔常量</a:t>
            </a:r>
            <a:r>
              <a:rPr lang="en-US" altLang="zh-CN" dirty="0"/>
              <a:t>&gt; | &lt;</a:t>
            </a:r>
            <a:r>
              <a:rPr lang="zh-CN" altLang="en-US" dirty="0"/>
              <a:t>布尔变量</a:t>
            </a:r>
            <a:r>
              <a:rPr lang="en-US" altLang="zh-CN" dirty="0"/>
              <a:t>&gt; |</a:t>
            </a:r>
          </a:p>
          <a:p>
            <a:r>
              <a:rPr lang="en-US" altLang="zh-CN" dirty="0"/>
              <a:t>						&lt;</a:t>
            </a:r>
            <a:r>
              <a:rPr lang="zh-CN" altLang="en-US" dirty="0"/>
              <a:t>关系表达式</a:t>
            </a:r>
            <a:r>
              <a:rPr lang="en-US" altLang="zh-CN" dirty="0"/>
              <a:t>&gt; | </a:t>
            </a:r>
            <a:r>
              <a:rPr lang="en-US" altLang="zh-CN" dirty="0">
                <a:sym typeface="Symbol" pitchFamily="18" charset="2"/>
              </a:rPr>
              <a:t></a:t>
            </a:r>
            <a:r>
              <a:rPr lang="en-US" altLang="zh-CN" dirty="0"/>
              <a:t>&lt;</a:t>
            </a:r>
            <a:r>
              <a:rPr lang="zh-CN" altLang="en-US" dirty="0"/>
              <a:t>逻辑表达式</a:t>
            </a:r>
            <a:r>
              <a:rPr lang="en-US" altLang="zh-CN" dirty="0"/>
              <a:t>&gt; |</a:t>
            </a:r>
          </a:p>
          <a:p>
            <a:r>
              <a:rPr lang="en-US" altLang="zh-CN" dirty="0"/>
              <a:t>						&lt;</a:t>
            </a:r>
            <a:r>
              <a:rPr lang="zh-CN" altLang="en-US" dirty="0"/>
              <a:t>逻辑表达式</a:t>
            </a:r>
            <a:r>
              <a:rPr lang="en-US" altLang="zh-CN" dirty="0"/>
              <a:t>&gt; </a:t>
            </a:r>
            <a:r>
              <a:rPr lang="en-US" altLang="zh-CN" dirty="0">
                <a:sym typeface="Symbol" pitchFamily="18" charset="2"/>
              </a:rPr>
              <a:t> </a:t>
            </a:r>
            <a:r>
              <a:rPr lang="en-US" altLang="zh-CN" dirty="0"/>
              <a:t>&lt;</a:t>
            </a:r>
            <a:r>
              <a:rPr lang="zh-CN" altLang="en-US" dirty="0"/>
              <a:t>逻辑表达式</a:t>
            </a:r>
            <a:r>
              <a:rPr lang="en-US" altLang="zh-CN" dirty="0"/>
              <a:t>&gt; |</a:t>
            </a:r>
          </a:p>
          <a:p>
            <a:r>
              <a:rPr lang="en-US" altLang="zh-CN" dirty="0"/>
              <a:t>						&lt;</a:t>
            </a:r>
            <a:r>
              <a:rPr lang="zh-CN" altLang="en-US" dirty="0"/>
              <a:t>逻辑表达式</a:t>
            </a:r>
            <a:r>
              <a:rPr lang="en-US" altLang="zh-CN" dirty="0"/>
              <a:t>&gt; </a:t>
            </a:r>
            <a:r>
              <a:rPr lang="en-US" altLang="zh-CN" dirty="0">
                <a:sym typeface="Symbol" pitchFamily="18" charset="2"/>
              </a:rPr>
              <a:t> </a:t>
            </a:r>
            <a:r>
              <a:rPr lang="en-US" altLang="zh-CN" dirty="0"/>
              <a:t>&lt;</a:t>
            </a:r>
            <a:r>
              <a:rPr lang="zh-CN" altLang="en-US" dirty="0"/>
              <a:t>逻辑表达式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布尔常量</a:t>
            </a:r>
            <a:r>
              <a:rPr lang="en-US" altLang="zh-CN" dirty="0"/>
              <a:t>&gt; → true | false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布尔变量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</a:t>
            </a:r>
          </a:p>
          <a:p>
            <a:r>
              <a:rPr lang="zh-CN" altLang="en-US" dirty="0">
                <a:sym typeface="Symbol" pitchFamily="18" charset="2"/>
              </a:rPr>
              <a:t>、 、  的优先顺序由低到高</a:t>
            </a:r>
          </a:p>
          <a:p>
            <a:endParaRPr lang="en-US" altLang="zh-CN" dirty="0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表达式的设计</a:t>
            </a:r>
          </a:p>
        </p:txBody>
      </p:sp>
    </p:spTree>
    <p:extLst>
      <p:ext uri="{BB962C8B-B14F-4D97-AF65-F5344CB8AC3E}">
        <p14:creationId xmlns:p14="http://schemas.microsoft.com/office/powerpoint/2010/main" val="103608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4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关系表达式</a:t>
            </a:r>
            <a:endParaRPr lang="en-US" altLang="zh-CN" dirty="0"/>
          </a:p>
          <a:p>
            <a:r>
              <a:rPr lang="en-US" altLang="zh-CN" dirty="0"/>
              <a:t>&lt;</a:t>
            </a:r>
            <a:r>
              <a:rPr lang="zh-CN" altLang="en-US" dirty="0"/>
              <a:t>关系表达式</a:t>
            </a:r>
            <a:r>
              <a:rPr lang="en-US" altLang="zh-CN" dirty="0"/>
              <a:t>&gt; → &lt;</a:t>
            </a:r>
            <a:r>
              <a:rPr lang="zh-CN" altLang="en-US" dirty="0"/>
              <a:t>算术表达式</a:t>
            </a:r>
            <a:r>
              <a:rPr lang="en-US" altLang="zh-CN" dirty="0"/>
              <a:t>&gt;&lt;</a:t>
            </a:r>
            <a:r>
              <a:rPr lang="zh-CN" altLang="en-US" dirty="0"/>
              <a:t>关系运算符</a:t>
            </a:r>
            <a:r>
              <a:rPr lang="en-US" altLang="zh-CN" dirty="0"/>
              <a:t>&gt;&lt;</a:t>
            </a:r>
            <a:r>
              <a:rPr lang="zh-CN" altLang="en-US" dirty="0"/>
              <a:t>算术表达式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关系运算符</a:t>
            </a:r>
            <a:r>
              <a:rPr lang="en-US" altLang="zh-CN" dirty="0"/>
              <a:t>&gt; → &lt; | &lt;= | &gt; | &gt;= | = | &lt;&gt;</a:t>
            </a:r>
          </a:p>
          <a:p>
            <a:endParaRPr lang="en-US" altLang="zh-CN" dirty="0"/>
          </a:p>
          <a:p>
            <a:r>
              <a:rPr lang="zh-CN" altLang="en-US" dirty="0"/>
              <a:t>关系运算符没有优先</a:t>
            </a:r>
            <a:r>
              <a:rPr lang="zh-CN" altLang="en-US" dirty="0" smtClean="0"/>
              <a:t>顺序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表达式的设计</a:t>
            </a:r>
          </a:p>
        </p:txBody>
      </p:sp>
    </p:spTree>
    <p:extLst>
      <p:ext uri="{BB962C8B-B14F-4D97-AF65-F5344CB8AC3E}">
        <p14:creationId xmlns:p14="http://schemas.microsoft.com/office/powerpoint/2010/main" val="267836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46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(3) </a:t>
            </a:r>
            <a:r>
              <a:rPr lang="zh-CN" altLang="en-US" dirty="0"/>
              <a:t>算术表达式</a:t>
            </a:r>
            <a:endParaRPr lang="en-US" altLang="zh-CN" dirty="0"/>
          </a:p>
          <a:p>
            <a:r>
              <a:rPr lang="en-US" altLang="zh-CN" dirty="0"/>
              <a:t>&lt;</a:t>
            </a:r>
            <a:r>
              <a:rPr lang="zh-CN" altLang="en-US" dirty="0"/>
              <a:t>算术表达式</a:t>
            </a:r>
            <a:r>
              <a:rPr lang="en-US" altLang="zh-CN" dirty="0"/>
              <a:t>&gt; →	&lt;</a:t>
            </a:r>
            <a:r>
              <a:rPr lang="zh-CN" altLang="en-US" dirty="0"/>
              <a:t>常量</a:t>
            </a:r>
            <a:r>
              <a:rPr lang="en-US" altLang="zh-CN" dirty="0"/>
              <a:t>&gt; | &lt;</a:t>
            </a:r>
            <a:r>
              <a:rPr lang="zh-CN" altLang="en-US" dirty="0"/>
              <a:t>变量</a:t>
            </a:r>
            <a:r>
              <a:rPr lang="en-US" altLang="zh-CN" dirty="0"/>
              <a:t>&gt; |</a:t>
            </a:r>
          </a:p>
          <a:p>
            <a:r>
              <a:rPr lang="en-US" altLang="zh-CN" dirty="0"/>
              <a:t>						(&lt;</a:t>
            </a:r>
            <a:r>
              <a:rPr lang="zh-CN" altLang="en-US" dirty="0"/>
              <a:t>算术表达式</a:t>
            </a:r>
            <a:r>
              <a:rPr lang="en-US" altLang="zh-CN" dirty="0"/>
              <a:t>&gt;) |</a:t>
            </a:r>
          </a:p>
          <a:p>
            <a:r>
              <a:rPr lang="en-US" altLang="zh-CN" dirty="0"/>
              <a:t>						&lt;</a:t>
            </a:r>
            <a:r>
              <a:rPr lang="zh-CN" altLang="en-US" dirty="0"/>
              <a:t>算术表达式</a:t>
            </a:r>
            <a:r>
              <a:rPr lang="en-US" altLang="zh-CN" dirty="0"/>
              <a:t>&gt;&lt;</a:t>
            </a:r>
            <a:r>
              <a:rPr lang="zh-CN" altLang="en-US" dirty="0"/>
              <a:t>算术运算符</a:t>
            </a:r>
            <a:r>
              <a:rPr lang="en-US" altLang="zh-CN" dirty="0"/>
              <a:t>&gt;&lt;</a:t>
            </a:r>
            <a:r>
              <a:rPr lang="zh-CN" altLang="en-US" dirty="0"/>
              <a:t>算术表达式</a:t>
            </a:r>
            <a:r>
              <a:rPr lang="en-US" altLang="zh-CN" dirty="0"/>
              <a:t>&gt; </a:t>
            </a:r>
          </a:p>
          <a:p>
            <a:endParaRPr lang="en-US" altLang="zh-CN" dirty="0"/>
          </a:p>
          <a:p>
            <a:r>
              <a:rPr lang="zh-CN" altLang="en-US" dirty="0"/>
              <a:t>算术运算符有优先顺序、允许重载</a:t>
            </a:r>
          </a:p>
          <a:p>
            <a:r>
              <a:rPr lang="zh-CN" altLang="en-US" dirty="0"/>
              <a:t>算术运算符服从左结合</a:t>
            </a:r>
          </a:p>
          <a:p>
            <a:r>
              <a:rPr lang="zh-CN" altLang="en-US" dirty="0"/>
              <a:t>（上述描述具有</a:t>
            </a:r>
            <a:r>
              <a:rPr lang="zh-CN" altLang="en-US" dirty="0">
                <a:solidFill>
                  <a:srgbClr val="EE853E"/>
                </a:solidFill>
              </a:rPr>
              <a:t>二义性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表达式的设计</a:t>
            </a:r>
          </a:p>
        </p:txBody>
      </p:sp>
    </p:spTree>
    <p:extLst>
      <p:ext uri="{BB962C8B-B14F-4D97-AF65-F5344CB8AC3E}">
        <p14:creationId xmlns:p14="http://schemas.microsoft.com/office/powerpoint/2010/main" val="174699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没有二义性的描述：</a:t>
            </a:r>
            <a:endParaRPr lang="en-US" altLang="zh-CN" dirty="0"/>
          </a:p>
          <a:p>
            <a:r>
              <a:rPr lang="en-US" altLang="zh-CN" dirty="0"/>
              <a:t>&lt;</a:t>
            </a:r>
            <a:r>
              <a:rPr lang="zh-CN" altLang="en-US" dirty="0"/>
              <a:t>算术表达式</a:t>
            </a:r>
            <a:r>
              <a:rPr lang="en-US" altLang="zh-CN" dirty="0"/>
              <a:t>&gt; → 	&lt;</a:t>
            </a:r>
            <a:r>
              <a:rPr lang="zh-CN" altLang="en-US" dirty="0"/>
              <a:t>算术表达式</a:t>
            </a:r>
            <a:r>
              <a:rPr lang="en-US" altLang="zh-CN" dirty="0"/>
              <a:t>&gt;+&lt;</a:t>
            </a:r>
            <a:r>
              <a:rPr lang="zh-CN" altLang="en-US" dirty="0"/>
              <a:t>项</a:t>
            </a:r>
            <a:r>
              <a:rPr lang="en-US" altLang="zh-CN" dirty="0"/>
              <a:t>&gt; |</a:t>
            </a:r>
          </a:p>
          <a:p>
            <a:r>
              <a:rPr lang="en-US" altLang="zh-CN" dirty="0"/>
              <a:t>						&lt;</a:t>
            </a:r>
            <a:r>
              <a:rPr lang="zh-CN" altLang="en-US" dirty="0"/>
              <a:t>算术表达式</a:t>
            </a:r>
            <a:r>
              <a:rPr lang="en-US" altLang="zh-CN" dirty="0"/>
              <a:t>&gt; - &lt;</a:t>
            </a:r>
            <a:r>
              <a:rPr lang="zh-CN" altLang="en-US" dirty="0"/>
              <a:t>项</a:t>
            </a:r>
            <a:r>
              <a:rPr lang="en-US" altLang="zh-CN" dirty="0"/>
              <a:t>&gt; | </a:t>
            </a:r>
          </a:p>
          <a:p>
            <a:r>
              <a:rPr lang="en-US" altLang="zh-CN" dirty="0"/>
              <a:t>						&lt;</a:t>
            </a:r>
            <a:r>
              <a:rPr lang="zh-CN" altLang="en-US" dirty="0"/>
              <a:t>项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项</a:t>
            </a:r>
            <a:r>
              <a:rPr lang="en-US" altLang="zh-CN" dirty="0"/>
              <a:t>&gt; → &lt;</a:t>
            </a:r>
            <a:r>
              <a:rPr lang="zh-CN" altLang="en-US" dirty="0"/>
              <a:t>项</a:t>
            </a:r>
            <a:r>
              <a:rPr lang="en-US" altLang="zh-CN" dirty="0"/>
              <a:t>&gt;*&lt;</a:t>
            </a:r>
            <a:r>
              <a:rPr lang="zh-CN" altLang="en-US" dirty="0"/>
              <a:t>因子</a:t>
            </a:r>
            <a:r>
              <a:rPr lang="en-US" altLang="zh-CN" dirty="0"/>
              <a:t>&gt; | &lt;</a:t>
            </a:r>
            <a:r>
              <a:rPr lang="zh-CN" altLang="en-US" dirty="0"/>
              <a:t>项</a:t>
            </a:r>
            <a:r>
              <a:rPr lang="en-US" altLang="zh-CN" dirty="0"/>
              <a:t>&gt;/&lt;</a:t>
            </a:r>
            <a:r>
              <a:rPr lang="zh-CN" altLang="en-US" dirty="0"/>
              <a:t>因子</a:t>
            </a:r>
            <a:r>
              <a:rPr lang="en-US" altLang="zh-CN" dirty="0"/>
              <a:t>&gt; | &lt;</a:t>
            </a:r>
            <a:r>
              <a:rPr lang="zh-CN" altLang="en-US" dirty="0"/>
              <a:t>因子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因子</a:t>
            </a:r>
            <a:r>
              <a:rPr lang="en-US" altLang="zh-CN" dirty="0"/>
              <a:t>&gt; → (&lt;</a:t>
            </a:r>
            <a:r>
              <a:rPr lang="zh-CN" altLang="en-US" dirty="0"/>
              <a:t>算术表达式</a:t>
            </a:r>
            <a:r>
              <a:rPr lang="en-US" altLang="zh-CN" dirty="0"/>
              <a:t>&gt;) | &lt;</a:t>
            </a:r>
            <a:r>
              <a:rPr lang="zh-CN" altLang="en-US" dirty="0"/>
              <a:t>常量</a:t>
            </a:r>
            <a:r>
              <a:rPr lang="en-US" altLang="zh-CN" dirty="0"/>
              <a:t>&gt; | &lt;</a:t>
            </a:r>
            <a:r>
              <a:rPr lang="zh-CN" altLang="en-US" dirty="0"/>
              <a:t>变量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变量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常量</a:t>
            </a:r>
            <a:r>
              <a:rPr lang="en-US" altLang="zh-CN" dirty="0"/>
              <a:t>&gt; → &lt;</a:t>
            </a:r>
            <a:r>
              <a:rPr lang="zh-CN" altLang="en-US" dirty="0"/>
              <a:t>各种常量</a:t>
            </a:r>
            <a:r>
              <a:rPr lang="en-US" altLang="zh-CN" dirty="0"/>
              <a:t>&gt;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表达式的设计</a:t>
            </a:r>
          </a:p>
        </p:txBody>
      </p:sp>
    </p:spTree>
    <p:extLst>
      <p:ext uri="{BB962C8B-B14F-4D97-AF65-F5344CB8AC3E}">
        <p14:creationId xmlns:p14="http://schemas.microsoft.com/office/powerpoint/2010/main" val="346835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程序语言的设计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A563D2E1-5945-4393-9A28-DF176DB229F3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966203" cy="2711612"/>
            <a:chOff x="1449652" y="2320203"/>
            <a:chExt cx="4724869" cy="2719152"/>
          </a:xfrm>
        </p:grpSpPr>
        <p:grpSp>
          <p:nvGrpSpPr>
            <p:cNvPr id="30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4B834B1-7E11-4152-A77C-15A0BB93CFFA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5" name="Freeform 45">
                <a:extLst>
                  <a:ext uri="{FF2B5EF4-FFF2-40B4-BE49-F238E27FC236}">
                    <a16:creationId xmlns:a16="http://schemas.microsoft.com/office/drawing/2014/main" xmlns="" id="{E63B6474-B2BF-43F4-AB6D-9FC2C2C13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6">
                <a:extLst>
                  <a:ext uri="{FF2B5EF4-FFF2-40B4-BE49-F238E27FC236}">
                    <a16:creationId xmlns:a16="http://schemas.microsoft.com/office/drawing/2014/main" xmlns="" id="{3B26680D-10AD-4347-97AF-106000B60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7">
                <a:extLst>
                  <a:ext uri="{FF2B5EF4-FFF2-40B4-BE49-F238E27FC236}">
                    <a16:creationId xmlns:a16="http://schemas.microsoft.com/office/drawing/2014/main" xmlns="" id="{5731EF02-7BFE-495F-A3B3-0E34DAB39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8">
                <a:extLst>
                  <a:ext uri="{FF2B5EF4-FFF2-40B4-BE49-F238E27FC236}">
                    <a16:creationId xmlns:a16="http://schemas.microsoft.com/office/drawing/2014/main" xmlns="" id="{B4DF4346-11BC-428E-867D-B270CD26A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Freeform 49">
                <a:extLst>
                  <a:ext uri="{FF2B5EF4-FFF2-40B4-BE49-F238E27FC236}">
                    <a16:creationId xmlns:a16="http://schemas.microsoft.com/office/drawing/2014/main" xmlns="" id="{AC6E8CA7-61FA-4DF0-AA94-5829712D5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Rectangle 50">
                <a:extLst>
                  <a:ext uri="{FF2B5EF4-FFF2-40B4-BE49-F238E27FC236}">
                    <a16:creationId xmlns:a16="http://schemas.microsoft.com/office/drawing/2014/main" xmlns="" id="{11903CBC-A7AA-4A96-BC39-7DAE0E80A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Freeform 51">
                <a:extLst>
                  <a:ext uri="{FF2B5EF4-FFF2-40B4-BE49-F238E27FC236}">
                    <a16:creationId xmlns:a16="http://schemas.microsoft.com/office/drawing/2014/main" xmlns="" id="{749349CF-9E4A-4EC3-8D29-303642B7F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2">
                <a:extLst>
                  <a:ext uri="{FF2B5EF4-FFF2-40B4-BE49-F238E27FC236}">
                    <a16:creationId xmlns:a16="http://schemas.microsoft.com/office/drawing/2014/main" xmlns="" id="{AB6DB606-C911-4FDD-AAC5-E9FD614D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Rectangle 53">
                <a:extLst>
                  <a:ext uri="{FF2B5EF4-FFF2-40B4-BE49-F238E27FC236}">
                    <a16:creationId xmlns:a16="http://schemas.microsoft.com/office/drawing/2014/main" xmlns="" id="{4BEF50C3-030A-42CA-9EA7-FED5BB98E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4">
                <a:extLst>
                  <a:ext uri="{FF2B5EF4-FFF2-40B4-BE49-F238E27FC236}">
                    <a16:creationId xmlns:a16="http://schemas.microsoft.com/office/drawing/2014/main" xmlns="" id="{3027579F-95E4-40B4-BB39-536B72BF5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5">
                <a:extLst>
                  <a:ext uri="{FF2B5EF4-FFF2-40B4-BE49-F238E27FC236}">
                    <a16:creationId xmlns:a16="http://schemas.microsoft.com/office/drawing/2014/main" xmlns="" id="{B3C5433E-CAF5-4271-B352-F72926599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6">
                <a:extLst>
                  <a:ext uri="{FF2B5EF4-FFF2-40B4-BE49-F238E27FC236}">
                    <a16:creationId xmlns:a16="http://schemas.microsoft.com/office/drawing/2014/main" xmlns="" id="{EEEBA92F-A6C6-4839-8CAC-4C200EBE7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Oval 57">
                <a:extLst>
                  <a:ext uri="{FF2B5EF4-FFF2-40B4-BE49-F238E27FC236}">
                    <a16:creationId xmlns:a16="http://schemas.microsoft.com/office/drawing/2014/main" xmlns="" id="{4628FB61-1CFF-4BAE-9C59-BF9B99872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8" name="Freeform 58">
                <a:extLst>
                  <a:ext uri="{FF2B5EF4-FFF2-40B4-BE49-F238E27FC236}">
                    <a16:creationId xmlns:a16="http://schemas.microsoft.com/office/drawing/2014/main" xmlns="" id="{64089EE7-97A8-4FB6-8B97-0E5831539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31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B4C88D07-2866-44EB-B2C1-1BBE36E2280F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高级程序设计语言的定义</a:t>
              </a:r>
            </a:p>
          </p:txBody>
        </p:sp>
        <p:sp>
          <p:nvSpPr>
            <p:cNvPr id="32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423708C-E27D-44F0-B9FB-832A09AF8B8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形式语言与文法</a:t>
              </a:r>
            </a:p>
          </p:txBody>
        </p:sp>
        <p:sp>
          <p:nvSpPr>
            <p:cNvPr id="33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21F40BA5-235C-4276-95B4-ADDF952547C7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第三节 高级程序设计语言的设计</a:t>
              </a:r>
            </a:p>
          </p:txBody>
        </p:sp>
        <p:sp>
          <p:nvSpPr>
            <p:cNvPr id="34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AFEE4512-A224-4160-9322-8C132C2CBCBF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高级程序设计语言实例</a:t>
              </a:r>
            </a:p>
          </p:txBody>
        </p:sp>
      </p:grp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xmlns="" id="{3B5DA263-8B37-44D1-8C24-56DA1DBD38DB}"/>
              </a:ext>
            </a:extLst>
          </p:cNvPr>
          <p:cNvSpPr/>
          <p:nvPr/>
        </p:nvSpPr>
        <p:spPr>
          <a:xfrm rot="5400000">
            <a:off x="6721392" y="1676404"/>
            <a:ext cx="2711615" cy="3505200"/>
          </a:xfrm>
          <a:prstGeom prst="wedgeRoundRectCallout">
            <a:avLst>
              <a:gd name="adj1" fmla="val 9985"/>
              <a:gd name="adj2" fmla="val 58718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表达式的设计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语句的设计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程序单元的设计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程序的设计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444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51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说明语句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说明语句</a:t>
            </a:r>
            <a:r>
              <a:rPr lang="en-US" altLang="zh-CN" dirty="0"/>
              <a:t>&gt; → &lt;</a:t>
            </a:r>
            <a:r>
              <a:rPr lang="zh-CN" altLang="en-US" dirty="0"/>
              <a:t>类型说明</a:t>
            </a:r>
            <a:r>
              <a:rPr lang="en-US" altLang="zh-CN" dirty="0"/>
              <a:t>&gt; | &lt;</a:t>
            </a:r>
            <a:r>
              <a:rPr lang="zh-CN" altLang="en-US" dirty="0"/>
              <a:t>变量说明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类型说明</a:t>
            </a:r>
            <a:r>
              <a:rPr lang="en-US" altLang="zh-CN" dirty="0"/>
              <a:t>&gt; → type &lt;</a:t>
            </a:r>
            <a:r>
              <a:rPr lang="zh-CN" altLang="en-US" dirty="0"/>
              <a:t>类型名</a:t>
            </a:r>
            <a:r>
              <a:rPr lang="en-US" altLang="zh-CN" dirty="0"/>
              <a:t>&gt;=&lt;</a:t>
            </a:r>
            <a:r>
              <a:rPr lang="zh-CN" altLang="en-US" dirty="0"/>
              <a:t>用户定义类型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变量说明</a:t>
            </a:r>
            <a:r>
              <a:rPr lang="en-US" altLang="zh-CN" dirty="0"/>
              <a:t>&gt; → </a:t>
            </a:r>
            <a:r>
              <a:rPr lang="en-US" altLang="zh-CN" dirty="0" err="1"/>
              <a:t>var</a:t>
            </a:r>
            <a:r>
              <a:rPr lang="en-US" altLang="zh-CN" dirty="0"/>
              <a:t> &lt;</a:t>
            </a:r>
            <a:r>
              <a:rPr lang="zh-CN" altLang="en-US" dirty="0"/>
              <a:t>变量表</a:t>
            </a:r>
            <a:r>
              <a:rPr lang="en-US" altLang="zh-CN" dirty="0"/>
              <a:t>&gt;:&lt;</a:t>
            </a:r>
            <a:r>
              <a:rPr lang="zh-CN" altLang="en-US" dirty="0"/>
              <a:t>类型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变量表</a:t>
            </a:r>
            <a:r>
              <a:rPr lang="en-US" altLang="zh-CN" dirty="0"/>
              <a:t>&gt; → &lt;</a:t>
            </a:r>
            <a:r>
              <a:rPr lang="zh-CN" altLang="en-US" dirty="0"/>
              <a:t>变量</a:t>
            </a:r>
            <a:r>
              <a:rPr lang="en-US" altLang="zh-CN" dirty="0"/>
              <a:t>&gt; | &lt;</a:t>
            </a:r>
            <a:r>
              <a:rPr lang="zh-CN" altLang="en-US" dirty="0"/>
              <a:t>变量表</a:t>
            </a:r>
            <a:r>
              <a:rPr lang="en-US" altLang="zh-CN" dirty="0"/>
              <a:t>&gt;,&lt;</a:t>
            </a:r>
            <a:r>
              <a:rPr lang="zh-CN" altLang="en-US" dirty="0"/>
              <a:t>变量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类型</a:t>
            </a:r>
            <a:r>
              <a:rPr lang="en-US" altLang="zh-CN" dirty="0"/>
              <a:t>&gt; → int | real | char | </a:t>
            </a:r>
            <a:r>
              <a:rPr lang="en-US" altLang="zh-CN" dirty="0" err="1"/>
              <a:t>boolean</a:t>
            </a:r>
            <a:r>
              <a:rPr lang="en-US" altLang="zh-CN" dirty="0"/>
              <a:t> | &lt;</a:t>
            </a:r>
            <a:r>
              <a:rPr lang="zh-CN" altLang="en-US" dirty="0"/>
              <a:t>类型名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变量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类型名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语句的设计</a:t>
            </a:r>
          </a:p>
        </p:txBody>
      </p:sp>
    </p:spTree>
    <p:extLst>
      <p:ext uri="{BB962C8B-B14F-4D97-AF65-F5344CB8AC3E}">
        <p14:creationId xmlns:p14="http://schemas.microsoft.com/office/powerpoint/2010/main" val="166610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执行语句</a:t>
            </a:r>
            <a:endParaRPr lang="en-GB" altLang="zh-CN" dirty="0"/>
          </a:p>
          <a:p>
            <a:r>
              <a:rPr lang="en-GB" altLang="zh-CN" dirty="0"/>
              <a:t>&lt;</a:t>
            </a:r>
            <a:r>
              <a:rPr lang="zh-CN" altLang="en-US" dirty="0"/>
              <a:t>执行语句</a:t>
            </a:r>
            <a:r>
              <a:rPr lang="en-US" altLang="zh-CN" dirty="0"/>
              <a:t>&gt; →	&lt;</a:t>
            </a:r>
            <a:r>
              <a:rPr lang="zh-CN" altLang="en-US" dirty="0"/>
              <a:t>赋值语句</a:t>
            </a:r>
            <a:r>
              <a:rPr lang="en-US" altLang="zh-CN" dirty="0"/>
              <a:t>&gt; | &lt;</a:t>
            </a:r>
            <a:r>
              <a:rPr lang="zh-CN" altLang="en-US" dirty="0"/>
              <a:t>控制语句</a:t>
            </a:r>
            <a:r>
              <a:rPr lang="en-US" altLang="zh-CN" dirty="0"/>
              <a:t>&gt; | </a:t>
            </a:r>
          </a:p>
          <a:p>
            <a:r>
              <a:rPr lang="en-US" altLang="zh-CN" dirty="0"/>
              <a:t>					&lt;</a:t>
            </a:r>
            <a:r>
              <a:rPr lang="zh-CN" altLang="en-US" dirty="0"/>
              <a:t>复合语句</a:t>
            </a:r>
            <a:r>
              <a:rPr lang="en-US" altLang="zh-CN" dirty="0"/>
              <a:t>&gt; | </a:t>
            </a:r>
            <a:r>
              <a:rPr lang="en-GB" altLang="zh-CN" dirty="0"/>
              <a:t>&lt;</a:t>
            </a:r>
            <a:r>
              <a:rPr lang="en-US" altLang="zh-CN" dirty="0"/>
              <a:t>I/O</a:t>
            </a:r>
            <a:r>
              <a:rPr lang="zh-CN" altLang="en-US" dirty="0"/>
              <a:t>输出语句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赋值语句</a:t>
            </a:r>
            <a:r>
              <a:rPr lang="en-US" altLang="zh-CN" dirty="0"/>
              <a:t>&gt; → &lt;</a:t>
            </a:r>
            <a:r>
              <a:rPr lang="zh-CN" altLang="en-US" dirty="0"/>
              <a:t>变量</a:t>
            </a:r>
            <a:r>
              <a:rPr lang="en-US" altLang="zh-CN" dirty="0"/>
              <a:t>&gt;:=&lt;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控制语句</a:t>
            </a:r>
            <a:r>
              <a:rPr lang="en-US" altLang="zh-CN" dirty="0"/>
              <a:t>&gt; → </a:t>
            </a:r>
            <a:r>
              <a:rPr lang="en-GB" altLang="zh-CN" dirty="0"/>
              <a:t>&lt;</a:t>
            </a:r>
            <a:r>
              <a:rPr lang="zh-CN" altLang="en-US" dirty="0"/>
              <a:t>顺序</a:t>
            </a:r>
            <a:r>
              <a:rPr lang="en-GB" altLang="zh-CN" dirty="0"/>
              <a:t>&gt; | &lt;</a:t>
            </a:r>
            <a:r>
              <a:rPr lang="zh-CN" altLang="en-US" dirty="0"/>
              <a:t>选择</a:t>
            </a:r>
            <a:r>
              <a:rPr lang="en-GB" altLang="zh-CN" dirty="0"/>
              <a:t>&gt; | &lt;</a:t>
            </a:r>
            <a:r>
              <a:rPr lang="zh-CN" altLang="en-US" dirty="0"/>
              <a:t>重复</a:t>
            </a:r>
            <a:r>
              <a:rPr lang="en-GB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复合语句</a:t>
            </a:r>
            <a:r>
              <a:rPr lang="en-US" altLang="zh-CN" dirty="0"/>
              <a:t>&gt; → begin &lt;</a:t>
            </a:r>
            <a:r>
              <a:rPr lang="zh-CN" altLang="en-US" dirty="0"/>
              <a:t>语句表</a:t>
            </a:r>
            <a:r>
              <a:rPr lang="en-US" altLang="zh-CN" dirty="0"/>
              <a:t>&gt; end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语句表</a:t>
            </a:r>
            <a:r>
              <a:rPr lang="en-US" altLang="zh-CN" dirty="0"/>
              <a:t>&gt; → &lt;</a:t>
            </a:r>
            <a:r>
              <a:rPr lang="zh-CN" altLang="en-US" dirty="0"/>
              <a:t>执行语句</a:t>
            </a:r>
            <a:r>
              <a:rPr lang="en-US" altLang="zh-CN" dirty="0"/>
              <a:t>&gt; | &lt;</a:t>
            </a:r>
            <a:r>
              <a:rPr lang="zh-CN" altLang="en-US" dirty="0"/>
              <a:t>执行语句表</a:t>
            </a:r>
            <a:r>
              <a:rPr lang="en-US" altLang="zh-CN" dirty="0"/>
              <a:t>&gt;;&lt;</a:t>
            </a:r>
            <a:r>
              <a:rPr lang="zh-CN" altLang="en-US" dirty="0"/>
              <a:t>执行语句</a:t>
            </a:r>
            <a:r>
              <a:rPr lang="en-US" altLang="zh-CN" dirty="0"/>
              <a:t>&gt; </a:t>
            </a:r>
          </a:p>
          <a:p>
            <a:r>
              <a:rPr lang="en-GB" altLang="zh-CN" dirty="0"/>
              <a:t>&lt;</a:t>
            </a:r>
            <a:r>
              <a:rPr lang="en-US" altLang="zh-CN" dirty="0"/>
              <a:t>I/O</a:t>
            </a:r>
            <a:r>
              <a:rPr lang="zh-CN" altLang="en-US" dirty="0"/>
              <a:t>输出语句</a:t>
            </a:r>
            <a:r>
              <a:rPr lang="en-US" altLang="zh-CN" dirty="0"/>
              <a:t>&gt; → read(&lt;</a:t>
            </a:r>
            <a:r>
              <a:rPr lang="zh-CN" altLang="en-US" dirty="0"/>
              <a:t>变量</a:t>
            </a:r>
            <a:r>
              <a:rPr lang="en-US" altLang="zh-CN" dirty="0"/>
              <a:t>&gt;) | write(&lt;</a:t>
            </a:r>
            <a:r>
              <a:rPr lang="zh-CN" altLang="en-US" dirty="0"/>
              <a:t>变量</a:t>
            </a:r>
            <a:r>
              <a:rPr lang="en-US" altLang="zh-CN" dirty="0"/>
              <a:t>&gt;)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语句的设计</a:t>
            </a:r>
          </a:p>
        </p:txBody>
      </p:sp>
    </p:spTree>
    <p:extLst>
      <p:ext uri="{BB962C8B-B14F-4D97-AF65-F5344CB8AC3E}">
        <p14:creationId xmlns:p14="http://schemas.microsoft.com/office/powerpoint/2010/main" val="809261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程序语言的设计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A563D2E1-5945-4393-9A28-DF176DB229F3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966203" cy="2711612"/>
            <a:chOff x="1449652" y="2320203"/>
            <a:chExt cx="4724869" cy="2719152"/>
          </a:xfrm>
        </p:grpSpPr>
        <p:grpSp>
          <p:nvGrpSpPr>
            <p:cNvPr id="30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4B834B1-7E11-4152-A77C-15A0BB93CFFA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5" name="Freeform 45">
                <a:extLst>
                  <a:ext uri="{FF2B5EF4-FFF2-40B4-BE49-F238E27FC236}">
                    <a16:creationId xmlns:a16="http://schemas.microsoft.com/office/drawing/2014/main" xmlns="" id="{E63B6474-B2BF-43F4-AB6D-9FC2C2C13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6">
                <a:extLst>
                  <a:ext uri="{FF2B5EF4-FFF2-40B4-BE49-F238E27FC236}">
                    <a16:creationId xmlns:a16="http://schemas.microsoft.com/office/drawing/2014/main" xmlns="" id="{3B26680D-10AD-4347-97AF-106000B60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7">
                <a:extLst>
                  <a:ext uri="{FF2B5EF4-FFF2-40B4-BE49-F238E27FC236}">
                    <a16:creationId xmlns:a16="http://schemas.microsoft.com/office/drawing/2014/main" xmlns="" id="{5731EF02-7BFE-495F-A3B3-0E34DAB39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8">
                <a:extLst>
                  <a:ext uri="{FF2B5EF4-FFF2-40B4-BE49-F238E27FC236}">
                    <a16:creationId xmlns:a16="http://schemas.microsoft.com/office/drawing/2014/main" xmlns="" id="{B4DF4346-11BC-428E-867D-B270CD26A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Freeform 49">
                <a:extLst>
                  <a:ext uri="{FF2B5EF4-FFF2-40B4-BE49-F238E27FC236}">
                    <a16:creationId xmlns:a16="http://schemas.microsoft.com/office/drawing/2014/main" xmlns="" id="{AC6E8CA7-61FA-4DF0-AA94-5829712D5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Rectangle 50">
                <a:extLst>
                  <a:ext uri="{FF2B5EF4-FFF2-40B4-BE49-F238E27FC236}">
                    <a16:creationId xmlns:a16="http://schemas.microsoft.com/office/drawing/2014/main" xmlns="" id="{11903CBC-A7AA-4A96-BC39-7DAE0E80A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Freeform 51">
                <a:extLst>
                  <a:ext uri="{FF2B5EF4-FFF2-40B4-BE49-F238E27FC236}">
                    <a16:creationId xmlns:a16="http://schemas.microsoft.com/office/drawing/2014/main" xmlns="" id="{749349CF-9E4A-4EC3-8D29-303642B7F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2">
                <a:extLst>
                  <a:ext uri="{FF2B5EF4-FFF2-40B4-BE49-F238E27FC236}">
                    <a16:creationId xmlns:a16="http://schemas.microsoft.com/office/drawing/2014/main" xmlns="" id="{AB6DB606-C911-4FDD-AAC5-E9FD614D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Rectangle 53">
                <a:extLst>
                  <a:ext uri="{FF2B5EF4-FFF2-40B4-BE49-F238E27FC236}">
                    <a16:creationId xmlns:a16="http://schemas.microsoft.com/office/drawing/2014/main" xmlns="" id="{4BEF50C3-030A-42CA-9EA7-FED5BB98E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4">
                <a:extLst>
                  <a:ext uri="{FF2B5EF4-FFF2-40B4-BE49-F238E27FC236}">
                    <a16:creationId xmlns:a16="http://schemas.microsoft.com/office/drawing/2014/main" xmlns="" id="{3027579F-95E4-40B4-BB39-536B72BF5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5">
                <a:extLst>
                  <a:ext uri="{FF2B5EF4-FFF2-40B4-BE49-F238E27FC236}">
                    <a16:creationId xmlns:a16="http://schemas.microsoft.com/office/drawing/2014/main" xmlns="" id="{B3C5433E-CAF5-4271-B352-F72926599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6">
                <a:extLst>
                  <a:ext uri="{FF2B5EF4-FFF2-40B4-BE49-F238E27FC236}">
                    <a16:creationId xmlns:a16="http://schemas.microsoft.com/office/drawing/2014/main" xmlns="" id="{EEEBA92F-A6C6-4839-8CAC-4C200EBE7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Oval 57">
                <a:extLst>
                  <a:ext uri="{FF2B5EF4-FFF2-40B4-BE49-F238E27FC236}">
                    <a16:creationId xmlns:a16="http://schemas.microsoft.com/office/drawing/2014/main" xmlns="" id="{4628FB61-1CFF-4BAE-9C59-BF9B99872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8" name="Freeform 58">
                <a:extLst>
                  <a:ext uri="{FF2B5EF4-FFF2-40B4-BE49-F238E27FC236}">
                    <a16:creationId xmlns:a16="http://schemas.microsoft.com/office/drawing/2014/main" xmlns="" id="{64089EE7-97A8-4FB6-8B97-0E5831539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31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B4C88D07-2866-44EB-B2C1-1BBE36E2280F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高级程序设计语言的定义</a:t>
              </a:r>
            </a:p>
          </p:txBody>
        </p:sp>
        <p:sp>
          <p:nvSpPr>
            <p:cNvPr id="32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423708C-E27D-44F0-B9FB-832A09AF8B8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形式语言与文法</a:t>
              </a:r>
            </a:p>
          </p:txBody>
        </p:sp>
        <p:sp>
          <p:nvSpPr>
            <p:cNvPr id="33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21F40BA5-235C-4276-95B4-ADDF952547C7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第三节 高级程序设计语言的设计</a:t>
              </a:r>
            </a:p>
          </p:txBody>
        </p:sp>
        <p:sp>
          <p:nvSpPr>
            <p:cNvPr id="34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AFEE4512-A224-4160-9322-8C132C2CBCBF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高级程序设计语言实例</a:t>
              </a:r>
            </a:p>
          </p:txBody>
        </p:sp>
      </p:grp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xmlns="" id="{3B5DA263-8B37-44D1-8C24-56DA1DBD38DB}"/>
              </a:ext>
            </a:extLst>
          </p:cNvPr>
          <p:cNvSpPr/>
          <p:nvPr/>
        </p:nvSpPr>
        <p:spPr>
          <a:xfrm rot="5400000">
            <a:off x="6721392" y="1676404"/>
            <a:ext cx="2711615" cy="3505200"/>
          </a:xfrm>
          <a:prstGeom prst="wedgeRoundRectCallout">
            <a:avLst>
              <a:gd name="adj1" fmla="val 9985"/>
              <a:gd name="adj2" fmla="val 58718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表达式的设计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语句的设计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程序单元的设计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程序的设计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6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程序单元</a:t>
            </a:r>
            <a:r>
              <a:rPr lang="en-US" altLang="zh-CN" dirty="0"/>
              <a:t>&gt; →	&lt;</a:t>
            </a:r>
            <a:r>
              <a:rPr lang="zh-CN" altLang="en-US" dirty="0"/>
              <a:t>程序单元关键字</a:t>
            </a:r>
            <a:r>
              <a:rPr lang="en-US" altLang="zh-CN" dirty="0"/>
              <a:t>&gt;&lt;</a:t>
            </a:r>
            <a:r>
              <a:rPr lang="zh-CN" altLang="en-US" dirty="0"/>
              <a:t>程序单元名</a:t>
            </a:r>
            <a:r>
              <a:rPr lang="en-US" altLang="zh-CN" dirty="0"/>
              <a:t>&gt;(&lt;</a:t>
            </a:r>
            <a:r>
              <a:rPr lang="zh-CN" altLang="en-US" dirty="0"/>
              <a:t>形参表</a:t>
            </a:r>
            <a:r>
              <a:rPr lang="en-US" altLang="zh-CN" dirty="0"/>
              <a:t>&gt;)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					&lt;</a:t>
            </a:r>
            <a:r>
              <a:rPr lang="zh-CN" altLang="en-US" dirty="0"/>
              <a:t>程序单元体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程序单元关键字</a:t>
            </a:r>
            <a:r>
              <a:rPr lang="en-US" altLang="zh-CN" dirty="0"/>
              <a:t>&gt; → procedure | function | …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程序单元名</a:t>
            </a:r>
            <a:r>
              <a:rPr lang="en-US" altLang="zh-CN" dirty="0"/>
              <a:t>&gt; → &lt;</a:t>
            </a:r>
            <a:r>
              <a:rPr lang="zh-CN" altLang="en-US" dirty="0"/>
              <a:t>标识符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形参表</a:t>
            </a:r>
            <a:r>
              <a:rPr lang="en-US" altLang="zh-CN" dirty="0"/>
              <a:t>&gt; → &lt;</a:t>
            </a:r>
            <a:r>
              <a:rPr lang="zh-CN" altLang="en-US" dirty="0"/>
              <a:t>形参</a:t>
            </a:r>
            <a:r>
              <a:rPr lang="en-US" altLang="zh-CN" dirty="0"/>
              <a:t>&gt; | &lt;</a:t>
            </a:r>
            <a:r>
              <a:rPr lang="zh-CN" altLang="en-US" dirty="0"/>
              <a:t>形参表</a:t>
            </a:r>
            <a:r>
              <a:rPr lang="en-US" altLang="zh-CN" dirty="0"/>
              <a:t>&gt;;&lt;</a:t>
            </a:r>
            <a:r>
              <a:rPr lang="zh-CN" altLang="en-US" dirty="0"/>
              <a:t>形参</a:t>
            </a:r>
            <a:r>
              <a:rPr lang="en-US" altLang="zh-CN" dirty="0"/>
              <a:t>&gt;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程序单元的设计</a:t>
            </a:r>
          </a:p>
        </p:txBody>
      </p:sp>
    </p:spTree>
    <p:extLst>
      <p:ext uri="{BB962C8B-B14F-4D97-AF65-F5344CB8AC3E}">
        <p14:creationId xmlns:p14="http://schemas.microsoft.com/office/powerpoint/2010/main" val="254855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形参可以没有；</a:t>
            </a:r>
          </a:p>
          <a:p>
            <a:r>
              <a:rPr lang="zh-CN" altLang="en-US" dirty="0"/>
              <a:t>如果有，可以是变量、数组、</a:t>
            </a:r>
            <a:r>
              <a:rPr lang="zh-CN" altLang="en-US" dirty="0">
                <a:solidFill>
                  <a:srgbClr val="EE853E"/>
                </a:solidFill>
              </a:rPr>
              <a:t>过程</a:t>
            </a:r>
            <a:r>
              <a:rPr lang="zh-CN" altLang="en-US" dirty="0"/>
              <a:t>等，</a:t>
            </a:r>
          </a:p>
          <a:p>
            <a:r>
              <a:rPr lang="zh-CN" altLang="en-US" dirty="0"/>
              <a:t>必须说明类型及与实参的</a:t>
            </a:r>
            <a:r>
              <a:rPr lang="zh-CN" altLang="en-US" dirty="0">
                <a:solidFill>
                  <a:srgbClr val="EE853E"/>
                </a:solidFill>
              </a:rPr>
              <a:t>绑定</a:t>
            </a:r>
            <a:r>
              <a:rPr lang="zh-CN" altLang="en-US" dirty="0"/>
              <a:t>方式。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xmlns="" id="{13B86DA8-CF1A-4F64-B532-988506C5B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程序单元的设计</a:t>
            </a:r>
          </a:p>
        </p:txBody>
      </p:sp>
    </p:spTree>
    <p:extLst>
      <p:ext uri="{BB962C8B-B14F-4D97-AF65-F5344CB8AC3E}">
        <p14:creationId xmlns:p14="http://schemas.microsoft.com/office/powerpoint/2010/main" val="247659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程序单元体</a:t>
            </a:r>
            <a:r>
              <a:rPr lang="en-US" altLang="zh-CN" dirty="0"/>
              <a:t>&gt; → begin &lt;</a:t>
            </a:r>
            <a:r>
              <a:rPr lang="zh-CN" altLang="en-US" dirty="0"/>
              <a:t>说明部分</a:t>
            </a:r>
            <a:r>
              <a:rPr lang="en-US" altLang="zh-CN" dirty="0"/>
              <a:t>&gt;;&lt;</a:t>
            </a:r>
            <a:r>
              <a:rPr lang="zh-CN" altLang="en-US" dirty="0"/>
              <a:t>执行部分</a:t>
            </a:r>
            <a:r>
              <a:rPr lang="en-US" altLang="zh-CN" dirty="0"/>
              <a:t>&gt; end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说明部分</a:t>
            </a:r>
            <a:r>
              <a:rPr lang="en-US" altLang="zh-CN" dirty="0"/>
              <a:t>&gt; → &lt;</a:t>
            </a:r>
            <a:r>
              <a:rPr lang="zh-CN" altLang="en-US" dirty="0"/>
              <a:t>说明语句表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说明语句表</a:t>
            </a:r>
            <a:r>
              <a:rPr lang="en-US" altLang="zh-CN" dirty="0"/>
              <a:t>&gt; → &lt;</a:t>
            </a:r>
            <a:r>
              <a:rPr lang="zh-CN" altLang="en-US" dirty="0"/>
              <a:t>说明语句</a:t>
            </a:r>
            <a:r>
              <a:rPr lang="en-US" altLang="zh-CN" dirty="0"/>
              <a:t>&gt; | &lt;</a:t>
            </a:r>
            <a:r>
              <a:rPr lang="zh-CN" altLang="en-US" dirty="0"/>
              <a:t>说明语句表</a:t>
            </a:r>
            <a:r>
              <a:rPr lang="en-US" altLang="zh-CN" dirty="0"/>
              <a:t>&gt;;&lt;</a:t>
            </a:r>
            <a:r>
              <a:rPr lang="zh-CN" altLang="en-US" dirty="0"/>
              <a:t>说明语句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执行部分</a:t>
            </a:r>
            <a:r>
              <a:rPr lang="en-US" altLang="zh-CN" dirty="0"/>
              <a:t>&gt; → &lt;</a:t>
            </a:r>
            <a:r>
              <a:rPr lang="zh-CN" altLang="en-US" dirty="0"/>
              <a:t>执行语句表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执行语句表</a:t>
            </a:r>
            <a:r>
              <a:rPr lang="en-US" altLang="zh-CN" dirty="0"/>
              <a:t>&gt; → &lt;</a:t>
            </a:r>
            <a:r>
              <a:rPr lang="zh-CN" altLang="en-US" dirty="0"/>
              <a:t>执行语句</a:t>
            </a:r>
            <a:r>
              <a:rPr lang="en-US" altLang="zh-CN" dirty="0"/>
              <a:t>&gt; | &lt;</a:t>
            </a:r>
            <a:r>
              <a:rPr lang="zh-CN" altLang="en-US" dirty="0"/>
              <a:t>执行语句表</a:t>
            </a:r>
            <a:r>
              <a:rPr lang="en-US" altLang="zh-CN" dirty="0"/>
              <a:t>&gt;;&lt;</a:t>
            </a:r>
            <a:r>
              <a:rPr lang="zh-CN" altLang="en-US" dirty="0"/>
              <a:t>执行语句</a:t>
            </a:r>
            <a:r>
              <a:rPr lang="en-US" altLang="zh-CN" dirty="0"/>
              <a:t>&gt;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xmlns="" id="{6FE901E8-9BF0-4012-B55D-C55AE3736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程序单元的设计</a:t>
            </a:r>
          </a:p>
        </p:txBody>
      </p:sp>
    </p:spTree>
    <p:extLst>
      <p:ext uri="{BB962C8B-B14F-4D97-AF65-F5344CB8AC3E}">
        <p14:creationId xmlns:p14="http://schemas.microsoft.com/office/powerpoint/2010/main" val="382317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分程序</a:t>
            </a:r>
            <a:r>
              <a:rPr lang="en-US" altLang="zh-CN" dirty="0"/>
              <a:t>&gt; → begin &lt;</a:t>
            </a:r>
            <a:r>
              <a:rPr lang="zh-CN" altLang="en-US" dirty="0"/>
              <a:t>说明部分</a:t>
            </a:r>
            <a:r>
              <a:rPr lang="en-US" altLang="zh-CN" dirty="0"/>
              <a:t>&gt;;&lt;</a:t>
            </a:r>
            <a:r>
              <a:rPr lang="zh-CN" altLang="en-US" dirty="0"/>
              <a:t>执行部分</a:t>
            </a:r>
            <a:r>
              <a:rPr lang="en-US" altLang="zh-CN" dirty="0"/>
              <a:t>&gt;  end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说明部分</a:t>
            </a:r>
            <a:r>
              <a:rPr lang="en-US" altLang="zh-CN" dirty="0"/>
              <a:t>&gt; →	&lt;</a:t>
            </a:r>
            <a:r>
              <a:rPr lang="zh-CN" altLang="en-US" dirty="0"/>
              <a:t>变量说明表</a:t>
            </a:r>
            <a:r>
              <a:rPr lang="en-US" altLang="zh-CN" dirty="0"/>
              <a:t>&gt; ;</a:t>
            </a:r>
            <a:endParaRPr lang="zh-CN" altLang="en-US" dirty="0"/>
          </a:p>
          <a:p>
            <a:r>
              <a:rPr lang="en-US" altLang="zh-CN" dirty="0"/>
              <a:t>					&lt;</a:t>
            </a:r>
            <a:r>
              <a:rPr lang="zh-CN" altLang="en-US" dirty="0"/>
              <a:t>数组说明表</a:t>
            </a:r>
            <a:r>
              <a:rPr lang="en-US" altLang="zh-CN" dirty="0"/>
              <a:t>&gt; ; </a:t>
            </a:r>
            <a:endParaRPr lang="zh-CN" altLang="en-US" dirty="0"/>
          </a:p>
          <a:p>
            <a:r>
              <a:rPr lang="en-US" altLang="zh-CN" dirty="0"/>
              <a:t>					&lt;</a:t>
            </a:r>
            <a:r>
              <a:rPr lang="zh-CN" altLang="en-US" dirty="0"/>
              <a:t>过程说明表</a:t>
            </a:r>
            <a:r>
              <a:rPr lang="en-US" altLang="zh-CN" dirty="0"/>
              <a:t>&gt; ;</a:t>
            </a:r>
            <a:endParaRPr lang="zh-CN" altLang="en-US" dirty="0"/>
          </a:p>
          <a:p>
            <a:r>
              <a:rPr lang="en-US" altLang="zh-CN" dirty="0"/>
              <a:t>					&lt;</a:t>
            </a:r>
            <a:r>
              <a:rPr lang="zh-CN" altLang="en-US" dirty="0"/>
              <a:t>分程序表</a:t>
            </a:r>
            <a:r>
              <a:rPr lang="en-US" altLang="zh-CN" dirty="0"/>
              <a:t>&gt; </a:t>
            </a:r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xmlns="" id="{58F1F3C6-7A34-459F-9157-CD986BCF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程序单元的设计</a:t>
            </a:r>
          </a:p>
        </p:txBody>
      </p:sp>
    </p:spTree>
    <p:extLst>
      <p:ext uri="{BB962C8B-B14F-4D97-AF65-F5344CB8AC3E}">
        <p14:creationId xmlns:p14="http://schemas.microsoft.com/office/powerpoint/2010/main" val="268962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变量说明表</a:t>
            </a:r>
            <a:r>
              <a:rPr lang="en-US" altLang="zh-CN" dirty="0"/>
              <a:t>&gt; → &lt;</a:t>
            </a:r>
            <a:r>
              <a:rPr lang="zh-CN" altLang="en-US" dirty="0"/>
              <a:t>变量说明</a:t>
            </a:r>
            <a:r>
              <a:rPr lang="en-US" altLang="zh-CN" dirty="0"/>
              <a:t>&gt; | &lt;</a:t>
            </a:r>
            <a:r>
              <a:rPr lang="zh-CN" altLang="en-US" dirty="0"/>
              <a:t>变量说明表</a:t>
            </a:r>
            <a:r>
              <a:rPr lang="en-US" altLang="zh-CN" dirty="0"/>
              <a:t>&gt;;&lt;</a:t>
            </a:r>
            <a:r>
              <a:rPr lang="zh-CN" altLang="en-US" dirty="0"/>
              <a:t>变量说明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数组说明表</a:t>
            </a:r>
            <a:r>
              <a:rPr lang="en-US" altLang="zh-CN" dirty="0"/>
              <a:t>&gt; → &lt;</a:t>
            </a:r>
            <a:r>
              <a:rPr lang="zh-CN" altLang="en-US" dirty="0"/>
              <a:t>数组说明</a:t>
            </a:r>
            <a:r>
              <a:rPr lang="en-US" altLang="zh-CN" dirty="0"/>
              <a:t>&gt; | &lt;</a:t>
            </a:r>
            <a:r>
              <a:rPr lang="zh-CN" altLang="en-US" dirty="0"/>
              <a:t>数组说明表</a:t>
            </a:r>
            <a:r>
              <a:rPr lang="en-US" altLang="zh-CN" dirty="0"/>
              <a:t>&gt;;&lt;</a:t>
            </a:r>
            <a:r>
              <a:rPr lang="zh-CN" altLang="en-US" dirty="0"/>
              <a:t>数组说明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过程说明表</a:t>
            </a:r>
            <a:r>
              <a:rPr lang="en-US" altLang="zh-CN" dirty="0"/>
              <a:t>&gt; → &lt;</a:t>
            </a:r>
            <a:r>
              <a:rPr lang="zh-CN" altLang="en-US" dirty="0"/>
              <a:t>过程说明</a:t>
            </a:r>
            <a:r>
              <a:rPr lang="en-US" altLang="zh-CN" dirty="0"/>
              <a:t>&gt; | &lt;</a:t>
            </a:r>
            <a:r>
              <a:rPr lang="zh-CN" altLang="en-US" dirty="0"/>
              <a:t>过程说明表</a:t>
            </a:r>
            <a:r>
              <a:rPr lang="en-US" altLang="zh-CN" dirty="0"/>
              <a:t>&gt;;&lt;</a:t>
            </a:r>
            <a:r>
              <a:rPr lang="zh-CN" altLang="en-US" dirty="0"/>
              <a:t>过程说明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分程序表</a:t>
            </a:r>
            <a:r>
              <a:rPr lang="en-US" altLang="zh-CN" dirty="0"/>
              <a:t>&gt; → &lt;</a:t>
            </a:r>
            <a:r>
              <a:rPr lang="zh-CN" altLang="en-US" dirty="0"/>
              <a:t>分程序</a:t>
            </a:r>
            <a:r>
              <a:rPr lang="en-US" altLang="zh-CN" dirty="0"/>
              <a:t>&gt; | &lt;</a:t>
            </a:r>
            <a:r>
              <a:rPr lang="zh-CN" altLang="en-US" dirty="0"/>
              <a:t>分程序表</a:t>
            </a:r>
            <a:r>
              <a:rPr lang="en-US" altLang="zh-CN" dirty="0"/>
              <a:t>&gt;;&lt;</a:t>
            </a:r>
            <a:r>
              <a:rPr lang="zh-CN" altLang="en-US" dirty="0"/>
              <a:t>分程序</a:t>
            </a:r>
            <a:r>
              <a:rPr lang="en-US" altLang="zh-CN" dirty="0"/>
              <a:t>&gt;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xmlns="" id="{67D0F554-EA5A-4739-8A9A-B20474582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程序单元的设计</a:t>
            </a:r>
          </a:p>
        </p:txBody>
      </p:sp>
    </p:spTree>
    <p:extLst>
      <p:ext uri="{BB962C8B-B14F-4D97-AF65-F5344CB8AC3E}">
        <p14:creationId xmlns:p14="http://schemas.microsoft.com/office/powerpoint/2010/main" val="267616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xmlns="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程序语言的设计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A563D2E1-5945-4393-9A28-DF176DB229F3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966203" cy="2711612"/>
            <a:chOff x="1449652" y="2320203"/>
            <a:chExt cx="4724869" cy="2719152"/>
          </a:xfrm>
        </p:grpSpPr>
        <p:grpSp>
          <p:nvGrpSpPr>
            <p:cNvPr id="30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74B834B1-7E11-4152-A77C-15A0BB93CFFA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5" name="Freeform 45">
                <a:extLst>
                  <a:ext uri="{FF2B5EF4-FFF2-40B4-BE49-F238E27FC236}">
                    <a16:creationId xmlns:a16="http://schemas.microsoft.com/office/drawing/2014/main" xmlns="" id="{E63B6474-B2BF-43F4-AB6D-9FC2C2C13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6">
                <a:extLst>
                  <a:ext uri="{FF2B5EF4-FFF2-40B4-BE49-F238E27FC236}">
                    <a16:creationId xmlns:a16="http://schemas.microsoft.com/office/drawing/2014/main" xmlns="" id="{3B26680D-10AD-4347-97AF-106000B60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7">
                <a:extLst>
                  <a:ext uri="{FF2B5EF4-FFF2-40B4-BE49-F238E27FC236}">
                    <a16:creationId xmlns:a16="http://schemas.microsoft.com/office/drawing/2014/main" xmlns="" id="{5731EF02-7BFE-495F-A3B3-0E34DAB39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8">
                <a:extLst>
                  <a:ext uri="{FF2B5EF4-FFF2-40B4-BE49-F238E27FC236}">
                    <a16:creationId xmlns:a16="http://schemas.microsoft.com/office/drawing/2014/main" xmlns="" id="{B4DF4346-11BC-428E-867D-B270CD26A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Freeform 49">
                <a:extLst>
                  <a:ext uri="{FF2B5EF4-FFF2-40B4-BE49-F238E27FC236}">
                    <a16:creationId xmlns:a16="http://schemas.microsoft.com/office/drawing/2014/main" xmlns="" id="{AC6E8CA7-61FA-4DF0-AA94-5829712D5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Rectangle 50">
                <a:extLst>
                  <a:ext uri="{FF2B5EF4-FFF2-40B4-BE49-F238E27FC236}">
                    <a16:creationId xmlns:a16="http://schemas.microsoft.com/office/drawing/2014/main" xmlns="" id="{11903CBC-A7AA-4A96-BC39-7DAE0E80A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Freeform 51">
                <a:extLst>
                  <a:ext uri="{FF2B5EF4-FFF2-40B4-BE49-F238E27FC236}">
                    <a16:creationId xmlns:a16="http://schemas.microsoft.com/office/drawing/2014/main" xmlns="" id="{749349CF-9E4A-4EC3-8D29-303642B7F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2">
                <a:extLst>
                  <a:ext uri="{FF2B5EF4-FFF2-40B4-BE49-F238E27FC236}">
                    <a16:creationId xmlns:a16="http://schemas.microsoft.com/office/drawing/2014/main" xmlns="" id="{AB6DB606-C911-4FDD-AAC5-E9FD614D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Rectangle 53">
                <a:extLst>
                  <a:ext uri="{FF2B5EF4-FFF2-40B4-BE49-F238E27FC236}">
                    <a16:creationId xmlns:a16="http://schemas.microsoft.com/office/drawing/2014/main" xmlns="" id="{4BEF50C3-030A-42CA-9EA7-FED5BB98E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4">
                <a:extLst>
                  <a:ext uri="{FF2B5EF4-FFF2-40B4-BE49-F238E27FC236}">
                    <a16:creationId xmlns:a16="http://schemas.microsoft.com/office/drawing/2014/main" xmlns="" id="{3027579F-95E4-40B4-BB39-536B72BF5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5">
                <a:extLst>
                  <a:ext uri="{FF2B5EF4-FFF2-40B4-BE49-F238E27FC236}">
                    <a16:creationId xmlns:a16="http://schemas.microsoft.com/office/drawing/2014/main" xmlns="" id="{B3C5433E-CAF5-4271-B352-F72926599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6">
                <a:extLst>
                  <a:ext uri="{FF2B5EF4-FFF2-40B4-BE49-F238E27FC236}">
                    <a16:creationId xmlns:a16="http://schemas.microsoft.com/office/drawing/2014/main" xmlns="" id="{EEEBA92F-A6C6-4839-8CAC-4C200EBE7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Oval 57">
                <a:extLst>
                  <a:ext uri="{FF2B5EF4-FFF2-40B4-BE49-F238E27FC236}">
                    <a16:creationId xmlns:a16="http://schemas.microsoft.com/office/drawing/2014/main" xmlns="" id="{4628FB61-1CFF-4BAE-9C59-BF9B99872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8" name="Freeform 58">
                <a:extLst>
                  <a:ext uri="{FF2B5EF4-FFF2-40B4-BE49-F238E27FC236}">
                    <a16:creationId xmlns:a16="http://schemas.microsoft.com/office/drawing/2014/main" xmlns="" id="{64089EE7-97A8-4FB6-8B97-0E5831539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31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B4C88D07-2866-44EB-B2C1-1BBE36E2280F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高级程序设计语言的定义</a:t>
              </a:r>
            </a:p>
          </p:txBody>
        </p:sp>
        <p:sp>
          <p:nvSpPr>
            <p:cNvPr id="32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4423708C-E27D-44F0-B9FB-832A09AF8B8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第二节 形式语言与文法</a:t>
              </a:r>
            </a:p>
          </p:txBody>
        </p:sp>
        <p:sp>
          <p:nvSpPr>
            <p:cNvPr id="33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21F40BA5-235C-4276-95B4-ADDF952547C7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第三节 高级程序设计语言的设计</a:t>
              </a:r>
            </a:p>
          </p:txBody>
        </p:sp>
        <p:sp>
          <p:nvSpPr>
            <p:cNvPr id="34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xmlns="" id="{AFEE4512-A224-4160-9322-8C132C2CBCBF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高级程序设计语言实例</a:t>
              </a:r>
            </a:p>
          </p:txBody>
        </p:sp>
      </p:grp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xmlns="" id="{3B5DA263-8B37-44D1-8C24-56DA1DBD38DB}"/>
              </a:ext>
            </a:extLst>
          </p:cNvPr>
          <p:cNvSpPr/>
          <p:nvPr/>
        </p:nvSpPr>
        <p:spPr>
          <a:xfrm rot="5400000">
            <a:off x="6721392" y="1676404"/>
            <a:ext cx="2711615" cy="3505200"/>
          </a:xfrm>
          <a:prstGeom prst="wedgeRoundRectCallout">
            <a:avLst>
              <a:gd name="adj1" fmla="val 9985"/>
              <a:gd name="adj2" fmla="val 58718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表达式的设计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语句的设计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程序单元的设计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程序的设计</a:t>
            </a:r>
          </a:p>
        </p:txBody>
      </p:sp>
    </p:spTree>
    <p:extLst>
      <p:ext uri="{BB962C8B-B14F-4D97-AF65-F5344CB8AC3E}">
        <p14:creationId xmlns:p14="http://schemas.microsoft.com/office/powerpoint/2010/main" val="55458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3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en-US" dirty="0"/>
              <a:t>程序</a:t>
            </a:r>
            <a:r>
              <a:rPr lang="en-US" altLang="zh-CN" dirty="0"/>
              <a:t>&gt; → &lt;</a:t>
            </a:r>
            <a:r>
              <a:rPr lang="zh-CN" altLang="en-US" dirty="0"/>
              <a:t>分程序</a:t>
            </a:r>
            <a:r>
              <a:rPr lang="en-US" altLang="zh-CN" dirty="0"/>
              <a:t>&gt;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程序的设计</a:t>
            </a:r>
          </a:p>
        </p:txBody>
      </p:sp>
    </p:spTree>
    <p:extLst>
      <p:ext uri="{BB962C8B-B14F-4D97-AF65-F5344CB8AC3E}">
        <p14:creationId xmlns:p14="http://schemas.microsoft.com/office/powerpoint/2010/main" val="372604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5693</TotalTime>
  <Words>670</Words>
  <Application>Microsoft Office PowerPoint</Application>
  <PresentationFormat>宽屏</PresentationFormat>
  <Paragraphs>131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Clear Sans</vt:lpstr>
      <vt:lpstr>黑体</vt:lpstr>
      <vt:lpstr>宋体</vt:lpstr>
      <vt:lpstr>微软雅黑</vt:lpstr>
      <vt:lpstr>Arial</vt:lpstr>
      <vt:lpstr>Symbol</vt:lpstr>
      <vt:lpstr>Wingdings</vt:lpstr>
      <vt:lpstr>环保</vt:lpstr>
      <vt:lpstr>第四章 程序语言的设计</vt:lpstr>
      <vt:lpstr>高级程序设计语言的设计</vt:lpstr>
      <vt:lpstr>第四章 程序语言的设计</vt:lpstr>
      <vt:lpstr>表达式的设计</vt:lpstr>
      <vt:lpstr>表达式的设计</vt:lpstr>
      <vt:lpstr>表达式的设计</vt:lpstr>
      <vt:lpstr>表达式的设计</vt:lpstr>
      <vt:lpstr>表达式的设计</vt:lpstr>
      <vt:lpstr>第四章 程序语言的设计</vt:lpstr>
      <vt:lpstr>语句的设计</vt:lpstr>
      <vt:lpstr>语句的设计</vt:lpstr>
      <vt:lpstr>第四章 程序语言的设计</vt:lpstr>
      <vt:lpstr>程序单元的设计</vt:lpstr>
      <vt:lpstr>程序单元的设计</vt:lpstr>
      <vt:lpstr>程序单元的设计</vt:lpstr>
      <vt:lpstr>程序单元的设计</vt:lpstr>
      <vt:lpstr>程序单元的设计</vt:lpstr>
      <vt:lpstr>第四章 程序语言的设计</vt:lpstr>
      <vt:lpstr>程序的设计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Microsoft</cp:lastModifiedBy>
  <cp:revision>1043</cp:revision>
  <cp:lastPrinted>1601-01-01T00:00:00Z</cp:lastPrinted>
  <dcterms:created xsi:type="dcterms:W3CDTF">1601-01-01T00:00:00Z</dcterms:created>
  <dcterms:modified xsi:type="dcterms:W3CDTF">2019-12-02T02:38:26Z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