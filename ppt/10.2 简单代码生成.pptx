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8"/>
  </p:notesMasterIdLst>
  <p:handoutMasterIdLst>
    <p:handoutMasterId r:id="rId9"/>
  </p:handoutMasterIdLst>
  <p:sldIdLst>
    <p:sldId id="370" r:id="rId2"/>
    <p:sldId id="268" r:id="rId3"/>
    <p:sldId id="371" r:id="rId4"/>
    <p:sldId id="372" r:id="rId5"/>
    <p:sldId id="373" r:id="rId6"/>
    <p:sldId id="374" r:id="rId7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89127" autoAdjust="0"/>
  </p:normalViewPr>
  <p:slideViewPr>
    <p:cSldViewPr>
      <p:cViewPr varScale="1">
        <p:scale>
          <a:sx n="80" d="100"/>
          <a:sy n="80" d="100"/>
        </p:scale>
        <p:origin x="43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735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833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257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9730401-D273-4D1F-9940-003BE36C43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04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50BD6D6-313F-4541-B890-2C03031B986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88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21EF50E-2028-4C0F-844C-62767D0B538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772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7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  <p:sldLayoutId id="2147484308" r:id="rId6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第十章 目标代码生成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目标代码生成概述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简单代码生成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寄存器分配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存储空间分配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67BC837-BD63-48BE-9925-5D7273E2E2C7}"/>
              </a:ext>
            </a:extLst>
          </p:cNvPr>
          <p:cNvSpPr/>
          <p:nvPr/>
        </p:nvSpPr>
        <p:spPr>
          <a:xfrm>
            <a:off x="2983159" y="26670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复制语句：</a:t>
            </a:r>
            <a:r>
              <a:rPr lang="en-US" altLang="zh-CN" dirty="0"/>
              <a:t>x = y</a:t>
            </a:r>
          </a:p>
          <a:p>
            <a:r>
              <a:rPr lang="zh-CN" altLang="en-US" dirty="0"/>
              <a:t>一元运算：</a:t>
            </a:r>
            <a:r>
              <a:rPr lang="en-US" altLang="zh-CN" dirty="0"/>
              <a:t>x = op y</a:t>
            </a:r>
            <a:r>
              <a:rPr lang="zh-CN" altLang="en-US" dirty="0"/>
              <a:t>（ </a:t>
            </a:r>
            <a:r>
              <a:rPr lang="en-US" altLang="zh-CN" dirty="0"/>
              <a:t>x = - y </a:t>
            </a:r>
            <a:r>
              <a:rPr lang="zh-CN" altLang="en-US" dirty="0"/>
              <a:t>、</a:t>
            </a:r>
            <a:r>
              <a:rPr lang="en-US" altLang="zh-CN" dirty="0"/>
              <a:t>… 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二元运算：</a:t>
            </a:r>
            <a:r>
              <a:rPr lang="en-US" altLang="zh-CN" dirty="0"/>
              <a:t>x = y op z</a:t>
            </a:r>
            <a:r>
              <a:rPr lang="zh-CN" altLang="en-US" dirty="0"/>
              <a:t>（ </a:t>
            </a:r>
            <a:r>
              <a:rPr lang="en-US" altLang="zh-CN" dirty="0"/>
              <a:t>x = y + z </a:t>
            </a:r>
            <a:r>
              <a:rPr lang="zh-CN" altLang="en-US" dirty="0"/>
              <a:t>、</a:t>
            </a:r>
            <a:r>
              <a:rPr lang="en-US" altLang="zh-CN" dirty="0"/>
              <a:t>x = y - z</a:t>
            </a:r>
            <a:r>
              <a:rPr lang="zh-CN" altLang="en-US" dirty="0"/>
              <a:t>、</a:t>
            </a:r>
            <a:r>
              <a:rPr lang="en-US" altLang="zh-CN" dirty="0"/>
              <a:t>… 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转移语句：</a:t>
            </a:r>
            <a:r>
              <a:rPr lang="en-US" altLang="zh-CN" dirty="0" err="1"/>
              <a:t>goto</a:t>
            </a:r>
            <a:r>
              <a:rPr lang="en-US" altLang="zh-CN" dirty="0"/>
              <a:t> L </a:t>
            </a:r>
            <a:r>
              <a:rPr lang="zh-CN" altLang="en-US" dirty="0"/>
              <a:t>、</a:t>
            </a:r>
            <a:r>
              <a:rPr lang="en-US" altLang="zh-CN" dirty="0"/>
              <a:t>if x </a:t>
            </a:r>
            <a:r>
              <a:rPr lang="en-US" altLang="zh-CN" dirty="0" err="1"/>
              <a:t>goto</a:t>
            </a:r>
            <a:r>
              <a:rPr lang="en-US" altLang="zh-CN" dirty="0"/>
              <a:t> L </a:t>
            </a:r>
            <a:r>
              <a:rPr lang="zh-CN" altLang="en-US" dirty="0"/>
              <a:t>、</a:t>
            </a:r>
            <a:r>
              <a:rPr lang="en-US" altLang="zh-CN" dirty="0" err="1"/>
              <a:t>ifz</a:t>
            </a:r>
            <a:r>
              <a:rPr lang="en-US" altLang="zh-CN" dirty="0"/>
              <a:t> x </a:t>
            </a:r>
            <a:r>
              <a:rPr lang="en-US" altLang="zh-CN" dirty="0" err="1"/>
              <a:t>goto</a:t>
            </a:r>
            <a:r>
              <a:rPr lang="en-US" altLang="zh-CN" dirty="0"/>
              <a:t> L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简单代码生成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816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E2A9190-F54C-4F0F-97BD-A52869DD4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 </a:t>
            </a:r>
            <a:r>
              <a:rPr lang="en-US" altLang="zh-CN" dirty="0"/>
              <a:t>y </a:t>
            </a:r>
            <a:r>
              <a:rPr lang="zh-CN" altLang="en-US" dirty="0"/>
              <a:t>为常数</a:t>
            </a:r>
            <a:endParaRPr lang="en-US" altLang="zh-CN" dirty="0"/>
          </a:p>
          <a:p>
            <a:r>
              <a:rPr lang="en-US" altLang="zh-CN" dirty="0"/>
              <a:t>	LOD	Rx , </a:t>
            </a:r>
            <a:r>
              <a:rPr lang="zh-CN" altLang="en-US" dirty="0"/>
              <a:t>变量</a:t>
            </a:r>
            <a:r>
              <a:rPr lang="en-US" altLang="zh-CN" dirty="0"/>
              <a:t>x</a:t>
            </a:r>
            <a:r>
              <a:rPr lang="zh-CN" altLang="en-US" dirty="0"/>
              <a:t>的内存地址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STO</a:t>
            </a:r>
            <a:r>
              <a:rPr lang="en-US" altLang="zh-CN" dirty="0"/>
              <a:t>	(Rx) , y</a:t>
            </a:r>
          </a:p>
          <a:p>
            <a:endParaRPr lang="en-US" altLang="zh-CN" dirty="0"/>
          </a:p>
          <a:p>
            <a:r>
              <a:rPr lang="zh-CN" altLang="en-US" dirty="0"/>
              <a:t>如果 </a:t>
            </a:r>
            <a:r>
              <a:rPr lang="en-US" altLang="zh-CN" dirty="0"/>
              <a:t>y </a:t>
            </a:r>
            <a:r>
              <a:rPr lang="zh-CN" altLang="en-US" dirty="0"/>
              <a:t>为变量</a:t>
            </a:r>
            <a:endParaRPr lang="en-US" altLang="zh-CN" dirty="0"/>
          </a:p>
          <a:p>
            <a:r>
              <a:rPr lang="en-US" altLang="zh-CN" dirty="0"/>
              <a:t>	LOD	Rx , </a:t>
            </a:r>
            <a:r>
              <a:rPr lang="zh-CN" altLang="en-US" dirty="0"/>
              <a:t>变量</a:t>
            </a:r>
            <a:r>
              <a:rPr lang="en-US" altLang="zh-CN" dirty="0"/>
              <a:t>x</a:t>
            </a:r>
            <a:r>
              <a:rPr lang="zh-CN" altLang="en-US" dirty="0"/>
              <a:t>的内存地址</a:t>
            </a:r>
            <a:endParaRPr lang="en-US" altLang="zh-CN" dirty="0"/>
          </a:p>
          <a:p>
            <a:r>
              <a:rPr lang="en-US" altLang="zh-CN" dirty="0"/>
              <a:t>	LOD	Ry , </a:t>
            </a:r>
            <a:r>
              <a:rPr lang="zh-CN" altLang="en-US" dirty="0"/>
              <a:t>变量</a:t>
            </a:r>
            <a:r>
              <a:rPr lang="en-US" altLang="zh-CN" dirty="0"/>
              <a:t>y</a:t>
            </a:r>
            <a:r>
              <a:rPr lang="zh-CN" altLang="en-US" dirty="0"/>
              <a:t>的内存地址</a:t>
            </a:r>
            <a:endParaRPr lang="en-US" altLang="zh-CN" dirty="0"/>
          </a:p>
          <a:p>
            <a:r>
              <a:rPr lang="en-US" altLang="zh-CN" dirty="0"/>
              <a:t>	LOD	Ra , (Ry)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STO</a:t>
            </a:r>
            <a:r>
              <a:rPr lang="en-US" altLang="zh-CN" dirty="0"/>
              <a:t>	(Rx) , Ra</a:t>
            </a:r>
          </a:p>
          <a:p>
            <a:r>
              <a:rPr lang="en-US" altLang="zh-CN" dirty="0"/>
              <a:t>	 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41123B4-C0CD-4B81-A12F-4E56D4BA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x = 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89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E2A9190-F54C-4F0F-97BD-A52869DD4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LOD	Rx , </a:t>
            </a:r>
            <a:r>
              <a:rPr lang="zh-CN" altLang="en-US" dirty="0"/>
              <a:t>变量</a:t>
            </a:r>
            <a:r>
              <a:rPr lang="en-US" altLang="zh-CN" dirty="0"/>
              <a:t>x</a:t>
            </a:r>
            <a:r>
              <a:rPr lang="zh-CN" altLang="en-US" dirty="0"/>
              <a:t>的内存地址</a:t>
            </a:r>
            <a:endParaRPr lang="en-US" altLang="zh-CN" dirty="0"/>
          </a:p>
          <a:p>
            <a:r>
              <a:rPr lang="en-US" altLang="zh-CN" dirty="0"/>
              <a:t>LOD	Ry , </a:t>
            </a:r>
            <a:r>
              <a:rPr lang="zh-CN" altLang="en-US" dirty="0"/>
              <a:t>变量</a:t>
            </a:r>
            <a:r>
              <a:rPr lang="en-US" altLang="zh-CN" dirty="0"/>
              <a:t>y</a:t>
            </a:r>
            <a:r>
              <a:rPr lang="zh-CN" altLang="en-US" dirty="0"/>
              <a:t>的内存地址</a:t>
            </a:r>
            <a:endParaRPr lang="en-US" altLang="zh-CN" dirty="0"/>
          </a:p>
          <a:p>
            <a:r>
              <a:rPr lang="en-US" altLang="zh-CN" dirty="0"/>
              <a:t>LOD	Ra , 0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Rb</a:t>
            </a:r>
            <a:r>
              <a:rPr lang="en-US" altLang="zh-CN" dirty="0"/>
              <a:t> , (Ry)</a:t>
            </a:r>
          </a:p>
          <a:p>
            <a:r>
              <a:rPr lang="en-US" altLang="zh-CN" dirty="0"/>
              <a:t>SUB	Ra , </a:t>
            </a:r>
            <a:r>
              <a:rPr lang="en-US" altLang="zh-CN" dirty="0" err="1"/>
              <a:t>Rb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(Rx) , Ra</a:t>
            </a:r>
          </a:p>
          <a:p>
            <a:r>
              <a:rPr lang="en-US" altLang="zh-CN" dirty="0"/>
              <a:t>	 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41123B4-C0CD-4B81-A12F-4E56D4BA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x = - 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83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E2A9190-F54C-4F0F-97BD-A52869DD4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LOD	Rx , </a:t>
            </a:r>
            <a:r>
              <a:rPr lang="zh-CN" altLang="en-US" dirty="0"/>
              <a:t>变量</a:t>
            </a:r>
            <a:r>
              <a:rPr lang="en-US" altLang="zh-CN" dirty="0"/>
              <a:t>x</a:t>
            </a:r>
            <a:r>
              <a:rPr lang="zh-CN" altLang="en-US" dirty="0"/>
              <a:t>的内存地址</a:t>
            </a:r>
            <a:endParaRPr lang="en-US" altLang="zh-CN" dirty="0"/>
          </a:p>
          <a:p>
            <a:r>
              <a:rPr lang="en-US" altLang="zh-CN" dirty="0"/>
              <a:t>LOD	Ry , </a:t>
            </a:r>
            <a:r>
              <a:rPr lang="zh-CN" altLang="en-US" dirty="0"/>
              <a:t>变量</a:t>
            </a:r>
            <a:r>
              <a:rPr lang="en-US" altLang="zh-CN" dirty="0"/>
              <a:t>y</a:t>
            </a:r>
            <a:r>
              <a:rPr lang="zh-CN" altLang="en-US" dirty="0"/>
              <a:t>的内存地址</a:t>
            </a:r>
            <a:endParaRPr lang="en-US" altLang="zh-CN" dirty="0"/>
          </a:p>
          <a:p>
            <a:r>
              <a:rPr lang="en-US" altLang="zh-CN" dirty="0"/>
              <a:t>LOD	Rz , </a:t>
            </a:r>
            <a:r>
              <a:rPr lang="zh-CN" altLang="en-US" dirty="0"/>
              <a:t>变量</a:t>
            </a:r>
            <a:r>
              <a:rPr lang="en-US" altLang="zh-CN" dirty="0"/>
              <a:t>z</a:t>
            </a:r>
            <a:r>
              <a:rPr lang="zh-CN" altLang="en-US" dirty="0"/>
              <a:t>的内存地址</a:t>
            </a:r>
            <a:endParaRPr lang="en-US" altLang="zh-CN" dirty="0"/>
          </a:p>
          <a:p>
            <a:r>
              <a:rPr lang="en-US" altLang="zh-CN" dirty="0"/>
              <a:t>LOD	Ra , (Ry)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Rb</a:t>
            </a:r>
            <a:r>
              <a:rPr lang="en-US" altLang="zh-CN" dirty="0"/>
              <a:t> , (Rz)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Rc</a:t>
            </a:r>
            <a:r>
              <a:rPr lang="en-US" altLang="zh-CN" dirty="0"/>
              <a:t> , Ra</a:t>
            </a:r>
          </a:p>
          <a:p>
            <a:r>
              <a:rPr lang="en-US" altLang="zh-CN" dirty="0"/>
              <a:t>ADD	</a:t>
            </a:r>
            <a:r>
              <a:rPr lang="en-US" altLang="zh-CN" dirty="0" err="1"/>
              <a:t>Rc</a:t>
            </a:r>
            <a:r>
              <a:rPr lang="en-US" altLang="zh-CN" dirty="0"/>
              <a:t> , </a:t>
            </a:r>
            <a:r>
              <a:rPr lang="en-US" altLang="zh-CN" dirty="0" err="1"/>
              <a:t>Rb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(Rx) , </a:t>
            </a:r>
            <a:r>
              <a:rPr lang="en-US" altLang="zh-CN" dirty="0" err="1"/>
              <a:t>Rc</a:t>
            </a:r>
            <a:endParaRPr lang="en-US" altLang="zh-CN" dirty="0"/>
          </a:p>
          <a:p>
            <a:r>
              <a:rPr lang="en-US" altLang="zh-CN" dirty="0"/>
              <a:t>	 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41123B4-C0CD-4B81-A12F-4E56D4BA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x = y + z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89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03CDE0F-5BE5-4095-B59F-2535BEA5F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三地址码：</a:t>
            </a:r>
            <a:endParaRPr lang="en-US" altLang="zh-CN"/>
          </a:p>
          <a:p>
            <a:r>
              <a:rPr lang="en-US" altLang="zh-CN"/>
              <a:t>goto L</a:t>
            </a:r>
          </a:p>
          <a:p>
            <a:endParaRPr lang="en-US" altLang="zh-CN"/>
          </a:p>
          <a:p>
            <a:r>
              <a:rPr lang="zh-CN" altLang="en-US"/>
              <a:t>汇编代码：</a:t>
            </a:r>
            <a:endParaRPr lang="en-US" altLang="zh-CN"/>
          </a:p>
          <a:p>
            <a:r>
              <a:rPr lang="en-US" altLang="zh-CN"/>
              <a:t>JMP	L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0AE92D7-3D55-44FB-B69B-B44DA2A0B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转移语句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9F80EB-209C-4A9A-87C8-6CB73CAC0AA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62400" y="900000"/>
            <a:ext cx="3907200" cy="5237998"/>
          </a:xfrm>
        </p:spPr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r>
              <a:rPr lang="en-US" altLang="zh-CN" dirty="0"/>
              <a:t>if x </a:t>
            </a:r>
            <a:r>
              <a:rPr lang="en-US" altLang="zh-CN" dirty="0" err="1"/>
              <a:t>goto</a:t>
            </a:r>
            <a:r>
              <a:rPr lang="en-US" altLang="zh-CN" dirty="0"/>
              <a:t> L</a:t>
            </a:r>
          </a:p>
          <a:p>
            <a:endParaRPr lang="en-US" altLang="zh-CN" dirty="0"/>
          </a:p>
          <a:p>
            <a:r>
              <a:rPr lang="zh-CN" altLang="en-US" dirty="0"/>
              <a:t>汇编代码：</a:t>
            </a:r>
            <a:endParaRPr lang="en-US" altLang="zh-CN" dirty="0"/>
          </a:p>
          <a:p>
            <a:r>
              <a:rPr lang="en-US" altLang="zh-CN" dirty="0"/>
              <a:t>LOD	Rx , x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Ra , (Rx)</a:t>
            </a:r>
          </a:p>
          <a:p>
            <a:r>
              <a:rPr lang="en-US" altLang="zh-CN" dirty="0" err="1"/>
              <a:t>TST</a:t>
            </a:r>
            <a:r>
              <a:rPr lang="en-US" altLang="zh-CN" dirty="0"/>
              <a:t>	Ra</a:t>
            </a:r>
          </a:p>
          <a:p>
            <a:r>
              <a:rPr lang="en-US" altLang="zh-CN" dirty="0" err="1"/>
              <a:t>JNZ</a:t>
            </a:r>
            <a:r>
              <a:rPr lang="en-US" altLang="zh-CN" dirty="0"/>
              <a:t> L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9559ACC-E6D4-48E2-877D-12C6B78BC1A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153400" y="899999"/>
            <a:ext cx="3310981" cy="5237998"/>
          </a:xfrm>
        </p:spPr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r>
              <a:rPr lang="en-US" altLang="zh-CN" dirty="0" err="1"/>
              <a:t>ifz</a:t>
            </a:r>
            <a:r>
              <a:rPr lang="en-US" altLang="zh-CN" dirty="0"/>
              <a:t> x </a:t>
            </a:r>
            <a:r>
              <a:rPr lang="en-US" altLang="zh-CN" dirty="0" err="1"/>
              <a:t>goto</a:t>
            </a:r>
            <a:r>
              <a:rPr lang="en-US" altLang="zh-CN" dirty="0"/>
              <a:t> L</a:t>
            </a:r>
          </a:p>
          <a:p>
            <a:endParaRPr lang="en-US" altLang="zh-CN" dirty="0"/>
          </a:p>
          <a:p>
            <a:r>
              <a:rPr lang="zh-CN" altLang="en-US" dirty="0"/>
              <a:t>汇编代码：</a:t>
            </a:r>
            <a:endParaRPr lang="en-US" altLang="zh-CN" dirty="0"/>
          </a:p>
          <a:p>
            <a:r>
              <a:rPr lang="en-US" altLang="zh-CN" dirty="0"/>
              <a:t>LOD	Rx , x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Ra, (Rx)</a:t>
            </a:r>
          </a:p>
          <a:p>
            <a:r>
              <a:rPr lang="en-US" altLang="zh-CN" dirty="0" err="1"/>
              <a:t>TST</a:t>
            </a:r>
            <a:r>
              <a:rPr lang="en-US" altLang="zh-CN" dirty="0"/>
              <a:t>	Ra</a:t>
            </a:r>
          </a:p>
          <a:p>
            <a:r>
              <a:rPr lang="en-US" altLang="zh-CN" dirty="0"/>
              <a:t>JEZ 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608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7020</TotalTime>
  <Words>331</Words>
  <Application>Microsoft Office PowerPoint</Application>
  <PresentationFormat>宽屏</PresentationFormat>
  <Paragraphs>61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微软雅黑</vt:lpstr>
      <vt:lpstr>Arial</vt:lpstr>
      <vt:lpstr>Wingdings</vt:lpstr>
      <vt:lpstr>环保</vt:lpstr>
      <vt:lpstr>第十章 目标代码生成</vt:lpstr>
      <vt:lpstr>简单代码生成</vt:lpstr>
      <vt:lpstr>x = y</vt:lpstr>
      <vt:lpstr>x = - y</vt:lpstr>
      <vt:lpstr>x = y + z</vt:lpstr>
      <vt:lpstr>转移语句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1307</cp:revision>
  <cp:lastPrinted>1601-01-01T00:00:00Z</cp:lastPrinted>
  <dcterms:created xsi:type="dcterms:W3CDTF">1601-01-01T00:00:00Z</dcterms:created>
  <dcterms:modified xsi:type="dcterms:W3CDTF">2020-05-10T10:28:00Z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