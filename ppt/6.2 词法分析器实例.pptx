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8"/>
  </p:notesMasterIdLst>
  <p:handoutMasterIdLst>
    <p:handoutMasterId r:id="rId29"/>
  </p:handoutMasterIdLst>
  <p:sldIdLst>
    <p:sldId id="375" r:id="rId2"/>
    <p:sldId id="377" r:id="rId3"/>
    <p:sldId id="272" r:id="rId4"/>
    <p:sldId id="273" r:id="rId5"/>
    <p:sldId id="274" r:id="rId6"/>
    <p:sldId id="275" r:id="rId7"/>
    <p:sldId id="378" r:id="rId8"/>
    <p:sldId id="380" r:id="rId9"/>
    <p:sldId id="382" r:id="rId10"/>
    <p:sldId id="385" r:id="rId11"/>
    <p:sldId id="383" r:id="rId12"/>
    <p:sldId id="384" r:id="rId13"/>
    <p:sldId id="386" r:id="rId14"/>
    <p:sldId id="387" r:id="rId15"/>
    <p:sldId id="389" r:id="rId16"/>
    <p:sldId id="399" r:id="rId17"/>
    <p:sldId id="391" r:id="rId18"/>
    <p:sldId id="379" r:id="rId19"/>
    <p:sldId id="392" r:id="rId20"/>
    <p:sldId id="381" r:id="rId21"/>
    <p:sldId id="393" r:id="rId22"/>
    <p:sldId id="394" r:id="rId23"/>
    <p:sldId id="395" r:id="rId24"/>
    <p:sldId id="396" r:id="rId25"/>
    <p:sldId id="286" r:id="rId26"/>
    <p:sldId id="398" r:id="rId27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89127" autoAdjust="0"/>
  </p:normalViewPr>
  <p:slideViewPr>
    <p:cSldViewPr>
      <p:cViewPr varScale="1">
        <p:scale>
          <a:sx n="89" d="100"/>
          <a:sy n="89" d="100"/>
        </p:scale>
        <p:origin x="80" y="1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25" d="100"/>
          <a:sy n="125" d="100"/>
        </p:scale>
        <p:origin x="20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778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023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370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48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041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705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543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229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110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335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216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91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en-US" altLang="zh-CN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/>
              <a:t>正文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</a:t>
            </a:r>
            <a:r>
              <a:rPr lang="zh-CN" altLang="en-US" dirty="0"/>
              <a:t>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en-US" altLang="zh-CN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en-US" altLang="zh-CN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9730401-D273-4D1F-9940-003BE36C43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04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50BD6D6-313F-4541-B890-2C03031B986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88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21EF50E-2028-4C0F-844C-62767D0B538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772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7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第六章 词法分析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词法分析概述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单词的类别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单词的识别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词法分析器实例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4168515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02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43F8A56-956F-4592-A170-AC2146D99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1.	</a:t>
            </a:r>
            <a:r>
              <a:rPr lang="zh-CN" altLang="en-US"/>
              <a:t>确定单词的特征</a:t>
            </a:r>
            <a:endParaRPr lang="en-US" altLang="zh-CN"/>
          </a:p>
          <a:p>
            <a:r>
              <a:rPr lang="en-US" altLang="zh-CN"/>
              <a:t>2.	</a:t>
            </a:r>
            <a:r>
              <a:rPr lang="zh-CN" altLang="en-US"/>
              <a:t>对单词进行编码</a:t>
            </a:r>
          </a:p>
          <a:p>
            <a:r>
              <a:rPr lang="en-US" altLang="zh-CN"/>
              <a:t>3.	</a:t>
            </a:r>
            <a:r>
              <a:rPr lang="zh-CN" altLang="en-US"/>
              <a:t>设计状态转换图</a:t>
            </a:r>
          </a:p>
          <a:p>
            <a:r>
              <a:rPr lang="en-US" altLang="zh-CN"/>
              <a:t>4.	</a:t>
            </a:r>
            <a:r>
              <a:rPr lang="zh-CN" altLang="en-US"/>
              <a:t>实现词法分析器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849D5A-C610-4B9E-B53E-E668F16A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词法分析器实例</a:t>
            </a:r>
          </a:p>
        </p:txBody>
      </p:sp>
    </p:spTree>
    <p:extLst>
      <p:ext uri="{BB962C8B-B14F-4D97-AF65-F5344CB8AC3E}">
        <p14:creationId xmlns:p14="http://schemas.microsoft.com/office/powerpoint/2010/main" val="387002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一个简单的示例语言，支持下列单词：</a:t>
            </a:r>
            <a:endParaRPr lang="zh-CN" altLang="en-US" dirty="0">
              <a:solidFill>
                <a:srgbClr val="EE853E"/>
              </a:solidFill>
            </a:endParaRPr>
          </a:p>
          <a:p>
            <a:r>
              <a:rPr lang="en-US" altLang="zh-CN"/>
              <a:t>1.	</a:t>
            </a:r>
            <a:r>
              <a:rPr lang="zh-CN" altLang="en-US"/>
              <a:t>标识符 </a:t>
            </a:r>
            <a:r>
              <a:rPr lang="en-US" altLang="zh-CN"/>
              <a:t>—— </a:t>
            </a:r>
            <a:r>
              <a:rPr lang="zh-CN" altLang="en-US"/>
              <a:t>以字母开头，后面跟若干个字母或数字的字符串。</a:t>
            </a:r>
            <a:endParaRPr lang="en-US" altLang="zh-CN"/>
          </a:p>
          <a:p>
            <a:r>
              <a:rPr lang="en-US" altLang="zh-CN"/>
              <a:t>2.	</a:t>
            </a:r>
            <a:r>
              <a:rPr lang="zh-CN" altLang="en-US"/>
              <a:t>常数 </a:t>
            </a:r>
            <a:r>
              <a:rPr lang="en-US" altLang="zh-CN"/>
              <a:t>—— </a:t>
            </a:r>
            <a:r>
              <a:rPr lang="zh-CN" altLang="en-US"/>
              <a:t>整型常数，由若干个数字构成的字符串。</a:t>
            </a:r>
            <a:endParaRPr lang="en-US" altLang="zh-CN"/>
          </a:p>
          <a:p>
            <a:r>
              <a:rPr lang="en-US" altLang="zh-CN"/>
              <a:t>3.	</a:t>
            </a:r>
            <a:r>
              <a:rPr lang="zh-CN" altLang="en-US"/>
              <a:t>关键字 </a:t>
            </a:r>
            <a:r>
              <a:rPr lang="en-US" altLang="zh-CN"/>
              <a:t>—— int</a:t>
            </a:r>
            <a:r>
              <a:rPr lang="zh-CN" altLang="en-US"/>
              <a:t>  </a:t>
            </a:r>
            <a:r>
              <a:rPr lang="en-US" altLang="zh-CN"/>
              <a:t>if</a:t>
            </a:r>
            <a:r>
              <a:rPr lang="zh-CN" altLang="en-US"/>
              <a:t>  </a:t>
            </a:r>
            <a:r>
              <a:rPr lang="en-US" altLang="zh-CN"/>
              <a:t>else</a:t>
            </a:r>
            <a:r>
              <a:rPr lang="zh-CN" altLang="en-US"/>
              <a:t>  </a:t>
            </a:r>
            <a:r>
              <a:rPr lang="en-US" altLang="zh-CN"/>
              <a:t>while</a:t>
            </a:r>
            <a:r>
              <a:rPr lang="zh-CN" altLang="en-US"/>
              <a:t>  </a:t>
            </a:r>
            <a:r>
              <a:rPr lang="en-US" altLang="zh-CN"/>
              <a:t>for  read write</a:t>
            </a:r>
          </a:p>
          <a:p>
            <a:r>
              <a:rPr lang="en-US" altLang="zh-CN"/>
              <a:t>4.	</a:t>
            </a:r>
            <a:r>
              <a:rPr lang="zh-CN" altLang="en-US"/>
              <a:t>运算符 </a:t>
            </a:r>
            <a:r>
              <a:rPr lang="en-US" altLang="zh-CN"/>
              <a:t>—— +</a:t>
            </a:r>
            <a:r>
              <a:rPr lang="zh-CN" altLang="en-US"/>
              <a:t>  </a:t>
            </a:r>
            <a:r>
              <a:rPr lang="en-US" altLang="zh-CN"/>
              <a:t>- </a:t>
            </a:r>
            <a:r>
              <a:rPr lang="zh-CN" altLang="en-US"/>
              <a:t>  *  </a:t>
            </a:r>
            <a:r>
              <a:rPr lang="en-US" altLang="zh-CN"/>
              <a:t>/</a:t>
            </a:r>
            <a:r>
              <a:rPr lang="zh-CN" altLang="en-US"/>
              <a:t>  </a:t>
            </a:r>
            <a:r>
              <a:rPr lang="en-US" altLang="zh-CN"/>
              <a:t>&lt;</a:t>
            </a:r>
            <a:r>
              <a:rPr lang="zh-CN" altLang="en-US"/>
              <a:t>  </a:t>
            </a:r>
            <a:r>
              <a:rPr lang="en-US" altLang="zh-CN"/>
              <a:t>&lt;=</a:t>
            </a:r>
            <a:r>
              <a:rPr lang="zh-CN" altLang="en-US"/>
              <a:t>  </a:t>
            </a:r>
            <a:r>
              <a:rPr lang="en-US" altLang="zh-CN"/>
              <a:t>&gt;  &gt;=  !=  ==</a:t>
            </a:r>
            <a:r>
              <a:rPr lang="zh-CN" altLang="en-US"/>
              <a:t>  </a:t>
            </a:r>
            <a:r>
              <a:rPr lang="en-US" altLang="zh-CN"/>
              <a:t>=</a:t>
            </a:r>
          </a:p>
          <a:p>
            <a:r>
              <a:rPr lang="en-US" altLang="zh-CN"/>
              <a:t>5.	</a:t>
            </a:r>
            <a:r>
              <a:rPr lang="zh-CN" altLang="en-US"/>
              <a:t>界符 </a:t>
            </a:r>
            <a:r>
              <a:rPr lang="en-US" altLang="zh-CN"/>
              <a:t>—— (</a:t>
            </a:r>
            <a:r>
              <a:rPr lang="zh-CN" altLang="en-US"/>
              <a:t>  </a:t>
            </a:r>
            <a:r>
              <a:rPr lang="en-US" altLang="zh-CN"/>
              <a:t>)  ,  ;</a:t>
            </a:r>
            <a:endParaRPr lang="en-US" altLang="zh-CN" dirty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确定单词的特征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098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对单词进行编码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226100"/>
              </p:ext>
            </p:extLst>
          </p:nvPr>
        </p:nvGraphicFramePr>
        <p:xfrm>
          <a:off x="1285876" y="1142998"/>
          <a:ext cx="9620249" cy="4648202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2404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5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5274">
                  <a:extLst>
                    <a:ext uri="{9D8B030D-6E8A-4147-A177-3AD203B41FA5}">
                      <a16:colId xmlns:a16="http://schemas.microsoft.com/office/drawing/2014/main" val="698731304"/>
                    </a:ext>
                  </a:extLst>
                </a:gridCol>
                <a:gridCol w="2405274">
                  <a:extLst>
                    <a:ext uri="{9D8B030D-6E8A-4147-A177-3AD203B41FA5}">
                      <a16:colId xmlns:a16="http://schemas.microsoft.com/office/drawing/2014/main" val="899500064"/>
                    </a:ext>
                  </a:extLst>
                </a:gridCol>
              </a:tblGrid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单词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编码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单词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编码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标识符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01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常数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02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&lt; 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14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int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03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&lt;=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15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if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04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&gt; 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else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05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&gt;=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17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while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06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!=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18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for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07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==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19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read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08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=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write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09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21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+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22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,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23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*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endParaRPr lang="en-US" sz="19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;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24</a:t>
                      </a:r>
                      <a:endParaRPr lang="en-US" sz="19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3167" marR="113167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23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设计状态</a:t>
            </a:r>
            <a:r>
              <a:rPr lang="zh-CN" altLang="en-US" dirty="0"/>
              <a:t>转换图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34814C8-EEDF-4B5D-BD39-F5AF4FB2D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99" y="906162"/>
            <a:ext cx="8458201" cy="51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7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9" name="Rectangle 3"/>
          <p:cNvSpPr>
            <a:spLocks noGrp="1" noChangeArrowheads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/>
              <a:t>根据状态转换图，编写词法分析器代码（</a:t>
            </a:r>
            <a:r>
              <a:rPr lang="zh-CN" altLang="en-US">
                <a:solidFill>
                  <a:srgbClr val="EE853E"/>
                </a:solidFill>
              </a:rPr>
              <a:t>代码实现</a:t>
            </a:r>
            <a:r>
              <a:rPr lang="zh-CN" altLang="en-US"/>
              <a:t>），两者之间的对应关系：</a:t>
            </a:r>
            <a:endParaRPr lang="en-US" altLang="zh-CN" dirty="0"/>
          </a:p>
          <a:p>
            <a:r>
              <a:rPr lang="zh-CN" altLang="en-US"/>
              <a:t>初态 </a:t>
            </a:r>
            <a:r>
              <a:rPr lang="en-US" altLang="zh-CN"/>
              <a:t>—— </a:t>
            </a:r>
            <a:r>
              <a:rPr lang="zh-CN" altLang="en-US"/>
              <a:t>初始化操作</a:t>
            </a:r>
            <a:endParaRPr lang="en-US" altLang="zh-CN"/>
          </a:p>
          <a:p>
            <a:r>
              <a:rPr lang="zh-CN" altLang="en-US"/>
              <a:t>标记 </a:t>
            </a:r>
            <a:r>
              <a:rPr lang="en-US" altLang="zh-CN"/>
              <a:t>—— </a:t>
            </a:r>
            <a:r>
              <a:rPr lang="zh-CN" altLang="en-US"/>
              <a:t>读入下一个字符</a:t>
            </a:r>
            <a:endParaRPr lang="en-US" altLang="zh-CN" dirty="0"/>
          </a:p>
          <a:p>
            <a:r>
              <a:rPr lang="zh-CN" altLang="en-US" dirty="0"/>
              <a:t>分支 </a:t>
            </a:r>
            <a:r>
              <a:rPr lang="en-US" altLang="zh-CN" dirty="0"/>
              <a:t>—— if </a:t>
            </a:r>
            <a:r>
              <a:rPr lang="zh-CN" altLang="en-US" dirty="0"/>
              <a:t>或 </a:t>
            </a:r>
            <a:r>
              <a:rPr lang="en-US" altLang="en-US" dirty="0"/>
              <a:t>switch</a:t>
            </a:r>
            <a:r>
              <a:rPr lang="en-US" altLang="zh-CN" dirty="0"/>
              <a:t> 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zh-CN" altLang="en-US" dirty="0"/>
              <a:t>循环 </a:t>
            </a:r>
            <a:r>
              <a:rPr lang="en-US" altLang="zh-CN" dirty="0"/>
              <a:t>—— </a:t>
            </a:r>
            <a:r>
              <a:rPr lang="en-US" altLang="zh-CN"/>
              <a:t>while</a:t>
            </a:r>
            <a:r>
              <a:rPr lang="zh-CN" altLang="en-US"/>
              <a:t>语句</a:t>
            </a:r>
          </a:p>
          <a:p>
            <a:r>
              <a:rPr lang="zh-CN" altLang="en-US"/>
              <a:t>终态 </a:t>
            </a:r>
            <a:r>
              <a:rPr lang="en-US" altLang="zh-CN"/>
              <a:t>—— </a:t>
            </a:r>
            <a:r>
              <a:rPr lang="zh-CN" altLang="en-US"/>
              <a:t>单词的输出</a:t>
            </a:r>
            <a:endParaRPr lang="zh-CN" altLang="en-US" dirty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实现词法分析器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49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925DBA-64FC-4232-A500-76F6E519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2556600" cy="5237998"/>
          </a:xfrm>
        </p:spPr>
        <p:txBody>
          <a:bodyPr/>
          <a:lstStyle/>
          <a:p>
            <a:r>
              <a:rPr lang="zh-CN" altLang="en-US"/>
              <a:t>状态转换图：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D8AA57-9B81-40EB-A021-B8E0A992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初态 </a:t>
            </a:r>
            <a:r>
              <a:rPr lang="en-US" altLang="zh-CN"/>
              <a:t>—— </a:t>
            </a:r>
            <a:r>
              <a:rPr lang="zh-CN" altLang="en-US"/>
              <a:t>初始化操作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E2BFFB6-06FF-48FB-9ECE-63FF2EE6A5A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29000" y="899160"/>
            <a:ext cx="8039100" cy="5237998"/>
          </a:xfrm>
        </p:spPr>
        <p:txBody>
          <a:bodyPr/>
          <a:lstStyle/>
          <a:p>
            <a:r>
              <a:rPr lang="zh-CN" altLang="en-US"/>
              <a:t>代码实现：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ch='';			/*  </a:t>
            </a:r>
            <a:r>
              <a:rPr lang="zh-CN" altLang="en-US"/>
              <a:t>存放新读入的字符 *</a:t>
            </a:r>
            <a:r>
              <a:rPr lang="en-US" altLang="zh-CN"/>
              <a:t>/</a:t>
            </a:r>
          </a:p>
          <a:p>
            <a:r>
              <a:rPr lang="en-US" altLang="zh-CN"/>
              <a:t>token="";	/*  </a:t>
            </a:r>
            <a:r>
              <a:rPr lang="zh-CN" altLang="en-US"/>
              <a:t>存放已读入的字符串，初始化为空 *</a:t>
            </a:r>
            <a:r>
              <a:rPr lang="en-US" altLang="zh-CN"/>
              <a:t>/</a:t>
            </a:r>
          </a:p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81CA44A-DF7C-4EB6-9065-DE2ED0998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133600"/>
            <a:ext cx="1062261" cy="90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3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925DBA-64FC-4232-A500-76F6E519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2556600" cy="5237998"/>
          </a:xfrm>
        </p:spPr>
        <p:txBody>
          <a:bodyPr/>
          <a:lstStyle/>
          <a:p>
            <a:r>
              <a:rPr lang="zh-CN" altLang="en-US"/>
              <a:t>状态转换图：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D8AA57-9B81-40EB-A021-B8E0A992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标记 </a:t>
            </a:r>
            <a:r>
              <a:rPr lang="en-US" altLang="zh-CN"/>
              <a:t>—— </a:t>
            </a:r>
            <a:r>
              <a:rPr lang="zh-CN" altLang="en-US"/>
              <a:t>读入下一个字符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E2BFFB6-06FF-48FB-9ECE-63FF2EE6A5A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29000" y="899160"/>
            <a:ext cx="8039100" cy="5237998"/>
          </a:xfrm>
        </p:spPr>
        <p:txBody>
          <a:bodyPr/>
          <a:lstStyle/>
          <a:p>
            <a:r>
              <a:rPr lang="zh-CN" altLang="en-US"/>
              <a:t>代码实现：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ch=getchar();			/*  </a:t>
            </a:r>
            <a:r>
              <a:rPr lang="zh-CN" altLang="en-US"/>
              <a:t>读入下一个字符 *</a:t>
            </a:r>
            <a:r>
              <a:rPr lang="en-US" altLang="zh-CN"/>
              <a:t>/</a:t>
            </a:r>
          </a:p>
          <a:p>
            <a:r>
              <a:rPr lang="en-US" altLang="zh-CN"/>
              <a:t>concat( token, ch );	/*  </a:t>
            </a:r>
            <a:r>
              <a:rPr lang="zh-CN" altLang="en-US"/>
              <a:t>连接到</a:t>
            </a:r>
            <a:r>
              <a:rPr lang="en-US" altLang="zh-CN"/>
              <a:t>token</a:t>
            </a:r>
            <a:r>
              <a:rPr lang="zh-CN" altLang="en-US"/>
              <a:t>中 </a:t>
            </a:r>
            <a:r>
              <a:rPr lang="en-US" altLang="zh-CN"/>
              <a:t>*/</a:t>
            </a:r>
          </a:p>
          <a:p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A55FA4E-F496-4D7B-AAB8-5B3C90BB7E90}"/>
              </a:ext>
            </a:extLst>
          </p:cNvPr>
          <p:cNvGrpSpPr/>
          <p:nvPr/>
        </p:nvGrpSpPr>
        <p:grpSpPr>
          <a:xfrm>
            <a:off x="1066919" y="2057400"/>
            <a:ext cx="981347" cy="3505200"/>
            <a:chOff x="990719" y="1534412"/>
            <a:chExt cx="1080944" cy="379958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CD7A3D8-C6D6-44A3-8BDA-592FE74A3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0258" y="1534412"/>
              <a:ext cx="966807" cy="1199428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E67CA0B-D55E-4F84-84C3-D37C7A156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0719" y="2907997"/>
              <a:ext cx="1080944" cy="73037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6A08E28-1C01-409D-82DB-F232EBB17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728" y="3756754"/>
              <a:ext cx="1054088" cy="730379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207F1DA-A74E-49E4-A45C-6114D05B3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6267" y="4605668"/>
              <a:ext cx="1051133" cy="728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46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925DBA-64FC-4232-A500-76F6E5191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状态转换图：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D8AA57-9B81-40EB-A021-B8E0A992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分支 </a:t>
            </a:r>
            <a:r>
              <a:rPr lang="en-US" altLang="zh-CN"/>
              <a:t>—— if </a:t>
            </a:r>
            <a:r>
              <a:rPr lang="zh-CN" altLang="en-US"/>
              <a:t>语句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E2BFFB6-06FF-48FB-9ECE-63FF2EE6A5A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1903" y="899160"/>
            <a:ext cx="5306197" cy="5237998"/>
          </a:xfrm>
        </p:spPr>
        <p:txBody>
          <a:bodyPr/>
          <a:lstStyle/>
          <a:p>
            <a:r>
              <a:rPr lang="zh-CN" altLang="en-US"/>
              <a:t>代码实现：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if ( ch == '=' )</a:t>
            </a:r>
          </a:p>
          <a:p>
            <a:r>
              <a:rPr lang="en-US" altLang="zh-CN"/>
              <a:t>	...</a:t>
            </a:r>
          </a:p>
          <a:p>
            <a:r>
              <a:rPr lang="en-US" altLang="zh-CN"/>
              <a:t>else</a:t>
            </a:r>
          </a:p>
          <a:p>
            <a:r>
              <a:rPr lang="en-US" altLang="zh-CN"/>
              <a:t>	...</a:t>
            </a:r>
          </a:p>
          <a:p>
            <a:r>
              <a:rPr lang="en-US" altLang="zh-CN"/>
              <a:t>	</a:t>
            </a:r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EEEF99A-3AC8-4364-93E5-2C0C16456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09800"/>
            <a:ext cx="1752600" cy="142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9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925DBA-64FC-4232-A500-76F6E5191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状态转换图：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D8AA57-9B81-40EB-A021-B8E0A992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分支 </a:t>
            </a:r>
            <a:r>
              <a:rPr lang="en-US" altLang="zh-CN"/>
              <a:t>—— </a:t>
            </a:r>
            <a:r>
              <a:rPr lang="en-US" altLang="en-US"/>
              <a:t>switch</a:t>
            </a:r>
            <a:r>
              <a:rPr lang="en-US" altLang="zh-CN"/>
              <a:t> </a:t>
            </a:r>
            <a:r>
              <a:rPr lang="zh-CN" altLang="en-US"/>
              <a:t>语句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E2BFFB6-06FF-48FB-9ECE-63FF2EE6A5A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/>
              <a:t>代码实现：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switch ( ch ) 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	case '</a:t>
            </a:r>
            <a:r>
              <a:rPr lang="zh-CN" altLang="en-US"/>
              <a:t>字母</a:t>
            </a:r>
            <a:r>
              <a:rPr lang="en-US" altLang="zh-CN"/>
              <a:t>':</a:t>
            </a:r>
          </a:p>
          <a:p>
            <a:r>
              <a:rPr lang="en-US" altLang="zh-CN"/>
              <a:t>	...</a:t>
            </a:r>
          </a:p>
          <a:p>
            <a:r>
              <a:rPr lang="en-US" altLang="zh-CN"/>
              <a:t>	case '</a:t>
            </a:r>
            <a:r>
              <a:rPr lang="zh-CN" altLang="en-US"/>
              <a:t>数字</a:t>
            </a:r>
            <a:r>
              <a:rPr lang="en-US" altLang="zh-CN"/>
              <a:t>':</a:t>
            </a:r>
          </a:p>
          <a:p>
            <a:r>
              <a:rPr lang="en-US" altLang="zh-CN"/>
              <a:t>	...</a:t>
            </a:r>
          </a:p>
          <a:p>
            <a:r>
              <a:rPr lang="en-US" altLang="zh-CN"/>
              <a:t>	</a:t>
            </a:r>
          </a:p>
          <a:p>
            <a:r>
              <a:rPr lang="en-US" altLang="zh-CN"/>
              <a:t>	</a:t>
            </a:r>
            <a:endParaRPr lang="zh-CN" altLang="en-US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024813BA-E3A5-4904-B741-2F252197A8F4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	</a:t>
            </a:r>
          </a:p>
          <a:p>
            <a:r>
              <a:rPr lang="en-US" altLang="zh-CN"/>
              <a:t>	case '&lt;':</a:t>
            </a:r>
          </a:p>
          <a:p>
            <a:r>
              <a:rPr lang="en-US" altLang="zh-CN"/>
              <a:t>	...</a:t>
            </a:r>
          </a:p>
          <a:p>
            <a:r>
              <a:rPr lang="en-US" altLang="zh-CN"/>
              <a:t>	case '&gt;':</a:t>
            </a:r>
          </a:p>
          <a:p>
            <a:r>
              <a:rPr lang="en-US" altLang="zh-CN"/>
              <a:t>	...</a:t>
            </a:r>
          </a:p>
          <a:p>
            <a:r>
              <a:rPr lang="en-US" altLang="zh-CN"/>
              <a:t>	default:</a:t>
            </a:r>
          </a:p>
          <a:p>
            <a:r>
              <a:rPr lang="en-US" altLang="zh-CN"/>
              <a:t>	...</a:t>
            </a:r>
          </a:p>
          <a:p>
            <a:r>
              <a:rPr lang="en-US" altLang="zh-CN"/>
              <a:t>}</a:t>
            </a:r>
          </a:p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A1389CC-36B3-43BC-93FB-42E94777F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2057400"/>
            <a:ext cx="169258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925DBA-64FC-4232-A500-76F6E519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2556600" cy="5237998"/>
          </a:xfrm>
        </p:spPr>
        <p:txBody>
          <a:bodyPr/>
          <a:lstStyle/>
          <a:p>
            <a:r>
              <a:rPr lang="zh-CN" altLang="en-US"/>
              <a:t>状态转换图：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D8AA57-9B81-40EB-A021-B8E0A992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 </a:t>
            </a:r>
            <a:r>
              <a:rPr lang="en-US" altLang="zh-CN"/>
              <a:t>—— while</a:t>
            </a:r>
            <a:r>
              <a:rPr lang="zh-CN" altLang="en-US"/>
              <a:t>语句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E2BFFB6-06FF-48FB-9ECE-63FF2EE6A5A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29000" y="899160"/>
            <a:ext cx="8039100" cy="5237998"/>
          </a:xfrm>
        </p:spPr>
        <p:txBody>
          <a:bodyPr/>
          <a:lstStyle/>
          <a:p>
            <a:r>
              <a:rPr lang="zh-CN" altLang="en-US"/>
              <a:t>代码实现：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while( ch=='</a:t>
            </a:r>
            <a:r>
              <a:rPr lang="zh-CN" altLang="en-US"/>
              <a:t>字母</a:t>
            </a:r>
            <a:r>
              <a:rPr lang="en-US" altLang="zh-CN"/>
              <a:t>' || ch=='</a:t>
            </a:r>
            <a:r>
              <a:rPr lang="zh-CN" altLang="en-US"/>
              <a:t>数字</a:t>
            </a:r>
            <a:r>
              <a:rPr lang="en-US" altLang="zh-CN"/>
              <a:t>' )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	concat( token, ch );	/*  </a:t>
            </a:r>
            <a:r>
              <a:rPr lang="zh-CN" altLang="en-US"/>
              <a:t>连接到</a:t>
            </a:r>
            <a:r>
              <a:rPr lang="en-US" altLang="zh-CN"/>
              <a:t>token</a:t>
            </a:r>
            <a:r>
              <a:rPr lang="zh-CN" altLang="en-US"/>
              <a:t>中 *</a:t>
            </a:r>
            <a:r>
              <a:rPr lang="en-US" altLang="zh-CN"/>
              <a:t>/</a:t>
            </a:r>
          </a:p>
          <a:p>
            <a:r>
              <a:rPr lang="en-US" altLang="zh-CN"/>
              <a:t>	ch=getchar();			/*  </a:t>
            </a:r>
            <a:r>
              <a:rPr lang="zh-CN" altLang="en-US"/>
              <a:t>读入下一个字符 *</a:t>
            </a:r>
            <a:r>
              <a:rPr lang="en-US" altLang="zh-CN"/>
              <a:t>/</a:t>
            </a:r>
          </a:p>
          <a:p>
            <a:r>
              <a:rPr lang="en-US" altLang="zh-CN"/>
              <a:t>}</a:t>
            </a:r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0FC4D9-D928-4CB6-AFF9-14E5390B0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2" y="2072016"/>
            <a:ext cx="1774318" cy="162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0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925DBA-64FC-4232-A500-76F6E519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2556600" cy="5237998"/>
          </a:xfrm>
        </p:spPr>
        <p:txBody>
          <a:bodyPr/>
          <a:lstStyle/>
          <a:p>
            <a:r>
              <a:rPr lang="zh-CN" altLang="en-US"/>
              <a:t>状态转换图：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D8AA57-9B81-40EB-A021-B8E0A992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终态 </a:t>
            </a:r>
            <a:r>
              <a:rPr lang="en-US" altLang="zh-CN"/>
              <a:t>—— </a:t>
            </a:r>
            <a:r>
              <a:rPr lang="zh-CN" altLang="en-US"/>
              <a:t>单词的输出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E2BFFB6-06FF-48FB-9ECE-63FF2EE6A5A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29000" y="899160"/>
            <a:ext cx="8039100" cy="5237998"/>
          </a:xfrm>
        </p:spPr>
        <p:txBody>
          <a:bodyPr/>
          <a:lstStyle/>
          <a:p>
            <a:r>
              <a:rPr lang="zh-CN" altLang="en-US"/>
              <a:t>代码实现：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output( &lt;=</a:t>
            </a:r>
            <a:r>
              <a:rPr lang="zh-CN" altLang="en-US"/>
              <a:t>的编码</a:t>
            </a:r>
            <a:r>
              <a:rPr lang="en-US" altLang="zh-CN"/>
              <a:t>, NULL );  /* </a:t>
            </a:r>
            <a:r>
              <a:rPr lang="zh-CN" altLang="en-US"/>
              <a:t>输出二元式 </a:t>
            </a:r>
            <a:r>
              <a:rPr lang="en-US" altLang="zh-CN"/>
              <a:t>*/</a:t>
            </a:r>
          </a:p>
          <a:p>
            <a:endParaRPr lang="en-US" altLang="zh-CN"/>
          </a:p>
          <a:p>
            <a:r>
              <a:rPr lang="en-US" altLang="zh-CN"/>
              <a:t>un_getchar( ch );  /* </a:t>
            </a:r>
            <a:r>
              <a:rPr lang="zh-CN" altLang="en-US"/>
              <a:t>把</a:t>
            </a:r>
            <a:r>
              <a:rPr lang="en-US" altLang="zh-CN"/>
              <a:t>ch</a:t>
            </a:r>
            <a:r>
              <a:rPr lang="zh-CN" altLang="en-US"/>
              <a:t>中的字符退回输入串 </a:t>
            </a:r>
            <a:r>
              <a:rPr lang="en-US" altLang="zh-CN"/>
              <a:t>*/</a:t>
            </a:r>
          </a:p>
          <a:p>
            <a:r>
              <a:rPr lang="en-US" altLang="zh-CN"/>
              <a:t>output( &lt;</a:t>
            </a:r>
            <a:r>
              <a:rPr lang="zh-CN" altLang="en-US"/>
              <a:t>的编码</a:t>
            </a:r>
            <a:r>
              <a:rPr lang="en-US" altLang="zh-CN"/>
              <a:t>, NULL );  /* </a:t>
            </a:r>
            <a:r>
              <a:rPr lang="zh-CN" altLang="en-US"/>
              <a:t>输出二元式 </a:t>
            </a:r>
            <a:r>
              <a:rPr lang="en-US" altLang="zh-CN"/>
              <a:t>*/</a:t>
            </a:r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5C2405-4157-44BD-9876-9AC9A3C0D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69040"/>
            <a:ext cx="745067" cy="7503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84959C-F216-4CC8-B62C-8024EB543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547" y="2069040"/>
            <a:ext cx="1510453" cy="7368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6096059-2C56-4F4A-9683-7B2075D3A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200400"/>
            <a:ext cx="934720" cy="9396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C128542-8B4F-48C9-80B3-CAC95CCD2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2161" y="3391664"/>
            <a:ext cx="1320800" cy="73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6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925DBA-64FC-4232-A500-76F6E519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2556600" cy="5237998"/>
          </a:xfrm>
        </p:spPr>
        <p:txBody>
          <a:bodyPr/>
          <a:lstStyle/>
          <a:p>
            <a:r>
              <a:rPr lang="zh-CN" altLang="en-US"/>
              <a:t>状态转换图：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D8AA57-9B81-40EB-A021-B8E0A992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终态 </a:t>
            </a:r>
            <a:r>
              <a:rPr lang="en-US" altLang="zh-CN"/>
              <a:t>—— </a:t>
            </a:r>
            <a:r>
              <a:rPr lang="zh-CN" altLang="en-US"/>
              <a:t>单词的输出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E2BFFB6-06FF-48FB-9ECE-63FF2EE6A5A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6602" y="899160"/>
            <a:ext cx="7471497" cy="5237998"/>
          </a:xfrm>
        </p:spPr>
        <p:txBody>
          <a:bodyPr/>
          <a:lstStyle/>
          <a:p>
            <a:r>
              <a:rPr lang="zh-CN" altLang="en-US"/>
              <a:t>代码实现：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un_getchar( ch );  /* </a:t>
            </a:r>
            <a:r>
              <a:rPr lang="zh-CN" altLang="en-US"/>
              <a:t>把</a:t>
            </a:r>
            <a:r>
              <a:rPr lang="en-US" altLang="zh-CN"/>
              <a:t>ch</a:t>
            </a:r>
            <a:r>
              <a:rPr lang="zh-CN" altLang="en-US"/>
              <a:t>中的字符退回输入串 </a:t>
            </a:r>
            <a:r>
              <a:rPr lang="en-US" altLang="zh-CN"/>
              <a:t>*/</a:t>
            </a:r>
          </a:p>
          <a:p>
            <a:r>
              <a:rPr lang="en-US" altLang="zh-CN"/>
              <a:t>addr = insert( token, </a:t>
            </a:r>
            <a:r>
              <a:rPr lang="zh-CN" altLang="en-US"/>
              <a:t>常数表 </a:t>
            </a:r>
            <a:r>
              <a:rPr lang="en-US" altLang="zh-CN"/>
              <a:t>);  /* </a:t>
            </a:r>
            <a:r>
              <a:rPr lang="zh-CN" altLang="en-US"/>
              <a:t>加入常数表 </a:t>
            </a:r>
            <a:r>
              <a:rPr lang="en-US" altLang="zh-CN"/>
              <a:t>*/</a:t>
            </a:r>
          </a:p>
          <a:p>
            <a:r>
              <a:rPr lang="en-US" altLang="zh-CN"/>
              <a:t>output(</a:t>
            </a:r>
            <a:r>
              <a:rPr lang="zh-CN" altLang="en-US"/>
              <a:t> 常数的编码</a:t>
            </a:r>
            <a:r>
              <a:rPr lang="en-US" altLang="zh-CN"/>
              <a:t>, addr );  /* </a:t>
            </a:r>
            <a:r>
              <a:rPr lang="zh-CN" altLang="en-US"/>
              <a:t>输出二元式 </a:t>
            </a:r>
            <a:r>
              <a:rPr lang="en-US" altLang="zh-CN"/>
              <a:t>*/</a:t>
            </a:r>
          </a:p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622367-D0EA-443E-8750-1CA85EA63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26" y="1981200"/>
            <a:ext cx="934720" cy="9396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8CEB03A-37AC-4BF2-91D7-2C8D2FAB2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743123"/>
            <a:ext cx="2140373" cy="73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5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925DBA-64FC-4232-A500-76F6E519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2556600" cy="5237998"/>
          </a:xfrm>
        </p:spPr>
        <p:txBody>
          <a:bodyPr/>
          <a:lstStyle/>
          <a:p>
            <a:r>
              <a:rPr lang="zh-CN" altLang="en-US"/>
              <a:t>状态转换图：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D8AA57-9B81-40EB-A021-B8E0A992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终态 </a:t>
            </a:r>
            <a:r>
              <a:rPr lang="en-US" altLang="zh-CN"/>
              <a:t>—— </a:t>
            </a:r>
            <a:r>
              <a:rPr lang="zh-CN" altLang="en-US"/>
              <a:t>单词的输出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E2BFFB6-06FF-48FB-9ECE-63FF2EE6A5A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29000" y="899160"/>
            <a:ext cx="8039100" cy="5237998"/>
          </a:xfrm>
        </p:spPr>
        <p:txBody>
          <a:bodyPr/>
          <a:lstStyle/>
          <a:p>
            <a:r>
              <a:rPr lang="zh-CN" altLang="en-US"/>
              <a:t>代码实现：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un_getchar(ch);  /* </a:t>
            </a:r>
            <a:r>
              <a:rPr lang="zh-CN" altLang="en-US"/>
              <a:t>把</a:t>
            </a:r>
            <a:r>
              <a:rPr lang="en-US" altLang="zh-CN"/>
              <a:t>ch</a:t>
            </a:r>
            <a:r>
              <a:rPr lang="zh-CN" altLang="en-US"/>
              <a:t>中的字符退回输入串 </a:t>
            </a:r>
            <a:r>
              <a:rPr lang="en-US" altLang="zh-CN"/>
              <a:t>*/</a:t>
            </a:r>
          </a:p>
          <a:p>
            <a:r>
              <a:rPr lang="en-US" altLang="zh-CN"/>
              <a:t>code = search( token, </a:t>
            </a:r>
            <a:r>
              <a:rPr lang="zh-CN" altLang="en-US"/>
              <a:t>关键字表 </a:t>
            </a:r>
            <a:r>
              <a:rPr lang="en-US" altLang="zh-CN"/>
              <a:t>);  /* </a:t>
            </a:r>
            <a:r>
              <a:rPr lang="zh-CN" altLang="en-US"/>
              <a:t>查询关键字表 </a:t>
            </a:r>
            <a:r>
              <a:rPr lang="en-US" altLang="zh-CN"/>
              <a:t>*/</a:t>
            </a:r>
          </a:p>
          <a:p>
            <a:r>
              <a:rPr lang="en-US" altLang="zh-CN"/>
              <a:t>if(code != NULL)</a:t>
            </a:r>
          </a:p>
          <a:p>
            <a:r>
              <a:rPr lang="en-US" altLang="zh-CN"/>
              <a:t>	output(</a:t>
            </a:r>
            <a:r>
              <a:rPr lang="zh-CN" altLang="en-US"/>
              <a:t> </a:t>
            </a:r>
            <a:r>
              <a:rPr lang="en-US" altLang="zh-CN"/>
              <a:t>code, NULL</a:t>
            </a:r>
            <a:r>
              <a:rPr lang="zh-CN" altLang="en-US"/>
              <a:t> </a:t>
            </a:r>
            <a:r>
              <a:rPr lang="en-US" altLang="zh-CN"/>
              <a:t>);  /* </a:t>
            </a:r>
            <a:r>
              <a:rPr lang="zh-CN" altLang="en-US"/>
              <a:t>输出二元式 </a:t>
            </a:r>
            <a:r>
              <a:rPr lang="en-US" altLang="zh-CN"/>
              <a:t>*/</a:t>
            </a:r>
          </a:p>
          <a:p>
            <a:r>
              <a:rPr lang="en-US" altLang="zh-CN"/>
              <a:t>else</a:t>
            </a:r>
          </a:p>
          <a:p>
            <a:r>
              <a:rPr lang="en-US" altLang="zh-CN"/>
              <a:t>	addr = insert( token, </a:t>
            </a:r>
            <a:r>
              <a:rPr lang="zh-CN" altLang="en-US"/>
              <a:t>符号表 </a:t>
            </a:r>
            <a:r>
              <a:rPr lang="en-US" altLang="zh-CN"/>
              <a:t>);  /* </a:t>
            </a:r>
            <a:r>
              <a:rPr lang="zh-CN" altLang="en-US"/>
              <a:t>加入符号表 </a:t>
            </a:r>
            <a:r>
              <a:rPr lang="en-US" altLang="zh-CN"/>
              <a:t>*/</a:t>
            </a:r>
          </a:p>
          <a:p>
            <a:r>
              <a:rPr lang="en-US" altLang="zh-CN"/>
              <a:t>	output(</a:t>
            </a:r>
            <a:r>
              <a:rPr lang="zh-CN" altLang="en-US"/>
              <a:t> 标识符的编码</a:t>
            </a:r>
            <a:r>
              <a:rPr lang="en-US" altLang="zh-CN"/>
              <a:t>, addr</a:t>
            </a:r>
            <a:r>
              <a:rPr lang="zh-CN" altLang="en-US"/>
              <a:t> </a:t>
            </a:r>
            <a:r>
              <a:rPr lang="en-US" altLang="zh-CN"/>
              <a:t>);  /* </a:t>
            </a:r>
            <a:r>
              <a:rPr lang="zh-CN" altLang="en-US"/>
              <a:t>输出二元式 </a:t>
            </a:r>
            <a:r>
              <a:rPr lang="en-US" altLang="zh-CN"/>
              <a:t>*/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16A0D6-D0E7-4508-A16F-D515BB8FE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981200"/>
            <a:ext cx="934720" cy="9396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DA4933C-8FFD-414D-8883-EF1C5A073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43201"/>
            <a:ext cx="2763520" cy="73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1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C0D1A5C-FD92-4FF9-8FC2-33AFCDCF0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根据本节课中示例语言的状态转换图，实现完整的词法分析器代码。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参考代码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lexical_analyzer.c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下载地址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https://</a:t>
            </a:r>
            <a:r>
              <a:rPr lang="en-US" altLang="zh-CN" dirty="0" err="1"/>
              <a:t>github.com</a:t>
            </a:r>
            <a:r>
              <a:rPr lang="en-US" altLang="zh-CN" dirty="0"/>
              <a:t>/</a:t>
            </a:r>
            <a:r>
              <a:rPr lang="en-US" altLang="zh-CN" dirty="0" err="1"/>
              <a:t>misterfishing</a:t>
            </a:r>
            <a:r>
              <a:rPr lang="en-US" altLang="zh-CN" dirty="0"/>
              <a:t>/</a:t>
            </a:r>
            <a:r>
              <a:rPr lang="en-US" altLang="zh-CN" dirty="0" err="1"/>
              <a:t>lexical_analyzer</a:t>
            </a:r>
            <a:r>
              <a:rPr lang="en-US" altLang="zh-CN" dirty="0"/>
              <a:t>/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326A80-C333-4C9E-9FDA-C43BD592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347767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88ABA42-D1DD-4547-95F2-5B7BCDBF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757000" cy="5237998"/>
          </a:xfrm>
        </p:spPr>
        <p:txBody>
          <a:bodyPr/>
          <a:lstStyle/>
          <a:p>
            <a:r>
              <a:rPr lang="zh-CN" altLang="en-US" dirty="0"/>
              <a:t>自动生成工具 </a:t>
            </a:r>
            <a:r>
              <a:rPr lang="en-US" altLang="zh-CN" dirty="0"/>
              <a:t>Lex </a:t>
            </a:r>
            <a:r>
              <a:rPr lang="zh-CN" altLang="en-US" dirty="0"/>
              <a:t>的提出：</a:t>
            </a:r>
            <a:endParaRPr lang="en-US" altLang="zh-CN" dirty="0"/>
          </a:p>
          <a:p>
            <a:r>
              <a:rPr lang="en-US" altLang="zh-CN" dirty="0" err="1"/>
              <a:t>Lesk</a:t>
            </a:r>
            <a:r>
              <a:rPr lang="en-US" altLang="zh-CN" dirty="0"/>
              <a:t>, M. E. and E. Schmidt [1975]. </a:t>
            </a:r>
          </a:p>
          <a:p>
            <a:r>
              <a:rPr lang="en-US" altLang="zh-CN" dirty="0"/>
              <a:t>Lex – A Lexical Analyzer Generator</a:t>
            </a:r>
          </a:p>
          <a:p>
            <a:endParaRPr lang="en-US" altLang="zh-CN" dirty="0"/>
          </a:p>
          <a:p>
            <a:r>
              <a:rPr lang="zh-CN" altLang="en-US" dirty="0"/>
              <a:t>开源版本：</a:t>
            </a:r>
            <a:endParaRPr lang="en-US" altLang="zh-CN" dirty="0"/>
          </a:p>
          <a:p>
            <a:r>
              <a:rPr lang="en-US" altLang="zh-CN" dirty="0"/>
              <a:t>Flex (The Fast Lexical Analyzer)</a:t>
            </a:r>
          </a:p>
          <a:p>
            <a:r>
              <a:rPr lang="en-US" altLang="zh-CN" dirty="0" err="1"/>
              <a:t>www.gnu.org</a:t>
            </a:r>
            <a:r>
              <a:rPr lang="en-US" altLang="zh-CN" dirty="0"/>
              <a:t>/software/flex/</a:t>
            </a:r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A8DA64-9FDB-41BF-92B7-89940C28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词法分析器的自动生成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56C4AC-85CA-4075-888B-9633D84A6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914400"/>
            <a:ext cx="2714493" cy="499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3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7B9A06-2E98-4D58-828B-BE298EC1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lex *.l</a:t>
            </a:r>
          </a:p>
          <a:p>
            <a:r>
              <a:rPr lang="zh-CN" altLang="en-US"/>
              <a:t>分析包含词法规则的 </a:t>
            </a:r>
            <a:r>
              <a:rPr lang="en-US" altLang="zh-CN"/>
              <a:t>lex </a:t>
            </a:r>
            <a:r>
              <a:rPr lang="zh-CN" altLang="en-US"/>
              <a:t>文件 *</a:t>
            </a:r>
            <a:r>
              <a:rPr lang="en-US" altLang="zh-CN"/>
              <a:t>.l </a:t>
            </a:r>
            <a:r>
              <a:rPr lang="zh-CN" altLang="en-US"/>
              <a:t>，生成词法分析器源代码</a:t>
            </a:r>
            <a:r>
              <a:rPr lang="en-US" altLang="zh-CN"/>
              <a:t>lex.yy.c</a:t>
            </a:r>
            <a:r>
              <a:rPr lang="zh-CN" altLang="en-US"/>
              <a:t>。</a:t>
            </a:r>
          </a:p>
          <a:p>
            <a:endParaRPr lang="zh-CN" altLang="en-US"/>
          </a:p>
          <a:p>
            <a:r>
              <a:rPr lang="en-US" altLang="zh-CN"/>
              <a:t>gcc lex.yy.c … -o … </a:t>
            </a:r>
          </a:p>
          <a:p>
            <a:r>
              <a:rPr lang="zh-CN" altLang="en-US"/>
              <a:t>编译词法分析器源代码，生成词法分析器。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24B9C09-6BCF-4A9D-AE8B-A36F4DF3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lex</a:t>
            </a:r>
            <a:r>
              <a:rPr lang="zh-CN" altLang="en-US"/>
              <a:t>的使用</a:t>
            </a:r>
          </a:p>
        </p:txBody>
      </p:sp>
    </p:spTree>
    <p:extLst>
      <p:ext uri="{BB962C8B-B14F-4D97-AF65-F5344CB8AC3E}">
        <p14:creationId xmlns:p14="http://schemas.microsoft.com/office/powerpoint/2010/main" val="236521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8B32FA-ECEB-4C4B-963E-9CF4733B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... definitions ... </a:t>
            </a:r>
            <a:r>
              <a:rPr lang="zh-CN" altLang="en-US"/>
              <a:t>（定义段）</a:t>
            </a:r>
          </a:p>
          <a:p>
            <a:r>
              <a:rPr lang="en-US" altLang="zh-CN"/>
              <a:t>%%</a:t>
            </a:r>
          </a:p>
          <a:p>
            <a:r>
              <a:rPr lang="en-US" altLang="zh-CN"/>
              <a:t>... rules ... </a:t>
            </a:r>
            <a:r>
              <a:rPr lang="zh-CN" altLang="en-US"/>
              <a:t>（规则段，用正则表达式描述）</a:t>
            </a:r>
          </a:p>
          <a:p>
            <a:r>
              <a:rPr lang="en-US" altLang="zh-CN"/>
              <a:t>%%</a:t>
            </a:r>
          </a:p>
          <a:p>
            <a:r>
              <a:rPr lang="en-US" altLang="zh-CN"/>
              <a:t>... subroutines ... </a:t>
            </a:r>
            <a:r>
              <a:rPr lang="zh-CN" altLang="en-US"/>
              <a:t>（子程序段）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88823C-5D8B-4745-8C1B-E1CC294B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lex</a:t>
            </a:r>
            <a:r>
              <a:rPr lang="zh-CN" altLang="en-US"/>
              <a:t>文件的格式</a:t>
            </a:r>
          </a:p>
        </p:txBody>
      </p:sp>
    </p:spTree>
    <p:extLst>
      <p:ext uri="{BB962C8B-B14F-4D97-AF65-F5344CB8AC3E}">
        <p14:creationId xmlns:p14="http://schemas.microsoft.com/office/powerpoint/2010/main" val="272438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2AE5DF4-1038-485A-9720-D11424E33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正则表达式（</a:t>
            </a:r>
            <a:r>
              <a:rPr lang="en-US" altLang="zh-CN"/>
              <a:t>Regular Expression</a:t>
            </a:r>
            <a:r>
              <a:rPr lang="zh-CN" altLang="en-US"/>
              <a:t>）是一种形式化的描述方式。一个正则表达式可描述一系列符合某个模式（</a:t>
            </a:r>
            <a:r>
              <a:rPr lang="en-US" altLang="zh-CN"/>
              <a:t>Pattern</a:t>
            </a:r>
            <a:r>
              <a:rPr lang="zh-CN" altLang="en-US"/>
              <a:t>）的字符串。例如：</a:t>
            </a:r>
            <a:r>
              <a:rPr lang="en-US" altLang="zh-CN"/>
              <a:t>google</a:t>
            </a:r>
            <a:r>
              <a:rPr lang="zh-CN" altLang="en-US"/>
              <a:t>，</a:t>
            </a:r>
            <a:r>
              <a:rPr lang="en-US" altLang="zh-CN"/>
              <a:t>gooogle</a:t>
            </a:r>
            <a:r>
              <a:rPr lang="zh-CN" altLang="en-US"/>
              <a:t>，</a:t>
            </a:r>
            <a:r>
              <a:rPr lang="en-US" altLang="zh-CN"/>
              <a:t>goooogle</a:t>
            </a:r>
            <a:r>
              <a:rPr lang="zh-CN" altLang="en-US"/>
              <a:t>这</a:t>
            </a:r>
            <a:r>
              <a:rPr lang="en-US" altLang="zh-CN"/>
              <a:t>3</a:t>
            </a:r>
            <a:r>
              <a:rPr lang="zh-CN" altLang="en-US"/>
              <a:t>个字符串，都可以由</a:t>
            </a:r>
            <a:r>
              <a:rPr lang="en-US" altLang="zh-CN"/>
              <a:t>g(oo|ooo|oooo)gle</a:t>
            </a:r>
            <a:r>
              <a:rPr lang="zh-CN" altLang="en-US"/>
              <a:t>这个正则表达式描述。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正则表达式由普通字符和元字符（</a:t>
            </a:r>
            <a:r>
              <a:rPr lang="en-US" altLang="zh-CN"/>
              <a:t>Meta Character</a:t>
            </a:r>
            <a:r>
              <a:rPr lang="zh-CN" altLang="en-US"/>
              <a:t>）构成，不同的元字符有不同的含义，用于描述不同的模式。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350FEF-D699-4602-B9E2-39EEEBA1D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正则表达式</a:t>
            </a:r>
          </a:p>
        </p:txBody>
      </p:sp>
    </p:spTree>
    <p:extLst>
      <p:ext uri="{BB962C8B-B14F-4D97-AF65-F5344CB8AC3E}">
        <p14:creationId xmlns:p14="http://schemas.microsoft.com/office/powerpoint/2010/main" val="149811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3CC6F63-0628-41AF-850C-978E81BEE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元字符“</a:t>
            </a:r>
            <a:r>
              <a:rPr lang="en-US" altLang="zh-CN"/>
              <a:t>|”</a:t>
            </a:r>
            <a:r>
              <a:rPr lang="zh-CN" altLang="en-US"/>
              <a:t>表示“或者”</a:t>
            </a:r>
            <a:endParaRPr lang="en-US" altLang="zh-CN"/>
          </a:p>
          <a:p>
            <a:r>
              <a:rPr lang="zh-CN" altLang="en-US"/>
              <a:t>例如：“</a:t>
            </a:r>
            <a:r>
              <a:rPr lang="en-US" altLang="zh-CN"/>
              <a:t>gray|grey”</a:t>
            </a:r>
            <a:r>
              <a:rPr lang="zh-CN" altLang="en-US"/>
              <a:t>可以匹配“</a:t>
            </a:r>
            <a:r>
              <a:rPr lang="en-US" altLang="zh-CN"/>
              <a:t>grey”</a:t>
            </a:r>
            <a:r>
              <a:rPr lang="zh-CN" altLang="en-US"/>
              <a:t>或“</a:t>
            </a:r>
            <a:r>
              <a:rPr lang="en-US" altLang="zh-CN"/>
              <a:t>gray”</a:t>
            </a:r>
            <a:r>
              <a:rPr lang="zh-CN" altLang="en-US"/>
              <a:t>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元字符“</a:t>
            </a:r>
            <a:r>
              <a:rPr lang="en-US" altLang="zh-CN"/>
              <a:t>?”</a:t>
            </a:r>
            <a:r>
              <a:rPr lang="zh-CN" altLang="en-US"/>
              <a:t>表示“前面的字符可以不出现或出现一次”</a:t>
            </a:r>
            <a:endParaRPr lang="en-US" altLang="zh-CN"/>
          </a:p>
          <a:p>
            <a:r>
              <a:rPr lang="zh-CN" altLang="en-US"/>
              <a:t>例如：“</a:t>
            </a:r>
            <a:r>
              <a:rPr lang="en-US" altLang="zh-CN"/>
              <a:t>colou?r”</a:t>
            </a:r>
            <a:r>
              <a:rPr lang="zh-CN" altLang="en-US"/>
              <a:t>可以匹配“</a:t>
            </a:r>
            <a:r>
              <a:rPr lang="en-US" altLang="zh-CN"/>
              <a:t>colour”</a:t>
            </a:r>
            <a:r>
              <a:rPr lang="zh-CN" altLang="en-US"/>
              <a:t>或者“</a:t>
            </a:r>
            <a:r>
              <a:rPr lang="en-US" altLang="zh-CN"/>
              <a:t>color”</a:t>
            </a:r>
            <a:r>
              <a:rPr lang="zh-CN" altLang="en-US"/>
              <a:t>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9EED38B-0418-41EE-9892-381545CB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元字符</a:t>
            </a:r>
          </a:p>
        </p:txBody>
      </p:sp>
    </p:spTree>
    <p:extLst>
      <p:ext uri="{BB962C8B-B14F-4D97-AF65-F5344CB8AC3E}">
        <p14:creationId xmlns:p14="http://schemas.microsoft.com/office/powerpoint/2010/main" val="165309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782B451-D62C-4661-B63B-5223BAA7C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元字符“*”表示“前面的字符可以出现任意次”</a:t>
            </a:r>
            <a:endParaRPr lang="en-US" altLang="zh-CN"/>
          </a:p>
          <a:p>
            <a:r>
              <a:rPr lang="zh-CN" altLang="en-US"/>
              <a:t>例如，“</a:t>
            </a:r>
            <a:r>
              <a:rPr lang="en-US" altLang="zh-CN"/>
              <a:t>go*gle”</a:t>
            </a:r>
            <a:r>
              <a:rPr lang="zh-CN" altLang="en-US"/>
              <a:t>可以匹配“</a:t>
            </a:r>
            <a:r>
              <a:rPr lang="en-US" altLang="zh-CN"/>
              <a:t>ggle”</a:t>
            </a:r>
            <a:r>
              <a:rPr lang="zh-CN" altLang="en-US"/>
              <a:t>、“</a:t>
            </a:r>
            <a:r>
              <a:rPr lang="en-US" altLang="zh-CN"/>
              <a:t>gogle”</a:t>
            </a:r>
            <a:r>
              <a:rPr lang="zh-CN" altLang="en-US"/>
              <a:t>、“</a:t>
            </a:r>
            <a:r>
              <a:rPr lang="en-US" altLang="zh-CN"/>
              <a:t>google”</a:t>
            </a:r>
            <a:r>
              <a:rPr lang="zh-CN" altLang="en-US"/>
              <a:t>、“</a:t>
            </a:r>
            <a:r>
              <a:rPr lang="en-US" altLang="zh-CN"/>
              <a:t>gooogle”</a:t>
            </a:r>
            <a:r>
              <a:rPr lang="zh-CN" altLang="en-US"/>
              <a:t>、“</a:t>
            </a:r>
            <a:r>
              <a:rPr lang="en-US" altLang="zh-CN"/>
              <a:t>goooogle”</a:t>
            </a:r>
            <a:r>
              <a:rPr lang="zh-CN" altLang="en-US"/>
              <a:t>、</a:t>
            </a:r>
            <a:r>
              <a:rPr lang="en-US" altLang="zh-CN"/>
              <a:t>……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元字符“</a:t>
            </a:r>
            <a:r>
              <a:rPr lang="en-US" altLang="zh-CN"/>
              <a:t>+”</a:t>
            </a:r>
            <a:r>
              <a:rPr lang="zh-CN" altLang="en-US"/>
              <a:t>表示“前面的字符至少出现一次”</a:t>
            </a:r>
            <a:endParaRPr lang="en-US" altLang="zh-CN"/>
          </a:p>
          <a:p>
            <a:r>
              <a:rPr lang="zh-CN" altLang="en-US"/>
              <a:t>例如，“</a:t>
            </a:r>
            <a:r>
              <a:rPr lang="en-US" altLang="zh-CN"/>
              <a:t>go+gle”</a:t>
            </a:r>
            <a:r>
              <a:rPr lang="zh-CN" altLang="en-US"/>
              <a:t>可以匹配“</a:t>
            </a:r>
            <a:r>
              <a:rPr lang="en-US" altLang="zh-CN"/>
              <a:t>gogle”</a:t>
            </a:r>
            <a:r>
              <a:rPr lang="zh-CN" altLang="en-US"/>
              <a:t>、“</a:t>
            </a:r>
            <a:r>
              <a:rPr lang="en-US" altLang="zh-CN"/>
              <a:t>google”</a:t>
            </a:r>
            <a:r>
              <a:rPr lang="zh-CN" altLang="en-US"/>
              <a:t>、“</a:t>
            </a:r>
            <a:r>
              <a:rPr lang="en-US" altLang="zh-CN"/>
              <a:t>gooogle”</a:t>
            </a:r>
            <a:r>
              <a:rPr lang="zh-CN" altLang="en-US"/>
              <a:t>、“</a:t>
            </a:r>
            <a:r>
              <a:rPr lang="en-US" altLang="zh-CN"/>
              <a:t>goooogle”</a:t>
            </a:r>
            <a:r>
              <a:rPr lang="zh-CN" altLang="en-US"/>
              <a:t>、</a:t>
            </a:r>
            <a:r>
              <a:rPr lang="en-US" altLang="zh-CN"/>
              <a:t>……</a:t>
            </a:r>
            <a:endParaRPr lang="zh-CN" altLang="en-US"/>
          </a:p>
          <a:p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87F9926-76BD-4657-A2B8-7FBA8F79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元字符</a:t>
            </a:r>
          </a:p>
        </p:txBody>
      </p:sp>
    </p:spTree>
    <p:extLst>
      <p:ext uri="{BB962C8B-B14F-4D97-AF65-F5344CB8AC3E}">
        <p14:creationId xmlns:p14="http://schemas.microsoft.com/office/powerpoint/2010/main" val="291695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57F3C78-5EA2-4556-AD1F-10CF4C66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常用元字符及含义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6E13863-0EC0-44E2-B73E-B953D5F2E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377" y="1523999"/>
            <a:ext cx="8489247" cy="426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74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6C375E8-9B09-4864-8828-7523F850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正则表达式实例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71972E0-2FF7-4A72-9051-002259456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961" y="1295400"/>
            <a:ext cx="5848079" cy="449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43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EF58B6A-E532-48DB-9657-86C73E38B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识别字符（</a:t>
            </a:r>
            <a:r>
              <a:rPr lang="en-US" altLang="zh-CN" dirty="0" err="1"/>
              <a:t>character.l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识别字符行（</a:t>
            </a:r>
            <a:r>
              <a:rPr lang="en-US" altLang="zh-CN" dirty="0" err="1"/>
              <a:t>line.l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识别标识符（</a:t>
            </a:r>
            <a:r>
              <a:rPr lang="en-US" altLang="zh-CN" dirty="0" err="1"/>
              <a:t>identifier.l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识别单词（</a:t>
            </a:r>
            <a:r>
              <a:rPr lang="en-US" altLang="zh-CN" dirty="0" err="1"/>
              <a:t>word.l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5DDAC92-E620-479A-93DC-82DC080BC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lex</a:t>
            </a:r>
            <a:r>
              <a:rPr lang="zh-CN" altLang="en-US" dirty="0"/>
              <a:t>文件实例</a:t>
            </a:r>
          </a:p>
        </p:txBody>
      </p:sp>
    </p:spTree>
    <p:extLst>
      <p:ext uri="{BB962C8B-B14F-4D97-AF65-F5344CB8AC3E}">
        <p14:creationId xmlns:p14="http://schemas.microsoft.com/office/powerpoint/2010/main" val="403549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CN" dirty="0"/>
              <a:t>Lex &amp; </a:t>
            </a:r>
            <a:r>
              <a:rPr lang="en-US" altLang="zh-CN" dirty="0" err="1"/>
              <a:t>Yacc</a:t>
            </a:r>
            <a:r>
              <a:rPr lang="en-US" altLang="zh-CN" dirty="0"/>
              <a:t> Tutorial</a:t>
            </a:r>
          </a:p>
          <a:p>
            <a:pPr algn="ctr"/>
            <a:r>
              <a:rPr lang="en-US" altLang="zh-CN" dirty="0"/>
              <a:t>http://epaperpress.com/lexandyacc/index.html</a:t>
            </a:r>
          </a:p>
          <a:p>
            <a:endParaRPr lang="en-US" altLang="zh-CN" dirty="0"/>
          </a:p>
          <a:p>
            <a:pPr algn="ctr"/>
            <a:r>
              <a:rPr lang="en-US" altLang="zh-CN" dirty="0" err="1"/>
              <a:t>lex</a:t>
            </a:r>
            <a:r>
              <a:rPr lang="zh-CN" altLang="en-US" dirty="0"/>
              <a:t>与</a:t>
            </a:r>
            <a:r>
              <a:rPr lang="en-US" altLang="zh-CN" dirty="0" err="1"/>
              <a:t>yacc</a:t>
            </a:r>
            <a:r>
              <a:rPr lang="en-US" altLang="zh-CN" dirty="0"/>
              <a:t>                         flex</a:t>
            </a:r>
            <a:r>
              <a:rPr lang="zh-CN" altLang="en-US" dirty="0"/>
              <a:t>与</a:t>
            </a:r>
            <a:r>
              <a:rPr lang="en-US" altLang="zh-CN" dirty="0"/>
              <a:t>bison</a:t>
            </a:r>
          </a:p>
          <a:p>
            <a:endParaRPr lang="zh-CN" altLang="en-US" dirty="0"/>
          </a:p>
        </p:txBody>
      </p:sp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参考资料</a:t>
            </a:r>
          </a:p>
        </p:txBody>
      </p:sp>
      <p:pic>
        <p:nvPicPr>
          <p:cNvPr id="3584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06" y="3276600"/>
            <a:ext cx="1791394" cy="2485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258047"/>
            <a:ext cx="1883073" cy="2485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437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C0D1A5C-FD92-4FF9-8FC2-33AFCDCF0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lex</a:t>
            </a:r>
            <a:r>
              <a:rPr lang="zh-CN" altLang="en-US" dirty="0"/>
              <a:t>自动生成示例语言的词法分析器。</a:t>
            </a:r>
            <a:endParaRPr lang="en-US" altLang="zh-CN" dirty="0"/>
          </a:p>
          <a:p>
            <a:r>
              <a:rPr lang="zh-CN" altLang="en-US"/>
              <a:t>学习不同语言和工具</a:t>
            </a:r>
            <a:r>
              <a:rPr lang="zh-CN" altLang="en-US" dirty="0"/>
              <a:t>中的正则表达式，体会它们之间的差异。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参考代码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https://</a:t>
            </a:r>
            <a:r>
              <a:rPr lang="en-US" altLang="zh-CN" dirty="0" err="1"/>
              <a:t>github.com</a:t>
            </a:r>
            <a:r>
              <a:rPr lang="en-US" altLang="zh-CN" dirty="0"/>
              <a:t>/</a:t>
            </a:r>
            <a:r>
              <a:rPr lang="en-US" altLang="zh-CN" dirty="0" err="1"/>
              <a:t>misterfishing</a:t>
            </a:r>
            <a:r>
              <a:rPr lang="en-US" altLang="zh-CN" dirty="0"/>
              <a:t>/lex/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326A80-C333-4C9E-9FDA-C43BD592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322559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8639</TotalTime>
  <Words>1099</Words>
  <Application>Microsoft Office PowerPoint</Application>
  <PresentationFormat>宽屏</PresentationFormat>
  <Paragraphs>217</Paragraphs>
  <Slides>26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微软雅黑</vt:lpstr>
      <vt:lpstr>Arial</vt:lpstr>
      <vt:lpstr>Wingdings</vt:lpstr>
      <vt:lpstr>环保</vt:lpstr>
      <vt:lpstr>第六章 词法分析</vt:lpstr>
      <vt:lpstr>词法分析器实例</vt:lpstr>
      <vt:lpstr>确定单词的特征</vt:lpstr>
      <vt:lpstr>对单词进行编码</vt:lpstr>
      <vt:lpstr>设计状态转换图</vt:lpstr>
      <vt:lpstr>实现词法分析器</vt:lpstr>
      <vt:lpstr>初态 —— 初始化操作</vt:lpstr>
      <vt:lpstr>标记 —— 读入下一个字符</vt:lpstr>
      <vt:lpstr>分支 —— if 语句</vt:lpstr>
      <vt:lpstr>分支 —— switch 语句</vt:lpstr>
      <vt:lpstr>循环 —— while语句</vt:lpstr>
      <vt:lpstr>终态 —— 单词的输出</vt:lpstr>
      <vt:lpstr>终态 —— 单词的输出</vt:lpstr>
      <vt:lpstr>终态 —— 单词的输出</vt:lpstr>
      <vt:lpstr>实验</vt:lpstr>
      <vt:lpstr>词法分析器的自动生成</vt:lpstr>
      <vt:lpstr>lex的使用</vt:lpstr>
      <vt:lpstr>lex文件的格式</vt:lpstr>
      <vt:lpstr>正则表达式</vt:lpstr>
      <vt:lpstr>元字符</vt:lpstr>
      <vt:lpstr>元字符</vt:lpstr>
      <vt:lpstr>常用元字符及含义</vt:lpstr>
      <vt:lpstr>正则表达式实例</vt:lpstr>
      <vt:lpstr>lex文件实例</vt:lpstr>
      <vt:lpstr>参考资料</vt:lpstr>
      <vt:lpstr>实验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1498</cp:revision>
  <cp:lastPrinted>1601-01-01T00:00:00Z</cp:lastPrinted>
  <dcterms:created xsi:type="dcterms:W3CDTF">1601-01-01T00:00:00Z</dcterms:created>
  <dcterms:modified xsi:type="dcterms:W3CDTF">2021-02-22T15:18:51Z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