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0"/>
  </p:notesMasterIdLst>
  <p:handoutMasterIdLst>
    <p:handoutMasterId r:id="rId21"/>
  </p:handoutMasterIdLst>
  <p:sldIdLst>
    <p:sldId id="371" r:id="rId2"/>
    <p:sldId id="270" r:id="rId3"/>
    <p:sldId id="272" r:id="rId4"/>
    <p:sldId id="276" r:id="rId5"/>
    <p:sldId id="274" r:id="rId6"/>
    <p:sldId id="277" r:id="rId7"/>
    <p:sldId id="278" r:id="rId8"/>
    <p:sldId id="279" r:id="rId9"/>
    <p:sldId id="280" r:id="rId10"/>
    <p:sldId id="372" r:id="rId11"/>
    <p:sldId id="281" r:id="rId12"/>
    <p:sldId id="282" r:id="rId13"/>
    <p:sldId id="377" r:id="rId14"/>
    <p:sldId id="378" r:id="rId15"/>
    <p:sldId id="379" r:id="rId16"/>
    <p:sldId id="380" r:id="rId17"/>
    <p:sldId id="381" r:id="rId18"/>
    <p:sldId id="382" r:id="rId19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0000FF"/>
    <a:srgbClr val="635E4B"/>
    <a:srgbClr val="EE8A3E"/>
    <a:srgbClr val="A18D60"/>
    <a:srgbClr val="E98A3E"/>
    <a:srgbClr val="04141B"/>
    <a:srgbClr val="D9B247"/>
    <a:srgbClr val="2A9995"/>
    <a:srgbClr val="54D0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13" autoAdjust="0"/>
    <p:restoredTop sz="93446" autoAdjust="0"/>
  </p:normalViewPr>
  <p:slideViewPr>
    <p:cSldViewPr snapToGrid="0">
      <p:cViewPr>
        <p:scale>
          <a:sx n="42" d="100"/>
          <a:sy n="42" d="100"/>
        </p:scale>
        <p:origin x="51" y="51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 snapToGrid="0"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01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第七章 语法分析</a:t>
            </a:r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</a:rPr>
                <a:t>第一节 语法分析概述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回溯分析法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递归下降分析法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预测分析法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B6323BE9-57D8-467F-9A2D-90902E82A543}"/>
              </a:ext>
            </a:extLst>
          </p:cNvPr>
          <p:cNvSpPr/>
          <p:nvPr/>
        </p:nvSpPr>
        <p:spPr>
          <a:xfrm>
            <a:off x="2983159" y="2704475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62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78" y="941998"/>
            <a:ext cx="10751844" cy="5237998"/>
          </a:xfrm>
        </p:spPr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G(S)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		S → </a:t>
            </a:r>
            <a:r>
              <a:rPr lang="en-US" altLang="zh-CN" dirty="0" err="1"/>
              <a:t>xAy</a:t>
            </a:r>
            <a:endParaRPr lang="en-US" altLang="zh-CN" dirty="0"/>
          </a:p>
          <a:p>
            <a:r>
              <a:rPr lang="en-US" altLang="zh-CN" dirty="0"/>
              <a:t>		A → ab</a:t>
            </a:r>
          </a:p>
          <a:p>
            <a:r>
              <a:rPr lang="en-US" altLang="zh-CN" dirty="0"/>
              <a:t>		A → a</a:t>
            </a:r>
          </a:p>
          <a:p>
            <a:r>
              <a:rPr lang="zh-CN" altLang="en-US" dirty="0"/>
              <a:t>输入串 </a:t>
            </a:r>
            <a:r>
              <a:rPr lang="en-US" altLang="zh-CN" dirty="0" err="1"/>
              <a:t>xay</a:t>
            </a:r>
            <a:r>
              <a:rPr lang="en-US" altLang="zh-CN" dirty="0"/>
              <a:t> </a:t>
            </a:r>
            <a:r>
              <a:rPr lang="zh-CN" altLang="en-US" dirty="0"/>
              <a:t>的分析过程：</a:t>
            </a:r>
          </a:p>
          <a:p>
            <a:pPr>
              <a:buClrTx/>
              <a:buFont typeface="Arial" charset="0"/>
              <a:buNone/>
            </a:pPr>
            <a:endParaRPr lang="zh-CN" altLang="en-US" dirty="0"/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zh-CN" altLang="en-US" dirty="0"/>
          </a:p>
        </p:txBody>
      </p:sp>
      <p:sp>
        <p:nvSpPr>
          <p:cNvPr id="4" name="Text Box 30">
            <a:extLst>
              <a:ext uri="{FF2B5EF4-FFF2-40B4-BE49-F238E27FC236}">
                <a16:creationId xmlns:a16="http://schemas.microsoft.com/office/drawing/2014/main" id="{BBD854DF-C240-40E7-81C8-08D00DEBD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5967" y="1905000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S</a:t>
            </a:r>
          </a:p>
        </p:txBody>
      </p:sp>
      <p:sp>
        <p:nvSpPr>
          <p:cNvPr id="5" name="Line 31">
            <a:extLst>
              <a:ext uri="{FF2B5EF4-FFF2-40B4-BE49-F238E27FC236}">
                <a16:creationId xmlns:a16="http://schemas.microsoft.com/office/drawing/2014/main" id="{E3695865-5C5E-4622-8061-7CDCDDF2EC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35813" y="2362200"/>
            <a:ext cx="935739" cy="692873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 Box 32">
            <a:extLst>
              <a:ext uri="{FF2B5EF4-FFF2-40B4-BE49-F238E27FC236}">
                <a16:creationId xmlns:a16="http://schemas.microsoft.com/office/drawing/2014/main" id="{01F7C3D4-C7F7-4F8C-84CB-F71207418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0963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x</a:t>
            </a:r>
          </a:p>
        </p:txBody>
      </p:sp>
      <p:sp>
        <p:nvSpPr>
          <p:cNvPr id="8" name="Line 34">
            <a:extLst>
              <a:ext uri="{FF2B5EF4-FFF2-40B4-BE49-F238E27FC236}">
                <a16:creationId xmlns:a16="http://schemas.microsoft.com/office/drawing/2014/main" id="{B6F037CC-DF7D-41EF-B01B-6A300B273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4373" y="2362201"/>
            <a:ext cx="935731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 Box 35">
            <a:extLst>
              <a:ext uri="{FF2B5EF4-FFF2-40B4-BE49-F238E27FC236}">
                <a16:creationId xmlns:a16="http://schemas.microsoft.com/office/drawing/2014/main" id="{9747C15C-BDE4-4879-8CB5-8EB5AB16F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309634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y</a:t>
            </a:r>
          </a:p>
        </p:txBody>
      </p:sp>
      <p:sp>
        <p:nvSpPr>
          <p:cNvPr id="11" name="Line 37">
            <a:extLst>
              <a:ext uri="{FF2B5EF4-FFF2-40B4-BE49-F238E27FC236}">
                <a16:creationId xmlns:a16="http://schemas.microsoft.com/office/drawing/2014/main" id="{BD349D3F-4A4E-493A-9895-CF10B5A0CA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2973" y="2410548"/>
            <a:ext cx="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 Box 38">
            <a:extLst>
              <a:ext uri="{FF2B5EF4-FFF2-40B4-BE49-F238E27FC236}">
                <a16:creationId xmlns:a16="http://schemas.microsoft.com/office/drawing/2014/main" id="{812E5982-794C-4E9D-B7CE-01F312BF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4" y="3096348"/>
            <a:ext cx="404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13" name="Line 39">
            <a:extLst>
              <a:ext uri="{FF2B5EF4-FFF2-40B4-BE49-F238E27FC236}">
                <a16:creationId xmlns:a16="http://schemas.microsoft.com/office/drawing/2014/main" id="{8E3A1DE8-E51C-4AE2-88E3-6E6DE7F3D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2973" y="3553548"/>
            <a:ext cx="0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57569AE5-30C6-42E4-B0F7-F60975EE1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3429" y="4086948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>
              <a:defRPr>
                <a:solidFill>
                  <a:schemeClr val="bg1"/>
                </a:solidFill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400" b="1" dirty="0">
                <a:latin typeface="+mj-ea"/>
                <a:ea typeface="+mj-ea"/>
              </a:rPr>
              <a:t>a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23A0964-42F7-441D-93D8-821E3016FEA4}"/>
              </a:ext>
            </a:extLst>
          </p:cNvPr>
          <p:cNvGrpSpPr/>
          <p:nvPr/>
        </p:nvGrpSpPr>
        <p:grpSpPr>
          <a:xfrm>
            <a:off x="7391400" y="3553548"/>
            <a:ext cx="1649413" cy="990600"/>
            <a:chOff x="7696200" y="3553548"/>
            <a:chExt cx="1649413" cy="990600"/>
          </a:xfrm>
        </p:grpSpPr>
        <p:sp>
          <p:nvSpPr>
            <p:cNvPr id="14" name="Line 40">
              <a:extLst>
                <a:ext uri="{FF2B5EF4-FFF2-40B4-BE49-F238E27FC236}">
                  <a16:creationId xmlns:a16="http://schemas.microsoft.com/office/drawing/2014/main" id="{23C8DEEF-1AA5-464B-8690-EE627708C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15286" y="3553548"/>
              <a:ext cx="361053" cy="5334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Line 41">
              <a:extLst>
                <a:ext uri="{FF2B5EF4-FFF2-40B4-BE49-F238E27FC236}">
                  <a16:creationId xmlns:a16="http://schemas.microsoft.com/office/drawing/2014/main" id="{CA156659-93A8-474F-B36F-0EFD38F12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1578" y="3553548"/>
              <a:ext cx="374813" cy="5334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7" name="Text Box 43">
              <a:extLst>
                <a:ext uri="{FF2B5EF4-FFF2-40B4-BE49-F238E27FC236}">
                  <a16:creationId xmlns:a16="http://schemas.microsoft.com/office/drawing/2014/main" id="{FBF32D2D-6225-42E4-B2C5-F2DDE04A9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00" y="4086948"/>
              <a:ext cx="3190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>
                <a:defRPr>
                  <a:solidFill>
                    <a:schemeClr val="bg1"/>
                  </a:solidFill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2400" b="1" dirty="0">
                  <a:latin typeface="+mj-ea"/>
                </a:rPr>
                <a:t>a</a:t>
              </a:r>
            </a:p>
          </p:txBody>
        </p:sp>
        <p:sp>
          <p:nvSpPr>
            <p:cNvPr id="19" name="Text Box 45">
              <a:extLst>
                <a:ext uri="{FF2B5EF4-FFF2-40B4-BE49-F238E27FC236}">
                  <a16:creationId xmlns:a16="http://schemas.microsoft.com/office/drawing/2014/main" id="{90281EA9-1170-4625-9B6F-72E594940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0800" y="4086948"/>
              <a:ext cx="4048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>
                <a:defRPr>
                  <a:solidFill>
                    <a:schemeClr val="bg1"/>
                  </a:solidFill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lang="en-US" altLang="zh-CN" sz="2400" b="1" dirty="0">
                  <a:latin typeface="+mj-ea"/>
                  <a:ea typeface="+mj-ea"/>
                </a:rPr>
                <a:t>b</a:t>
              </a:r>
            </a:p>
          </p:txBody>
        </p:sp>
      </p:grpSp>
      <p:sp>
        <p:nvSpPr>
          <p:cNvPr id="20" name="Rectangle 82">
            <a:extLst>
              <a:ext uri="{FF2B5EF4-FFF2-40B4-BE49-F238E27FC236}">
                <a16:creationId xmlns:a16="http://schemas.microsoft.com/office/drawing/2014/main" id="{790CDEF0-4611-41EE-BBFD-ED25EEB7A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770" y="4013376"/>
            <a:ext cx="1278297" cy="5334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  a  y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3539F5F3-96C8-4379-9AC8-FBDDC52F307F}"/>
              </a:ext>
            </a:extLst>
          </p:cNvPr>
          <p:cNvSpPr/>
          <p:nvPr/>
        </p:nvSpPr>
        <p:spPr>
          <a:xfrm rot="16200000">
            <a:off x="2563169" y="4693569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7B0CE237-3EC2-4AF1-B4D6-FDC4EFE2975B}"/>
              </a:ext>
            </a:extLst>
          </p:cNvPr>
          <p:cNvSpPr/>
          <p:nvPr/>
        </p:nvSpPr>
        <p:spPr>
          <a:xfrm rot="16200000">
            <a:off x="8017360" y="2393643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47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3.33333E-6 L -0.10157 0.17778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91" y="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2878 0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157 0.17778 L 0.00013 0.177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17778 L -0.05118 0.32778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78 0 L 0.05768 0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78 0.32894 L -0.05144 0.32778 " pathEditMode="relative" rAng="0" ptsTypes="AA">
                                      <p:cBhvr>
                                        <p:cTn id="55" dur="2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1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68 0 L 0.02878 3.33333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17778 L 0.05078 0.32894 " pathEditMode="relative" rAng="0" ptsTypes="AA">
                                      <p:cBhvr>
                                        <p:cTn id="66" dur="2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" y="7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17778 L 0.00156 0.32778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77 -1.11111E-6 L 0.05768 0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32778 L 0.09687 0.18403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6" y="-71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8" grpId="0" animBg="1"/>
      <p:bldP spid="9" grpId="0"/>
      <p:bldP spid="11" grpId="0" animBg="1"/>
      <p:bldP spid="12" grpId="0"/>
      <p:bldP spid="13" grpId="0" animBg="1"/>
      <p:bldP spid="18" grpId="0"/>
      <p:bldP spid="24" grpId="5" animBg="1"/>
      <p:bldP spid="24" grpId="6" animBg="1"/>
      <p:bldP spid="24" grpId="7" animBg="1"/>
      <p:bldP spid="24" grpId="8" animBg="1"/>
      <p:bldP spid="26" grpId="0" animBg="1"/>
      <p:bldP spid="26" grpId="1" animBg="1"/>
      <p:bldP spid="26" grpId="2" animBg="1"/>
      <p:bldP spid="26" grpId="3" animBg="1"/>
      <p:bldP spid="26" grpId="5" animBg="1"/>
      <p:bldP spid="26" grpId="6" animBg="1"/>
      <p:bldP spid="26" grpId="7" animBg="1"/>
      <p:bldP spid="26" grpId="8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G(S)</a:t>
            </a:r>
            <a:r>
              <a:rPr lang="zh-CN" altLang="en-US" dirty="0"/>
              <a:t>：</a:t>
            </a:r>
          </a:p>
          <a:p>
            <a:pPr lvl="1"/>
            <a:r>
              <a:rPr lang="en-US" altLang="zh-CN" sz="2400" dirty="0"/>
              <a:t>	S → Sa</a:t>
            </a:r>
          </a:p>
          <a:p>
            <a:pPr lvl="1"/>
            <a:r>
              <a:rPr lang="en-US" altLang="zh-CN" sz="2400" dirty="0"/>
              <a:t>	S → b </a:t>
            </a:r>
          </a:p>
          <a:p>
            <a:r>
              <a:rPr lang="zh-CN" altLang="en-US" dirty="0"/>
              <a:t>输入串 </a:t>
            </a:r>
            <a:r>
              <a:rPr lang="en-US" altLang="zh-CN" dirty="0"/>
              <a:t>baa </a:t>
            </a:r>
            <a:r>
              <a:rPr lang="zh-CN" altLang="en-US" dirty="0"/>
              <a:t>的分析过程：</a:t>
            </a: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762F1175-2514-4A53-B54A-F6D5D252A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zh-CN" altLang="en-US" dirty="0"/>
          </a:p>
        </p:txBody>
      </p:sp>
      <p:sp>
        <p:nvSpPr>
          <p:cNvPr id="3" name="Text Box 18">
            <a:extLst>
              <a:ext uri="{FF2B5EF4-FFF2-40B4-BE49-F238E27FC236}">
                <a16:creationId xmlns:a16="http://schemas.microsoft.com/office/drawing/2014/main" id="{1F631638-7E6E-471E-91DD-FE6D4B666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9826" y="1106034"/>
            <a:ext cx="3706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309AB4A-6AF0-40F6-9378-FDB2577AAFB7}"/>
              </a:ext>
            </a:extLst>
          </p:cNvPr>
          <p:cNvGrpSpPr/>
          <p:nvPr/>
        </p:nvGrpSpPr>
        <p:grpSpPr>
          <a:xfrm>
            <a:off x="7045101" y="1501788"/>
            <a:ext cx="2359941" cy="1341140"/>
            <a:chOff x="6936459" y="2072154"/>
            <a:chExt cx="2359941" cy="1341140"/>
          </a:xfrm>
        </p:grpSpPr>
        <p:sp>
          <p:nvSpPr>
            <p:cNvPr id="4" name="Text Box 19">
              <a:extLst>
                <a:ext uri="{FF2B5EF4-FFF2-40B4-BE49-F238E27FC236}">
                  <a16:creationId xmlns:a16="http://schemas.microsoft.com/office/drawing/2014/main" id="{1BF713D6-5E03-4E77-8EF5-445056F8E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6459" y="2951629"/>
              <a:ext cx="235994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S                   a</a:t>
              </a:r>
            </a:p>
          </p:txBody>
        </p:sp>
        <p:sp>
          <p:nvSpPr>
            <p:cNvPr id="5" name="Line 20">
              <a:extLst>
                <a:ext uri="{FF2B5EF4-FFF2-40B4-BE49-F238E27FC236}">
                  <a16:creationId xmlns:a16="http://schemas.microsoft.com/office/drawing/2014/main" id="{737C6FE0-729A-47F4-9EE5-9A979AF01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17459" y="2072154"/>
              <a:ext cx="609600" cy="838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Line 22">
              <a:extLst>
                <a:ext uri="{FF2B5EF4-FFF2-40B4-BE49-F238E27FC236}">
                  <a16:creationId xmlns:a16="http://schemas.microsoft.com/office/drawing/2014/main" id="{7086F86D-DA73-46CB-9AFC-67BB85CDB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1859" y="2072154"/>
              <a:ext cx="609600" cy="838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Text Box 23">
            <a:extLst>
              <a:ext uri="{FF2B5EF4-FFF2-40B4-BE49-F238E27FC236}">
                <a16:creationId xmlns:a16="http://schemas.microsoft.com/office/drawing/2014/main" id="{D15E5187-48D2-455B-908B-5D81DF752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1145" y="4987769"/>
            <a:ext cx="316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8" name="Line 24">
            <a:extLst>
              <a:ext uri="{FF2B5EF4-FFF2-40B4-BE49-F238E27FC236}">
                <a16:creationId xmlns:a16="http://schemas.microsoft.com/office/drawing/2014/main" id="{ED89F018-0039-4EF5-9C94-A38AF58F1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919" y="4042942"/>
            <a:ext cx="0" cy="93996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B3F78C4-0E47-48BE-8D58-23C3951A7BF5}"/>
              </a:ext>
            </a:extLst>
          </p:cNvPr>
          <p:cNvGrpSpPr/>
          <p:nvPr/>
        </p:nvGrpSpPr>
        <p:grpSpPr>
          <a:xfrm>
            <a:off x="6236612" y="2797187"/>
            <a:ext cx="2101857" cy="1285112"/>
            <a:chOff x="6127970" y="3367553"/>
            <a:chExt cx="2101857" cy="1285112"/>
          </a:xfrm>
        </p:grpSpPr>
        <p:sp>
          <p:nvSpPr>
            <p:cNvPr id="9" name="Text Box 19">
              <a:extLst>
                <a:ext uri="{FF2B5EF4-FFF2-40B4-BE49-F238E27FC236}">
                  <a16:creationId xmlns:a16="http://schemas.microsoft.com/office/drawing/2014/main" id="{26559555-1634-43B6-B997-AC6457D4A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7970" y="4191000"/>
              <a:ext cx="210185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S                 a</a:t>
              </a:r>
            </a:p>
          </p:txBody>
        </p:sp>
        <p:sp>
          <p:nvSpPr>
            <p:cNvPr id="10" name="Line 20">
              <a:extLst>
                <a:ext uri="{FF2B5EF4-FFF2-40B4-BE49-F238E27FC236}">
                  <a16:creationId xmlns:a16="http://schemas.microsoft.com/office/drawing/2014/main" id="{2B89B56A-0980-4FCD-A664-B4C99977A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72445" y="3367553"/>
              <a:ext cx="609600" cy="838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Line 22">
              <a:extLst>
                <a:ext uri="{FF2B5EF4-FFF2-40B4-BE49-F238E27FC236}">
                  <a16:creationId xmlns:a16="http://schemas.microsoft.com/office/drawing/2014/main" id="{CE533074-99DB-4A27-9E6C-4ED970135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6845" y="3367553"/>
              <a:ext cx="609600" cy="838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Text Box 23">
            <a:extLst>
              <a:ext uri="{FF2B5EF4-FFF2-40B4-BE49-F238E27FC236}">
                <a16:creationId xmlns:a16="http://schemas.microsoft.com/office/drawing/2014/main" id="{95115F67-1B10-4A46-833D-1A4F8CCCF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4241" y="3787755"/>
            <a:ext cx="316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13" name="Line 24">
            <a:extLst>
              <a:ext uri="{FF2B5EF4-FFF2-40B4-BE49-F238E27FC236}">
                <a16:creationId xmlns:a16="http://schemas.microsoft.com/office/drawing/2014/main" id="{64144C34-A3DC-458D-81A9-B289F3619C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4015" y="2842928"/>
            <a:ext cx="0" cy="93996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EDC2B552-B01D-4FC4-9B88-84395D0C7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1939" y="2502867"/>
            <a:ext cx="316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b</a:t>
            </a:r>
          </a:p>
        </p:txBody>
      </p:sp>
      <p:sp>
        <p:nvSpPr>
          <p:cNvPr id="15" name="Line 24">
            <a:extLst>
              <a:ext uri="{FF2B5EF4-FFF2-40B4-BE49-F238E27FC236}">
                <a16:creationId xmlns:a16="http://schemas.microsoft.com/office/drawing/2014/main" id="{A13E4399-34F1-4788-8937-AF1ADF76A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1713" y="1558040"/>
            <a:ext cx="0" cy="93996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Rectangle 82">
            <a:extLst>
              <a:ext uri="{FF2B5EF4-FFF2-40B4-BE49-F238E27FC236}">
                <a16:creationId xmlns:a16="http://schemas.microsoft.com/office/drawing/2014/main" id="{5BE1CF31-F21E-47C4-852B-B353E4448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870" y="3441876"/>
            <a:ext cx="1278297" cy="5334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b  a  a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F452FE9A-F4E8-4624-9AD0-0352A3BA3BD5}"/>
              </a:ext>
            </a:extLst>
          </p:cNvPr>
          <p:cNvSpPr/>
          <p:nvPr/>
        </p:nvSpPr>
        <p:spPr>
          <a:xfrm rot="16200000">
            <a:off x="2601269" y="4122069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D9DC0898-046C-4959-9494-80F5AA2DF41F}"/>
              </a:ext>
            </a:extLst>
          </p:cNvPr>
          <p:cNvSpPr/>
          <p:nvPr/>
        </p:nvSpPr>
        <p:spPr>
          <a:xfrm rot="16200000">
            <a:off x="8014936" y="1557219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59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3.95833E-6 0.2060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2878 0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77 3.33333E-6 L 2.5E-6 -4.44444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0.20602 L 4.58333E-6 1.11111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0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07852 0.18797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32" y="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52 0.18797 L -0.07787 0.3886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33333E-6 L 0.02877 -3.33333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787 0.38866 L 0.07669 0.18403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21" y="-10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77 3.33333E-6 L 0.05768 3.33333E-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3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68 3.33333E-6 L 0.02878 3.33333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77 3.33333E-6 L 2.5E-6 4.07407E-6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669 0.18403 L -0.07852 0.18797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52 0.18797 L -0.14675 0.37014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9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675 0.37014 L -0.14675 0.56297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33333E-6 L 0.02877 4.07407E-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675 0.56297 L -0.00573 0.36875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44" y="-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78 0 L 0.05768 0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73 0.36875 L 0.07669 0.18403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-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 animBg="1"/>
      <p:bldP spid="12" grpId="0"/>
      <p:bldP spid="12" grpId="1"/>
      <p:bldP spid="13" grpId="0" animBg="1"/>
      <p:bldP spid="13" grpId="1" animBg="1"/>
      <p:bldP spid="14" grpId="0"/>
      <p:bldP spid="14" grpId="1"/>
      <p:bldP spid="15" grpId="0" animBg="1"/>
      <p:bldP spid="15" grpId="1" animBg="1"/>
      <p:bldP spid="20" grpId="0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回溯分析法</a:t>
            </a:r>
            <a:endParaRPr lang="en-US"/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回溯分析法实际上是一种试探的方法。当遇到多个候选产生式时，</a:t>
            </a:r>
            <a:r>
              <a:rPr lang="zh-CN" altLang="zh-CN" dirty="0"/>
              <a:t>可以选择任意一个进行尝试，如果尝试失败，则回溯到试探前的状态，继续尝试其它候选。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回溯分析法的分析效率是非常低的。特别是当匹配失败发生在多级试探后，逐级回溯的开销是令人难以忍受的。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852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引起回溯的原因</a:t>
            </a:r>
          </a:p>
        </p:txBody>
      </p:sp>
      <p:sp>
        <p:nvSpPr>
          <p:cNvPr id="47616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dirty="0"/>
              <a:t>1.	</a:t>
            </a:r>
            <a:r>
              <a:rPr lang="zh-CN" altLang="en-US" dirty="0"/>
              <a:t>存在公共左因子</a:t>
            </a:r>
          </a:p>
          <a:p>
            <a:pPr algn="just"/>
            <a:r>
              <a:rPr lang="en-US" altLang="zh-CN" dirty="0"/>
              <a:t>	A → αβ</a:t>
            </a:r>
            <a:r>
              <a:rPr lang="en-US" altLang="zh-CN" baseline="-25000" dirty="0"/>
              <a:t>1 </a:t>
            </a:r>
            <a:r>
              <a:rPr lang="en-US" altLang="zh-CN" dirty="0"/>
              <a:t>| αβ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endParaRPr lang="en-US" altLang="zh-CN" dirty="0"/>
          </a:p>
          <a:p>
            <a:pPr algn="just"/>
            <a:r>
              <a:rPr lang="en-US" altLang="zh-CN" dirty="0"/>
              <a:t>2.	</a:t>
            </a:r>
            <a:r>
              <a:rPr lang="zh-CN" altLang="en-US" dirty="0"/>
              <a:t>存在左递归</a:t>
            </a:r>
          </a:p>
          <a:p>
            <a:pPr algn="just"/>
            <a:r>
              <a:rPr lang="en-US" altLang="zh-CN" dirty="0"/>
              <a:t>	</a:t>
            </a:r>
            <a:r>
              <a:rPr lang="zh-CN" altLang="en-US" dirty="0"/>
              <a:t>直接左递归：</a:t>
            </a:r>
            <a:r>
              <a:rPr lang="en-US" altLang="zh-CN" dirty="0"/>
              <a:t>A → Aα</a:t>
            </a:r>
          </a:p>
          <a:p>
            <a:pPr algn="just"/>
            <a:r>
              <a:rPr lang="en-US" altLang="zh-CN" dirty="0"/>
              <a:t>	</a:t>
            </a:r>
            <a:r>
              <a:rPr lang="zh-CN" altLang="en-US" dirty="0"/>
              <a:t>间接左递归：</a:t>
            </a:r>
            <a:r>
              <a:rPr lang="en-US" altLang="zh-CN" dirty="0"/>
              <a:t>A → Bα </a:t>
            </a:r>
            <a:r>
              <a:rPr lang="zh-CN" altLang="en-US" dirty="0">
                <a:sym typeface="Symbol" pitchFamily="18" charset="2"/>
              </a:rPr>
              <a:t>和 </a:t>
            </a:r>
            <a:r>
              <a:rPr lang="en-US" altLang="zh-CN" dirty="0">
                <a:sym typeface="Symbol" pitchFamily="18" charset="2"/>
              </a:rPr>
              <a:t>B </a:t>
            </a:r>
            <a:r>
              <a:rPr lang="en-US" altLang="zh-CN" dirty="0"/>
              <a:t>→ Aβ </a:t>
            </a:r>
          </a:p>
          <a:p>
            <a:pPr algn="just"/>
            <a:r>
              <a:rPr lang="en-US" altLang="zh-CN" dirty="0"/>
              <a:t>3.	</a:t>
            </a:r>
            <a:r>
              <a:rPr lang="zh-CN" altLang="en-US" dirty="0"/>
              <a:t>其它</a:t>
            </a:r>
            <a:endParaRPr lang="en-US" altLang="zh-CN" dirty="0"/>
          </a:p>
          <a:p>
            <a:pPr algn="just"/>
            <a:r>
              <a:rPr lang="en-US" altLang="zh-CN" dirty="0"/>
              <a:t>	A → α | ε</a:t>
            </a:r>
          </a:p>
          <a:p>
            <a:pPr algn="just"/>
            <a:r>
              <a:rPr lang="en-US" altLang="zh-CN" dirty="0"/>
              <a:t>	A → Aα | Bβ</a:t>
            </a:r>
          </a:p>
        </p:txBody>
      </p:sp>
    </p:spTree>
    <p:extLst>
      <p:ext uri="{BB962C8B-B14F-4D97-AF65-F5344CB8AC3E}">
        <p14:creationId xmlns:p14="http://schemas.microsoft.com/office/powerpoint/2010/main" val="75127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简单形式：</a:t>
            </a:r>
            <a:r>
              <a:rPr lang="en-US" altLang="zh-CN" dirty="0"/>
              <a:t>	A → </a:t>
            </a:r>
            <a:r>
              <a:rPr lang="el-GR" altLang="zh-CN" dirty="0"/>
              <a:t>α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/>
              <a:t> | </a:t>
            </a:r>
            <a:r>
              <a:rPr lang="el-GR" altLang="zh-CN" dirty="0">
                <a:sym typeface="Symbol" pitchFamily="18" charset="2"/>
              </a:rPr>
              <a:t>αβ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| </a:t>
            </a:r>
            <a:r>
              <a:rPr lang="el-GR" altLang="zh-CN" dirty="0"/>
              <a:t>δ </a:t>
            </a:r>
            <a:endParaRPr lang="en-US" altLang="zh-CN" dirty="0"/>
          </a:p>
          <a:p>
            <a:r>
              <a:rPr lang="zh-CN" altLang="en-US" dirty="0"/>
              <a:t>改写为：</a:t>
            </a:r>
            <a:r>
              <a:rPr lang="en-US" altLang="zh-CN" dirty="0"/>
              <a:t>		A → 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dirty="0"/>
              <a:t>B | </a:t>
            </a:r>
            <a:r>
              <a:rPr lang="el-GR" altLang="zh-CN" dirty="0"/>
              <a:t>δ </a:t>
            </a:r>
            <a:endParaRPr lang="en-US" altLang="zh-CN" dirty="0"/>
          </a:p>
          <a:p>
            <a:r>
              <a:rPr lang="en-US" altLang="zh-CN" dirty="0"/>
              <a:t>				B →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/>
              <a:t>|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/>
              <a:t> </a:t>
            </a:r>
          </a:p>
          <a:p>
            <a:endParaRPr lang="zh-CN" altLang="en-US" dirty="0"/>
          </a:p>
          <a:p>
            <a:r>
              <a:rPr lang="zh-CN" altLang="en-US" dirty="0"/>
              <a:t>通用形式：</a:t>
            </a:r>
            <a:r>
              <a:rPr lang="en-US" altLang="zh-CN" dirty="0"/>
              <a:t>	A → </a:t>
            </a:r>
            <a:r>
              <a:rPr lang="el-GR" altLang="zh-CN" dirty="0">
                <a:sym typeface="Symbol" pitchFamily="18" charset="2"/>
              </a:rPr>
              <a:t>αβ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/>
              <a:t> | </a:t>
            </a:r>
            <a:r>
              <a:rPr lang="el-GR" altLang="zh-CN" dirty="0">
                <a:sym typeface="Symbol" pitchFamily="18" charset="2"/>
              </a:rPr>
              <a:t>αβ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/>
              <a:t> | ... | </a:t>
            </a:r>
            <a:r>
              <a:rPr lang="el-GR" altLang="zh-CN" dirty="0">
                <a:sym typeface="Symbol" pitchFamily="18" charset="2"/>
              </a:rPr>
              <a:t>αβ</a:t>
            </a:r>
            <a:r>
              <a:rPr lang="en-US" altLang="zh-CN" baseline="-25000" dirty="0">
                <a:sym typeface="Symbol" pitchFamily="18" charset="2"/>
              </a:rPr>
              <a:t>m</a:t>
            </a:r>
            <a:r>
              <a:rPr lang="en-US" altLang="zh-CN" dirty="0"/>
              <a:t> | </a:t>
            </a:r>
            <a:r>
              <a:rPr lang="el-GR" altLang="zh-CN" dirty="0"/>
              <a:t>δ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/>
              <a:t> | </a:t>
            </a:r>
            <a:r>
              <a:rPr lang="el-GR" altLang="zh-CN" dirty="0"/>
              <a:t>δ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 | ... | </a:t>
            </a:r>
            <a:r>
              <a:rPr lang="el-GR" altLang="zh-CN" dirty="0"/>
              <a:t>δ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改写为：</a:t>
            </a:r>
            <a:r>
              <a:rPr lang="en-US" altLang="zh-CN" dirty="0"/>
              <a:t>		A → 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dirty="0"/>
              <a:t>B | </a:t>
            </a:r>
            <a:r>
              <a:rPr lang="el-GR" altLang="zh-CN" dirty="0"/>
              <a:t>δ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/>
              <a:t> | </a:t>
            </a:r>
            <a:r>
              <a:rPr lang="el-GR" altLang="zh-CN" dirty="0"/>
              <a:t>δ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 | ... | </a:t>
            </a:r>
            <a:r>
              <a:rPr lang="el-GR" altLang="zh-CN" dirty="0"/>
              <a:t>δ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sz="2400" dirty="0"/>
              <a:t>			B →  </a:t>
            </a:r>
            <a:r>
              <a:rPr lang="el-GR" altLang="zh-CN" sz="2400" dirty="0">
                <a:sym typeface="Symbol" pitchFamily="18" charset="2"/>
              </a:rPr>
              <a:t>β</a:t>
            </a:r>
            <a:r>
              <a:rPr lang="en-US" altLang="zh-CN" sz="2400" baseline="-25000" dirty="0">
                <a:sym typeface="Symbol" pitchFamily="18" charset="2"/>
              </a:rPr>
              <a:t>1</a:t>
            </a:r>
            <a:r>
              <a:rPr lang="en-US" altLang="zh-CN" sz="2400" dirty="0"/>
              <a:t>| </a:t>
            </a:r>
            <a:r>
              <a:rPr lang="el-GR" altLang="zh-CN" sz="2400" dirty="0">
                <a:sym typeface="Symbol" pitchFamily="18" charset="2"/>
              </a:rPr>
              <a:t>β</a:t>
            </a:r>
            <a:r>
              <a:rPr lang="en-US" altLang="zh-CN" sz="2400" baseline="-25000" dirty="0">
                <a:sym typeface="Symbol" pitchFamily="18" charset="2"/>
              </a:rPr>
              <a:t>2</a:t>
            </a:r>
            <a:r>
              <a:rPr lang="en-US" altLang="zh-CN" sz="2400" dirty="0"/>
              <a:t>| ... |</a:t>
            </a:r>
            <a:r>
              <a:rPr lang="el-GR" altLang="zh-CN" sz="2400" dirty="0">
                <a:sym typeface="Symbol" pitchFamily="18" charset="2"/>
              </a:rPr>
              <a:t>β</a:t>
            </a:r>
            <a:r>
              <a:rPr lang="en-US" altLang="zh-CN" sz="2400" baseline="-25000" dirty="0">
                <a:sym typeface="Symbol" pitchFamily="18" charset="2"/>
              </a:rPr>
              <a:t>m</a:t>
            </a:r>
            <a:r>
              <a:rPr lang="en-US" altLang="zh-CN" sz="2400" dirty="0"/>
              <a:t> </a:t>
            </a:r>
          </a:p>
        </p:txBody>
      </p:sp>
      <p:sp>
        <p:nvSpPr>
          <p:cNvPr id="4792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消除公共左因子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312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文法：</a:t>
            </a:r>
            <a:r>
              <a:rPr lang="en-US" altLang="zh-CN" dirty="0"/>
              <a:t>	S → </a:t>
            </a:r>
            <a:r>
              <a:rPr lang="en-US" altLang="zh-CN" dirty="0" err="1"/>
              <a:t>xAy</a:t>
            </a:r>
            <a:br>
              <a:rPr lang="en-US" altLang="zh-CN" dirty="0"/>
            </a:br>
            <a:r>
              <a:rPr lang="en-US" altLang="zh-CN" dirty="0"/>
              <a:t>			A → ab | a       </a:t>
            </a:r>
          </a:p>
          <a:p>
            <a:endParaRPr lang="en-US" altLang="zh-CN" dirty="0"/>
          </a:p>
          <a:p>
            <a:r>
              <a:rPr lang="zh-CN" altLang="en-US" dirty="0"/>
              <a:t>改写为：</a:t>
            </a:r>
            <a:r>
              <a:rPr lang="en-US" altLang="zh-CN" dirty="0"/>
              <a:t>	S → </a:t>
            </a:r>
            <a:r>
              <a:rPr lang="en-US" altLang="zh-CN" dirty="0" err="1"/>
              <a:t>xAy</a:t>
            </a:r>
            <a:endParaRPr lang="en-US" altLang="zh-CN" dirty="0"/>
          </a:p>
          <a:p>
            <a:r>
              <a:rPr lang="en-US" altLang="zh-CN" dirty="0"/>
              <a:t>			A → </a:t>
            </a:r>
            <a:r>
              <a:rPr lang="en-US" altLang="zh-CN" dirty="0" err="1"/>
              <a:t>aB</a:t>
            </a:r>
            <a:endParaRPr lang="en-US" altLang="zh-CN" dirty="0"/>
          </a:p>
          <a:p>
            <a:r>
              <a:rPr lang="en-US" altLang="zh-CN" dirty="0"/>
              <a:t>			B → b | </a:t>
            </a:r>
            <a:r>
              <a:rPr lang="el-GR" altLang="zh-CN" dirty="0">
                <a:sym typeface="Symbol" pitchFamily="18" charset="2"/>
              </a:rPr>
              <a:t>ε</a:t>
            </a:r>
            <a:endParaRPr lang="en-US" altLang="zh-CN" dirty="0">
              <a:sym typeface="Symbol" pitchFamily="18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36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0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0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02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58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简单形式：</a:t>
            </a:r>
            <a:r>
              <a:rPr lang="en-US" altLang="zh-CN" dirty="0"/>
              <a:t>	A → Aα | β</a:t>
            </a:r>
          </a:p>
          <a:p>
            <a:r>
              <a:rPr lang="zh-CN" altLang="en-US" dirty="0"/>
              <a:t>改写为：</a:t>
            </a:r>
            <a:r>
              <a:rPr lang="en-US" altLang="zh-CN" dirty="0"/>
              <a:t>		A →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dirty="0">
                <a:sym typeface="Symbol" pitchFamily="18" charset="2"/>
              </a:rPr>
              <a:t>A</a:t>
            </a:r>
            <a:r>
              <a:rPr lang="el-GR" altLang="zh-CN" dirty="0"/>
              <a:t>'</a:t>
            </a:r>
            <a:endParaRPr lang="en-US" altLang="zh-CN" dirty="0"/>
          </a:p>
          <a:p>
            <a:r>
              <a:rPr lang="en-US" altLang="zh-CN" dirty="0">
                <a:sym typeface="Symbol" pitchFamily="18" charset="2"/>
              </a:rPr>
              <a:t>				A</a:t>
            </a:r>
            <a:r>
              <a:rPr lang="el-GR" altLang="zh-CN" dirty="0"/>
              <a:t>'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αA</a:t>
            </a:r>
            <a:r>
              <a:rPr lang="el-GR" altLang="zh-CN" dirty="0"/>
              <a:t>'</a:t>
            </a:r>
            <a:r>
              <a:rPr lang="en-US" altLang="zh-CN" dirty="0"/>
              <a:t> | ε</a:t>
            </a:r>
          </a:p>
          <a:p>
            <a:endParaRPr lang="en-US" altLang="zh-CN" dirty="0"/>
          </a:p>
          <a:p>
            <a:r>
              <a:rPr lang="zh-CN" altLang="en-US" dirty="0"/>
              <a:t>通用形式：</a:t>
            </a:r>
            <a:r>
              <a:rPr lang="en-US" altLang="zh-CN" dirty="0"/>
              <a:t>	A → A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 | </a:t>
            </a:r>
            <a:r>
              <a:rPr lang="en-US" altLang="zh-CN" dirty="0"/>
              <a:t>A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| … | A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baseline="-25000" dirty="0">
                <a:sym typeface="Symbol" pitchFamily="18" charset="2"/>
              </a:rPr>
              <a:t>m</a:t>
            </a:r>
            <a:r>
              <a:rPr lang="en-US" altLang="zh-CN" dirty="0">
                <a:sym typeface="Symbol" pitchFamily="18" charset="2"/>
              </a:rPr>
              <a:t> |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 |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| … |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     </a:t>
            </a:r>
          </a:p>
          <a:p>
            <a:r>
              <a:rPr lang="zh-CN" altLang="en-US" dirty="0"/>
              <a:t>改写为：</a:t>
            </a:r>
            <a:r>
              <a:rPr lang="en-US" altLang="zh-CN" dirty="0"/>
              <a:t>		A →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 err="1">
                <a:sym typeface="Symbol" pitchFamily="18" charset="2"/>
              </a:rPr>
              <a:t>1</a:t>
            </a:r>
            <a:r>
              <a:rPr lang="en-US" altLang="zh-CN" dirty="0" err="1"/>
              <a:t>A</a:t>
            </a:r>
            <a:r>
              <a:rPr lang="el-GR" altLang="zh-CN" dirty="0"/>
              <a:t>'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|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 err="1">
                <a:sym typeface="Symbol" pitchFamily="18" charset="2"/>
              </a:rPr>
              <a:t>2</a:t>
            </a:r>
            <a:r>
              <a:rPr lang="en-US" altLang="zh-CN" dirty="0" err="1"/>
              <a:t>A</a:t>
            </a:r>
            <a:r>
              <a:rPr lang="el-GR" altLang="zh-CN" dirty="0"/>
              <a:t>'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| </a:t>
            </a:r>
            <a:r>
              <a:rPr lang="en-US" altLang="zh-CN" dirty="0">
                <a:sym typeface="Symbol" pitchFamily="18" charset="2"/>
              </a:rPr>
              <a:t>… </a:t>
            </a:r>
            <a:r>
              <a:rPr lang="en-US" altLang="zh-CN" dirty="0"/>
              <a:t>| </a:t>
            </a:r>
            <a:r>
              <a:rPr lang="el-GR" altLang="zh-CN" dirty="0">
                <a:sym typeface="Symbol" pitchFamily="18" charset="2"/>
              </a:rPr>
              <a:t>β</a:t>
            </a:r>
            <a:r>
              <a:rPr lang="en-US" altLang="zh-CN" baseline="-25000" dirty="0" err="1">
                <a:sym typeface="Symbol" pitchFamily="18" charset="2"/>
              </a:rPr>
              <a:t>n</a:t>
            </a:r>
            <a:r>
              <a:rPr lang="en-US" altLang="zh-CN" dirty="0" err="1"/>
              <a:t>A</a:t>
            </a:r>
            <a:r>
              <a:rPr lang="el-GR" altLang="zh-CN" dirty="0"/>
              <a:t>'</a:t>
            </a:r>
            <a:r>
              <a:rPr lang="en-US" altLang="zh-CN" dirty="0">
                <a:sym typeface="Symbol" pitchFamily="18" charset="2"/>
              </a:rPr>
              <a:t> </a:t>
            </a:r>
            <a:endParaRPr lang="en-US" altLang="zh-CN" dirty="0"/>
          </a:p>
          <a:p>
            <a:r>
              <a:rPr lang="en-US" altLang="zh-CN" dirty="0"/>
              <a:t>				A</a:t>
            </a:r>
            <a:r>
              <a:rPr lang="el-GR" altLang="zh-CN" dirty="0"/>
              <a:t>'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baseline="-25000" dirty="0" err="1">
                <a:sym typeface="Symbol" pitchFamily="18" charset="2"/>
              </a:rPr>
              <a:t>1</a:t>
            </a:r>
            <a:r>
              <a:rPr lang="en-US" altLang="zh-CN" dirty="0" err="1"/>
              <a:t>A</a:t>
            </a:r>
            <a:r>
              <a:rPr lang="el-GR" altLang="zh-CN" dirty="0"/>
              <a:t>'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|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baseline="-25000" dirty="0" err="1">
                <a:sym typeface="Symbol" pitchFamily="18" charset="2"/>
              </a:rPr>
              <a:t>2</a:t>
            </a:r>
            <a:r>
              <a:rPr lang="en-US" altLang="zh-CN" dirty="0" err="1"/>
              <a:t>A</a:t>
            </a:r>
            <a:r>
              <a:rPr lang="el-GR" altLang="zh-CN" dirty="0"/>
              <a:t>'</a:t>
            </a:r>
            <a:r>
              <a:rPr lang="en-US" altLang="zh-CN" dirty="0"/>
              <a:t> | </a:t>
            </a:r>
            <a:r>
              <a:rPr lang="en-US" altLang="zh-CN" dirty="0">
                <a:sym typeface="Symbol" pitchFamily="18" charset="2"/>
              </a:rPr>
              <a:t>… </a:t>
            </a:r>
            <a:r>
              <a:rPr lang="en-US" altLang="zh-CN" dirty="0"/>
              <a:t>| </a:t>
            </a:r>
            <a:r>
              <a:rPr lang="el-GR" altLang="zh-CN" dirty="0">
                <a:sym typeface="Symbol" pitchFamily="18" charset="2"/>
              </a:rPr>
              <a:t>α</a:t>
            </a:r>
            <a:r>
              <a:rPr lang="en-US" altLang="zh-CN" baseline="-25000" dirty="0">
                <a:sym typeface="Symbol" pitchFamily="18" charset="2"/>
              </a:rPr>
              <a:t>m</a:t>
            </a:r>
            <a:r>
              <a:rPr lang="en-US" altLang="zh-CN" dirty="0"/>
              <a:t>A</a:t>
            </a:r>
            <a:r>
              <a:rPr lang="el-GR" altLang="zh-CN" dirty="0"/>
              <a:t>'</a:t>
            </a:r>
            <a:r>
              <a:rPr lang="en-US" altLang="zh-CN" dirty="0"/>
              <a:t> | ε</a:t>
            </a:r>
          </a:p>
        </p:txBody>
      </p:sp>
      <p:sp>
        <p:nvSpPr>
          <p:cNvPr id="4812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消除直接左递归</a:t>
            </a:r>
          </a:p>
        </p:txBody>
      </p:sp>
    </p:spTree>
    <p:extLst>
      <p:ext uri="{BB962C8B-B14F-4D97-AF65-F5344CB8AC3E}">
        <p14:creationId xmlns:p14="http://schemas.microsoft.com/office/powerpoint/2010/main" val="350367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存在间接左递归的产生式：</a:t>
            </a:r>
          </a:p>
          <a:p>
            <a:r>
              <a:rPr lang="en-US" altLang="zh-CN" dirty="0"/>
              <a:t>		A</a:t>
            </a:r>
            <a:r>
              <a:rPr lang="en-US" altLang="zh-CN" baseline="-25000" dirty="0"/>
              <a:t>1</a:t>
            </a:r>
            <a:r>
              <a:rPr lang="en-US" altLang="zh-CN" dirty="0"/>
              <a:t> →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2</a:t>
            </a:r>
            <a:r>
              <a:rPr lang="en-US" altLang="zh-CN" dirty="0"/>
              <a:t> α</a:t>
            </a:r>
            <a:endParaRPr lang="en-US" altLang="zh-CN" dirty="0">
              <a:sym typeface="Symbol" pitchFamily="18" charset="2"/>
            </a:endParaRPr>
          </a:p>
          <a:p>
            <a:r>
              <a:rPr lang="en-US" altLang="zh-CN" dirty="0">
                <a:sym typeface="Symbol" pitchFamily="18" charset="2"/>
              </a:rPr>
              <a:t>		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3</a:t>
            </a:r>
            <a:r>
              <a:rPr lang="en-US" altLang="zh-CN" dirty="0"/>
              <a:t> </a:t>
            </a:r>
            <a:r>
              <a:rPr lang="el-GR" altLang="zh-CN" dirty="0"/>
              <a:t>β</a:t>
            </a:r>
            <a:endParaRPr lang="en-US" altLang="zh-CN" dirty="0">
              <a:sym typeface="Symbol" pitchFamily="18" charset="2"/>
            </a:endParaRPr>
          </a:p>
          <a:p>
            <a:r>
              <a:rPr lang="en-US" altLang="zh-CN" dirty="0">
                <a:sym typeface="Symbol" pitchFamily="18" charset="2"/>
              </a:rPr>
              <a:t>		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A</a:t>
            </a:r>
            <a:r>
              <a:rPr lang="en-US" altLang="zh-CN" baseline="-25000" dirty="0"/>
              <a:t>1</a:t>
            </a:r>
            <a:r>
              <a:rPr lang="en-US" altLang="zh-CN" dirty="0"/>
              <a:t> </a:t>
            </a:r>
            <a:r>
              <a:rPr lang="el-GR" altLang="zh-CN" dirty="0"/>
              <a:t>γ</a:t>
            </a:r>
            <a:endParaRPr lang="en-US" altLang="zh-CN" dirty="0"/>
          </a:p>
          <a:p>
            <a:r>
              <a:rPr lang="zh-CN" altLang="en-US" dirty="0"/>
              <a:t>消除间接左递归的方法：</a:t>
            </a:r>
            <a:endParaRPr lang="en-US" altLang="zh-CN" dirty="0"/>
          </a:p>
          <a:p>
            <a:r>
              <a:rPr lang="en-US" altLang="zh-CN" dirty="0">
                <a:sym typeface="Symbol" pitchFamily="18" charset="2"/>
              </a:rPr>
              <a:t>		</a:t>
            </a:r>
            <a:r>
              <a:rPr lang="zh-CN" altLang="en-US" dirty="0">
                <a:sym typeface="Symbol" pitchFamily="18" charset="2"/>
              </a:rPr>
              <a:t>将 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</a:t>
            </a:r>
            <a:r>
              <a:rPr lang="en-US" altLang="zh-CN" dirty="0">
                <a:solidFill>
                  <a:srgbClr val="EE853E"/>
                </a:solidFill>
              </a:rPr>
              <a:t>A</a:t>
            </a:r>
            <a:r>
              <a:rPr lang="en-US" altLang="zh-CN" baseline="-25000" dirty="0">
                <a:solidFill>
                  <a:srgbClr val="EE853E"/>
                </a:solidFill>
              </a:rPr>
              <a:t>1 </a:t>
            </a:r>
            <a:r>
              <a:rPr lang="el-GR" altLang="zh-CN" dirty="0"/>
              <a:t>γ</a:t>
            </a:r>
            <a:r>
              <a:rPr lang="en-US" altLang="zh-CN" dirty="0"/>
              <a:t>  </a:t>
            </a:r>
            <a:r>
              <a:rPr lang="zh-CN" altLang="en-US" dirty="0"/>
              <a:t>改写为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</a:t>
            </a:r>
            <a:r>
              <a:rPr lang="en-US" altLang="zh-CN" dirty="0" err="1">
                <a:solidFill>
                  <a:srgbClr val="EE853E"/>
                </a:solidFill>
              </a:rPr>
              <a:t>A</a:t>
            </a:r>
            <a:r>
              <a:rPr lang="en-US" altLang="zh-CN" baseline="-25000" dirty="0" err="1">
                <a:solidFill>
                  <a:srgbClr val="EE853E"/>
                </a:solidFill>
              </a:rPr>
              <a:t>2</a:t>
            </a:r>
            <a:r>
              <a:rPr lang="en-US" altLang="zh-CN" dirty="0">
                <a:solidFill>
                  <a:srgbClr val="EE853E"/>
                </a:solidFill>
              </a:rPr>
              <a:t> α</a:t>
            </a:r>
            <a:r>
              <a:rPr lang="en-US" altLang="zh-CN" dirty="0"/>
              <a:t> </a:t>
            </a:r>
            <a:r>
              <a:rPr lang="el-GR" altLang="zh-CN" dirty="0"/>
              <a:t>γ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zh-CN" altLang="en-US" dirty="0"/>
              <a:t>将 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</a:t>
            </a:r>
            <a:r>
              <a:rPr lang="en-US" altLang="zh-CN" dirty="0" err="1">
                <a:solidFill>
                  <a:srgbClr val="EE853E"/>
                </a:solidFill>
              </a:rPr>
              <a:t>A</a:t>
            </a:r>
            <a:r>
              <a:rPr lang="en-US" altLang="zh-CN" baseline="-25000" dirty="0" err="1">
                <a:solidFill>
                  <a:srgbClr val="EE853E"/>
                </a:solidFill>
              </a:rPr>
              <a:t>2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/>
              <a:t>α </a:t>
            </a:r>
            <a:r>
              <a:rPr lang="el-GR" altLang="zh-CN" dirty="0"/>
              <a:t>γ </a:t>
            </a:r>
            <a:r>
              <a:rPr lang="en-US" altLang="zh-CN" dirty="0"/>
              <a:t> </a:t>
            </a:r>
            <a:r>
              <a:rPr lang="zh-CN" altLang="en-US" dirty="0"/>
              <a:t>改写为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</a:t>
            </a:r>
            <a:r>
              <a:rPr lang="en-US" altLang="zh-CN" dirty="0" err="1">
                <a:solidFill>
                  <a:srgbClr val="EE853E"/>
                </a:solidFill>
              </a:rPr>
              <a:t>A</a:t>
            </a:r>
            <a:r>
              <a:rPr lang="en-US" altLang="zh-CN" baseline="-25000" dirty="0" err="1">
                <a:solidFill>
                  <a:srgbClr val="EE853E"/>
                </a:solidFill>
              </a:rPr>
              <a:t>3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l-GR" altLang="zh-CN" dirty="0">
                <a:solidFill>
                  <a:srgbClr val="EE853E"/>
                </a:solidFill>
              </a:rPr>
              <a:t>β</a:t>
            </a:r>
            <a:r>
              <a:rPr lang="el-GR" altLang="zh-CN" dirty="0"/>
              <a:t> </a:t>
            </a:r>
            <a:r>
              <a:rPr lang="en-US" altLang="zh-CN" dirty="0"/>
              <a:t>α </a:t>
            </a:r>
            <a:r>
              <a:rPr lang="el-GR" altLang="zh-CN" dirty="0"/>
              <a:t>γ</a:t>
            </a:r>
            <a:endParaRPr lang="en-US" altLang="zh-CN" dirty="0"/>
          </a:p>
          <a:p>
            <a:r>
              <a:rPr lang="en-US" altLang="zh-CN" dirty="0"/>
              <a:t>		</a:t>
            </a:r>
            <a:r>
              <a:rPr lang="zh-CN" altLang="en-US" dirty="0"/>
              <a:t>将 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 </a:t>
            </a:r>
            <a:r>
              <a:rPr lang="en-US" altLang="zh-CN" dirty="0"/>
              <a:t>→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3</a:t>
            </a:r>
            <a:r>
              <a:rPr lang="en-US" altLang="zh-CN" dirty="0"/>
              <a:t> </a:t>
            </a:r>
            <a:r>
              <a:rPr lang="el-GR" altLang="zh-CN" dirty="0"/>
              <a:t>β </a:t>
            </a:r>
            <a:r>
              <a:rPr lang="en-US" altLang="zh-CN" dirty="0"/>
              <a:t>α </a:t>
            </a:r>
            <a:r>
              <a:rPr lang="el-GR" altLang="zh-CN" dirty="0"/>
              <a:t>γ</a:t>
            </a:r>
            <a:r>
              <a:rPr lang="en-US" altLang="zh-CN" dirty="0"/>
              <a:t> </a:t>
            </a:r>
            <a:r>
              <a:rPr lang="zh-CN" altLang="en-US" dirty="0"/>
              <a:t>中的直接左递归消除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消除间接左递归</a:t>
            </a: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6EF8E99A-C4F5-4F4C-B4AF-4FC74090B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816" y="1500587"/>
            <a:ext cx="5421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7E9D54FB-DEFD-4679-8448-1622B2D10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816" y="2722521"/>
            <a:ext cx="5421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5A978AF1-593C-469A-B001-748316679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816" y="3944455"/>
            <a:ext cx="5421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箭头: 左弧形 1">
            <a:extLst>
              <a:ext uri="{FF2B5EF4-FFF2-40B4-BE49-F238E27FC236}">
                <a16:creationId xmlns:a16="http://schemas.microsoft.com/office/drawing/2014/main" id="{053AEE2F-5EF2-4D8F-8FDB-14027297E321}"/>
              </a:ext>
            </a:extLst>
          </p:cNvPr>
          <p:cNvSpPr/>
          <p:nvPr/>
        </p:nvSpPr>
        <p:spPr>
          <a:xfrm>
            <a:off x="8351520" y="1729739"/>
            <a:ext cx="571500" cy="1242061"/>
          </a:xfrm>
          <a:prstGeom prst="curved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箭头: 左弧形 7">
            <a:extLst>
              <a:ext uri="{FF2B5EF4-FFF2-40B4-BE49-F238E27FC236}">
                <a16:creationId xmlns:a16="http://schemas.microsoft.com/office/drawing/2014/main" id="{46C24937-B441-4824-AE52-9F58876B2BC9}"/>
              </a:ext>
            </a:extLst>
          </p:cNvPr>
          <p:cNvSpPr/>
          <p:nvPr/>
        </p:nvSpPr>
        <p:spPr>
          <a:xfrm>
            <a:off x="8351520" y="3003487"/>
            <a:ext cx="571500" cy="1171800"/>
          </a:xfrm>
          <a:prstGeom prst="curved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箭头: 左弧形 8">
            <a:extLst>
              <a:ext uri="{FF2B5EF4-FFF2-40B4-BE49-F238E27FC236}">
                <a16:creationId xmlns:a16="http://schemas.microsoft.com/office/drawing/2014/main" id="{A38651B0-B5D2-474C-8DFC-E24ECCAF158A}"/>
              </a:ext>
            </a:extLst>
          </p:cNvPr>
          <p:cNvSpPr/>
          <p:nvPr/>
        </p:nvSpPr>
        <p:spPr>
          <a:xfrm rot="10800000">
            <a:off x="9691148" y="1729738"/>
            <a:ext cx="571500" cy="2676378"/>
          </a:xfrm>
          <a:prstGeom prst="curved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箭头: 左弧形 9">
            <a:extLst>
              <a:ext uri="{FF2B5EF4-FFF2-40B4-BE49-F238E27FC236}">
                <a16:creationId xmlns:a16="http://schemas.microsoft.com/office/drawing/2014/main" id="{9A30D29E-2B63-4380-9298-E6E664B24FE8}"/>
              </a:ext>
            </a:extLst>
          </p:cNvPr>
          <p:cNvSpPr/>
          <p:nvPr/>
        </p:nvSpPr>
        <p:spPr>
          <a:xfrm rot="10800000">
            <a:off x="9691148" y="2971798"/>
            <a:ext cx="571500" cy="1434319"/>
          </a:xfrm>
          <a:prstGeom prst="curved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箭头: 左弧形 10">
            <a:extLst>
              <a:ext uri="{FF2B5EF4-FFF2-40B4-BE49-F238E27FC236}">
                <a16:creationId xmlns:a16="http://schemas.microsoft.com/office/drawing/2014/main" id="{70BCE54F-3E9C-4CF9-A141-F148F7698507}"/>
              </a:ext>
            </a:extLst>
          </p:cNvPr>
          <p:cNvSpPr/>
          <p:nvPr/>
        </p:nvSpPr>
        <p:spPr>
          <a:xfrm rot="10800000">
            <a:off x="9691148" y="3863339"/>
            <a:ext cx="571500" cy="542779"/>
          </a:xfrm>
          <a:prstGeom prst="curved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D8C67D36-2814-4622-B95A-BA2EDDA23A15}"/>
              </a:ext>
            </a:extLst>
          </p:cNvPr>
          <p:cNvSpPr/>
          <p:nvPr/>
        </p:nvSpPr>
        <p:spPr>
          <a:xfrm>
            <a:off x="4010029" y="2767546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2E07C9-83DD-420A-8E70-79F87FEB52BA}"/>
              </a:ext>
            </a:extLst>
          </p:cNvPr>
          <p:cNvSpPr/>
          <p:nvPr/>
        </p:nvSpPr>
        <p:spPr>
          <a:xfrm>
            <a:off x="4620258" y="2686903"/>
            <a:ext cx="29402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γ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…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81638E33-311A-4366-B366-C41A37BCB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56360" y="2910590"/>
            <a:ext cx="230886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A42DC4-BFFA-4649-8ECE-E69AFF927993}"/>
              </a:ext>
            </a:extLst>
          </p:cNvPr>
          <p:cNvSpPr/>
          <p:nvPr/>
        </p:nvSpPr>
        <p:spPr>
          <a:xfrm>
            <a:off x="4604192" y="2671192"/>
            <a:ext cx="1968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→ </a:t>
            </a:r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 α </a:t>
            </a:r>
            <a:r>
              <a:rPr lang="el-GR" altLang="zh-CN" sz="2400" b="1" dirty="0">
                <a:solidFill>
                  <a:schemeClr val="bg1"/>
                </a:solidFill>
                <a:latin typeface="+mj-ea"/>
                <a:ea typeface="+mj-ea"/>
              </a:rPr>
              <a:t>γ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AF469C-4ACB-4710-90AD-E0C2BE014364}"/>
              </a:ext>
            </a:extLst>
          </p:cNvPr>
          <p:cNvSpPr/>
          <p:nvPr/>
        </p:nvSpPr>
        <p:spPr>
          <a:xfrm>
            <a:off x="4604192" y="2686903"/>
            <a:ext cx="2263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3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 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γ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524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2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2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2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823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306" grpId="0" uiExpand="1" build="p"/>
      <p:bldP spid="5" grpId="0"/>
      <p:bldP spid="6" grpId="0"/>
      <p:bldP spid="7" grpId="0"/>
      <p:bldP spid="2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3" grpId="0"/>
      <p:bldP spid="14" grpId="0" animBg="1"/>
      <p:bldP spid="17" grpId="0"/>
      <p:bldP spid="17" grpId="1"/>
      <p:bldP spid="18" grpId="0"/>
      <p:bldP spid="1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3A17795-C366-49C5-BAE9-B349C1708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存在间接左递归的产生式：</a:t>
            </a:r>
          </a:p>
          <a:p>
            <a:r>
              <a:rPr lang="en-US" altLang="zh-CN" dirty="0"/>
              <a:t>		A</a:t>
            </a:r>
            <a:r>
              <a:rPr lang="en-US" altLang="zh-CN" baseline="-25000" dirty="0"/>
              <a:t>1</a:t>
            </a:r>
            <a:r>
              <a:rPr lang="en-US" altLang="zh-CN" dirty="0"/>
              <a:t> → …</a:t>
            </a:r>
          </a:p>
          <a:p>
            <a:r>
              <a:rPr lang="en-US" altLang="zh-CN" dirty="0"/>
              <a:t>		…</a:t>
            </a:r>
          </a:p>
          <a:p>
            <a:r>
              <a:rPr lang="en-US" altLang="zh-CN" dirty="0"/>
              <a:t>		A</a:t>
            </a:r>
            <a:r>
              <a:rPr lang="en-US" altLang="zh-CN" baseline="-25000" dirty="0"/>
              <a:t>i</a:t>
            </a:r>
            <a:r>
              <a:rPr lang="en-US" altLang="zh-CN" dirty="0"/>
              <a:t> →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j</a:t>
            </a:r>
            <a:r>
              <a:rPr lang="en-US" altLang="zh-CN" baseline="-25000" dirty="0"/>
              <a:t> </a:t>
            </a:r>
            <a:r>
              <a:rPr lang="en-US" altLang="zh-CN" dirty="0"/>
              <a:t>… </a:t>
            </a:r>
          </a:p>
          <a:p>
            <a:r>
              <a:rPr lang="en-US" altLang="zh-CN" dirty="0"/>
              <a:t>		…</a:t>
            </a:r>
          </a:p>
          <a:p>
            <a:r>
              <a:rPr lang="en-US" altLang="zh-CN" dirty="0"/>
              <a:t>		A</a:t>
            </a:r>
            <a:r>
              <a:rPr lang="en-US" altLang="zh-CN" baseline="-25000" dirty="0"/>
              <a:t>n</a:t>
            </a:r>
            <a:r>
              <a:rPr lang="en-US" altLang="zh-CN" dirty="0"/>
              <a:t> → …</a:t>
            </a:r>
          </a:p>
          <a:p>
            <a:r>
              <a:rPr lang="zh-CN" altLang="en-US" dirty="0"/>
              <a:t>符合 </a:t>
            </a:r>
            <a:r>
              <a:rPr lang="en-US" altLang="zh-CN" dirty="0" err="1"/>
              <a:t>i</a:t>
            </a:r>
            <a:r>
              <a:rPr lang="en-US" altLang="zh-CN" dirty="0"/>
              <a:t> &gt; j </a:t>
            </a:r>
            <a:r>
              <a:rPr lang="zh-CN" altLang="en-US" dirty="0"/>
              <a:t>这个条件的取值范围：</a:t>
            </a:r>
            <a:endParaRPr lang="en-US" altLang="zh-CN" dirty="0"/>
          </a:p>
          <a:p>
            <a:r>
              <a:rPr lang="en-US" altLang="zh-CN" dirty="0"/>
              <a:t>		 </a:t>
            </a:r>
            <a:r>
              <a:rPr lang="en-US" altLang="zh-CN" dirty="0" err="1"/>
              <a:t>i</a:t>
            </a:r>
            <a:r>
              <a:rPr lang="zh-CN" altLang="en-US" dirty="0"/>
              <a:t>：</a:t>
            </a:r>
            <a:r>
              <a:rPr lang="en-US" altLang="zh-CN" dirty="0"/>
              <a:t>from 2 to n </a:t>
            </a:r>
          </a:p>
          <a:p>
            <a:r>
              <a:rPr lang="en-US" altLang="zh-CN" dirty="0"/>
              <a:t>		 j</a:t>
            </a:r>
            <a:r>
              <a:rPr lang="zh-CN" altLang="en-US" dirty="0"/>
              <a:t>：</a:t>
            </a:r>
            <a:r>
              <a:rPr lang="en-US" altLang="zh-CN" dirty="0"/>
              <a:t>from 1 to </a:t>
            </a:r>
            <a:r>
              <a:rPr lang="en-US" altLang="zh-CN" dirty="0" err="1"/>
              <a:t>i</a:t>
            </a:r>
            <a:r>
              <a:rPr lang="en-US" altLang="zh-CN" dirty="0"/>
              <a:t>-1 </a:t>
            </a:r>
          </a:p>
          <a:p>
            <a:r>
              <a:rPr lang="en-US" altLang="zh-CN" dirty="0"/>
              <a:t>			</a:t>
            </a:r>
          </a:p>
          <a:p>
            <a:r>
              <a:rPr lang="en-US" altLang="zh-CN" dirty="0"/>
              <a:t>		</a:t>
            </a:r>
          </a:p>
          <a:p>
            <a:r>
              <a:rPr lang="en-US" altLang="zh-CN" dirty="0"/>
              <a:t>		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E538DB5-0155-448D-A353-DE7A76BE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消除间接左递归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1659FFA6-5B33-403F-AA97-E9380FAE6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710" y="1065293"/>
            <a:ext cx="5421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2753CEBE-9A2E-4514-86E2-D8ED76E0D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4572" y="2457875"/>
            <a:ext cx="4780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 err="1">
                <a:solidFill>
                  <a:schemeClr val="bg1"/>
                </a:solidFill>
                <a:latin typeface="+mj-ea"/>
                <a:ea typeface="+mj-ea"/>
              </a:rPr>
              <a:t>j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BB90EBA6-57C7-4634-9D74-543BFCAC4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770" y="3850457"/>
            <a:ext cx="4764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箭头: 左弧形 8">
            <a:extLst>
              <a:ext uri="{FF2B5EF4-FFF2-40B4-BE49-F238E27FC236}">
                <a16:creationId xmlns:a16="http://schemas.microsoft.com/office/drawing/2014/main" id="{14F4C3A7-84C1-4344-A951-A539CC58DB46}"/>
              </a:ext>
            </a:extLst>
          </p:cNvPr>
          <p:cNvSpPr/>
          <p:nvPr/>
        </p:nvSpPr>
        <p:spPr>
          <a:xfrm rot="10800000">
            <a:off x="8723408" y="2522220"/>
            <a:ext cx="571500" cy="1714500"/>
          </a:xfrm>
          <a:prstGeom prst="curved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86857BF7-7BF5-4184-91F0-299FD60B2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79" y="4546748"/>
            <a:ext cx="553998" cy="38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6F3F8E28-2FAA-4494-9AF5-B1E0EA47D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504" y="5243040"/>
            <a:ext cx="548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r>
              <a:rPr lang="en-US" altLang="zh-CN" sz="2400" b="1" baseline="-25000" dirty="0">
                <a:solidFill>
                  <a:schemeClr val="bg1"/>
                </a:solidFill>
                <a:latin typeface="+mj-ea"/>
                <a:ea typeface="+mj-ea"/>
              </a:rPr>
              <a:t>n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Box 18">
            <a:extLst>
              <a:ext uri="{FF2B5EF4-FFF2-40B4-BE49-F238E27FC236}">
                <a16:creationId xmlns:a16="http://schemas.microsoft.com/office/drawing/2014/main" id="{80204577-5AA4-476B-B94D-1B19884CF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79" y="1761584"/>
            <a:ext cx="553998" cy="388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7F965F5B-7FA4-438B-90C2-58FDD4548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79" y="3154166"/>
            <a:ext cx="553998" cy="38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…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712ADC28-FA0E-43FB-9A2C-49DECA9F5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6892" y="3116979"/>
            <a:ext cx="276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 err="1">
                <a:solidFill>
                  <a:schemeClr val="bg1"/>
                </a:solidFill>
                <a:latin typeface="+mj-ea"/>
                <a:ea typeface="+mj-ea"/>
              </a:rPr>
              <a:t>i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 Box 18">
            <a:extLst>
              <a:ext uri="{FF2B5EF4-FFF2-40B4-BE49-F238E27FC236}">
                <a16:creationId xmlns:a16="http://schemas.microsoft.com/office/drawing/2014/main" id="{8B024F96-B707-4053-BA64-851D408B3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7594" y="3117819"/>
            <a:ext cx="4187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&gt;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30CF56C4-A435-4FDF-8329-EF4D4F864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4056" y="3116979"/>
            <a:ext cx="3305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?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59F9C33D-AF74-4790-84C2-35ECAB8CB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8083" y="3116979"/>
            <a:ext cx="2776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j</a:t>
            </a:r>
            <a:endParaRPr kumimoji="1" lang="en-US" altLang="zh-CN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3555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  <p:bldP spid="18" grpId="0"/>
      <p:bldP spid="19" grpId="0"/>
      <p:bldP spid="19" grpId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	</a:t>
            </a:r>
            <a:r>
              <a:rPr lang="zh-CN" altLang="en-US" dirty="0"/>
              <a:t>将所有非终结符按一定的顺序排列（设为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n</a:t>
            </a:r>
            <a:r>
              <a:rPr lang="zh-CN" altLang="en-US" dirty="0"/>
              <a:t>）；</a:t>
            </a:r>
            <a:endParaRPr lang="en-US" altLang="zh-CN" dirty="0"/>
          </a:p>
          <a:p>
            <a:r>
              <a:rPr lang="en-US" altLang="zh-CN" dirty="0"/>
              <a:t>2.	for </a:t>
            </a:r>
            <a:r>
              <a:rPr lang="en-US" altLang="zh-CN" dirty="0" err="1"/>
              <a:t>i</a:t>
            </a:r>
            <a:r>
              <a:rPr lang="en-US" altLang="zh-CN" dirty="0"/>
              <a:t>=2 to n do</a:t>
            </a:r>
          </a:p>
          <a:p>
            <a:r>
              <a:rPr lang="en-US" altLang="zh-CN" dirty="0"/>
              <a:t>		for j=1 to i-1 do</a:t>
            </a:r>
          </a:p>
          <a:p>
            <a:r>
              <a:rPr lang="en-US" altLang="zh-CN" dirty="0"/>
              <a:t>			2.1	</a:t>
            </a:r>
            <a:r>
              <a:rPr lang="zh-CN" altLang="en-US" dirty="0"/>
              <a:t>如果有产生式：</a:t>
            </a:r>
            <a:r>
              <a:rPr lang="en-US" altLang="zh-CN" dirty="0">
                <a:solidFill>
                  <a:srgbClr val="EE853E"/>
                </a:solidFill>
              </a:rPr>
              <a:t>A</a:t>
            </a:r>
            <a:r>
              <a:rPr lang="en-US" altLang="zh-CN" baseline="-25000" dirty="0">
                <a:solidFill>
                  <a:srgbClr val="EE853E"/>
                </a:solidFill>
              </a:rPr>
              <a:t>i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 </a:t>
            </a:r>
            <a:r>
              <a:rPr lang="en-US" altLang="zh-CN" dirty="0" err="1">
                <a:solidFill>
                  <a:srgbClr val="EE853E"/>
                </a:solidFill>
              </a:rPr>
              <a:t>A</a:t>
            </a:r>
            <a:r>
              <a:rPr lang="en-US" altLang="zh-CN" baseline="-25000" dirty="0" err="1">
                <a:solidFill>
                  <a:srgbClr val="EE853E"/>
                </a:solidFill>
              </a:rPr>
              <a:t>j</a:t>
            </a:r>
            <a:r>
              <a:rPr lang="en-US" altLang="zh-CN" baseline="-25000" dirty="0">
                <a:solidFill>
                  <a:srgbClr val="EE853E"/>
                </a:solidFill>
              </a:rPr>
              <a:t> </a:t>
            </a:r>
            <a:r>
              <a:rPr lang="en-US" altLang="zh-CN" dirty="0">
                <a:solidFill>
                  <a:srgbClr val="EE853E"/>
                </a:solidFill>
              </a:rPr>
              <a:t>α </a:t>
            </a:r>
            <a:r>
              <a:rPr lang="zh-CN" altLang="en-US" dirty="0"/>
              <a:t>，且 </a:t>
            </a:r>
            <a:r>
              <a:rPr lang="en-US" altLang="zh-CN" dirty="0" err="1">
                <a:sym typeface="Symbol" pitchFamily="18" charset="2"/>
              </a:rPr>
              <a:t>A</a:t>
            </a:r>
            <a:r>
              <a:rPr lang="en-US" altLang="zh-CN" baseline="-25000" dirty="0" err="1">
                <a:sym typeface="Symbol" pitchFamily="18" charset="2"/>
              </a:rPr>
              <a:t>j</a:t>
            </a:r>
            <a:r>
              <a:rPr lang="en-US" altLang="zh-CN" dirty="0">
                <a:sym typeface="Symbol" pitchFamily="18" charset="2"/>
              </a:rPr>
              <a:t>  </a:t>
            </a:r>
            <a:r>
              <a:rPr lang="el-GR" altLang="zh-CN" dirty="0"/>
              <a:t>β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 | </a:t>
            </a:r>
            <a:r>
              <a:rPr lang="el-GR" altLang="zh-CN" dirty="0"/>
              <a:t>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 | … | </a:t>
            </a:r>
            <a:r>
              <a:rPr lang="el-GR" altLang="zh-CN" dirty="0"/>
              <a:t>β</a:t>
            </a:r>
            <a:r>
              <a:rPr lang="en-US" altLang="zh-CN" baseline="-25000" dirty="0">
                <a:sym typeface="Symbol" pitchFamily="18" charset="2"/>
              </a:rPr>
              <a:t>k </a:t>
            </a:r>
            <a:endParaRPr lang="en-US" altLang="zh-CN" dirty="0"/>
          </a:p>
          <a:p>
            <a:r>
              <a:rPr lang="en-US" altLang="zh-CN" dirty="0"/>
              <a:t>					</a:t>
            </a:r>
            <a:r>
              <a:rPr lang="zh-CN" altLang="en-US" dirty="0"/>
              <a:t>则将其</a:t>
            </a:r>
            <a:r>
              <a:rPr lang="zh-CN" altLang="en-US" dirty="0">
                <a:sym typeface="Symbol" pitchFamily="18" charset="2"/>
              </a:rPr>
              <a:t>改写为：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A</a:t>
            </a:r>
            <a:r>
              <a:rPr lang="en-US" altLang="zh-CN" baseline="-25000" dirty="0">
                <a:solidFill>
                  <a:srgbClr val="EE853E"/>
                </a:solidFill>
                <a:sym typeface="Symbol" pitchFamily="18" charset="2"/>
              </a:rPr>
              <a:t>i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  </a:t>
            </a:r>
            <a:r>
              <a:rPr lang="el-GR" altLang="zh-CN" dirty="0">
                <a:solidFill>
                  <a:srgbClr val="EE853E"/>
                </a:solidFill>
              </a:rPr>
              <a:t>β</a:t>
            </a:r>
            <a:r>
              <a:rPr lang="en-US" altLang="zh-CN" baseline="-25000" dirty="0">
                <a:solidFill>
                  <a:srgbClr val="EE853E"/>
                </a:solidFill>
                <a:sym typeface="Symbol" pitchFamily="18" charset="2"/>
              </a:rPr>
              <a:t>1 </a:t>
            </a:r>
            <a:r>
              <a:rPr lang="en-US" altLang="zh-CN" dirty="0">
                <a:solidFill>
                  <a:srgbClr val="EE853E"/>
                </a:solidFill>
              </a:rPr>
              <a:t>α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 | </a:t>
            </a:r>
            <a:r>
              <a:rPr lang="el-GR" altLang="zh-CN" dirty="0">
                <a:solidFill>
                  <a:srgbClr val="EE853E"/>
                </a:solidFill>
              </a:rPr>
              <a:t>β</a:t>
            </a:r>
            <a:r>
              <a:rPr lang="en-US" altLang="zh-CN" baseline="-25000" dirty="0">
                <a:solidFill>
                  <a:srgbClr val="EE853E"/>
                </a:solidFill>
                <a:sym typeface="Symbol" pitchFamily="18" charset="2"/>
              </a:rPr>
              <a:t>2 </a:t>
            </a:r>
            <a:r>
              <a:rPr lang="en-US" altLang="zh-CN" dirty="0">
                <a:solidFill>
                  <a:srgbClr val="EE853E"/>
                </a:solidFill>
              </a:rPr>
              <a:t>α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 | … | </a:t>
            </a:r>
            <a:r>
              <a:rPr lang="el-GR" altLang="zh-CN" dirty="0">
                <a:solidFill>
                  <a:srgbClr val="EE853E"/>
                </a:solidFill>
              </a:rPr>
              <a:t>β</a:t>
            </a:r>
            <a:r>
              <a:rPr lang="en-US" altLang="zh-CN" baseline="-25000" dirty="0">
                <a:solidFill>
                  <a:srgbClr val="EE853E"/>
                </a:solidFill>
                <a:sym typeface="Symbol" pitchFamily="18" charset="2"/>
              </a:rPr>
              <a:t>k </a:t>
            </a:r>
            <a:r>
              <a:rPr lang="en-US" altLang="zh-CN" dirty="0">
                <a:solidFill>
                  <a:srgbClr val="EE853E"/>
                </a:solidFill>
              </a:rPr>
              <a:t>α</a:t>
            </a:r>
          </a:p>
          <a:p>
            <a:r>
              <a:rPr lang="en-US" altLang="zh-CN" dirty="0">
                <a:sym typeface="Symbol" pitchFamily="18" charset="2"/>
              </a:rPr>
              <a:t>			2.2	</a:t>
            </a:r>
            <a:r>
              <a:rPr lang="zh-CN" altLang="en-US" dirty="0">
                <a:sym typeface="Symbol" pitchFamily="18" charset="2"/>
              </a:rPr>
              <a:t>消除新引入的直接左递归</a:t>
            </a:r>
            <a:endParaRPr lang="en-US" altLang="zh-CN" dirty="0">
              <a:sym typeface="Symbol" pitchFamily="18" charset="2"/>
            </a:endParaRPr>
          </a:p>
          <a:p>
            <a:r>
              <a:rPr lang="en-US" altLang="zh-CN" dirty="0">
                <a:sym typeface="Symbol" pitchFamily="18" charset="2"/>
              </a:rPr>
              <a:t>3.	</a:t>
            </a:r>
            <a:r>
              <a:rPr lang="zh-CN" altLang="en-US" dirty="0">
                <a:sym typeface="Symbol" pitchFamily="18" charset="2"/>
              </a:rPr>
              <a:t>去掉无效的符号和产生式。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消除间接左递归算法</a:t>
            </a:r>
          </a:p>
        </p:txBody>
      </p:sp>
    </p:spTree>
    <p:extLst>
      <p:ext uri="{BB962C8B-B14F-4D97-AF65-F5344CB8AC3E}">
        <p14:creationId xmlns:p14="http://schemas.microsoft.com/office/powerpoint/2010/main" val="16093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G(S)</a:t>
            </a:r>
            <a:r>
              <a:rPr lang="zh-CN" altLang="en-US" dirty="0"/>
              <a:t>：</a:t>
            </a:r>
            <a:r>
              <a:rPr lang="en-US" altLang="zh-CN" dirty="0"/>
              <a:t>	S → Qc | c</a:t>
            </a:r>
          </a:p>
          <a:p>
            <a:r>
              <a:rPr lang="en-US" altLang="zh-CN" dirty="0"/>
              <a:t>				Q → </a:t>
            </a:r>
            <a:r>
              <a:rPr lang="en-US" altLang="zh-CN" dirty="0" err="1"/>
              <a:t>Rb</a:t>
            </a:r>
            <a:r>
              <a:rPr lang="en-US" altLang="zh-CN" dirty="0"/>
              <a:t> | b</a:t>
            </a:r>
          </a:p>
          <a:p>
            <a:r>
              <a:rPr lang="en-US" altLang="zh-CN" dirty="0"/>
              <a:t>				R → Sa | a</a:t>
            </a:r>
          </a:p>
          <a:p>
            <a:endParaRPr lang="en-US" altLang="zh-CN" dirty="0"/>
          </a:p>
          <a:p>
            <a:r>
              <a:rPr lang="zh-CN" altLang="en-US" dirty="0"/>
              <a:t>方法一：按 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S </a:t>
            </a:r>
            <a:r>
              <a:rPr lang="zh-CN" altLang="en-US" dirty="0"/>
              <a:t>排列，即 </a:t>
            </a:r>
            <a:r>
              <a:rPr lang="en-US" altLang="zh-CN" dirty="0"/>
              <a:t>A</a:t>
            </a:r>
            <a:r>
              <a:rPr lang="en-US" altLang="zh-CN" baseline="-25000" dirty="0"/>
              <a:t>1 </a:t>
            </a:r>
            <a:r>
              <a:rPr lang="en-US" altLang="zh-CN" dirty="0"/>
              <a:t>= R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</a:t>
            </a:r>
            <a:r>
              <a:rPr lang="en-US" altLang="zh-CN" dirty="0"/>
              <a:t>= Q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3</a:t>
            </a:r>
            <a:r>
              <a:rPr lang="en-US" altLang="zh-CN" baseline="-25000" dirty="0"/>
              <a:t> </a:t>
            </a:r>
            <a:r>
              <a:rPr lang="en-US" altLang="zh-CN" dirty="0"/>
              <a:t>= S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方法二：按 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R </a:t>
            </a:r>
            <a:r>
              <a:rPr lang="zh-CN" altLang="en-US" dirty="0"/>
              <a:t>排列，即 </a:t>
            </a:r>
            <a:r>
              <a:rPr lang="en-US" altLang="zh-CN" dirty="0"/>
              <a:t>A</a:t>
            </a:r>
            <a:r>
              <a:rPr lang="en-US" altLang="zh-CN" baseline="-25000" dirty="0"/>
              <a:t>1 </a:t>
            </a:r>
            <a:r>
              <a:rPr lang="en-US" altLang="zh-CN" dirty="0"/>
              <a:t>= S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</a:t>
            </a:r>
            <a:r>
              <a:rPr lang="en-US" altLang="zh-CN" dirty="0"/>
              <a:t>= Q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3</a:t>
            </a:r>
            <a:r>
              <a:rPr lang="en-US" altLang="zh-CN" baseline="-25000" dirty="0"/>
              <a:t> </a:t>
            </a:r>
            <a:r>
              <a:rPr lang="en-US" altLang="zh-CN" dirty="0"/>
              <a:t>= R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84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00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按 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S </a:t>
            </a:r>
            <a:r>
              <a:rPr lang="zh-CN" altLang="en-US" dirty="0"/>
              <a:t>排列，即 </a:t>
            </a:r>
            <a:r>
              <a:rPr lang="en-US" altLang="zh-CN" dirty="0"/>
              <a:t>A</a:t>
            </a:r>
            <a:r>
              <a:rPr lang="en-US" altLang="zh-CN" baseline="-25000" dirty="0"/>
              <a:t>1 </a:t>
            </a:r>
            <a:r>
              <a:rPr lang="en-US" altLang="zh-CN" dirty="0"/>
              <a:t>= R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</a:t>
            </a:r>
            <a:r>
              <a:rPr lang="en-US" altLang="zh-CN" dirty="0"/>
              <a:t>= Q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3</a:t>
            </a:r>
            <a:r>
              <a:rPr lang="en-US" altLang="zh-CN" baseline="-25000" dirty="0"/>
              <a:t> </a:t>
            </a:r>
            <a:r>
              <a:rPr lang="en-US" altLang="zh-CN" dirty="0"/>
              <a:t>= S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遍历所有符合 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j</a:t>
            </a:r>
            <a:r>
              <a:rPr lang="en-US" altLang="zh-CN" baseline="-25000" dirty="0"/>
              <a:t> </a:t>
            </a:r>
            <a:r>
              <a:rPr lang="en-US" altLang="zh-CN" dirty="0"/>
              <a:t>…</a:t>
            </a:r>
            <a:r>
              <a:rPr lang="zh-CN" altLang="en-US" dirty="0"/>
              <a:t>（其中 </a:t>
            </a:r>
            <a:r>
              <a:rPr lang="en-US" altLang="zh-CN" dirty="0" err="1"/>
              <a:t>i</a:t>
            </a:r>
            <a:r>
              <a:rPr lang="en-US" altLang="zh-CN" dirty="0"/>
              <a:t>&gt;j</a:t>
            </a:r>
            <a:r>
              <a:rPr lang="zh-CN" altLang="en-US" dirty="0"/>
              <a:t>）形式的产生式，分别进行改写。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</a:t>
            </a:r>
            <a:r>
              <a:rPr lang="en-US" altLang="zh-CN" dirty="0" err="1"/>
              <a:t>i</a:t>
            </a:r>
            <a:r>
              <a:rPr lang="en-US" altLang="zh-CN" dirty="0"/>
              <a:t> = 2</a:t>
            </a:r>
            <a:r>
              <a:rPr lang="zh-CN" altLang="en-US" dirty="0"/>
              <a:t>、</a:t>
            </a:r>
            <a:r>
              <a:rPr lang="en-US" altLang="zh-CN" dirty="0"/>
              <a:t>j = 1</a:t>
            </a:r>
            <a:r>
              <a:rPr lang="zh-CN" altLang="en-US" dirty="0"/>
              <a:t>时，有 </a:t>
            </a:r>
            <a:r>
              <a:rPr lang="en-US" altLang="zh-CN" dirty="0"/>
              <a:t>Q → </a:t>
            </a:r>
            <a:r>
              <a:rPr lang="en-US" altLang="zh-CN" dirty="0" err="1"/>
              <a:t>Rb</a:t>
            </a:r>
            <a:r>
              <a:rPr lang="zh-CN" altLang="en-US" dirty="0"/>
              <a:t>， 需要改写。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</a:t>
            </a:r>
            <a:r>
              <a:rPr lang="en-US" altLang="zh-CN" dirty="0" err="1"/>
              <a:t>i</a:t>
            </a:r>
            <a:r>
              <a:rPr lang="en-US" altLang="zh-CN" dirty="0"/>
              <a:t> = 3</a:t>
            </a:r>
            <a:r>
              <a:rPr lang="zh-CN" altLang="en-US" dirty="0"/>
              <a:t>、</a:t>
            </a:r>
            <a:r>
              <a:rPr lang="en-US" altLang="zh-CN" dirty="0"/>
              <a:t>j = 1</a:t>
            </a:r>
            <a:r>
              <a:rPr lang="zh-CN" altLang="en-US" dirty="0"/>
              <a:t>时，不存在 </a:t>
            </a:r>
            <a:r>
              <a:rPr lang="en-US" altLang="zh-CN" dirty="0"/>
              <a:t>S → R … </a:t>
            </a:r>
            <a:r>
              <a:rPr lang="zh-CN" altLang="en-US" dirty="0"/>
              <a:t>形式的产生式。</a:t>
            </a:r>
            <a:r>
              <a:rPr lang="en-US" altLang="zh-CN" dirty="0"/>
              <a:t> </a:t>
            </a:r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</a:t>
            </a:r>
          </a:p>
        </p:txBody>
      </p:sp>
      <p:sp>
        <p:nvSpPr>
          <p:cNvPr id="485379" name="Text Box 3"/>
          <p:cNvSpPr txBox="1">
            <a:spLocks noChangeArrowheads="1"/>
          </p:cNvSpPr>
          <p:nvPr/>
        </p:nvSpPr>
        <p:spPr bwMode="auto">
          <a:xfrm>
            <a:off x="1789121" y="2755614"/>
            <a:ext cx="1840568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768B4C20-3727-4004-9AB8-2690303DA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016" y="2755614"/>
            <a:ext cx="2752677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Sab | ab 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80791744-2D95-4405-8ADB-21040A261AC2}"/>
              </a:ext>
            </a:extLst>
          </p:cNvPr>
          <p:cNvSpPr/>
          <p:nvPr/>
        </p:nvSpPr>
        <p:spPr>
          <a:xfrm>
            <a:off x="4875975" y="3487987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44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5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53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79" grpId="0"/>
      <p:bldP spid="11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10751844" cy="5237998"/>
          </a:xfrm>
        </p:spPr>
        <p:txBody>
          <a:bodyPr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3</a:t>
            </a:r>
            <a:r>
              <a:rPr lang="zh-CN" altLang="en-US" dirty="0"/>
              <a:t>、</a:t>
            </a:r>
            <a:r>
              <a:rPr lang="en-US" altLang="zh-CN" dirty="0"/>
              <a:t>j = 2</a:t>
            </a:r>
            <a:r>
              <a:rPr lang="zh-CN" altLang="en-US" dirty="0"/>
              <a:t>时，有</a:t>
            </a:r>
            <a:r>
              <a:rPr lang="en-US" altLang="zh-CN" dirty="0"/>
              <a:t>S → Qc</a:t>
            </a:r>
            <a:r>
              <a:rPr lang="zh-CN" altLang="en-US" dirty="0"/>
              <a:t>， 需要改写。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步：消除直接左递归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</a:t>
            </a:r>
          </a:p>
        </p:txBody>
      </p:sp>
      <p:sp>
        <p:nvSpPr>
          <p:cNvPr id="485379" name="Text Box 3"/>
          <p:cNvSpPr txBox="1">
            <a:spLocks noChangeArrowheads="1"/>
          </p:cNvSpPr>
          <p:nvPr/>
        </p:nvSpPr>
        <p:spPr bwMode="auto">
          <a:xfrm>
            <a:off x="6071561" y="1475391"/>
            <a:ext cx="3610284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Sab | ab 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Sabc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c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768B4C20-3727-4004-9AB8-2690303DA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976" y="1475391"/>
            <a:ext cx="2752677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Sab | ab 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80791744-2D95-4405-8ADB-21040A261AC2}"/>
              </a:ext>
            </a:extLst>
          </p:cNvPr>
          <p:cNvSpPr/>
          <p:nvPr/>
        </p:nvSpPr>
        <p:spPr>
          <a:xfrm>
            <a:off x="5104575" y="2169727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86935AE-7BF5-4C34-9497-72721E3D0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173" y="3739834"/>
            <a:ext cx="3610284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Sab | ab 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Sabc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c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B59C972-17A1-4F6B-A29C-5A097A7C591C}"/>
              </a:ext>
            </a:extLst>
          </p:cNvPr>
          <p:cNvSpPr/>
          <p:nvPr/>
        </p:nvSpPr>
        <p:spPr>
          <a:xfrm>
            <a:off x="5589134" y="4434170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586241E9-7CCA-4B98-A5DF-33E6442A3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140" y="3739834"/>
            <a:ext cx="4282440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Sab | ab 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S'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5949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53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79" grpId="0"/>
      <p:bldP spid="11" grpId="0"/>
      <p:bldP spid="7" grpId="0" animBg="1"/>
      <p:bldP spid="8" grpId="0"/>
      <p:bldP spid="9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37B9EC4-D022-4441-8F64-CEC14F776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步：</a:t>
            </a:r>
            <a:r>
              <a:rPr lang="zh-CN" altLang="en-US" dirty="0">
                <a:sym typeface="Symbol" pitchFamily="18" charset="2"/>
              </a:rPr>
              <a:t>去掉无效的符号和产生式</a:t>
            </a:r>
            <a:endParaRPr lang="en-US" altLang="zh-CN" dirty="0">
              <a:sym typeface="Symbol" pitchFamily="18" charset="2"/>
            </a:endParaRPr>
          </a:p>
          <a:p>
            <a:endParaRPr lang="en-US" altLang="zh-CN" dirty="0">
              <a:sym typeface="Symbol" pitchFamily="18" charset="2"/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BC23C81-D80A-4556-B7B1-5887FD23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方法一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35347FC-4FF5-4397-8896-976850EBF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3482" y="1514794"/>
            <a:ext cx="4282440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Sab | ab 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S'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B82D11E-0A3C-4790-9445-2DE06DC0D35C}"/>
              </a:ext>
            </a:extLst>
          </p:cNvPr>
          <p:cNvSpPr/>
          <p:nvPr/>
        </p:nvSpPr>
        <p:spPr>
          <a:xfrm>
            <a:off x="5642474" y="2511199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B748DA19-1BAE-4B7D-BD1E-51B6E8D41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7156" y="2068792"/>
            <a:ext cx="4282440" cy="1135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S'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abcS'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3296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10751844" cy="5237998"/>
          </a:xfrm>
        </p:spPr>
        <p:txBody>
          <a:bodyPr>
            <a:normAutofit/>
          </a:bodyPr>
          <a:lstStyle/>
          <a:p>
            <a:r>
              <a:rPr lang="zh-CN" altLang="en-US" dirty="0"/>
              <a:t>按 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R </a:t>
            </a:r>
            <a:r>
              <a:rPr lang="zh-CN" altLang="en-US" dirty="0"/>
              <a:t>排列，即 </a:t>
            </a:r>
            <a:r>
              <a:rPr lang="en-US" altLang="zh-CN" dirty="0"/>
              <a:t>A</a:t>
            </a:r>
            <a:r>
              <a:rPr lang="en-US" altLang="zh-CN" baseline="-25000" dirty="0"/>
              <a:t>1 </a:t>
            </a:r>
            <a:r>
              <a:rPr lang="en-US" altLang="zh-CN" dirty="0"/>
              <a:t>= S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2</a:t>
            </a:r>
            <a:r>
              <a:rPr lang="en-US" altLang="zh-CN" baseline="-25000" dirty="0"/>
              <a:t> </a:t>
            </a:r>
            <a:r>
              <a:rPr lang="en-US" altLang="zh-CN" dirty="0"/>
              <a:t>= Q</a:t>
            </a:r>
            <a:r>
              <a:rPr lang="zh-CN" altLang="en-US" dirty="0"/>
              <a:t>，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3</a:t>
            </a:r>
            <a:r>
              <a:rPr lang="en-US" altLang="zh-CN" baseline="-25000" dirty="0"/>
              <a:t> </a:t>
            </a:r>
            <a:r>
              <a:rPr lang="en-US" altLang="zh-CN" dirty="0"/>
              <a:t>= R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遍历所有符合 </a:t>
            </a:r>
            <a:r>
              <a:rPr lang="en-US" altLang="zh-CN" dirty="0"/>
              <a:t>A</a:t>
            </a:r>
            <a:r>
              <a:rPr lang="en-US" altLang="zh-CN" baseline="-25000" dirty="0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j</a:t>
            </a:r>
            <a:r>
              <a:rPr lang="en-US" altLang="zh-CN" baseline="-25000" dirty="0"/>
              <a:t> </a:t>
            </a:r>
            <a:r>
              <a:rPr lang="en-US" altLang="zh-CN" dirty="0"/>
              <a:t>…</a:t>
            </a:r>
            <a:r>
              <a:rPr lang="zh-CN" altLang="en-US" dirty="0"/>
              <a:t>（其中 </a:t>
            </a:r>
            <a:r>
              <a:rPr lang="en-US" altLang="zh-CN" dirty="0" err="1"/>
              <a:t>i</a:t>
            </a:r>
            <a:r>
              <a:rPr lang="en-US" altLang="zh-CN" dirty="0"/>
              <a:t>&gt;j</a:t>
            </a:r>
            <a:r>
              <a:rPr lang="zh-CN" altLang="en-US" dirty="0"/>
              <a:t>）形式的产生式，分别进行改写。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2</a:t>
            </a:r>
            <a:r>
              <a:rPr lang="zh-CN" altLang="en-US" dirty="0"/>
              <a:t>、</a:t>
            </a:r>
            <a:r>
              <a:rPr lang="en-US" altLang="zh-CN" dirty="0"/>
              <a:t>j = 1</a:t>
            </a:r>
            <a:r>
              <a:rPr lang="zh-CN" altLang="en-US" dirty="0"/>
              <a:t>时，不存在 </a:t>
            </a:r>
            <a:r>
              <a:rPr lang="en-US" altLang="zh-CN" dirty="0"/>
              <a:t>Q → S … </a:t>
            </a:r>
            <a:r>
              <a:rPr lang="zh-CN" altLang="en-US" dirty="0"/>
              <a:t>形式的产生式。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3</a:t>
            </a:r>
            <a:r>
              <a:rPr lang="zh-CN" altLang="en-US" dirty="0"/>
              <a:t>、</a:t>
            </a:r>
            <a:r>
              <a:rPr lang="en-US" altLang="zh-CN" dirty="0"/>
              <a:t>j = 1</a:t>
            </a:r>
            <a:r>
              <a:rPr lang="zh-CN" altLang="en-US" dirty="0"/>
              <a:t>时，有</a:t>
            </a:r>
            <a:r>
              <a:rPr lang="en-US" altLang="zh-CN" dirty="0"/>
              <a:t>R → Sa</a:t>
            </a:r>
            <a:r>
              <a:rPr lang="zh-CN" altLang="en-US" dirty="0"/>
              <a:t>， 需要改写。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80791744-2D95-4405-8ADB-21040A261AC2}"/>
              </a:ext>
            </a:extLst>
          </p:cNvPr>
          <p:cNvSpPr/>
          <p:nvPr/>
        </p:nvSpPr>
        <p:spPr>
          <a:xfrm>
            <a:off x="4510215" y="3987016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1C64DB8-B088-4218-8563-AD51AB5D9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250" y="3292680"/>
            <a:ext cx="1840568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Sa | a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4C0529BF-EE0A-4039-BAEE-C375E4F0C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8930" y="3292680"/>
            <a:ext cx="3351291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Qca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ca | a</a:t>
            </a:r>
          </a:p>
        </p:txBody>
      </p:sp>
    </p:spTree>
    <p:extLst>
      <p:ext uri="{BB962C8B-B14F-4D97-AF65-F5344CB8AC3E}">
        <p14:creationId xmlns:p14="http://schemas.microsoft.com/office/powerpoint/2010/main" val="163755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5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53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10751844" cy="5237998"/>
          </a:xfrm>
        </p:spPr>
        <p:txBody>
          <a:bodyPr>
            <a:norm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3</a:t>
            </a:r>
            <a:r>
              <a:rPr lang="zh-CN" altLang="en-US" dirty="0"/>
              <a:t>、</a:t>
            </a:r>
            <a:r>
              <a:rPr lang="en-US" altLang="zh-CN" dirty="0"/>
              <a:t>j = 2</a:t>
            </a:r>
            <a:r>
              <a:rPr lang="zh-CN" altLang="en-US" dirty="0"/>
              <a:t>时，有</a:t>
            </a:r>
            <a:r>
              <a:rPr lang="en-US" altLang="zh-CN" dirty="0"/>
              <a:t>R → </a:t>
            </a:r>
            <a:r>
              <a:rPr lang="en-US" altLang="zh-CN" dirty="0" err="1"/>
              <a:t>Qca</a:t>
            </a:r>
            <a:r>
              <a:rPr lang="zh-CN" altLang="en-US" dirty="0"/>
              <a:t>，需要改写。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步：消除直接左递归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80791744-2D95-4405-8ADB-21040A261AC2}"/>
              </a:ext>
            </a:extLst>
          </p:cNvPr>
          <p:cNvSpPr/>
          <p:nvPr/>
        </p:nvSpPr>
        <p:spPr>
          <a:xfrm>
            <a:off x="4933848" y="2211379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C159CB92-563B-4C88-8F53-FA69629D5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539" y="1517043"/>
            <a:ext cx="2653462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Qca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ca | a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DE16779F-1BD8-41A8-BD94-19BD57552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829" y="1517043"/>
            <a:ext cx="3858990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Rbca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ca | a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2DF49678-0497-46CB-86B4-F09DBB811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309" y="4346242"/>
            <a:ext cx="3858990" cy="1689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Rbca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ca | a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38C1D7F7-CF75-4C4F-9673-568C40BD0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7319" y="3807484"/>
            <a:ext cx="4282440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→ Qc | c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Rb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b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bcaR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|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</a:p>
          <a:p>
            <a:pPr defTabSz="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R' →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bcaR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 | </a:t>
            </a:r>
            <a:r>
              <a:rPr lang="el-GR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ε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itchFamily="18" charset="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CB66044-0DC4-4977-8100-A7224923B024}"/>
              </a:ext>
            </a:extLst>
          </p:cNvPr>
          <p:cNvSpPr/>
          <p:nvPr/>
        </p:nvSpPr>
        <p:spPr>
          <a:xfrm>
            <a:off x="4971948" y="4748839"/>
            <a:ext cx="370882" cy="30038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88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53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/>
      <p:bldP spid="12" grpId="0"/>
      <p:bldP spid="13" grpId="0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00" y="900000"/>
            <a:ext cx="10481400" cy="5237998"/>
          </a:xfrm>
        </p:spPr>
        <p:txBody>
          <a:bodyPr/>
          <a:lstStyle/>
          <a:p>
            <a:r>
              <a:rPr lang="zh-CN" altLang="en-US" dirty="0"/>
              <a:t>改写前的文法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 → Qc | c</a:t>
            </a:r>
          </a:p>
          <a:p>
            <a:r>
              <a:rPr lang="en-US" altLang="zh-CN" dirty="0"/>
              <a:t>Q → </a:t>
            </a:r>
            <a:r>
              <a:rPr lang="en-US" altLang="zh-CN" dirty="0" err="1"/>
              <a:t>Rb</a:t>
            </a:r>
            <a:r>
              <a:rPr lang="en-US" altLang="zh-CN" dirty="0"/>
              <a:t> | b</a:t>
            </a:r>
          </a:p>
          <a:p>
            <a:r>
              <a:rPr lang="en-US" altLang="zh-CN" dirty="0"/>
              <a:t>R → Sa | a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文法产生的语言：</a:t>
            </a:r>
            <a:r>
              <a:rPr lang="en-US" altLang="zh-CN" dirty="0"/>
              <a:t>{ c, </a:t>
            </a:r>
            <a:r>
              <a:rPr lang="en-US" altLang="zh-CN" dirty="0" err="1"/>
              <a:t>bc</a:t>
            </a:r>
            <a:r>
              <a:rPr lang="en-US" altLang="zh-CN" dirty="0"/>
              <a:t>, </a:t>
            </a:r>
            <a:r>
              <a:rPr lang="en-US" altLang="zh-CN" dirty="0" err="1"/>
              <a:t>abc</a:t>
            </a:r>
            <a:r>
              <a:rPr lang="en-US" altLang="zh-CN" dirty="0"/>
              <a:t>, </a:t>
            </a:r>
            <a:r>
              <a:rPr lang="en-US" altLang="zh-CN" dirty="0" err="1"/>
              <a:t>cabc</a:t>
            </a:r>
            <a:r>
              <a:rPr lang="en-US" altLang="zh-CN" dirty="0"/>
              <a:t>, </a:t>
            </a:r>
            <a:r>
              <a:rPr lang="en-US" altLang="zh-CN" dirty="0" err="1"/>
              <a:t>bcabc</a:t>
            </a:r>
            <a:r>
              <a:rPr lang="en-US" altLang="zh-CN" dirty="0"/>
              <a:t>, </a:t>
            </a:r>
            <a:r>
              <a:rPr lang="en-US" altLang="zh-CN" dirty="0" err="1"/>
              <a:t>abcabc</a:t>
            </a:r>
            <a:r>
              <a:rPr lang="en-US" altLang="zh-CN" dirty="0"/>
              <a:t>, </a:t>
            </a:r>
            <a:r>
              <a:rPr lang="en-US" altLang="zh-CN" dirty="0" err="1"/>
              <a:t>cabcabc</a:t>
            </a:r>
            <a:r>
              <a:rPr lang="en-US" altLang="zh-CN" dirty="0"/>
              <a:t>, … }</a:t>
            </a:r>
          </a:p>
          <a:p>
            <a:endParaRPr lang="en-US" altLang="zh-CN" dirty="0"/>
          </a:p>
        </p:txBody>
      </p:sp>
      <p:sp>
        <p:nvSpPr>
          <p:cNvPr id="484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A1F1C76-B507-4A2A-B77A-97A14EB7E722}"/>
              </a:ext>
            </a:extLst>
          </p:cNvPr>
          <p:cNvSpPr txBox="1">
            <a:spLocks noChangeArrowheads="1"/>
          </p:cNvSpPr>
          <p:nvPr/>
        </p:nvSpPr>
        <p:spPr>
          <a:xfrm>
            <a:off x="3764280" y="900000"/>
            <a:ext cx="379104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20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18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16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改写后的文法（方法一）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abcS'</a:t>
            </a:r>
            <a:r>
              <a:rPr lang="en-US" altLang="zh-CN" dirty="0"/>
              <a:t> | </a:t>
            </a:r>
            <a:r>
              <a:rPr lang="en-US" altLang="zh-CN" dirty="0" err="1"/>
              <a:t>bcS'</a:t>
            </a:r>
            <a:r>
              <a:rPr lang="en-US" altLang="zh-CN" dirty="0"/>
              <a:t> | </a:t>
            </a:r>
            <a:r>
              <a:rPr lang="en-US" altLang="zh-CN" dirty="0" err="1"/>
              <a:t>cS'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S' → </a:t>
            </a:r>
            <a:r>
              <a:rPr lang="en-US" altLang="zh-CN" dirty="0" err="1"/>
              <a:t>abcS'</a:t>
            </a:r>
            <a:r>
              <a:rPr lang="en-US" altLang="zh-CN" dirty="0"/>
              <a:t> | </a:t>
            </a:r>
            <a:r>
              <a:rPr lang="el-GR" altLang="zh-CN" dirty="0">
                <a:sym typeface="Symbol" pitchFamily="18" charset="2"/>
              </a:rPr>
              <a:t>ε</a:t>
            </a:r>
            <a:endParaRPr lang="en-US" altLang="zh-CN" dirty="0">
              <a:sym typeface="Symbol" pitchFamily="18" charset="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C536A5-A96D-4484-99C1-1EDCB21B9FED}"/>
              </a:ext>
            </a:extLst>
          </p:cNvPr>
          <p:cNvSpPr txBox="1">
            <a:spLocks noChangeArrowheads="1"/>
          </p:cNvSpPr>
          <p:nvPr/>
        </p:nvSpPr>
        <p:spPr>
          <a:xfrm>
            <a:off x="7692480" y="900000"/>
            <a:ext cx="372228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20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18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defRPr sz="16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 kern="1200" cap="none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改写后的文法（方法二）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 → Qc | c</a:t>
            </a:r>
          </a:p>
          <a:p>
            <a:r>
              <a:rPr lang="en-US" altLang="zh-CN" dirty="0"/>
              <a:t>Q → </a:t>
            </a:r>
            <a:r>
              <a:rPr lang="en-US" altLang="zh-CN" dirty="0" err="1"/>
              <a:t>Rb</a:t>
            </a:r>
            <a:r>
              <a:rPr lang="en-US" altLang="zh-CN" dirty="0"/>
              <a:t> | b</a:t>
            </a:r>
          </a:p>
          <a:p>
            <a:r>
              <a:rPr lang="en-US" altLang="zh-CN" dirty="0"/>
              <a:t>R → </a:t>
            </a:r>
            <a:r>
              <a:rPr lang="en-US" altLang="zh-CN" dirty="0" err="1"/>
              <a:t>bcaR</a:t>
            </a:r>
            <a:r>
              <a:rPr lang="en-US" altLang="zh-CN" dirty="0"/>
              <a:t>' | </a:t>
            </a:r>
            <a:r>
              <a:rPr lang="en-US" altLang="zh-CN" dirty="0" err="1"/>
              <a:t>caR</a:t>
            </a:r>
            <a:r>
              <a:rPr lang="en-US" altLang="zh-CN" dirty="0"/>
              <a:t>' | </a:t>
            </a:r>
            <a:r>
              <a:rPr lang="en-US" altLang="zh-CN" dirty="0" err="1"/>
              <a:t>aR</a:t>
            </a:r>
            <a:r>
              <a:rPr lang="en-US" altLang="zh-CN" dirty="0"/>
              <a:t>'</a:t>
            </a:r>
          </a:p>
          <a:p>
            <a:r>
              <a:rPr lang="en-US" altLang="zh-CN" dirty="0"/>
              <a:t>R' → </a:t>
            </a:r>
            <a:r>
              <a:rPr lang="en-US" altLang="zh-CN" dirty="0" err="1"/>
              <a:t>bcaR</a:t>
            </a:r>
            <a:r>
              <a:rPr lang="en-US" altLang="zh-CN" dirty="0"/>
              <a:t>' | </a:t>
            </a:r>
            <a:r>
              <a:rPr lang="el-GR" altLang="zh-CN" dirty="0">
                <a:sym typeface="Symbol" pitchFamily="18" charset="2"/>
              </a:rPr>
              <a:t>ε</a:t>
            </a:r>
            <a:endParaRPr lang="en-US" altLang="zh-CN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1756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43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8031</TotalTime>
  <Words>869</Words>
  <Application>Microsoft Office PowerPoint</Application>
  <PresentationFormat>宽屏</PresentationFormat>
  <Paragraphs>212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Wingdings</vt:lpstr>
      <vt:lpstr>环保</vt:lpstr>
      <vt:lpstr>第七章 语法分析</vt:lpstr>
      <vt:lpstr>实例</vt:lpstr>
      <vt:lpstr>实例</vt:lpstr>
      <vt:lpstr>回溯分析法</vt:lpstr>
      <vt:lpstr>引起回溯的原因</vt:lpstr>
      <vt:lpstr>消除公共左因子</vt:lpstr>
      <vt:lpstr>实例</vt:lpstr>
      <vt:lpstr>消除直接左递归</vt:lpstr>
      <vt:lpstr>消除间接左递归</vt:lpstr>
      <vt:lpstr>消除间接左递归</vt:lpstr>
      <vt:lpstr>消除间接左递归算法</vt:lpstr>
      <vt:lpstr>实例</vt:lpstr>
      <vt:lpstr>方法一</vt:lpstr>
      <vt:lpstr>方法一</vt:lpstr>
      <vt:lpstr>方法一</vt:lpstr>
      <vt:lpstr>方法二</vt:lpstr>
      <vt:lpstr>方法二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1167</cp:revision>
  <cp:lastPrinted>1601-01-01T00:00:00Z</cp:lastPrinted>
  <dcterms:created xsi:type="dcterms:W3CDTF">1601-01-01T00:00:00Z</dcterms:created>
  <dcterms:modified xsi:type="dcterms:W3CDTF">2019-09-12T03:46:25Z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