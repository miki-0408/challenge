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2"/>
  </p:notesMasterIdLst>
  <p:handoutMasterIdLst>
    <p:handoutMasterId r:id="rId13"/>
  </p:handoutMasterIdLst>
  <p:sldIdLst>
    <p:sldId id="386" r:id="rId2"/>
    <p:sldId id="298" r:id="rId3"/>
    <p:sldId id="388" r:id="rId4"/>
    <p:sldId id="376" r:id="rId5"/>
    <p:sldId id="389" r:id="rId6"/>
    <p:sldId id="396" r:id="rId7"/>
    <p:sldId id="397" r:id="rId8"/>
    <p:sldId id="398" r:id="rId9"/>
    <p:sldId id="399" r:id="rId10"/>
    <p:sldId id="400" r:id="rId1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2" autoAdjust="0"/>
    <p:restoredTop sz="89127" autoAdjust="0"/>
  </p:normalViewPr>
  <p:slideViewPr>
    <p:cSldViewPr>
      <p:cViewPr varScale="1">
        <p:scale>
          <a:sx n="80" d="100"/>
          <a:sy n="80" d="100"/>
        </p:scale>
        <p:origin x="44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819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5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881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82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221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259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109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0305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4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45227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0454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6CEB031-D232-4E70-89DA-EAEFA87DCE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5681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89025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第五节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if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第六节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while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for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函数的翻译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8201A18-6154-4529-8A1F-F44752894B81}"/>
              </a:ext>
            </a:extLst>
          </p:cNvPr>
          <p:cNvSpPr/>
          <p:nvPr/>
        </p:nvSpPr>
        <p:spPr>
          <a:xfrm>
            <a:off x="2983159" y="34224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24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 </a:t>
            </a:r>
            <a:r>
              <a:rPr lang="en-US" altLang="zh-CN" dirty="0"/>
              <a:t>for </a:t>
            </a:r>
            <a:r>
              <a:rPr lang="zh-CN" altLang="en-US" dirty="0"/>
              <a:t>语句：</a:t>
            </a:r>
          </a:p>
          <a:p>
            <a:r>
              <a:rPr lang="en-US" altLang="zh-CN" dirty="0"/>
              <a:t>for (a=0 ; a&lt;10 ; a=</a:t>
            </a:r>
            <a:r>
              <a:rPr lang="en-US" altLang="zh-CN" dirty="0" err="1"/>
              <a:t>a+1</a:t>
            </a:r>
            <a:r>
              <a:rPr lang="en-US" altLang="zh-CN" dirty="0"/>
              <a:t>) { b = c + a; }</a:t>
            </a:r>
          </a:p>
          <a:p>
            <a:r>
              <a:rPr lang="en-US" altLang="zh-CN" dirty="0"/>
              <a:t>for (a=0 ; a&lt;10 ; a=</a:t>
            </a:r>
            <a:r>
              <a:rPr lang="en-US" altLang="zh-CN" dirty="0" err="1"/>
              <a:t>a+1</a:t>
            </a:r>
            <a:r>
              <a:rPr lang="en-US" altLang="zh-CN" dirty="0"/>
              <a:t>) { b = c + a; c = a + b; }</a:t>
            </a:r>
          </a:p>
          <a:p>
            <a:r>
              <a:rPr lang="en-US" altLang="zh-CN" dirty="0"/>
              <a:t>for (a=0 ; a&lt;10 ; a=</a:t>
            </a:r>
            <a:r>
              <a:rPr lang="en-US" altLang="zh-CN" dirty="0" err="1"/>
              <a:t>a+1</a:t>
            </a:r>
            <a:r>
              <a:rPr lang="en-US" altLang="zh-CN" dirty="0"/>
              <a:t>) { ... ; if ... ; while ... ; for ... }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pt-BR" altLang="zh-CN" dirty="0"/>
              <a:t>S → for ( S</a:t>
            </a:r>
            <a:r>
              <a:rPr lang="pt-BR" altLang="zh-CN" baseline="-25000" dirty="0"/>
              <a:t>1</a:t>
            </a:r>
            <a:r>
              <a:rPr lang="pt-BR" altLang="zh-CN" dirty="0"/>
              <a:t> ; E ; S</a:t>
            </a:r>
            <a:r>
              <a:rPr lang="pt-BR" altLang="zh-CN" baseline="-25000" dirty="0"/>
              <a:t>2</a:t>
            </a:r>
            <a:r>
              <a:rPr lang="pt-BR" altLang="zh-CN" dirty="0"/>
              <a:t> ) { S_list }</a:t>
            </a:r>
            <a:endParaRPr lang="zh-CN" alt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12578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pt-BR" altLang="zh-CN" dirty="0"/>
              <a:t>for  ( 	a=0 ; </a:t>
            </a:r>
          </a:p>
          <a:p>
            <a:r>
              <a:rPr lang="pt-BR" altLang="zh-CN" dirty="0"/>
              <a:t>		a&lt;10 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it-IT" altLang="zh-CN" dirty="0"/>
          </a:p>
          <a:p>
            <a:r>
              <a:rPr lang="en-US" altLang="zh-CN" dirty="0"/>
              <a:t>a=0</a:t>
            </a:r>
          </a:p>
          <a:p>
            <a:r>
              <a:rPr lang="it-IT" altLang="zh-CN" dirty="0"/>
              <a:t>label L1</a:t>
            </a:r>
          </a:p>
          <a:p>
            <a:r>
              <a:rPr lang="en-US" altLang="zh-CN" dirty="0" err="1"/>
              <a:t>t1</a:t>
            </a:r>
            <a:r>
              <a:rPr lang="en-US" altLang="zh-CN" dirty="0"/>
              <a:t> = a &lt; 10</a:t>
            </a:r>
          </a:p>
          <a:p>
            <a:r>
              <a:rPr lang="it-IT" altLang="zh-CN" dirty="0"/>
              <a:t>ifz t1 goto L2</a:t>
            </a:r>
          </a:p>
          <a:p>
            <a:r>
              <a:rPr lang="en-US" altLang="zh-CN" dirty="0" err="1"/>
              <a:t>t3</a:t>
            </a:r>
            <a:r>
              <a:rPr lang="en-US" altLang="zh-CN" dirty="0"/>
              <a:t> = - b</a:t>
            </a:r>
            <a:endParaRPr lang="it-IT" altLang="zh-CN" dirty="0"/>
          </a:p>
          <a:p>
            <a:r>
              <a:rPr lang="nn-NO" altLang="zh-CN" dirty="0"/>
              <a:t>t4 = c + d</a:t>
            </a:r>
          </a:p>
          <a:p>
            <a:r>
              <a:rPr lang="nn-NO" altLang="zh-CN" dirty="0"/>
              <a:t>t5 = t3 * t4</a:t>
            </a:r>
          </a:p>
          <a:p>
            <a:endParaRPr lang="en-US" altLang="zh-CN" sz="20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nn-NO" altLang="zh-CN" dirty="0"/>
          </a:p>
          <a:p>
            <a:r>
              <a:rPr lang="nn-NO" altLang="zh-CN" dirty="0"/>
              <a:t>a = t5</a:t>
            </a:r>
          </a:p>
          <a:p>
            <a:r>
              <a:rPr lang="en-US" altLang="zh-CN" dirty="0"/>
              <a:t>b = a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a + 1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t2</a:t>
            </a:r>
            <a:endParaRPr lang="zh-CN" altLang="en-US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label </a:t>
            </a:r>
            <a:r>
              <a:rPr lang="en-US" altLang="zh-CN" dirty="0" err="1"/>
              <a:t>L2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54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for (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en-US" altLang="zh-CN" dirty="0"/>
              <a:t> ; E ;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2</a:t>
            </a:r>
            <a:r>
              <a:rPr lang="en-US" altLang="zh-CN" dirty="0"/>
              <a:t> ) { </a:t>
            </a:r>
            <a:r>
              <a:rPr lang="en-US" altLang="zh-CN" dirty="0" err="1"/>
              <a:t>S_list</a:t>
            </a:r>
            <a:r>
              <a:rPr lang="en-US" altLang="zh-CN" dirty="0"/>
              <a:t> }	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L1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symbol ( </a:t>
            </a:r>
            <a:r>
              <a:rPr lang="en-US" altLang="zh-CN" dirty="0" err="1"/>
              <a:t>L1</a:t>
            </a:r>
            <a:r>
              <a:rPr lang="en-US" altLang="zh-CN" dirty="0"/>
              <a:t> , label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label </a:t>
            </a:r>
            <a:r>
              <a:rPr lang="en-US" altLang="zh-CN" dirty="0" err="1"/>
              <a:t>L1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E.tac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L2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7829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	symbol ( </a:t>
            </a:r>
            <a:r>
              <a:rPr lang="en-US" altLang="zh-CN" dirty="0" err="1"/>
              <a:t>L2</a:t>
            </a:r>
            <a:r>
              <a:rPr lang="en-US" altLang="zh-CN" dirty="0"/>
              <a:t> , label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ifz</a:t>
            </a:r>
            <a:r>
              <a:rPr lang="en-US" altLang="zh-CN" dirty="0"/>
              <a:t> </a:t>
            </a:r>
            <a:r>
              <a:rPr lang="en-US" altLang="zh-CN" dirty="0" err="1"/>
              <a:t>E.addr</a:t>
            </a:r>
            <a:r>
              <a:rPr lang="en-US" altLang="zh-CN" dirty="0"/>
              <a:t>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L2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S_list.tac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.tac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label </a:t>
            </a:r>
            <a:r>
              <a:rPr lang="en-US" altLang="zh-CN" dirty="0" err="1"/>
              <a:t>L2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2082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● </a:t>
            </a:r>
            <a:r>
              <a:rPr lang="pt-BR" altLang="zh-CN" dirty="0"/>
              <a:t>for  ( a=0 ; </a:t>
            </a:r>
          </a:p>
          <a:p>
            <a:r>
              <a:rPr lang="pt-BR" altLang="zh-CN" dirty="0"/>
              <a:t>		a&lt;10 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>
                <a:solidFill>
                  <a:srgbClr val="EE853E"/>
                </a:solidFill>
              </a:rPr>
              <a:t>S</a:t>
            </a:r>
            <a:r>
              <a:rPr lang="en-US" altLang="zh-CN" baseline="-25000" dirty="0" err="1">
                <a:solidFill>
                  <a:srgbClr val="EE853E"/>
                </a:solidFill>
              </a:rPr>
              <a:t>1</a:t>
            </a:r>
            <a:r>
              <a:rPr lang="nn-NO" altLang="zh-CN" dirty="0"/>
              <a:t> ● ;</a:t>
            </a:r>
            <a:endParaRPr lang="pt-BR" altLang="zh-CN" dirty="0"/>
          </a:p>
          <a:p>
            <a:r>
              <a:rPr lang="pt-BR" altLang="zh-CN" dirty="0"/>
              <a:t>		a&lt;10 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</a:t>
            </a:r>
            <a:r>
              <a:rPr lang="en-US" altLang="zh-CN" baseline="-25000" dirty="0" err="1">
                <a:solidFill>
                  <a:srgbClr val="EE853E"/>
                </a:solidFill>
              </a:rPr>
              <a:t>1</a:t>
            </a:r>
            <a:r>
              <a:rPr lang="en-US" altLang="zh-CN" dirty="0" err="1">
                <a:solidFill>
                  <a:srgbClr val="EE853E"/>
                </a:solidFill>
              </a:rPr>
              <a:t>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a=0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87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● </a:t>
            </a:r>
            <a:endParaRPr lang="pt-BR" altLang="zh-CN" dirty="0"/>
          </a:p>
          <a:p>
            <a:r>
              <a:rPr lang="pt-BR" altLang="zh-CN" dirty="0"/>
              <a:t>		a&lt;10 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;</a:t>
            </a:r>
            <a:endParaRPr lang="pt-BR" altLang="zh-CN" dirty="0"/>
          </a:p>
          <a:p>
            <a:r>
              <a:rPr lang="pt-BR" altLang="zh-CN" dirty="0"/>
              <a:t>		</a:t>
            </a:r>
            <a:r>
              <a:rPr lang="pt-BR" altLang="zh-CN" dirty="0">
                <a:solidFill>
                  <a:srgbClr val="EE853E"/>
                </a:solidFill>
              </a:rPr>
              <a:t>E</a:t>
            </a:r>
            <a:r>
              <a:rPr lang="pt-BR" altLang="zh-CN" dirty="0"/>
              <a:t> </a:t>
            </a:r>
            <a:r>
              <a:rPr lang="nn-NO" altLang="zh-CN" dirty="0"/>
              <a:t>● </a:t>
            </a:r>
            <a:r>
              <a:rPr lang="pt-BR" altLang="zh-CN" dirty="0"/>
              <a:t>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a &lt; 10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951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endParaRPr lang="pt-BR" altLang="zh-CN" dirty="0"/>
          </a:p>
          <a:p>
            <a:r>
              <a:rPr lang="pt-BR" altLang="zh-CN" dirty="0"/>
              <a:t>		E </a:t>
            </a:r>
            <a:r>
              <a:rPr lang="nn-NO" altLang="zh-CN" dirty="0"/>
              <a:t>● </a:t>
            </a:r>
            <a:r>
              <a:rPr lang="pt-BR" altLang="zh-CN" dirty="0"/>
              <a:t>; </a:t>
            </a:r>
          </a:p>
          <a:p>
            <a:r>
              <a:rPr lang="pt-BR" altLang="zh-CN" dirty="0"/>
              <a:t>		a=a+1 )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;</a:t>
            </a:r>
            <a:r>
              <a:rPr lang="pt-BR" altLang="zh-CN" dirty="0"/>
              <a:t> </a:t>
            </a:r>
          </a:p>
          <a:p>
            <a:r>
              <a:rPr lang="pt-BR" altLang="zh-CN" dirty="0"/>
              <a:t>		E ; </a:t>
            </a:r>
          </a:p>
          <a:p>
            <a:r>
              <a:rPr lang="pt-BR" altLang="zh-CN" dirty="0"/>
              <a:t>		</a:t>
            </a:r>
            <a:r>
              <a:rPr lang="en-US" altLang="zh-CN" dirty="0" err="1">
                <a:solidFill>
                  <a:srgbClr val="EE853E"/>
                </a:solidFill>
              </a:rPr>
              <a:t>S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pt-BR" altLang="zh-CN" dirty="0"/>
              <a:t> </a:t>
            </a:r>
            <a:r>
              <a:rPr lang="nn-NO" altLang="zh-CN" dirty="0"/>
              <a:t>● </a:t>
            </a:r>
            <a:r>
              <a:rPr lang="pt-BR" altLang="zh-CN" dirty="0"/>
              <a:t>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en-US" altLang="zh-CN" dirty="0" err="1">
                <a:solidFill>
                  <a:srgbClr val="EE853E"/>
                </a:solidFill>
              </a:rPr>
              <a:t>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t2</a:t>
            </a:r>
            <a:r>
              <a:rPr lang="en-US" altLang="zh-CN" dirty="0"/>
              <a:t> = a + 1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t2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880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;</a:t>
            </a:r>
            <a:r>
              <a:rPr lang="pt-BR" altLang="zh-CN" dirty="0"/>
              <a:t> </a:t>
            </a:r>
          </a:p>
          <a:p>
            <a:r>
              <a:rPr lang="pt-BR" altLang="zh-CN" dirty="0"/>
              <a:t>		E ; </a:t>
            </a:r>
          </a:p>
          <a:p>
            <a:r>
              <a:rPr lang="pt-BR" altLang="zh-CN" dirty="0"/>
              <a:t>	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2</a:t>
            </a:r>
            <a:r>
              <a:rPr lang="pt-BR" altLang="zh-CN" dirty="0"/>
              <a:t> </a:t>
            </a:r>
            <a:r>
              <a:rPr lang="nn-NO" altLang="zh-CN" dirty="0"/>
              <a:t>● </a:t>
            </a:r>
            <a:r>
              <a:rPr lang="pt-BR" altLang="zh-CN" dirty="0"/>
              <a:t>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;</a:t>
            </a:r>
            <a:r>
              <a:rPr lang="pt-BR" altLang="zh-CN" dirty="0"/>
              <a:t> </a:t>
            </a:r>
          </a:p>
          <a:p>
            <a:r>
              <a:rPr lang="pt-BR" altLang="zh-CN" dirty="0"/>
              <a:t>		E ; </a:t>
            </a:r>
          </a:p>
          <a:p>
            <a:r>
              <a:rPr lang="pt-BR" altLang="zh-CN" dirty="0"/>
              <a:t>	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2</a:t>
            </a:r>
            <a:r>
              <a:rPr lang="pt-BR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nn-NO" altLang="zh-CN" dirty="0"/>
              <a:t> 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t3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t4 = c + d</a:t>
            </a:r>
          </a:p>
          <a:p>
            <a:r>
              <a:rPr lang="nn-NO" altLang="zh-CN" dirty="0"/>
              <a:t>t5 = t3 * t4</a:t>
            </a:r>
          </a:p>
          <a:p>
            <a:r>
              <a:rPr lang="nn-NO" altLang="zh-CN" dirty="0"/>
              <a:t>a = t5</a:t>
            </a:r>
          </a:p>
          <a:p>
            <a:r>
              <a:rPr lang="en-US" altLang="zh-CN" dirty="0"/>
              <a:t>b = a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59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pt-BR" altLang="zh-CN" dirty="0"/>
              <a:t>for  ( 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1</a:t>
            </a:r>
            <a:r>
              <a:rPr lang="nn-NO" altLang="zh-CN" dirty="0"/>
              <a:t> ;</a:t>
            </a:r>
            <a:r>
              <a:rPr lang="pt-BR" altLang="zh-CN" dirty="0"/>
              <a:t> </a:t>
            </a:r>
          </a:p>
          <a:p>
            <a:r>
              <a:rPr lang="pt-BR" altLang="zh-CN" dirty="0"/>
              <a:t>		E ; </a:t>
            </a:r>
          </a:p>
          <a:p>
            <a:r>
              <a:rPr lang="pt-BR" altLang="zh-CN" dirty="0"/>
              <a:t>		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2</a:t>
            </a:r>
            <a:r>
              <a:rPr lang="pt-BR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 </a:t>
            </a:r>
            <a:r>
              <a:rPr lang="en-US" altLang="zh-CN" dirty="0" err="1"/>
              <a:t>S_list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C98AD6-1DDD-4610-A0D3-08A599184EB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0454" y="899999"/>
            <a:ext cx="3240000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a=0</a:t>
            </a:r>
          </a:p>
          <a:p>
            <a:r>
              <a:rPr lang="it-IT" altLang="zh-CN" dirty="0"/>
              <a:t>label L1</a:t>
            </a:r>
          </a:p>
          <a:p>
            <a:r>
              <a:rPr lang="en-US" altLang="zh-CN" dirty="0" err="1"/>
              <a:t>t1</a:t>
            </a:r>
            <a:r>
              <a:rPr lang="en-US" altLang="zh-CN" dirty="0"/>
              <a:t> = a &lt; 10</a:t>
            </a:r>
          </a:p>
          <a:p>
            <a:r>
              <a:rPr lang="it-IT" altLang="zh-CN" dirty="0"/>
              <a:t>ifz t1 goto L2</a:t>
            </a:r>
          </a:p>
          <a:p>
            <a:r>
              <a:rPr lang="en-US" altLang="zh-CN" dirty="0" err="1"/>
              <a:t>t3</a:t>
            </a:r>
            <a:r>
              <a:rPr lang="en-US" altLang="zh-CN" dirty="0"/>
              <a:t> = - b</a:t>
            </a:r>
            <a:endParaRPr lang="it-IT" altLang="zh-CN" dirty="0"/>
          </a:p>
          <a:p>
            <a:r>
              <a:rPr lang="nn-NO" altLang="zh-CN" dirty="0"/>
              <a:t>t4 = c + d</a:t>
            </a:r>
          </a:p>
          <a:p>
            <a:r>
              <a:rPr lang="nn-NO" altLang="zh-CN" dirty="0"/>
              <a:t>t5 = t3 * t4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03F87BD-EF05-44C1-AD9E-053213CBDCA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a = t5</a:t>
            </a:r>
          </a:p>
          <a:p>
            <a:r>
              <a:rPr lang="en-US" altLang="zh-CN" dirty="0"/>
              <a:t>b = a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a + 1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t2</a:t>
            </a:r>
            <a:endParaRPr lang="zh-CN" altLang="en-US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label </a:t>
            </a:r>
            <a:r>
              <a:rPr lang="en-US" altLang="zh-CN" dirty="0" err="1"/>
              <a:t>L2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706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6723</TotalTime>
  <Words>825</Words>
  <Application>Microsoft Office PowerPoint</Application>
  <PresentationFormat>宽屏</PresentationFormat>
  <Paragraphs>178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语义子程序</vt:lpstr>
      <vt:lpstr>语义分析过程</vt:lpstr>
      <vt:lpstr>语义分析过程</vt:lpstr>
      <vt:lpstr>语义分析过程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1283</cp:revision>
  <cp:lastPrinted>1601-01-01T00:00:00Z</cp:lastPrinted>
  <dcterms:created xsi:type="dcterms:W3CDTF">1601-01-01T00:00:00Z</dcterms:created>
  <dcterms:modified xsi:type="dcterms:W3CDTF">2020-04-02T13:42:54Z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