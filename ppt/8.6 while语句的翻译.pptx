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9"/>
  </p:notesMasterIdLst>
  <p:handoutMasterIdLst>
    <p:handoutMasterId r:id="rId10"/>
  </p:handoutMasterIdLst>
  <p:sldIdLst>
    <p:sldId id="386" r:id="rId2"/>
    <p:sldId id="298" r:id="rId3"/>
    <p:sldId id="388" r:id="rId4"/>
    <p:sldId id="376" r:id="rId5"/>
    <p:sldId id="389" r:id="rId6"/>
    <p:sldId id="396" r:id="rId7"/>
    <p:sldId id="397" r:id="rId8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2" autoAdjust="0"/>
    <p:restoredTop sz="89127" autoAdjust="0"/>
  </p:normalViewPr>
  <p:slideViewPr>
    <p:cSldViewPr>
      <p:cViewPr varScale="1">
        <p:scale>
          <a:sx n="80" d="100"/>
          <a:sy n="80" d="100"/>
        </p:scale>
        <p:origin x="44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191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154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881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58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45227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70454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6CEB031-D232-4E70-89DA-EAEFA87DCE0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5681" y="899999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792062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08" r:id="rId5"/>
    <p:sldLayoutId id="2147484312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第五节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if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第六节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</a:rPr>
                <a:t>while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</a:rPr>
                <a:t>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第七节 </a:t>
              </a:r>
              <a:r>
                <a:rPr lang="en-US" altLang="zh-CN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for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第八节 函数的翻译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A8201A18-6154-4529-8A1F-F44752894B81}"/>
              </a:ext>
            </a:extLst>
          </p:cNvPr>
          <p:cNvSpPr/>
          <p:nvPr/>
        </p:nvSpPr>
        <p:spPr>
          <a:xfrm>
            <a:off x="2983159" y="2698804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36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示例语言的 </a:t>
            </a:r>
            <a:r>
              <a:rPr lang="en-US" altLang="zh-CN" dirty="0"/>
              <a:t>while </a:t>
            </a:r>
            <a:r>
              <a:rPr lang="zh-CN" altLang="en-US" dirty="0"/>
              <a:t>语句：</a:t>
            </a:r>
          </a:p>
          <a:p>
            <a:r>
              <a:rPr lang="en-US" altLang="zh-CN" dirty="0"/>
              <a:t>while (a) { a=</a:t>
            </a:r>
            <a:r>
              <a:rPr lang="en-US" altLang="zh-CN" dirty="0" err="1"/>
              <a:t>b+c</a:t>
            </a:r>
            <a:r>
              <a:rPr lang="en-US" altLang="zh-CN" dirty="0"/>
              <a:t>; }</a:t>
            </a:r>
          </a:p>
          <a:p>
            <a:r>
              <a:rPr lang="en-US" altLang="zh-CN" dirty="0"/>
              <a:t>while (</a:t>
            </a:r>
            <a:r>
              <a:rPr lang="en-US" altLang="zh-CN" dirty="0" err="1"/>
              <a:t>a+b</a:t>
            </a:r>
            <a:r>
              <a:rPr lang="en-US" altLang="zh-CN" dirty="0"/>
              <a:t>) { a=</a:t>
            </a:r>
            <a:r>
              <a:rPr lang="en-US" altLang="zh-CN" dirty="0" err="1"/>
              <a:t>b+c</a:t>
            </a:r>
            <a:r>
              <a:rPr lang="en-US" altLang="zh-CN" dirty="0"/>
              <a:t>; b=2; ... ; }</a:t>
            </a:r>
          </a:p>
          <a:p>
            <a:r>
              <a:rPr lang="en-US" altLang="zh-CN" dirty="0"/>
              <a:t>while (a) { ... ; if ... ; while ... ;  if ... { ... while ... { ... if ... } } }</a:t>
            </a:r>
          </a:p>
          <a:p>
            <a:endParaRPr lang="en-US" altLang="zh-CN" dirty="0"/>
          </a:p>
          <a:p>
            <a:r>
              <a:rPr lang="zh-CN" altLang="en-US" dirty="0"/>
              <a:t>采用下列语法规则：</a:t>
            </a:r>
            <a:endParaRPr lang="en-US" altLang="zh-CN" dirty="0"/>
          </a:p>
          <a:p>
            <a:r>
              <a:rPr lang="en-US" altLang="zh-CN" dirty="0"/>
              <a:t>S → while ( E ) { </a:t>
            </a:r>
            <a:r>
              <a:rPr lang="en-US" altLang="zh-CN" dirty="0" err="1"/>
              <a:t>S_list</a:t>
            </a:r>
            <a:r>
              <a:rPr lang="en-US" altLang="zh-CN" dirty="0"/>
              <a:t> }</a:t>
            </a:r>
            <a:endParaRPr lang="zh-CN" altLang="en-US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</p:spTree>
    <p:extLst>
      <p:ext uri="{BB962C8B-B14F-4D97-AF65-F5344CB8AC3E}">
        <p14:creationId xmlns:p14="http://schemas.microsoft.com/office/powerpoint/2010/main" val="12578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endParaRPr lang="en-US" altLang="zh-CN" dirty="0"/>
          </a:p>
          <a:p>
            <a:r>
              <a:rPr lang="en-US" altLang="zh-CN" dirty="0"/>
              <a:t>while ( a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it-IT" altLang="zh-CN" dirty="0"/>
          </a:p>
          <a:p>
            <a:r>
              <a:rPr lang="it-IT" altLang="zh-CN" dirty="0"/>
              <a:t>label L1</a:t>
            </a:r>
          </a:p>
          <a:p>
            <a:r>
              <a:rPr lang="it-IT" altLang="zh-CN" dirty="0"/>
              <a:t>ifz a goto L2</a:t>
            </a:r>
          </a:p>
          <a:p>
            <a:r>
              <a:rPr lang="it-IT" altLang="zh-CN" dirty="0"/>
              <a:t>t1 = - b</a:t>
            </a:r>
          </a:p>
          <a:p>
            <a:r>
              <a:rPr lang="it-IT" altLang="zh-CN" dirty="0"/>
              <a:t>t2 = c + d</a:t>
            </a:r>
          </a:p>
          <a:p>
            <a:r>
              <a:rPr lang="it-IT" altLang="zh-CN" dirty="0"/>
              <a:t>t3 = t1 * t2</a:t>
            </a:r>
          </a:p>
          <a:p>
            <a:endParaRPr lang="en-US" altLang="zh-CN" sz="20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 altLang="zh-CN" dirty="0"/>
          </a:p>
          <a:p>
            <a:endParaRPr lang="nn-NO" altLang="zh-CN" dirty="0"/>
          </a:p>
          <a:p>
            <a:r>
              <a:rPr lang="it-IT" altLang="zh-CN" dirty="0"/>
              <a:t>a = t3</a:t>
            </a:r>
          </a:p>
          <a:p>
            <a:r>
              <a:rPr lang="it-IT" altLang="zh-CN" dirty="0"/>
              <a:t>b = a</a:t>
            </a:r>
          </a:p>
          <a:p>
            <a:r>
              <a:rPr lang="it-IT" altLang="zh-CN" dirty="0"/>
              <a:t>goto L1</a:t>
            </a:r>
          </a:p>
          <a:p>
            <a:r>
              <a:rPr lang="it-IT" altLang="zh-CN" dirty="0"/>
              <a:t>label L2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54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0DA56A-F140-4308-B38F-35DDC7F2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 → while ( E ) { </a:t>
            </a:r>
            <a:r>
              <a:rPr lang="en-US" altLang="zh-CN" dirty="0" err="1"/>
              <a:t>S_list</a:t>
            </a:r>
            <a:r>
              <a:rPr lang="en-US" altLang="zh-CN" dirty="0"/>
              <a:t> }	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L1</a:t>
            </a:r>
            <a:r>
              <a:rPr lang="en-US" altLang="zh-CN" dirty="0"/>
              <a:t> = </a:t>
            </a:r>
            <a:r>
              <a:rPr lang="en-US" altLang="zh-CN" dirty="0" err="1"/>
              <a:t>new_label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symbol ( </a:t>
            </a:r>
            <a:r>
              <a:rPr lang="en-US" altLang="zh-CN" dirty="0" err="1"/>
              <a:t>L1</a:t>
            </a:r>
            <a:r>
              <a:rPr lang="en-US" altLang="zh-CN" dirty="0"/>
              <a:t> , label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= append ( label </a:t>
            </a:r>
            <a:r>
              <a:rPr lang="en-US" altLang="zh-CN" dirty="0" err="1"/>
              <a:t>L1</a:t>
            </a:r>
            <a:r>
              <a:rPr lang="en-US" altLang="zh-CN" dirty="0"/>
              <a:t> , </a:t>
            </a:r>
            <a:r>
              <a:rPr lang="en-US" altLang="zh-CN" dirty="0" err="1"/>
              <a:t>E.tac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L2</a:t>
            </a:r>
            <a:r>
              <a:rPr lang="en-US" altLang="zh-CN" dirty="0"/>
              <a:t> = </a:t>
            </a:r>
            <a:r>
              <a:rPr lang="en-US" altLang="zh-CN" dirty="0" err="1"/>
              <a:t>new_label</a:t>
            </a:r>
            <a:r>
              <a:rPr lang="en-US" altLang="zh-CN" dirty="0"/>
              <a:t> ( )</a:t>
            </a:r>
          </a:p>
          <a:p>
            <a:r>
              <a:rPr lang="en-US" altLang="zh-CN" dirty="0"/>
              <a:t>	symbol ( </a:t>
            </a:r>
            <a:r>
              <a:rPr lang="en-US" altLang="zh-CN" dirty="0" err="1"/>
              <a:t>L2</a:t>
            </a:r>
            <a:r>
              <a:rPr lang="en-US" altLang="zh-CN" dirty="0"/>
              <a:t> , label 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2669A5-85B1-4938-A11D-40236102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17829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50DA56A-F140-4308-B38F-35DDC7F2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 =	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ifz</a:t>
            </a:r>
            <a:r>
              <a:rPr lang="en-US" altLang="zh-CN" dirty="0"/>
              <a:t> </a:t>
            </a:r>
            <a:r>
              <a:rPr lang="en-US" altLang="zh-CN" dirty="0" err="1"/>
              <a:t>E.addr</a:t>
            </a:r>
            <a:r>
              <a:rPr lang="en-US" altLang="zh-CN" dirty="0"/>
              <a:t>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L2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 =	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S_list.tac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 =	append ( </a:t>
            </a:r>
            <a:r>
              <a:rPr lang="en-US" altLang="zh-CN" dirty="0" err="1"/>
              <a:t>S.tac</a:t>
            </a:r>
            <a:r>
              <a:rPr lang="en-US" altLang="zh-CN" dirty="0"/>
              <a:t> ,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S.tac</a:t>
            </a:r>
            <a:r>
              <a:rPr lang="en-US" altLang="zh-CN" dirty="0"/>
              <a:t>  =	append ( </a:t>
            </a:r>
            <a:r>
              <a:rPr lang="en-US" altLang="zh-CN" dirty="0" err="1"/>
              <a:t>S.tac</a:t>
            </a:r>
            <a:r>
              <a:rPr lang="en-US" altLang="zh-CN" dirty="0"/>
              <a:t> , label </a:t>
            </a:r>
            <a:r>
              <a:rPr lang="en-US" altLang="zh-CN" dirty="0" err="1"/>
              <a:t>L2</a:t>
            </a:r>
            <a:r>
              <a:rPr lang="en-US" altLang="zh-CN" dirty="0"/>
              <a:t> )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A2669A5-85B1-4938-A11D-40236102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388569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初始时：</a:t>
            </a:r>
            <a:endParaRPr lang="en-US" altLang="zh-CN" dirty="0"/>
          </a:p>
          <a:p>
            <a:endParaRPr lang="en-US" altLang="zh-CN" dirty="0"/>
          </a:p>
          <a:p>
            <a:r>
              <a:rPr lang="nn-NO" altLang="zh-CN" dirty="0"/>
              <a:t>● </a:t>
            </a:r>
            <a:r>
              <a:rPr lang="en-US" altLang="zh-CN" dirty="0"/>
              <a:t>while ( a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a=-b*(</a:t>
            </a:r>
            <a:r>
              <a:rPr lang="en-US" altLang="zh-CN" dirty="0" err="1"/>
              <a:t>c+d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	b=a;</a:t>
            </a:r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while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nn-NO" altLang="zh-CN" dirty="0"/>
              <a:t> ● 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S_list.tac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 err="1"/>
              <a:t>t1</a:t>
            </a:r>
            <a:r>
              <a:rPr lang="en-US" altLang="zh-CN" dirty="0"/>
              <a:t> = - b</a:t>
            </a:r>
          </a:p>
          <a:p>
            <a:r>
              <a:rPr lang="nn-NO" altLang="zh-CN" dirty="0"/>
              <a:t>t2 = c + d</a:t>
            </a:r>
          </a:p>
          <a:p>
            <a:r>
              <a:rPr lang="nn-NO" altLang="zh-CN" dirty="0"/>
              <a:t>t3 = t1 * t2</a:t>
            </a:r>
          </a:p>
          <a:p>
            <a:r>
              <a:rPr lang="nn-NO" altLang="zh-CN" dirty="0"/>
              <a:t>a = t3</a:t>
            </a:r>
          </a:p>
          <a:p>
            <a:r>
              <a:rPr lang="en-US" altLang="zh-CN" dirty="0"/>
              <a:t>b = a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387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5CA55-5B86-4972-8200-18A0FCAF7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while ( E ) </a:t>
            </a:r>
          </a:p>
          <a:p>
            <a:r>
              <a:rPr lang="en-US" altLang="zh-CN" dirty="0"/>
              <a:t>{ </a:t>
            </a:r>
          </a:p>
          <a:p>
            <a:r>
              <a:rPr lang="en-US" altLang="zh-CN" dirty="0"/>
              <a:t>	</a:t>
            </a:r>
            <a:r>
              <a:rPr lang="en-US" altLang="zh-CN" dirty="0">
                <a:solidFill>
                  <a:srgbClr val="EE853E"/>
                </a:solidFill>
              </a:rPr>
              <a:t> </a:t>
            </a:r>
            <a:r>
              <a:rPr lang="en-US" altLang="zh-CN" dirty="0" err="1">
                <a:solidFill>
                  <a:srgbClr val="EE853E"/>
                </a:solidFill>
              </a:rPr>
              <a:t>S_list</a:t>
            </a:r>
            <a:r>
              <a:rPr lang="nn-NO" altLang="zh-CN" dirty="0"/>
              <a:t> ● </a:t>
            </a:r>
            <a:endParaRPr lang="en-US" altLang="zh-CN" dirty="0"/>
          </a:p>
          <a:p>
            <a:r>
              <a:rPr lang="en-US" altLang="zh-CN" dirty="0"/>
              <a:t>}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5DA635-9E04-49F4-B2C1-A276C6ABA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2A0C5E-8A66-4302-968D-24B5BE5C7DB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时刻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EE853E"/>
                </a:solidFill>
              </a:rPr>
              <a:t>S</a:t>
            </a:r>
            <a:r>
              <a:rPr lang="nn-NO" altLang="zh-CN" dirty="0"/>
              <a:t> ● 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0771B7A-B3AD-4A77-B9DF-B9D1CD6BEFE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70454" y="899999"/>
            <a:ext cx="3887946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/>
          </a:p>
          <a:p>
            <a:endParaRPr lang="en-US" altLang="zh-CN" dirty="0">
              <a:solidFill>
                <a:srgbClr val="EE853E"/>
              </a:solidFill>
            </a:endParaRPr>
          </a:p>
          <a:p>
            <a:r>
              <a:rPr lang="it-IT" altLang="zh-CN" dirty="0"/>
              <a:t>label L1</a:t>
            </a:r>
          </a:p>
          <a:p>
            <a:r>
              <a:rPr lang="it-IT" altLang="zh-CN" dirty="0"/>
              <a:t>ifz a goto L2</a:t>
            </a:r>
          </a:p>
          <a:p>
            <a:r>
              <a:rPr lang="it-IT" altLang="zh-CN" dirty="0"/>
              <a:t>t1 = - b</a:t>
            </a:r>
          </a:p>
          <a:p>
            <a:r>
              <a:rPr lang="it-IT" altLang="zh-CN" dirty="0"/>
              <a:t>t2 = c + d</a:t>
            </a:r>
          </a:p>
          <a:p>
            <a:r>
              <a:rPr lang="it-IT" altLang="zh-CN" dirty="0"/>
              <a:t>t3 = t1 * t2</a:t>
            </a:r>
          </a:p>
          <a:p>
            <a:endParaRPr lang="it-IT" altLang="zh-CN" dirty="0"/>
          </a:p>
          <a:p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1CAFE8E7-7584-428C-A68B-066A6596BDB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895680" y="899999"/>
            <a:ext cx="3067719" cy="5237998"/>
          </a:xfrm>
        </p:spPr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it-IT" altLang="zh-CN" dirty="0"/>
              <a:t>a = t3</a:t>
            </a:r>
          </a:p>
          <a:p>
            <a:r>
              <a:rPr lang="it-IT" altLang="zh-CN" dirty="0"/>
              <a:t>b = a</a:t>
            </a:r>
          </a:p>
          <a:p>
            <a:r>
              <a:rPr lang="it-IT" altLang="zh-CN" dirty="0"/>
              <a:t>goto L1</a:t>
            </a:r>
          </a:p>
          <a:p>
            <a:r>
              <a:rPr lang="it-IT" altLang="zh-CN" dirty="0"/>
              <a:t>label L2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868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6383</TotalTime>
  <Words>423</Words>
  <Application>Microsoft Office PowerPoint</Application>
  <PresentationFormat>宽屏</PresentationFormat>
  <Paragraphs>94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微软雅黑</vt:lpstr>
      <vt:lpstr>Arial</vt:lpstr>
      <vt:lpstr>Wingdings</vt:lpstr>
      <vt:lpstr>环保</vt:lpstr>
      <vt:lpstr>第八章 语义分析</vt:lpstr>
      <vt:lpstr>语法规则</vt:lpstr>
      <vt:lpstr>语义分析目标</vt:lpstr>
      <vt:lpstr>语义子程序</vt:lpstr>
      <vt:lpstr>语义子程序</vt:lpstr>
      <vt:lpstr>语义分析过程</vt:lpstr>
      <vt:lpstr>语义分析过程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1245</cp:revision>
  <cp:lastPrinted>1601-01-01T00:00:00Z</cp:lastPrinted>
  <dcterms:created xsi:type="dcterms:W3CDTF">1601-01-01T00:00:00Z</dcterms:created>
  <dcterms:modified xsi:type="dcterms:W3CDTF">2020-03-25T13:35:45Z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