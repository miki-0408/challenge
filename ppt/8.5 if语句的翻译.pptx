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0"/>
  </p:notesMasterIdLst>
  <p:handoutMasterIdLst>
    <p:handoutMasterId r:id="rId21"/>
  </p:handoutMasterIdLst>
  <p:sldIdLst>
    <p:sldId id="371" r:id="rId2"/>
    <p:sldId id="298" r:id="rId3"/>
    <p:sldId id="388" r:id="rId4"/>
    <p:sldId id="375" r:id="rId5"/>
    <p:sldId id="386" r:id="rId6"/>
    <p:sldId id="387" r:id="rId7"/>
    <p:sldId id="389" r:id="rId8"/>
    <p:sldId id="390" r:id="rId9"/>
    <p:sldId id="391" r:id="rId10"/>
    <p:sldId id="392" r:id="rId11"/>
    <p:sldId id="393" r:id="rId12"/>
    <p:sldId id="305" r:id="rId13"/>
    <p:sldId id="394" r:id="rId14"/>
    <p:sldId id="381" r:id="rId15"/>
    <p:sldId id="395" r:id="rId16"/>
    <p:sldId id="396" r:id="rId17"/>
    <p:sldId id="397" r:id="rId18"/>
    <p:sldId id="398" r:id="rId19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2" autoAdjust="0"/>
    <p:restoredTop sz="89127" autoAdjust="0"/>
  </p:normalViewPr>
  <p:slideViewPr>
    <p:cSldViewPr>
      <p:cViewPr varScale="1">
        <p:scale>
          <a:sx n="51" d="100"/>
          <a:sy n="51" d="100"/>
        </p:scale>
        <p:origin x="116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19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5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51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4737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15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45227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0454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6CEB031-D232-4E70-89DA-EAEFA87DCE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5681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89025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第五节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if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第六节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while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for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函数的翻译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8201A18-6154-4529-8A1F-F44752894B81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41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 </a:t>
            </a:r>
            <a:r>
              <a:rPr lang="en-US" altLang="zh-CN" dirty="0"/>
              <a:t>if </a:t>
            </a:r>
            <a:r>
              <a:rPr lang="zh-CN" altLang="en-US" dirty="0"/>
              <a:t>语句：</a:t>
            </a:r>
          </a:p>
          <a:p>
            <a:r>
              <a:rPr lang="en-US" altLang="zh-CN" dirty="0"/>
              <a:t>if (a) { b=1; }</a:t>
            </a:r>
          </a:p>
          <a:p>
            <a:r>
              <a:rPr lang="en-US" altLang="zh-CN" dirty="0"/>
              <a:t>if (b) { c=1; }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a+b</a:t>
            </a:r>
            <a:r>
              <a:rPr lang="en-US" altLang="zh-CN" dirty="0"/>
              <a:t>) { b=1; c=2; }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a+b</a:t>
            </a:r>
            <a:r>
              <a:rPr lang="en-US" altLang="zh-CN" dirty="0"/>
              <a:t>) { b=1; c=2; if (d) { e=1; } }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 err="1"/>
              <a:t>S_list</a:t>
            </a:r>
            <a:r>
              <a:rPr lang="en-US" altLang="zh-CN" dirty="0"/>
              <a:t> →  </a:t>
            </a:r>
            <a:r>
              <a:rPr lang="en-US" altLang="zh-CN" dirty="0" err="1"/>
              <a:t>S_list</a:t>
            </a:r>
            <a:r>
              <a:rPr lang="en-US" altLang="zh-CN" dirty="0"/>
              <a:t>  S | S</a:t>
            </a:r>
          </a:p>
          <a:p>
            <a:r>
              <a:rPr lang="en-US" altLang="zh-CN" dirty="0"/>
              <a:t>S → if ( E ) { </a:t>
            </a:r>
            <a:r>
              <a:rPr lang="en-US" altLang="zh-CN" dirty="0" err="1"/>
              <a:t>S_list</a:t>
            </a:r>
            <a:r>
              <a:rPr lang="en-US" altLang="zh-CN" dirty="0"/>
              <a:t> }</a:t>
            </a:r>
            <a:endParaRPr lang="zh-CN" alt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12578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r>
              <a:rPr lang="en-US" altLang="zh-CN" dirty="0"/>
              <a:t>if ( 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r>
              <a:rPr lang="en-US" altLang="zh-CN" dirty="0" err="1"/>
              <a:t>ifz</a:t>
            </a:r>
            <a:r>
              <a:rPr lang="en-US" altLang="zh-CN" dirty="0"/>
              <a:t> a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en-US" altLang="zh-CN" dirty="0"/>
              <a:t>a</a:t>
            </a:r>
            <a:r>
              <a:rPr lang="nn-NO" altLang="zh-CN" dirty="0"/>
              <a:t> = t3</a:t>
            </a:r>
          </a:p>
          <a:p>
            <a:r>
              <a:rPr lang="en-US" altLang="zh-CN" dirty="0"/>
              <a:t>b = a</a:t>
            </a:r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en-US" altLang="zh-CN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50654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S_list</a:t>
            </a:r>
            <a:r>
              <a:rPr lang="en-US" altLang="zh-CN" dirty="0"/>
              <a:t> → S				{	</a:t>
            </a:r>
            <a:r>
              <a:rPr lang="en-US" altLang="zh-CN" dirty="0" err="1"/>
              <a:t>S_list.tac</a:t>
            </a:r>
            <a:r>
              <a:rPr lang="en-US" altLang="zh-CN" dirty="0"/>
              <a:t> = </a:t>
            </a:r>
            <a:r>
              <a:rPr lang="en-US" altLang="zh-CN" dirty="0" err="1"/>
              <a:t>S.tac</a:t>
            </a:r>
            <a:r>
              <a:rPr lang="en-US" altLang="zh-CN" dirty="0"/>
              <a:t>    }</a:t>
            </a:r>
          </a:p>
          <a:p>
            <a:endParaRPr lang="en-US" altLang="zh-CN" dirty="0"/>
          </a:p>
          <a:p>
            <a:r>
              <a:rPr lang="en-US" altLang="zh-CN" dirty="0" err="1"/>
              <a:t>S_list</a:t>
            </a:r>
            <a:r>
              <a:rPr lang="en-US" altLang="zh-CN" dirty="0"/>
              <a:t> → 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dirty="0"/>
              <a:t>  S		{	</a:t>
            </a:r>
            <a:r>
              <a:rPr lang="en-US" altLang="zh-CN" dirty="0" err="1"/>
              <a:t>S_list.tac</a:t>
            </a:r>
            <a:r>
              <a:rPr lang="en-US" altLang="zh-CN" dirty="0"/>
              <a:t> = append (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</a:t>
            </a:r>
            <a:r>
              <a:rPr lang="en-US" altLang="zh-CN" dirty="0" err="1"/>
              <a:t>S.tac</a:t>
            </a:r>
            <a:r>
              <a:rPr lang="en-US" altLang="zh-CN" dirty="0"/>
              <a:t> )  }</a:t>
            </a:r>
          </a:p>
          <a:p>
            <a:endParaRPr lang="en-US" altLang="zh-CN" dirty="0"/>
          </a:p>
          <a:p>
            <a:r>
              <a:rPr lang="en-US" altLang="zh-CN" dirty="0"/>
              <a:t>S → if ( E ) { </a:t>
            </a:r>
            <a:r>
              <a:rPr lang="en-US" altLang="zh-CN" dirty="0" err="1"/>
              <a:t>S_list</a:t>
            </a:r>
            <a:r>
              <a:rPr lang="en-US" altLang="zh-CN" dirty="0"/>
              <a:t> }	{	L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							symbol ( L , label )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E.tac</a:t>
            </a:r>
            <a:r>
              <a:rPr lang="en-US" altLang="zh-CN" dirty="0"/>
              <a:t> , </a:t>
            </a:r>
            <a:r>
              <a:rPr lang="en-US" altLang="zh-CN" dirty="0" err="1"/>
              <a:t>ifz</a:t>
            </a:r>
            <a:r>
              <a:rPr lang="en-US" altLang="zh-CN" dirty="0"/>
              <a:t> </a:t>
            </a:r>
            <a:r>
              <a:rPr lang="en-US" altLang="zh-CN" dirty="0" err="1"/>
              <a:t>E.addr</a:t>
            </a:r>
            <a:r>
              <a:rPr lang="en-US" altLang="zh-CN" dirty="0"/>
              <a:t> </a:t>
            </a:r>
            <a:r>
              <a:rPr lang="en-US" altLang="zh-CN" dirty="0" err="1"/>
              <a:t>goto</a:t>
            </a:r>
            <a:r>
              <a:rPr lang="en-US" altLang="zh-CN" dirty="0"/>
              <a:t> L )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label L )    }	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357642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/>
              <a:t>if ( 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nn-NO" altLang="zh-CN" dirty="0"/>
          </a:p>
          <a:p>
            <a:r>
              <a:rPr lang="nn-NO" altLang="zh-CN" dirty="0"/>
              <a:t>● </a:t>
            </a:r>
            <a:r>
              <a:rPr lang="en-US" altLang="zh-CN" dirty="0"/>
              <a:t>if ( 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</a:t>
            </a:r>
            <a:r>
              <a:rPr lang="nn-NO" altLang="zh-CN" dirty="0"/>
              <a:t> 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CAFE8E7-7584-428C-A68B-066A6596BDB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95680" y="899999"/>
            <a:ext cx="3067719" cy="5237998"/>
          </a:xfrm>
        </p:spPr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27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endParaRPr lang="en-US" altLang="zh-CN" dirty="0"/>
          </a:p>
          <a:p>
            <a:r>
              <a:rPr lang="en-US" altLang="zh-CN" dirty="0"/>
              <a:t>	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r>
              <a:rPr lang="en-US" altLang="zh-CN" dirty="0"/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C316EB-A1A4-4F2B-8CD3-5DF909DAFF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nn-NO" altLang="zh-CN" dirty="0"/>
              <a:t> 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73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</a:t>
            </a:r>
            <a:r>
              <a:rPr lang="nn-NO" altLang="zh-CN" dirty="0"/>
              <a:t> ●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749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S_list.tac</a:t>
            </a:r>
            <a:r>
              <a:rPr lang="zh-CN" altLang="en-US" dirty="0">
                <a:solidFill>
                  <a:srgbClr val="EE853E"/>
                </a:solidFill>
              </a:rPr>
              <a:t>）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54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	b=a 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b =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16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endParaRPr lang="en-US" altLang="zh-CN" dirty="0"/>
          </a:p>
          <a:p>
            <a:r>
              <a:rPr lang="en-US" altLang="zh-CN" dirty="0"/>
              <a:t>	S</a:t>
            </a:r>
            <a:r>
              <a:rPr lang="nn-NO" altLang="zh-CN" dirty="0"/>
              <a:t> 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  <a:endParaRPr lang="en-US" altLang="zh-CN" dirty="0"/>
          </a:p>
          <a:p>
            <a:r>
              <a:rPr lang="en-US" altLang="zh-CN" dirty="0"/>
              <a:t>b = a</a:t>
            </a:r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897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S_list</a:t>
            </a:r>
            <a:endParaRPr lang="en-US" altLang="zh-CN" dirty="0"/>
          </a:p>
          <a:p>
            <a:r>
              <a:rPr lang="en-US" altLang="zh-CN" dirty="0"/>
              <a:t>}</a:t>
            </a:r>
            <a:r>
              <a:rPr lang="nn-NO" altLang="zh-CN" dirty="0"/>
              <a:t> 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ifz</a:t>
            </a:r>
            <a:r>
              <a:rPr lang="en-US" altLang="zh-CN" dirty="0"/>
              <a:t> a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  <a:endParaRPr lang="en-US" altLang="zh-CN" dirty="0"/>
          </a:p>
          <a:p>
            <a:r>
              <a:rPr lang="en-US" altLang="zh-CN" dirty="0"/>
              <a:t>b = a</a:t>
            </a:r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75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38" name="Rectangle 4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 </a:t>
            </a:r>
            <a:r>
              <a:rPr lang="en-US" altLang="zh-CN" dirty="0"/>
              <a:t>if-else </a:t>
            </a:r>
            <a:r>
              <a:rPr lang="zh-CN" altLang="en-US" dirty="0"/>
              <a:t>语句：</a:t>
            </a:r>
          </a:p>
          <a:p>
            <a:r>
              <a:rPr lang="en-US" altLang="zh-CN" dirty="0"/>
              <a:t>if (a) { b=1; } else { b=2; }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a+b</a:t>
            </a:r>
            <a:r>
              <a:rPr lang="en-US" altLang="zh-CN" dirty="0"/>
              <a:t>) { b=1; } else { b=2; }</a:t>
            </a:r>
          </a:p>
          <a:p>
            <a:r>
              <a:rPr lang="en-US" altLang="zh-CN" dirty="0"/>
              <a:t>if (a) { b=</a:t>
            </a:r>
            <a:r>
              <a:rPr lang="en-US" altLang="zh-CN" dirty="0" err="1"/>
              <a:t>a+1</a:t>
            </a:r>
            <a:r>
              <a:rPr lang="en-US" altLang="zh-CN" dirty="0"/>
              <a:t>; c=</a:t>
            </a:r>
            <a:r>
              <a:rPr lang="en-US" altLang="zh-CN" dirty="0" err="1"/>
              <a:t>b+2</a:t>
            </a:r>
            <a:r>
              <a:rPr lang="en-US" altLang="zh-CN" dirty="0"/>
              <a:t>; } else { b=2; c=3; }</a:t>
            </a:r>
          </a:p>
          <a:p>
            <a:r>
              <a:rPr lang="en-US" altLang="zh-CN" dirty="0"/>
              <a:t>if (a) { if ... { if ... else ... } ... } else { if ... { if ... { if ... else ... } ... }  ... };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/>
              <a:t>S → if ( E ) {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dirty="0"/>
              <a:t> } else {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if-else </a:t>
            </a:r>
            <a:r>
              <a:rPr lang="zh-CN" altLang="en-US" dirty="0"/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01448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a ) 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 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c=a;  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ifz</a:t>
            </a:r>
            <a:r>
              <a:rPr lang="en-US" altLang="zh-CN" dirty="0"/>
              <a:t> a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</a:p>
          <a:p>
            <a:r>
              <a:rPr lang="en-US" altLang="zh-CN" dirty="0"/>
              <a:t>b = a</a:t>
            </a:r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L2</a:t>
            </a:r>
            <a:endParaRPr lang="en-US" altLang="zh-CN" dirty="0"/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c = a</a:t>
            </a:r>
          </a:p>
          <a:p>
            <a:r>
              <a:rPr lang="en-US" altLang="zh-CN" dirty="0"/>
              <a:t>label </a:t>
            </a:r>
            <a:r>
              <a:rPr lang="en-US" altLang="zh-CN" dirty="0" err="1"/>
              <a:t>L2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40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if ( E ) {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dirty="0"/>
              <a:t> } else {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L1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symbol ( </a:t>
            </a:r>
            <a:r>
              <a:rPr lang="en-US" altLang="zh-CN" dirty="0" err="1"/>
              <a:t>L1</a:t>
            </a:r>
            <a:r>
              <a:rPr lang="en-US" altLang="zh-CN" dirty="0"/>
              <a:t> , label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E.tac</a:t>
            </a:r>
            <a:r>
              <a:rPr lang="en-US" altLang="zh-CN" dirty="0"/>
              <a:t> , </a:t>
            </a:r>
            <a:r>
              <a:rPr lang="en-US" altLang="zh-CN" dirty="0" err="1"/>
              <a:t>ifz</a:t>
            </a:r>
            <a:r>
              <a:rPr lang="en-US" altLang="zh-CN" dirty="0"/>
              <a:t> </a:t>
            </a:r>
            <a:r>
              <a:rPr lang="en-US" altLang="zh-CN" dirty="0" err="1"/>
              <a:t>E.addr</a:t>
            </a:r>
            <a:r>
              <a:rPr lang="en-US" altLang="zh-CN" dirty="0"/>
              <a:t>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)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406962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L2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symbol ( </a:t>
            </a:r>
            <a:r>
              <a:rPr lang="en-US" altLang="zh-CN" dirty="0" err="1"/>
              <a:t>L2</a:t>
            </a:r>
            <a:r>
              <a:rPr lang="en-US" altLang="zh-CN" dirty="0"/>
              <a:t> , label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L2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label </a:t>
            </a:r>
            <a:r>
              <a:rPr lang="en-US" altLang="zh-CN" dirty="0" err="1"/>
              <a:t>L1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S.tac</a:t>
            </a:r>
            <a:r>
              <a:rPr lang="en-US" altLang="zh-CN" dirty="0"/>
              <a:t> , label </a:t>
            </a:r>
            <a:r>
              <a:rPr lang="en-US" altLang="zh-CN" dirty="0" err="1"/>
              <a:t>L2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58449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● </a:t>
            </a:r>
            <a:r>
              <a:rPr lang="en-US" altLang="zh-CN" dirty="0"/>
              <a:t>if ( a ) 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c=a;  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{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baseline="-25000" dirty="0" err="1">
                <a:solidFill>
                  <a:srgbClr val="EE853E"/>
                </a:solidFill>
              </a:rPr>
              <a:t>1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c=a;  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baseline="-25000" dirty="0" err="1">
                <a:solidFill>
                  <a:srgbClr val="EE853E"/>
                </a:solidFill>
              </a:rPr>
              <a:t>1</a:t>
            </a:r>
            <a:r>
              <a:rPr lang="en-US" altLang="zh-CN" dirty="0" err="1">
                <a:solidFill>
                  <a:srgbClr val="EE853E"/>
                </a:solidFill>
              </a:rPr>
              <a:t>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</a:p>
          <a:p>
            <a:r>
              <a:rPr lang="en-US" altLang="zh-CN" dirty="0"/>
              <a:t>b =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87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{ </a:t>
            </a:r>
          </a:p>
          <a:p>
            <a:r>
              <a:rPr lang="en-US" altLang="zh-CN" dirty="0"/>
              <a:t>	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r>
              <a:rPr lang="en-US" altLang="zh-CN" baseline="-25000" dirty="0"/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c=a;  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{ </a:t>
            </a:r>
          </a:p>
          <a:p>
            <a:r>
              <a:rPr lang="en-US" altLang="zh-CN" dirty="0"/>
              <a:t>	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nn-NO" altLang="zh-CN" dirty="0"/>
              <a:t>●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en-US" altLang="zh-CN" dirty="0" err="1">
                <a:solidFill>
                  <a:srgbClr val="EE853E"/>
                </a:solidFill>
              </a:rPr>
              <a:t>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 = a</a:t>
            </a:r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CAFE8E7-7584-428C-A68B-066A6596BD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24950" y="900113"/>
            <a:ext cx="3067050" cy="5237162"/>
          </a:xfrm>
          <a:prstGeom prst="rect">
            <a:avLst/>
          </a:prstGeo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051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( E ) { </a:t>
            </a:r>
          </a:p>
          <a:p>
            <a:r>
              <a:rPr lang="en-US" altLang="zh-CN" dirty="0"/>
              <a:t>	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1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else {</a:t>
            </a:r>
          </a:p>
          <a:p>
            <a:r>
              <a:rPr lang="en-US" altLang="zh-CN" dirty="0"/>
              <a:t>	 </a:t>
            </a:r>
            <a:r>
              <a:rPr lang="en-US" altLang="zh-CN" dirty="0" err="1"/>
              <a:t>S_list</a:t>
            </a:r>
            <a:r>
              <a:rPr lang="en-US" altLang="zh-CN" baseline="-25000" dirty="0" err="1"/>
              <a:t>2</a:t>
            </a:r>
            <a:endParaRPr lang="en-US" altLang="zh-CN" dirty="0"/>
          </a:p>
          <a:p>
            <a:r>
              <a:rPr lang="en-US" altLang="zh-CN" dirty="0"/>
              <a:t>}</a:t>
            </a:r>
            <a:r>
              <a:rPr lang="nn-NO" altLang="zh-CN" dirty="0"/>
              <a:t> 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0454" y="899999"/>
            <a:ext cx="3735546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ifz</a:t>
            </a:r>
            <a:r>
              <a:rPr lang="en-US" altLang="zh-CN" dirty="0"/>
              <a:t> a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</a:p>
          <a:p>
            <a:r>
              <a:rPr lang="en-US" altLang="zh-CN" dirty="0"/>
              <a:t>b = a</a:t>
            </a:r>
          </a:p>
          <a:p>
            <a:endParaRPr lang="nn-NO" altLang="zh-CN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CAFE8E7-7584-428C-A68B-066A6596BDB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95680" y="899999"/>
            <a:ext cx="3067719" cy="5237998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L2</a:t>
            </a:r>
            <a:endParaRPr lang="en-US" altLang="zh-CN" dirty="0"/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c = a</a:t>
            </a:r>
          </a:p>
          <a:p>
            <a:r>
              <a:rPr lang="en-US" altLang="zh-CN" dirty="0"/>
              <a:t>label </a:t>
            </a:r>
            <a:r>
              <a:rPr lang="en-US" altLang="zh-CN" dirty="0" err="1"/>
              <a:t>L2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0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6769</TotalTime>
  <Words>1339</Words>
  <Application>Microsoft Office PowerPoint</Application>
  <PresentationFormat>宽屏</PresentationFormat>
  <Paragraphs>315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语法分析过程</vt:lpstr>
      <vt:lpstr>语法分析过程</vt:lpstr>
      <vt:lpstr>语义分析过程</vt:lpstr>
      <vt:lpstr>语义分析过程</vt:lpstr>
      <vt:lpstr>语义分析过程</vt:lpstr>
      <vt:lpstr>语义分析过程</vt:lpstr>
      <vt:lpstr>语义分析过程</vt:lpstr>
      <vt:lpstr>if-else 语句</vt:lpstr>
      <vt:lpstr>语义分析目标</vt:lpstr>
      <vt:lpstr>语义子程序</vt:lpstr>
      <vt:lpstr>语义子程序</vt:lpstr>
      <vt:lpstr>语义分析过程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1282</cp:revision>
  <cp:lastPrinted>1601-01-01T00:00:00Z</cp:lastPrinted>
  <dcterms:created xsi:type="dcterms:W3CDTF">1601-01-01T00:00:00Z</dcterms:created>
  <dcterms:modified xsi:type="dcterms:W3CDTF">2020-04-05T04:59:20Z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