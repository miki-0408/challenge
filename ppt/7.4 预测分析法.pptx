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4"/>
  </p:notesMasterIdLst>
  <p:handoutMasterIdLst>
    <p:handoutMasterId r:id="rId25"/>
  </p:handoutMasterIdLst>
  <p:sldIdLst>
    <p:sldId id="371" r:id="rId2"/>
    <p:sldId id="292" r:id="rId3"/>
    <p:sldId id="296" r:id="rId4"/>
    <p:sldId id="294" r:id="rId5"/>
    <p:sldId id="295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73" r:id="rId16"/>
    <p:sldId id="372" r:id="rId17"/>
    <p:sldId id="375" r:id="rId18"/>
    <p:sldId id="306" r:id="rId19"/>
    <p:sldId id="308" r:id="rId20"/>
    <p:sldId id="309" r:id="rId21"/>
    <p:sldId id="311" r:id="rId22"/>
    <p:sldId id="376" r:id="rId23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EE8A3E"/>
    <a:srgbClr val="D9B247"/>
    <a:srgbClr val="0B3C4D"/>
    <a:srgbClr val="051012"/>
    <a:srgbClr val="182A48"/>
    <a:srgbClr val="A18D60"/>
    <a:srgbClr val="E98A3E"/>
    <a:srgbClr val="04141B"/>
    <a:srgbClr val="2A99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41" d="100"/>
          <a:sy n="41" d="100"/>
        </p:scale>
        <p:origin x="69" y="3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719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348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8059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1901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317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8737600" y="6324600"/>
            <a:ext cx="2844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2FDBB58-2C80-425D-AF71-964A82DB83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479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52600"/>
            <a:ext cx="5384800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384800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24600"/>
            <a:ext cx="28448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E42F5C2-5D40-40E0-A627-C2C5FC2FD3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661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  <p:sldLayoutId id="2147484310" r:id="rId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第七章 语法分析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第一节 语法分析概述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回溯分析法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递归下降分析法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预测分析法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6323BE9-57D8-467F-9A2D-90902E82A543}"/>
              </a:ext>
            </a:extLst>
          </p:cNvPr>
          <p:cNvSpPr/>
          <p:nvPr/>
        </p:nvSpPr>
        <p:spPr>
          <a:xfrm>
            <a:off x="2983159" y="415977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62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预测分析程序的结构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7F3F1B-6876-4EF6-AF9A-51DE21BB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848" y="1371600"/>
            <a:ext cx="6214304" cy="432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3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初始时，输入指针指向输入串的第一个符号，</a:t>
            </a:r>
            <a:r>
              <a:rPr lang="en-US" altLang="zh-CN" dirty="0"/>
              <a:t># </a:t>
            </a:r>
            <a:r>
              <a:rPr lang="zh-CN" altLang="en-US" dirty="0"/>
              <a:t>和文法开始符相继入栈；然后比较栈顶符号 </a:t>
            </a:r>
            <a:r>
              <a:rPr lang="en-US" altLang="zh-CN" dirty="0"/>
              <a:t>X </a:t>
            </a:r>
            <a:r>
              <a:rPr lang="zh-CN" altLang="en-US" dirty="0"/>
              <a:t>和输入符号 </a:t>
            </a:r>
            <a:r>
              <a:rPr lang="en-US" altLang="zh-CN" dirty="0"/>
              <a:t>a</a:t>
            </a:r>
            <a:r>
              <a:rPr lang="zh-CN" altLang="en-US" dirty="0"/>
              <a:t>，根据比较结果确定采取的动作：</a:t>
            </a:r>
          </a:p>
          <a:p>
            <a:r>
              <a:rPr lang="en-US" altLang="zh-CN" dirty="0"/>
              <a:t>1.	</a:t>
            </a:r>
            <a:r>
              <a:rPr lang="zh-CN" altLang="en-US" dirty="0"/>
              <a:t>如 </a:t>
            </a:r>
            <a:r>
              <a:rPr lang="en-US" altLang="zh-CN" dirty="0"/>
              <a:t>X = a = #</a:t>
            </a:r>
            <a:r>
              <a:rPr lang="zh-CN" altLang="en-US" dirty="0"/>
              <a:t>，输入串合法，分析结束。</a:t>
            </a:r>
          </a:p>
          <a:p>
            <a:r>
              <a:rPr lang="en-US" altLang="zh-CN" dirty="0"/>
              <a:t>2.	</a:t>
            </a:r>
            <a:r>
              <a:rPr lang="zh-CN" altLang="en-US" dirty="0"/>
              <a:t>如 </a:t>
            </a:r>
            <a:r>
              <a:rPr lang="en-US" altLang="zh-CN" dirty="0"/>
              <a:t>X = a </a:t>
            </a:r>
            <a:r>
              <a:rPr lang="en-US" altLang="zh-CN" dirty="0">
                <a:sym typeface="Symbol" pitchFamily="18" charset="2"/>
              </a:rPr>
              <a:t> </a:t>
            </a:r>
            <a:r>
              <a:rPr lang="en-US" altLang="zh-CN" dirty="0"/>
              <a:t>#</a:t>
            </a:r>
            <a:r>
              <a:rPr lang="zh-CN" altLang="en-US" dirty="0"/>
              <a:t>，两个符号匹配，</a:t>
            </a:r>
            <a:r>
              <a:rPr lang="en-US" altLang="zh-CN" dirty="0"/>
              <a:t>X</a:t>
            </a:r>
            <a:r>
              <a:rPr lang="zh-CN" altLang="en-US" dirty="0"/>
              <a:t>出栈，输入指针右移。</a:t>
            </a:r>
          </a:p>
          <a:p>
            <a:r>
              <a:rPr lang="en-US" altLang="zh-CN" dirty="0"/>
              <a:t>3.	</a:t>
            </a:r>
            <a:r>
              <a:rPr lang="zh-CN" altLang="en-US" dirty="0"/>
              <a:t>如 </a:t>
            </a:r>
            <a:r>
              <a:rPr lang="en-US" altLang="zh-CN" dirty="0"/>
              <a:t>X </a:t>
            </a:r>
            <a:r>
              <a:rPr lang="en-US" altLang="zh-CN" dirty="0">
                <a:sym typeface="Symbol" pitchFamily="18" charset="2"/>
              </a:rPr>
              <a:t> 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N</a:t>
            </a:r>
            <a:r>
              <a:rPr lang="zh-CN" altLang="en-US" dirty="0"/>
              <a:t>，查分析表的 </a:t>
            </a:r>
            <a:r>
              <a:rPr lang="en-US" altLang="zh-CN" dirty="0"/>
              <a:t>M[X</a:t>
            </a:r>
            <a:r>
              <a:rPr lang="zh-CN" altLang="en-US" dirty="0"/>
              <a:t>，</a:t>
            </a:r>
            <a:r>
              <a:rPr lang="en-US" altLang="zh-CN" dirty="0"/>
              <a:t>a] </a:t>
            </a:r>
            <a:r>
              <a:rPr lang="zh-CN" altLang="en-US" dirty="0"/>
              <a:t>表项，</a:t>
            </a:r>
          </a:p>
          <a:p>
            <a:r>
              <a:rPr lang="en-US" altLang="zh-CN" dirty="0"/>
              <a:t>	3.1	</a:t>
            </a:r>
            <a:r>
              <a:rPr lang="zh-CN" altLang="en-US" dirty="0"/>
              <a:t>如为“</a:t>
            </a:r>
            <a:r>
              <a:rPr lang="en-US" altLang="zh-CN" dirty="0"/>
              <a:t>X→</a:t>
            </a:r>
            <a:r>
              <a:rPr lang="el-GR" altLang="zh-CN" dirty="0"/>
              <a:t>α</a:t>
            </a:r>
            <a:r>
              <a:rPr lang="zh-CN" altLang="en-US" dirty="0"/>
              <a:t>”，</a:t>
            </a:r>
            <a:r>
              <a:rPr lang="en-US" altLang="zh-CN" dirty="0"/>
              <a:t>X</a:t>
            </a:r>
            <a:r>
              <a:rPr lang="zh-CN" altLang="en-US" dirty="0"/>
              <a:t>出栈，</a:t>
            </a:r>
            <a:r>
              <a:rPr lang="el-GR" altLang="zh-CN" dirty="0"/>
              <a:t>α</a:t>
            </a:r>
            <a:r>
              <a:rPr lang="zh-CN" altLang="en-US" dirty="0"/>
              <a:t>反向入栈；</a:t>
            </a:r>
          </a:p>
          <a:p>
            <a:r>
              <a:rPr lang="en-US" altLang="zh-CN" dirty="0"/>
              <a:t>	3.2	</a:t>
            </a:r>
            <a:r>
              <a:rPr lang="zh-CN" altLang="en-US" dirty="0"/>
              <a:t>如为“空白”，输入串非法，分析结束。</a:t>
            </a:r>
            <a:endParaRPr lang="en-US" altLang="zh-CN" dirty="0"/>
          </a:p>
        </p:txBody>
      </p:sp>
      <p:sp>
        <p:nvSpPr>
          <p:cNvPr id="4935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预测分析过程</a:t>
            </a:r>
          </a:p>
        </p:txBody>
      </p:sp>
    </p:spTree>
    <p:extLst>
      <p:ext uri="{BB962C8B-B14F-4D97-AF65-F5344CB8AC3E}">
        <p14:creationId xmlns:p14="http://schemas.microsoft.com/office/powerpoint/2010/main" val="39880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一个 </a:t>
            </a:r>
            <a:r>
              <a:rPr lang="en-US" altLang="zh-CN" dirty="0"/>
              <a:t>M[</a:t>
            </a:r>
            <a:r>
              <a:rPr lang="en-US" altLang="zh-CN" dirty="0" err="1"/>
              <a:t>X,a</a:t>
            </a:r>
            <a:r>
              <a:rPr lang="en-US" altLang="zh-CN" dirty="0"/>
              <a:t>] </a:t>
            </a:r>
            <a:r>
              <a:rPr lang="zh-CN" altLang="en-US" dirty="0"/>
              <a:t>形式的二维表格，其中</a:t>
            </a:r>
            <a:r>
              <a:rPr lang="en-US" altLang="zh-CN" dirty="0"/>
              <a:t>X</a:t>
            </a:r>
            <a:r>
              <a:rPr lang="zh-CN" altLang="en-US" dirty="0">
                <a:sym typeface="Symbol" pitchFamily="18" charset="2"/>
              </a:rPr>
              <a:t>为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N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为</a:t>
            </a:r>
            <a:r>
              <a:rPr lang="en-US" altLang="zh-CN" dirty="0"/>
              <a:t>V</a:t>
            </a:r>
            <a:r>
              <a:rPr lang="en-US" altLang="zh-CN" baseline="-25000" dirty="0"/>
              <a:t>T</a:t>
            </a:r>
            <a:r>
              <a:rPr lang="zh-CN" altLang="en-US" dirty="0"/>
              <a:t>或</a:t>
            </a:r>
            <a:r>
              <a:rPr lang="en-US" altLang="zh-CN" dirty="0"/>
              <a:t>#</a:t>
            </a:r>
            <a:r>
              <a:rPr lang="zh-CN" altLang="en-US" dirty="0"/>
              <a:t>，表项内容为一个产生式或空白。</a:t>
            </a:r>
            <a:r>
              <a:rPr lang="zh-CN" altLang="en-US" dirty="0">
                <a:solidFill>
                  <a:srgbClr val="EE853E"/>
                </a:solidFill>
              </a:rPr>
              <a:t>产生式：</a:t>
            </a:r>
            <a:r>
              <a:rPr lang="zh-CN" altLang="en-US" dirty="0"/>
              <a:t>表示栈顶符号为</a:t>
            </a:r>
            <a:r>
              <a:rPr lang="en-US" altLang="zh-CN" dirty="0"/>
              <a:t>X</a:t>
            </a:r>
            <a:r>
              <a:rPr lang="zh-CN" altLang="en-US" dirty="0"/>
              <a:t>，当前单词为</a:t>
            </a:r>
            <a:r>
              <a:rPr lang="en-US" altLang="zh-CN" dirty="0"/>
              <a:t>a</a:t>
            </a:r>
            <a:r>
              <a:rPr lang="zh-CN" altLang="en-US" dirty="0"/>
              <a:t>时，应采用该产生式进行推导；</a:t>
            </a:r>
            <a:r>
              <a:rPr lang="zh-CN" altLang="en-US" dirty="0">
                <a:solidFill>
                  <a:srgbClr val="EE853E"/>
                </a:solidFill>
              </a:rPr>
              <a:t>空白：</a:t>
            </a:r>
            <a:r>
              <a:rPr lang="zh-CN" altLang="en-US" dirty="0"/>
              <a:t>表示出错。</a:t>
            </a:r>
          </a:p>
          <a:p>
            <a:r>
              <a:rPr lang="zh-CN" altLang="en-US" dirty="0"/>
              <a:t>例如文法</a:t>
            </a:r>
            <a:r>
              <a:rPr lang="en-US" altLang="zh-CN" dirty="0"/>
              <a:t>G’</a:t>
            </a:r>
            <a:r>
              <a:rPr lang="zh-CN" altLang="en-US" dirty="0"/>
              <a:t>：</a:t>
            </a:r>
            <a:r>
              <a:rPr lang="en-US" altLang="zh-CN" dirty="0"/>
              <a:t>	E → </a:t>
            </a:r>
            <a:r>
              <a:rPr lang="en-US" altLang="zh-CN" dirty="0" err="1"/>
              <a:t>TE</a:t>
            </a:r>
            <a:r>
              <a:rPr lang="en-US" altLang="zh-CN" dirty="0"/>
              <a:t>’</a:t>
            </a:r>
          </a:p>
          <a:p>
            <a:r>
              <a:rPr lang="en-US" altLang="zh-CN" dirty="0"/>
              <a:t>                 		E’→ +</a:t>
            </a:r>
            <a:r>
              <a:rPr lang="en-US" altLang="zh-CN" dirty="0" err="1"/>
              <a:t>TE</a:t>
            </a:r>
            <a:r>
              <a:rPr lang="en-US" altLang="zh-CN" dirty="0"/>
              <a:t>’| ε</a:t>
            </a:r>
          </a:p>
          <a:p>
            <a:r>
              <a:rPr lang="en-US" altLang="zh-CN" dirty="0"/>
              <a:t>                 		T → FT’</a:t>
            </a:r>
          </a:p>
          <a:p>
            <a:r>
              <a:rPr lang="en-US" altLang="zh-CN" dirty="0"/>
              <a:t>                 		T’→ *FT’| ε</a:t>
            </a:r>
          </a:p>
          <a:p>
            <a:r>
              <a:rPr lang="en-US" altLang="zh-CN" dirty="0"/>
              <a:t>                 		F → ( E ) | </a:t>
            </a:r>
            <a:r>
              <a:rPr lang="en-US" altLang="zh-CN" dirty="0" err="1"/>
              <a:t>i</a:t>
            </a:r>
            <a:endParaRPr lang="en-US" altLang="zh-CN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预测分析表</a:t>
            </a:r>
          </a:p>
        </p:txBody>
      </p:sp>
    </p:spTree>
    <p:extLst>
      <p:ext uri="{BB962C8B-B14F-4D97-AF65-F5344CB8AC3E}">
        <p14:creationId xmlns:p14="http://schemas.microsoft.com/office/powerpoint/2010/main" val="138463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86" name="Rectangle 4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预测分析表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46DE07-A56E-4E2B-937B-C7EFE289DE97}"/>
              </a:ext>
            </a:extLst>
          </p:cNvPr>
          <p:cNvGrpSpPr/>
          <p:nvPr/>
        </p:nvGrpSpPr>
        <p:grpSpPr>
          <a:xfrm>
            <a:off x="990600" y="1524000"/>
            <a:ext cx="9906000" cy="3886200"/>
            <a:chOff x="990600" y="1676400"/>
            <a:chExt cx="9906000" cy="3886200"/>
          </a:xfrm>
        </p:grpSpPr>
        <p:sp>
          <p:nvSpPr>
            <p:cNvPr id="492546" name="Rectangle 2"/>
            <p:cNvSpPr>
              <a:spLocks noChangeArrowheads="1"/>
            </p:cNvSpPr>
            <p:nvPr/>
          </p:nvSpPr>
          <p:spPr bwMode="auto">
            <a:xfrm>
              <a:off x="990600" y="1676400"/>
              <a:ext cx="9906000" cy="388620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47" name="Line 3"/>
            <p:cNvSpPr>
              <a:spLocks noChangeShapeType="1"/>
            </p:cNvSpPr>
            <p:nvPr/>
          </p:nvSpPr>
          <p:spPr bwMode="auto">
            <a:xfrm>
              <a:off x="6473371" y="1676400"/>
              <a:ext cx="0" cy="38862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48" name="Line 4"/>
            <p:cNvSpPr>
              <a:spLocks noChangeShapeType="1"/>
            </p:cNvSpPr>
            <p:nvPr/>
          </p:nvSpPr>
          <p:spPr bwMode="auto">
            <a:xfrm>
              <a:off x="990600" y="3576320"/>
              <a:ext cx="99060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49" name="Line 5"/>
            <p:cNvSpPr>
              <a:spLocks noChangeShapeType="1"/>
            </p:cNvSpPr>
            <p:nvPr/>
          </p:nvSpPr>
          <p:spPr bwMode="auto">
            <a:xfrm>
              <a:off x="990600" y="2367280"/>
              <a:ext cx="99060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50" name="Line 6"/>
            <p:cNvSpPr>
              <a:spLocks noChangeShapeType="1"/>
            </p:cNvSpPr>
            <p:nvPr/>
          </p:nvSpPr>
          <p:spPr bwMode="auto">
            <a:xfrm>
              <a:off x="990600" y="2971800"/>
              <a:ext cx="99060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51" name="Line 7"/>
            <p:cNvSpPr>
              <a:spLocks noChangeShapeType="1"/>
            </p:cNvSpPr>
            <p:nvPr/>
          </p:nvSpPr>
          <p:spPr bwMode="auto">
            <a:xfrm>
              <a:off x="990600" y="4180840"/>
              <a:ext cx="99060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52" name="Line 8"/>
            <p:cNvSpPr>
              <a:spLocks noChangeShapeType="1"/>
            </p:cNvSpPr>
            <p:nvPr/>
          </p:nvSpPr>
          <p:spPr bwMode="auto">
            <a:xfrm>
              <a:off x="990600" y="4871720"/>
              <a:ext cx="99060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53" name="Line 9"/>
            <p:cNvSpPr>
              <a:spLocks noChangeShapeType="1"/>
            </p:cNvSpPr>
            <p:nvPr/>
          </p:nvSpPr>
          <p:spPr bwMode="auto">
            <a:xfrm>
              <a:off x="1745343" y="1676400"/>
              <a:ext cx="0" cy="38862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54" name="Line 10"/>
            <p:cNvSpPr>
              <a:spLocks noChangeShapeType="1"/>
            </p:cNvSpPr>
            <p:nvPr/>
          </p:nvSpPr>
          <p:spPr bwMode="auto">
            <a:xfrm>
              <a:off x="3128886" y="1676400"/>
              <a:ext cx="0" cy="38862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55" name="Line 11"/>
            <p:cNvSpPr>
              <a:spLocks noChangeShapeType="1"/>
            </p:cNvSpPr>
            <p:nvPr/>
          </p:nvSpPr>
          <p:spPr bwMode="auto">
            <a:xfrm>
              <a:off x="4876800" y="1676400"/>
              <a:ext cx="0" cy="38862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56" name="Line 12"/>
            <p:cNvSpPr>
              <a:spLocks noChangeShapeType="1"/>
            </p:cNvSpPr>
            <p:nvPr/>
          </p:nvSpPr>
          <p:spPr bwMode="auto">
            <a:xfrm>
              <a:off x="7817000" y="1676400"/>
              <a:ext cx="0" cy="38862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57" name="Line 13"/>
            <p:cNvSpPr>
              <a:spLocks noChangeShapeType="1"/>
            </p:cNvSpPr>
            <p:nvPr/>
          </p:nvSpPr>
          <p:spPr bwMode="auto">
            <a:xfrm>
              <a:off x="9339943" y="1676400"/>
              <a:ext cx="0" cy="38862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59" name="Text Box 15"/>
            <p:cNvSpPr txBox="1">
              <a:spLocks noChangeArrowheads="1"/>
            </p:cNvSpPr>
            <p:nvPr/>
          </p:nvSpPr>
          <p:spPr bwMode="auto">
            <a:xfrm>
              <a:off x="1101650" y="2414058"/>
              <a:ext cx="446164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sp>
          <p:nvSpPr>
            <p:cNvPr id="492560" name="Text Box 16"/>
            <p:cNvSpPr txBox="1">
              <a:spLocks noChangeArrowheads="1"/>
            </p:cNvSpPr>
            <p:nvPr/>
          </p:nvSpPr>
          <p:spPr bwMode="auto">
            <a:xfrm>
              <a:off x="1098701" y="3018578"/>
              <a:ext cx="827466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E’</a:t>
              </a:r>
            </a:p>
          </p:txBody>
        </p:sp>
        <p:sp>
          <p:nvSpPr>
            <p:cNvPr id="492561" name="Text Box 17"/>
            <p:cNvSpPr txBox="1">
              <a:spLocks noChangeArrowheads="1"/>
            </p:cNvSpPr>
            <p:nvPr/>
          </p:nvSpPr>
          <p:spPr bwMode="auto">
            <a:xfrm>
              <a:off x="1084943" y="3660573"/>
              <a:ext cx="479576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</a:p>
          </p:txBody>
        </p:sp>
        <p:sp>
          <p:nvSpPr>
            <p:cNvPr id="492562" name="Text Box 18"/>
            <p:cNvSpPr txBox="1">
              <a:spLocks noChangeArrowheads="1"/>
            </p:cNvSpPr>
            <p:nvPr/>
          </p:nvSpPr>
          <p:spPr bwMode="auto">
            <a:xfrm>
              <a:off x="1084943" y="4290589"/>
              <a:ext cx="854983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T’</a:t>
              </a:r>
            </a:p>
          </p:txBody>
        </p:sp>
        <p:sp>
          <p:nvSpPr>
            <p:cNvPr id="492563" name="Text Box 19"/>
            <p:cNvSpPr txBox="1">
              <a:spLocks noChangeArrowheads="1"/>
            </p:cNvSpPr>
            <p:nvPr/>
          </p:nvSpPr>
          <p:spPr bwMode="auto">
            <a:xfrm>
              <a:off x="1095753" y="5004858"/>
              <a:ext cx="457957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</a:p>
          </p:txBody>
        </p:sp>
        <p:sp>
          <p:nvSpPr>
            <p:cNvPr id="492564" name="Text Box 20"/>
            <p:cNvSpPr txBox="1">
              <a:spLocks noChangeArrowheads="1"/>
            </p:cNvSpPr>
            <p:nvPr/>
          </p:nvSpPr>
          <p:spPr bwMode="auto">
            <a:xfrm>
              <a:off x="2197402" y="1762760"/>
              <a:ext cx="341993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</a:p>
          </p:txBody>
        </p:sp>
        <p:sp>
          <p:nvSpPr>
            <p:cNvPr id="492565" name="Text Box 21"/>
            <p:cNvSpPr txBox="1">
              <a:spLocks noChangeArrowheads="1"/>
            </p:cNvSpPr>
            <p:nvPr/>
          </p:nvSpPr>
          <p:spPr bwMode="auto">
            <a:xfrm>
              <a:off x="3675288" y="1762760"/>
              <a:ext cx="518886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</a:p>
          </p:txBody>
        </p:sp>
        <p:sp>
          <p:nvSpPr>
            <p:cNvPr id="492566" name="Text Box 22"/>
            <p:cNvSpPr txBox="1">
              <a:spLocks noChangeArrowheads="1"/>
            </p:cNvSpPr>
            <p:nvPr/>
          </p:nvSpPr>
          <p:spPr bwMode="auto">
            <a:xfrm>
              <a:off x="5288021" y="1765458"/>
              <a:ext cx="416681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</a:t>
              </a:r>
            </a:p>
          </p:txBody>
        </p:sp>
        <p:sp>
          <p:nvSpPr>
            <p:cNvPr id="492567" name="Text Box 23"/>
            <p:cNvSpPr txBox="1">
              <a:spLocks noChangeArrowheads="1"/>
            </p:cNvSpPr>
            <p:nvPr/>
          </p:nvSpPr>
          <p:spPr bwMode="auto">
            <a:xfrm>
              <a:off x="6852860" y="1762760"/>
              <a:ext cx="377371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</a:p>
          </p:txBody>
        </p:sp>
        <p:sp>
          <p:nvSpPr>
            <p:cNvPr id="492568" name="Text Box 24"/>
            <p:cNvSpPr txBox="1">
              <a:spLocks noChangeArrowheads="1"/>
            </p:cNvSpPr>
            <p:nvPr/>
          </p:nvSpPr>
          <p:spPr bwMode="auto">
            <a:xfrm>
              <a:off x="8552088" y="1762760"/>
              <a:ext cx="377371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492569" name="Text Box 25"/>
            <p:cNvSpPr txBox="1">
              <a:spLocks noChangeArrowheads="1"/>
            </p:cNvSpPr>
            <p:nvPr/>
          </p:nvSpPr>
          <p:spPr bwMode="auto">
            <a:xfrm>
              <a:off x="9839174" y="1765458"/>
              <a:ext cx="227995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kumimoji="1"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70" name="Text Box 26"/>
            <p:cNvSpPr txBox="1">
              <a:spLocks noChangeArrowheads="1"/>
            </p:cNvSpPr>
            <p:nvPr/>
          </p:nvSpPr>
          <p:spPr bwMode="auto">
            <a:xfrm>
              <a:off x="9744831" y="1809538"/>
              <a:ext cx="473680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</a:t>
              </a:r>
            </a:p>
          </p:txBody>
        </p:sp>
        <p:sp>
          <p:nvSpPr>
            <p:cNvPr id="492571" name="Text Box 27"/>
            <p:cNvSpPr txBox="1">
              <a:spLocks noChangeArrowheads="1"/>
            </p:cNvSpPr>
            <p:nvPr/>
          </p:nvSpPr>
          <p:spPr bwMode="auto">
            <a:xfrm>
              <a:off x="1853194" y="2419745"/>
              <a:ext cx="1423406" cy="453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E→TE’</a:t>
              </a:r>
            </a:p>
          </p:txBody>
        </p:sp>
        <p:sp>
          <p:nvSpPr>
            <p:cNvPr id="492572" name="Text Box 28"/>
            <p:cNvSpPr txBox="1">
              <a:spLocks noChangeArrowheads="1"/>
            </p:cNvSpPr>
            <p:nvPr/>
          </p:nvSpPr>
          <p:spPr bwMode="auto">
            <a:xfrm>
              <a:off x="6589486" y="2431982"/>
              <a:ext cx="1423406" cy="453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E→TE’</a:t>
              </a:r>
            </a:p>
          </p:txBody>
        </p:sp>
        <p:sp>
          <p:nvSpPr>
            <p:cNvPr id="492573" name="Text Box 29"/>
            <p:cNvSpPr txBox="1">
              <a:spLocks noChangeArrowheads="1"/>
            </p:cNvSpPr>
            <p:nvPr/>
          </p:nvSpPr>
          <p:spPr bwMode="auto">
            <a:xfrm>
              <a:off x="3200400" y="3058160"/>
              <a:ext cx="2336952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E’→+TE’</a:t>
              </a:r>
            </a:p>
          </p:txBody>
        </p:sp>
        <p:sp>
          <p:nvSpPr>
            <p:cNvPr id="492574" name="Text Box 30"/>
            <p:cNvSpPr txBox="1">
              <a:spLocks noChangeArrowheads="1"/>
            </p:cNvSpPr>
            <p:nvPr/>
          </p:nvSpPr>
          <p:spPr bwMode="auto">
            <a:xfrm>
              <a:off x="1828584" y="3661342"/>
              <a:ext cx="1448016" cy="453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T→FT’</a:t>
              </a:r>
            </a:p>
          </p:txBody>
        </p:sp>
        <p:sp>
          <p:nvSpPr>
            <p:cNvPr id="492575" name="Text Box 31"/>
            <p:cNvSpPr txBox="1">
              <a:spLocks noChangeArrowheads="1"/>
            </p:cNvSpPr>
            <p:nvPr/>
          </p:nvSpPr>
          <p:spPr bwMode="auto">
            <a:xfrm>
              <a:off x="6495143" y="3661342"/>
              <a:ext cx="1448016" cy="453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T→FT’</a:t>
              </a:r>
            </a:p>
          </p:txBody>
        </p:sp>
        <p:sp>
          <p:nvSpPr>
            <p:cNvPr id="492576" name="Text Box 32"/>
            <p:cNvSpPr txBox="1">
              <a:spLocks noChangeArrowheads="1"/>
            </p:cNvSpPr>
            <p:nvPr/>
          </p:nvSpPr>
          <p:spPr bwMode="auto">
            <a:xfrm>
              <a:off x="4910650" y="4290589"/>
              <a:ext cx="1794950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T’→*FT’</a:t>
              </a:r>
            </a:p>
          </p:txBody>
        </p:sp>
        <p:sp>
          <p:nvSpPr>
            <p:cNvPr id="492577" name="Text Box 33"/>
            <p:cNvSpPr txBox="1">
              <a:spLocks noChangeArrowheads="1"/>
            </p:cNvSpPr>
            <p:nvPr/>
          </p:nvSpPr>
          <p:spPr bwMode="auto">
            <a:xfrm>
              <a:off x="2028371" y="4958080"/>
              <a:ext cx="947360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F→i</a:t>
              </a:r>
              <a:endParaRPr kumimoji="1"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78" name="Text Box 34"/>
            <p:cNvSpPr txBox="1">
              <a:spLocks noChangeArrowheads="1"/>
            </p:cNvSpPr>
            <p:nvPr/>
          </p:nvSpPr>
          <p:spPr bwMode="auto">
            <a:xfrm>
              <a:off x="6589486" y="4958080"/>
              <a:ext cx="1350283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F→(E)</a:t>
              </a:r>
            </a:p>
          </p:txBody>
        </p:sp>
        <p:sp>
          <p:nvSpPr>
            <p:cNvPr id="492579" name="Text Box 35"/>
            <p:cNvSpPr txBox="1">
              <a:spLocks noChangeArrowheads="1"/>
            </p:cNvSpPr>
            <p:nvPr/>
          </p:nvSpPr>
          <p:spPr bwMode="auto">
            <a:xfrm>
              <a:off x="8005686" y="3048000"/>
              <a:ext cx="1397454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E’→ε</a:t>
              </a:r>
              <a:endParaRPr kumimoji="1"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80" name="Text Box 36"/>
            <p:cNvSpPr txBox="1">
              <a:spLocks noChangeArrowheads="1"/>
            </p:cNvSpPr>
            <p:nvPr/>
          </p:nvSpPr>
          <p:spPr bwMode="auto">
            <a:xfrm>
              <a:off x="9387114" y="3052413"/>
              <a:ext cx="1397454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E’→ε</a:t>
              </a:r>
              <a:endParaRPr kumimoji="1"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81" name="Text Box 37"/>
            <p:cNvSpPr txBox="1">
              <a:spLocks noChangeArrowheads="1"/>
            </p:cNvSpPr>
            <p:nvPr/>
          </p:nvSpPr>
          <p:spPr bwMode="auto">
            <a:xfrm>
              <a:off x="9387114" y="4290589"/>
              <a:ext cx="1424971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T’→ε</a:t>
              </a:r>
              <a:endParaRPr kumimoji="1"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82" name="Text Box 38"/>
            <p:cNvSpPr txBox="1">
              <a:spLocks noChangeArrowheads="1"/>
            </p:cNvSpPr>
            <p:nvPr/>
          </p:nvSpPr>
          <p:spPr bwMode="auto">
            <a:xfrm>
              <a:off x="8001000" y="4290589"/>
              <a:ext cx="1424971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T’→ε</a:t>
              </a:r>
              <a:endParaRPr kumimoji="1"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2583" name="Text Box 39"/>
            <p:cNvSpPr txBox="1">
              <a:spLocks noChangeArrowheads="1"/>
            </p:cNvSpPr>
            <p:nvPr/>
          </p:nvSpPr>
          <p:spPr bwMode="auto">
            <a:xfrm>
              <a:off x="3223229" y="4290589"/>
              <a:ext cx="1424971" cy="452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T’→ε</a:t>
              </a:r>
              <a:endParaRPr kumimoji="1"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679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>
                <a:latin typeface="+mj-ea"/>
                <a:ea typeface="+mj-ea"/>
              </a:rPr>
              <a:t>输入串 </a:t>
            </a:r>
            <a:r>
              <a:rPr lang="en-US" altLang="zh-CN">
                <a:latin typeface="+mj-ea"/>
                <a:ea typeface="+mj-ea"/>
              </a:rPr>
              <a:t>i +i * i </a:t>
            </a:r>
            <a:r>
              <a:rPr lang="zh-CN" altLang="en-US">
                <a:latin typeface="+mj-ea"/>
                <a:ea typeface="+mj-ea"/>
              </a:rPr>
              <a:t>的分析过程：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3C9CA96-5853-44CF-A5BB-1A7A1EBF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预测分析过程</a:t>
            </a:r>
          </a:p>
        </p:txBody>
      </p:sp>
      <p:sp>
        <p:nvSpPr>
          <p:cNvPr id="494595" name="Rectangle 3"/>
          <p:cNvSpPr>
            <a:spLocks noChangeArrowheads="1"/>
          </p:cNvSpPr>
          <p:nvPr/>
        </p:nvSpPr>
        <p:spPr bwMode="auto">
          <a:xfrm>
            <a:off x="5181600" y="990600"/>
            <a:ext cx="5943600" cy="52578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596" name="Line 4"/>
          <p:cNvSpPr>
            <a:spLocks noChangeShapeType="1"/>
          </p:cNvSpPr>
          <p:nvPr/>
        </p:nvSpPr>
        <p:spPr bwMode="auto">
          <a:xfrm>
            <a:off x="9144000" y="990600"/>
            <a:ext cx="0" cy="52578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597" name="Line 5"/>
          <p:cNvSpPr>
            <a:spLocks noChangeShapeType="1"/>
          </p:cNvSpPr>
          <p:nvPr/>
        </p:nvSpPr>
        <p:spPr bwMode="auto">
          <a:xfrm>
            <a:off x="5181600" y="40386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598" name="Line 6"/>
          <p:cNvSpPr>
            <a:spLocks noChangeShapeType="1"/>
          </p:cNvSpPr>
          <p:nvPr/>
        </p:nvSpPr>
        <p:spPr bwMode="auto">
          <a:xfrm>
            <a:off x="5181600" y="16002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599" name="Line 7"/>
          <p:cNvSpPr>
            <a:spLocks noChangeShapeType="1"/>
          </p:cNvSpPr>
          <p:nvPr/>
        </p:nvSpPr>
        <p:spPr bwMode="auto">
          <a:xfrm>
            <a:off x="5181600" y="22098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600" name="Line 8"/>
          <p:cNvSpPr>
            <a:spLocks noChangeShapeType="1"/>
          </p:cNvSpPr>
          <p:nvPr/>
        </p:nvSpPr>
        <p:spPr bwMode="auto">
          <a:xfrm>
            <a:off x="5181600" y="28194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601" name="Line 9"/>
          <p:cNvSpPr>
            <a:spLocks noChangeShapeType="1"/>
          </p:cNvSpPr>
          <p:nvPr/>
        </p:nvSpPr>
        <p:spPr bwMode="auto">
          <a:xfrm>
            <a:off x="5181600" y="34290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602" name="Line 10"/>
          <p:cNvSpPr>
            <a:spLocks noChangeShapeType="1"/>
          </p:cNvSpPr>
          <p:nvPr/>
        </p:nvSpPr>
        <p:spPr bwMode="auto">
          <a:xfrm>
            <a:off x="5181600" y="45720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603" name="Line 11"/>
          <p:cNvSpPr>
            <a:spLocks noChangeShapeType="1"/>
          </p:cNvSpPr>
          <p:nvPr/>
        </p:nvSpPr>
        <p:spPr bwMode="auto">
          <a:xfrm>
            <a:off x="5181600" y="51054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604" name="Line 12"/>
          <p:cNvSpPr>
            <a:spLocks noChangeShapeType="1"/>
          </p:cNvSpPr>
          <p:nvPr/>
        </p:nvSpPr>
        <p:spPr bwMode="auto">
          <a:xfrm>
            <a:off x="5181600" y="56388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605" name="Line 13"/>
          <p:cNvSpPr>
            <a:spLocks noChangeShapeType="1"/>
          </p:cNvSpPr>
          <p:nvPr/>
        </p:nvSpPr>
        <p:spPr bwMode="auto">
          <a:xfrm>
            <a:off x="7086600" y="990600"/>
            <a:ext cx="0" cy="52578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606" name="Text Box 14"/>
          <p:cNvSpPr txBox="1">
            <a:spLocks noChangeArrowheads="1"/>
          </p:cNvSpPr>
          <p:nvPr/>
        </p:nvSpPr>
        <p:spPr bwMode="auto">
          <a:xfrm>
            <a:off x="5581169" y="1066800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+mj-ea"/>
                <a:ea typeface="+mj-ea"/>
              </a:rPr>
              <a:t>下推栈</a:t>
            </a:r>
          </a:p>
        </p:txBody>
      </p:sp>
      <p:sp>
        <p:nvSpPr>
          <p:cNvPr id="494607" name="Text Box 15"/>
          <p:cNvSpPr txBox="1">
            <a:spLocks noChangeArrowheads="1"/>
          </p:cNvSpPr>
          <p:nvPr/>
        </p:nvSpPr>
        <p:spPr bwMode="auto">
          <a:xfrm>
            <a:off x="7638569" y="1066800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+mj-ea"/>
                <a:ea typeface="+mj-ea"/>
              </a:rPr>
              <a:t>输入串</a:t>
            </a:r>
          </a:p>
        </p:txBody>
      </p:sp>
      <p:sp>
        <p:nvSpPr>
          <p:cNvPr id="494608" name="Text Box 16"/>
          <p:cNvSpPr txBox="1">
            <a:spLocks noChangeArrowheads="1"/>
          </p:cNvSpPr>
          <p:nvPr/>
        </p:nvSpPr>
        <p:spPr bwMode="auto">
          <a:xfrm>
            <a:off x="9402281" y="106680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chemeClr val="bg1"/>
                </a:solidFill>
                <a:latin typeface="+mj-ea"/>
                <a:ea typeface="+mj-ea"/>
              </a:rPr>
              <a:t>查分析表</a:t>
            </a:r>
          </a:p>
        </p:txBody>
      </p:sp>
      <p:sp>
        <p:nvSpPr>
          <p:cNvPr id="494609" name="Text Box 17"/>
          <p:cNvSpPr txBox="1">
            <a:spLocks noChangeArrowheads="1"/>
          </p:cNvSpPr>
          <p:nvPr/>
        </p:nvSpPr>
        <p:spPr bwMode="auto">
          <a:xfrm>
            <a:off x="7543800" y="1676401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+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*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#</a:t>
            </a:r>
          </a:p>
        </p:txBody>
      </p:sp>
      <p:sp>
        <p:nvSpPr>
          <p:cNvPr id="494610" name="Text Box 18"/>
          <p:cNvSpPr txBox="1">
            <a:spLocks noChangeArrowheads="1"/>
          </p:cNvSpPr>
          <p:nvPr/>
        </p:nvSpPr>
        <p:spPr bwMode="auto">
          <a:xfrm>
            <a:off x="5218112" y="1676400"/>
            <a:ext cx="6495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</a:t>
            </a:r>
          </a:p>
        </p:txBody>
      </p:sp>
      <p:sp>
        <p:nvSpPr>
          <p:cNvPr id="494611" name="Text Box 19"/>
          <p:cNvSpPr txBox="1">
            <a:spLocks noChangeArrowheads="1"/>
          </p:cNvSpPr>
          <p:nvPr/>
        </p:nvSpPr>
        <p:spPr bwMode="auto">
          <a:xfrm>
            <a:off x="5200650" y="2251075"/>
            <a:ext cx="11628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E’T</a:t>
            </a:r>
          </a:p>
        </p:txBody>
      </p:sp>
      <p:sp>
        <p:nvSpPr>
          <p:cNvPr id="494612" name="Text Box 20"/>
          <p:cNvSpPr txBox="1">
            <a:spLocks noChangeArrowheads="1"/>
          </p:cNvSpPr>
          <p:nvPr/>
        </p:nvSpPr>
        <p:spPr bwMode="auto">
          <a:xfrm>
            <a:off x="5202237" y="2895600"/>
            <a:ext cx="16486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E’T’F</a:t>
            </a:r>
          </a:p>
        </p:txBody>
      </p:sp>
      <p:sp>
        <p:nvSpPr>
          <p:cNvPr id="494613" name="Text Box 21"/>
          <p:cNvSpPr txBox="1">
            <a:spLocks noChangeArrowheads="1"/>
          </p:cNvSpPr>
          <p:nvPr/>
        </p:nvSpPr>
        <p:spPr bwMode="auto">
          <a:xfrm>
            <a:off x="5181600" y="4075544"/>
            <a:ext cx="14771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#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E’T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’</a:t>
            </a:r>
          </a:p>
        </p:txBody>
      </p:sp>
      <p:sp>
        <p:nvSpPr>
          <p:cNvPr id="494614" name="Text Box 22"/>
          <p:cNvSpPr txBox="1">
            <a:spLocks noChangeArrowheads="1"/>
          </p:cNvSpPr>
          <p:nvPr/>
        </p:nvSpPr>
        <p:spPr bwMode="auto">
          <a:xfrm>
            <a:off x="5181601" y="3505200"/>
            <a:ext cx="15685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E’T’i</a:t>
            </a:r>
          </a:p>
        </p:txBody>
      </p:sp>
      <p:sp>
        <p:nvSpPr>
          <p:cNvPr id="494615" name="Text Box 23"/>
          <p:cNvSpPr txBox="1">
            <a:spLocks noChangeArrowheads="1"/>
          </p:cNvSpPr>
          <p:nvPr/>
        </p:nvSpPr>
        <p:spPr bwMode="auto">
          <a:xfrm>
            <a:off x="5187950" y="4643735"/>
            <a:ext cx="957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# E’</a:t>
            </a:r>
          </a:p>
        </p:txBody>
      </p:sp>
      <p:sp>
        <p:nvSpPr>
          <p:cNvPr id="494616" name="Text Box 24"/>
          <p:cNvSpPr txBox="1">
            <a:spLocks noChangeArrowheads="1"/>
          </p:cNvSpPr>
          <p:nvPr/>
        </p:nvSpPr>
        <p:spPr bwMode="auto">
          <a:xfrm>
            <a:off x="5200650" y="5715000"/>
            <a:ext cx="11628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E’T</a:t>
            </a:r>
          </a:p>
        </p:txBody>
      </p:sp>
      <p:sp>
        <p:nvSpPr>
          <p:cNvPr id="494617" name="Text Box 25"/>
          <p:cNvSpPr txBox="1">
            <a:spLocks noChangeArrowheads="1"/>
          </p:cNvSpPr>
          <p:nvPr/>
        </p:nvSpPr>
        <p:spPr bwMode="auto">
          <a:xfrm>
            <a:off x="5183187" y="5151580"/>
            <a:ext cx="14882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#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E’T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+</a:t>
            </a:r>
          </a:p>
        </p:txBody>
      </p:sp>
      <p:sp>
        <p:nvSpPr>
          <p:cNvPr id="494618" name="Text Box 26"/>
          <p:cNvSpPr txBox="1">
            <a:spLocks noChangeArrowheads="1"/>
          </p:cNvSpPr>
          <p:nvPr/>
        </p:nvSpPr>
        <p:spPr bwMode="auto">
          <a:xfrm>
            <a:off x="7543800" y="2286001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 + i * i #</a:t>
            </a:r>
          </a:p>
        </p:txBody>
      </p:sp>
      <p:sp>
        <p:nvSpPr>
          <p:cNvPr id="494619" name="Text Box 27"/>
          <p:cNvSpPr txBox="1">
            <a:spLocks noChangeArrowheads="1"/>
          </p:cNvSpPr>
          <p:nvPr/>
        </p:nvSpPr>
        <p:spPr bwMode="auto">
          <a:xfrm>
            <a:off x="7543800" y="4066309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 +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*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#</a:t>
            </a:r>
          </a:p>
        </p:txBody>
      </p:sp>
      <p:sp>
        <p:nvSpPr>
          <p:cNvPr id="494620" name="Text Box 28"/>
          <p:cNvSpPr txBox="1">
            <a:spLocks noChangeArrowheads="1"/>
          </p:cNvSpPr>
          <p:nvPr/>
        </p:nvSpPr>
        <p:spPr bwMode="auto">
          <a:xfrm>
            <a:off x="7543800" y="2895601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 + i * i #</a:t>
            </a:r>
          </a:p>
        </p:txBody>
      </p:sp>
      <p:sp>
        <p:nvSpPr>
          <p:cNvPr id="494621" name="Text Box 29"/>
          <p:cNvSpPr txBox="1">
            <a:spLocks noChangeArrowheads="1"/>
          </p:cNvSpPr>
          <p:nvPr/>
        </p:nvSpPr>
        <p:spPr bwMode="auto">
          <a:xfrm>
            <a:off x="7543800" y="3505201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 + i * i #</a:t>
            </a:r>
          </a:p>
        </p:txBody>
      </p:sp>
      <p:sp>
        <p:nvSpPr>
          <p:cNvPr id="494622" name="Text Box 30"/>
          <p:cNvSpPr txBox="1">
            <a:spLocks noChangeArrowheads="1"/>
          </p:cNvSpPr>
          <p:nvPr/>
        </p:nvSpPr>
        <p:spPr bwMode="auto">
          <a:xfrm>
            <a:off x="7543800" y="4616027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 +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*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#</a:t>
            </a:r>
          </a:p>
        </p:txBody>
      </p:sp>
      <p:sp>
        <p:nvSpPr>
          <p:cNvPr id="494623" name="Text Box 31"/>
          <p:cNvSpPr txBox="1">
            <a:spLocks noChangeArrowheads="1"/>
          </p:cNvSpPr>
          <p:nvPr/>
        </p:nvSpPr>
        <p:spPr bwMode="auto">
          <a:xfrm>
            <a:off x="7543800" y="5151581"/>
            <a:ext cx="1584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 +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*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#</a:t>
            </a:r>
          </a:p>
        </p:txBody>
      </p:sp>
      <p:sp>
        <p:nvSpPr>
          <p:cNvPr id="494624" name="Text Box 32"/>
          <p:cNvSpPr txBox="1">
            <a:spLocks noChangeArrowheads="1"/>
          </p:cNvSpPr>
          <p:nvPr/>
        </p:nvSpPr>
        <p:spPr bwMode="auto">
          <a:xfrm>
            <a:off x="7675852" y="5715000"/>
            <a:ext cx="15061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   i * i #</a:t>
            </a:r>
          </a:p>
        </p:txBody>
      </p:sp>
      <p:sp>
        <p:nvSpPr>
          <p:cNvPr id="494625" name="Text Box 33"/>
          <p:cNvSpPr txBox="1">
            <a:spLocks noChangeArrowheads="1"/>
          </p:cNvSpPr>
          <p:nvPr/>
        </p:nvSpPr>
        <p:spPr bwMode="auto">
          <a:xfrm>
            <a:off x="9296400" y="1679575"/>
            <a:ext cx="1345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E→TE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’</a:t>
            </a:r>
          </a:p>
        </p:txBody>
      </p:sp>
      <p:sp>
        <p:nvSpPr>
          <p:cNvPr id="494626" name="Text Box 34"/>
          <p:cNvSpPr txBox="1">
            <a:spLocks noChangeArrowheads="1"/>
          </p:cNvSpPr>
          <p:nvPr/>
        </p:nvSpPr>
        <p:spPr bwMode="auto">
          <a:xfrm>
            <a:off x="9296400" y="2281238"/>
            <a:ext cx="13668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T→FT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’</a:t>
            </a:r>
          </a:p>
        </p:txBody>
      </p:sp>
      <p:sp>
        <p:nvSpPr>
          <p:cNvPr id="494627" name="Text Box 35"/>
          <p:cNvSpPr txBox="1">
            <a:spLocks noChangeArrowheads="1"/>
          </p:cNvSpPr>
          <p:nvPr/>
        </p:nvSpPr>
        <p:spPr bwMode="auto">
          <a:xfrm>
            <a:off x="9296400" y="5711825"/>
            <a:ext cx="13668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T→FT’</a:t>
            </a:r>
          </a:p>
        </p:txBody>
      </p:sp>
      <p:sp>
        <p:nvSpPr>
          <p:cNvPr id="494628" name="Text Box 36"/>
          <p:cNvSpPr txBox="1">
            <a:spLocks noChangeArrowheads="1"/>
          </p:cNvSpPr>
          <p:nvPr/>
        </p:nvSpPr>
        <p:spPr bwMode="auto">
          <a:xfrm>
            <a:off x="9296400" y="2903538"/>
            <a:ext cx="75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F→i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629" name="Text Box 37"/>
          <p:cNvSpPr txBox="1">
            <a:spLocks noChangeArrowheads="1"/>
          </p:cNvSpPr>
          <p:nvPr/>
        </p:nvSpPr>
        <p:spPr bwMode="auto">
          <a:xfrm>
            <a:off x="9296400" y="4079876"/>
            <a:ext cx="11513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T’→ε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4630" name="Text Box 38"/>
          <p:cNvSpPr txBox="1">
            <a:spLocks noChangeArrowheads="1"/>
          </p:cNvSpPr>
          <p:nvPr/>
        </p:nvSpPr>
        <p:spPr bwMode="auto">
          <a:xfrm>
            <a:off x="9296400" y="4613275"/>
            <a:ext cx="15822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E’→+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TE</a:t>
            </a:r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’</a:t>
            </a:r>
          </a:p>
        </p:txBody>
      </p:sp>
      <p:sp>
        <p:nvSpPr>
          <p:cNvPr id="94" name="Text Box 6">
            <a:extLst>
              <a:ext uri="{FF2B5EF4-FFF2-40B4-BE49-F238E27FC236}">
                <a16:creationId xmlns:a16="http://schemas.microsoft.com/office/drawing/2014/main" id="{4642E286-BF5F-476A-A517-C3FED63DB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867" y="1676400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120" name="Text Box 8">
            <a:extLst>
              <a:ext uri="{FF2B5EF4-FFF2-40B4-BE49-F238E27FC236}">
                <a16:creationId xmlns:a16="http://schemas.microsoft.com/office/drawing/2014/main" id="{7372DDC6-F985-43C3-8520-4DC158901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10" y="2318985"/>
            <a:ext cx="389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T</a:t>
            </a:r>
          </a:p>
        </p:txBody>
      </p:sp>
      <p:sp>
        <p:nvSpPr>
          <p:cNvPr id="121" name="Text Box 19">
            <a:extLst>
              <a:ext uri="{FF2B5EF4-FFF2-40B4-BE49-F238E27FC236}">
                <a16:creationId xmlns:a16="http://schemas.microsoft.com/office/drawing/2014/main" id="{534BC33C-070B-4F35-BC78-9BF698255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332" y="2318985"/>
            <a:ext cx="668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E’</a:t>
            </a:r>
          </a:p>
        </p:txBody>
      </p:sp>
      <p:sp>
        <p:nvSpPr>
          <p:cNvPr id="122" name="Text Box 8">
            <a:extLst>
              <a:ext uri="{FF2B5EF4-FFF2-40B4-BE49-F238E27FC236}">
                <a16:creationId xmlns:a16="http://schemas.microsoft.com/office/drawing/2014/main" id="{40BC034B-8743-437E-A800-24862F687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20847"/>
            <a:ext cx="356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3" name="Text Box 19">
            <a:extLst>
              <a:ext uri="{FF2B5EF4-FFF2-40B4-BE49-F238E27FC236}">
                <a16:creationId xmlns:a16="http://schemas.microsoft.com/office/drawing/2014/main" id="{568C59BD-6617-4DC2-A264-15D1E24F9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090" y="3020847"/>
            <a:ext cx="6912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T’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4" name="Text Box 8">
            <a:extLst>
              <a:ext uri="{FF2B5EF4-FFF2-40B4-BE49-F238E27FC236}">
                <a16:creationId xmlns:a16="http://schemas.microsoft.com/office/drawing/2014/main" id="{7DDCD3D6-8BC8-4442-AF80-04DA04629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50" y="3805535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5" name="Text Box 8">
            <a:extLst>
              <a:ext uri="{FF2B5EF4-FFF2-40B4-BE49-F238E27FC236}">
                <a16:creationId xmlns:a16="http://schemas.microsoft.com/office/drawing/2014/main" id="{C55E32FD-70D2-42C7-AA0B-CBF4F3BAD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7771" y="3019229"/>
            <a:ext cx="389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T</a:t>
            </a:r>
          </a:p>
        </p:txBody>
      </p:sp>
      <p:sp>
        <p:nvSpPr>
          <p:cNvPr id="126" name="Text Box 19">
            <a:extLst>
              <a:ext uri="{FF2B5EF4-FFF2-40B4-BE49-F238E27FC236}">
                <a16:creationId xmlns:a16="http://schemas.microsoft.com/office/drawing/2014/main" id="{A9FEE5F8-12E7-42E9-A05E-509F06123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5484" y="3019229"/>
            <a:ext cx="668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E’</a:t>
            </a:r>
          </a:p>
        </p:txBody>
      </p:sp>
      <p:sp>
        <p:nvSpPr>
          <p:cNvPr id="129" name="Text Box 8">
            <a:extLst>
              <a:ext uri="{FF2B5EF4-FFF2-40B4-BE49-F238E27FC236}">
                <a16:creationId xmlns:a16="http://schemas.microsoft.com/office/drawing/2014/main" id="{22D544B7-F089-404E-8099-841842DD9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986" y="300595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5" name="Line 13">
            <a:extLst>
              <a:ext uri="{FF2B5EF4-FFF2-40B4-BE49-F238E27FC236}">
                <a16:creationId xmlns:a16="http://schemas.microsoft.com/office/drawing/2014/main" id="{9734C14F-DF4F-42FF-929C-EE8F3B644F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2721" y="2062726"/>
            <a:ext cx="333262" cy="29947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6" name="Line 13">
            <a:extLst>
              <a:ext uri="{FF2B5EF4-FFF2-40B4-BE49-F238E27FC236}">
                <a16:creationId xmlns:a16="http://schemas.microsoft.com/office/drawing/2014/main" id="{15E66DB6-BCE7-4445-AB75-F0B5C2D3E2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189" y="2687570"/>
            <a:ext cx="333262" cy="29947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9" name="Line 13">
            <a:extLst>
              <a:ext uri="{FF2B5EF4-FFF2-40B4-BE49-F238E27FC236}">
                <a16:creationId xmlns:a16="http://schemas.microsoft.com/office/drawing/2014/main" id="{D7E55C90-E5F9-4358-9F60-B79F141747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614" y="2061866"/>
            <a:ext cx="273099" cy="29947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0" name="Line 13">
            <a:extLst>
              <a:ext uri="{FF2B5EF4-FFF2-40B4-BE49-F238E27FC236}">
                <a16:creationId xmlns:a16="http://schemas.microsoft.com/office/drawing/2014/main" id="{8F791007-FF81-4287-B6F4-9E3A376865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8378" y="2702043"/>
            <a:ext cx="273099" cy="29947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1" name="Line 13">
            <a:extLst>
              <a:ext uri="{FF2B5EF4-FFF2-40B4-BE49-F238E27FC236}">
                <a16:creationId xmlns:a16="http://schemas.microsoft.com/office/drawing/2014/main" id="{A6C50F32-B911-4C04-BC32-C5CFE1458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5871" y="2701974"/>
            <a:ext cx="361651" cy="335796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4" name="Line 13">
            <a:extLst>
              <a:ext uri="{FF2B5EF4-FFF2-40B4-BE49-F238E27FC236}">
                <a16:creationId xmlns:a16="http://schemas.microsoft.com/office/drawing/2014/main" id="{7AD25887-D6E5-48FF-9894-CFF0032EE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188" y="3443324"/>
            <a:ext cx="0" cy="36221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0" name="Line 13">
            <a:extLst>
              <a:ext uri="{FF2B5EF4-FFF2-40B4-BE49-F238E27FC236}">
                <a16:creationId xmlns:a16="http://schemas.microsoft.com/office/drawing/2014/main" id="{DF45B3D8-3EC6-4E57-B176-978B864DD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6719" y="2620599"/>
            <a:ext cx="1209774" cy="39837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1" name="Line 13">
            <a:extLst>
              <a:ext uri="{FF2B5EF4-FFF2-40B4-BE49-F238E27FC236}">
                <a16:creationId xmlns:a16="http://schemas.microsoft.com/office/drawing/2014/main" id="{367A2B70-AAD5-4B12-8862-EAE064061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5583" y="2702043"/>
            <a:ext cx="0" cy="36221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箭头: 右 57">
            <a:extLst>
              <a:ext uri="{FF2B5EF4-FFF2-40B4-BE49-F238E27FC236}">
                <a16:creationId xmlns:a16="http://schemas.microsoft.com/office/drawing/2014/main" id="{5D63A397-E0AB-4632-9FBF-BF96D877EA4A}"/>
              </a:ext>
            </a:extLst>
          </p:cNvPr>
          <p:cNvSpPr/>
          <p:nvPr/>
        </p:nvSpPr>
        <p:spPr>
          <a:xfrm rot="16200000">
            <a:off x="1468048" y="2146276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54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2.22222E-6 L -0.04701 0.1002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7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701 0.10023 L -0.08073 0.19861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3" y="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9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073 0.19861 L -0.08073 0.30972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9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9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073 0.30972 L -0.02409 0.19676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6" y="-5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9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9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94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09 0.19676 L 0.04036 0.09028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16" y="-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9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9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9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42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36 0.09028 L 0.04023 0.20209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5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9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9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23 0.20209 L 0.08802 0.20209 " pathEditMode="relative" rAng="0" ptsTypes="AA">
                                      <p:cBhvr>
                                        <p:cTn id="181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9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9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9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609" grpId="0"/>
      <p:bldP spid="494610" grpId="0"/>
      <p:bldP spid="494611" grpId="0"/>
      <p:bldP spid="494612" grpId="0"/>
      <p:bldP spid="494613" grpId="0"/>
      <p:bldP spid="494614" grpId="0"/>
      <p:bldP spid="494615" grpId="0"/>
      <p:bldP spid="494616" grpId="0"/>
      <p:bldP spid="494617" grpId="0"/>
      <p:bldP spid="494618" grpId="0"/>
      <p:bldP spid="494619" grpId="0"/>
      <p:bldP spid="494620" grpId="0"/>
      <p:bldP spid="494621" grpId="0"/>
      <p:bldP spid="494622" grpId="0"/>
      <p:bldP spid="494623" grpId="0"/>
      <p:bldP spid="494624" grpId="0"/>
      <p:bldP spid="494625" grpId="0"/>
      <p:bldP spid="494626" grpId="0"/>
      <p:bldP spid="494627" grpId="0"/>
      <p:bldP spid="494628" grpId="0"/>
      <p:bldP spid="494630" grpId="0"/>
      <p:bldP spid="94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9" grpId="0"/>
      <p:bldP spid="135" grpId="0" animBg="1"/>
      <p:bldP spid="136" grpId="0" animBg="1"/>
      <p:bldP spid="139" grpId="0" animBg="1"/>
      <p:bldP spid="140" grpId="0" animBg="1"/>
      <p:bldP spid="141" grpId="0" animBg="1"/>
      <p:bldP spid="144" grpId="0" animBg="1"/>
      <p:bldP spid="150" grpId="0" animBg="1"/>
      <p:bldP spid="151" grpId="0" animBg="1"/>
      <p:bldP spid="58" grpId="0" animBg="1"/>
      <p:bldP spid="58" grpId="1" animBg="1"/>
      <p:bldP spid="58" grpId="2" animBg="1"/>
      <p:bldP spid="58" grpId="3" animBg="1"/>
      <p:bldP spid="58" grpId="4" animBg="1"/>
      <p:bldP spid="58" grpId="5" animBg="1"/>
      <p:bldP spid="58" grpId="6" animBg="1"/>
      <p:bldP spid="58" grpId="7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BFEFA2BB-D1B8-441B-B4BE-FE1CD92CF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输入串 </a:t>
            </a:r>
            <a:r>
              <a:rPr lang="en-US" altLang="zh-CN" dirty="0" err="1">
                <a:latin typeface="+mj-ea"/>
              </a:rPr>
              <a:t>i</a:t>
            </a:r>
            <a:r>
              <a:rPr lang="en-US" altLang="zh-CN" dirty="0">
                <a:latin typeface="+mj-ea"/>
              </a:rPr>
              <a:t> +</a:t>
            </a:r>
            <a:r>
              <a:rPr lang="en-US" altLang="zh-CN" dirty="0" err="1">
                <a:latin typeface="+mj-ea"/>
              </a:rPr>
              <a:t>i</a:t>
            </a:r>
            <a:r>
              <a:rPr lang="en-US" altLang="zh-CN" dirty="0">
                <a:latin typeface="+mj-ea"/>
              </a:rPr>
              <a:t> * </a:t>
            </a:r>
            <a:r>
              <a:rPr lang="en-US" altLang="zh-CN" dirty="0" err="1">
                <a:latin typeface="+mj-ea"/>
              </a:rPr>
              <a:t>i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>
                <a:latin typeface="+mj-ea"/>
              </a:rPr>
              <a:t>的分析过程：</a:t>
            </a:r>
          </a:p>
        </p:txBody>
      </p:sp>
      <p:sp>
        <p:nvSpPr>
          <p:cNvPr id="495618" name="Rectangle 2"/>
          <p:cNvSpPr>
            <a:spLocks noChangeArrowheads="1"/>
          </p:cNvSpPr>
          <p:nvPr/>
        </p:nvSpPr>
        <p:spPr bwMode="auto">
          <a:xfrm>
            <a:off x="5181600" y="990600"/>
            <a:ext cx="5943600" cy="5257800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5619" name="Line 3"/>
          <p:cNvSpPr>
            <a:spLocks noChangeShapeType="1"/>
          </p:cNvSpPr>
          <p:nvPr/>
        </p:nvSpPr>
        <p:spPr bwMode="auto">
          <a:xfrm>
            <a:off x="9153525" y="990600"/>
            <a:ext cx="0" cy="52578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5620" name="Line 4"/>
          <p:cNvSpPr>
            <a:spLocks noChangeShapeType="1"/>
          </p:cNvSpPr>
          <p:nvPr/>
        </p:nvSpPr>
        <p:spPr bwMode="auto">
          <a:xfrm>
            <a:off x="5181600" y="40386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5621" name="Line 5"/>
          <p:cNvSpPr>
            <a:spLocks noChangeShapeType="1"/>
          </p:cNvSpPr>
          <p:nvPr/>
        </p:nvSpPr>
        <p:spPr bwMode="auto">
          <a:xfrm>
            <a:off x="5181600" y="16002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5622" name="Line 6"/>
          <p:cNvSpPr>
            <a:spLocks noChangeShapeType="1"/>
          </p:cNvSpPr>
          <p:nvPr/>
        </p:nvSpPr>
        <p:spPr bwMode="auto">
          <a:xfrm>
            <a:off x="5181600" y="22098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5623" name="Line 7"/>
          <p:cNvSpPr>
            <a:spLocks noChangeShapeType="1"/>
          </p:cNvSpPr>
          <p:nvPr/>
        </p:nvSpPr>
        <p:spPr bwMode="auto">
          <a:xfrm>
            <a:off x="5181600" y="28194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5624" name="Line 8"/>
          <p:cNvSpPr>
            <a:spLocks noChangeShapeType="1"/>
          </p:cNvSpPr>
          <p:nvPr/>
        </p:nvSpPr>
        <p:spPr bwMode="auto">
          <a:xfrm>
            <a:off x="5181600" y="34290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5625" name="Line 9"/>
          <p:cNvSpPr>
            <a:spLocks noChangeShapeType="1"/>
          </p:cNvSpPr>
          <p:nvPr/>
        </p:nvSpPr>
        <p:spPr bwMode="auto">
          <a:xfrm>
            <a:off x="5181600" y="45720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5626" name="Line 10"/>
          <p:cNvSpPr>
            <a:spLocks noChangeShapeType="1"/>
          </p:cNvSpPr>
          <p:nvPr/>
        </p:nvSpPr>
        <p:spPr bwMode="auto">
          <a:xfrm>
            <a:off x="5181600" y="51054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5627" name="Line 11"/>
          <p:cNvSpPr>
            <a:spLocks noChangeShapeType="1"/>
          </p:cNvSpPr>
          <p:nvPr/>
        </p:nvSpPr>
        <p:spPr bwMode="auto">
          <a:xfrm>
            <a:off x="5181600" y="5638800"/>
            <a:ext cx="5943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5628" name="Line 12"/>
          <p:cNvSpPr>
            <a:spLocks noChangeShapeType="1"/>
          </p:cNvSpPr>
          <p:nvPr/>
        </p:nvSpPr>
        <p:spPr bwMode="auto">
          <a:xfrm>
            <a:off x="7137400" y="990600"/>
            <a:ext cx="0" cy="52578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95629" name="Text Box 13"/>
          <p:cNvSpPr txBox="1">
            <a:spLocks noChangeArrowheads="1"/>
          </p:cNvSpPr>
          <p:nvPr/>
        </p:nvSpPr>
        <p:spPr bwMode="auto">
          <a:xfrm>
            <a:off x="5197475" y="1087438"/>
            <a:ext cx="16486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E’T’F</a:t>
            </a:r>
          </a:p>
        </p:txBody>
      </p:sp>
      <p:sp>
        <p:nvSpPr>
          <p:cNvPr id="495630" name="Text Box 14"/>
          <p:cNvSpPr txBox="1">
            <a:spLocks noChangeArrowheads="1"/>
          </p:cNvSpPr>
          <p:nvPr/>
        </p:nvSpPr>
        <p:spPr bwMode="auto">
          <a:xfrm>
            <a:off x="8158164" y="1676400"/>
            <a:ext cx="9893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* i #</a:t>
            </a:r>
          </a:p>
        </p:txBody>
      </p:sp>
      <p:sp>
        <p:nvSpPr>
          <p:cNvPr id="495631" name="Text Box 15"/>
          <p:cNvSpPr txBox="1">
            <a:spLocks noChangeArrowheads="1"/>
          </p:cNvSpPr>
          <p:nvPr/>
        </p:nvSpPr>
        <p:spPr bwMode="auto">
          <a:xfrm>
            <a:off x="5197475" y="1676400"/>
            <a:ext cx="15685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E’T’i</a:t>
            </a:r>
          </a:p>
        </p:txBody>
      </p:sp>
      <p:sp>
        <p:nvSpPr>
          <p:cNvPr id="495632" name="Text Box 16"/>
          <p:cNvSpPr txBox="1">
            <a:spLocks noChangeArrowheads="1"/>
          </p:cNvSpPr>
          <p:nvPr/>
        </p:nvSpPr>
        <p:spPr bwMode="auto">
          <a:xfrm>
            <a:off x="5181600" y="2251075"/>
            <a:ext cx="14771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E’T’</a:t>
            </a:r>
          </a:p>
        </p:txBody>
      </p:sp>
      <p:sp>
        <p:nvSpPr>
          <p:cNvPr id="495633" name="Text Box 17"/>
          <p:cNvSpPr txBox="1">
            <a:spLocks noChangeArrowheads="1"/>
          </p:cNvSpPr>
          <p:nvPr/>
        </p:nvSpPr>
        <p:spPr bwMode="auto">
          <a:xfrm>
            <a:off x="5197475" y="2895600"/>
            <a:ext cx="18907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E’T’F *</a:t>
            </a:r>
          </a:p>
        </p:txBody>
      </p:sp>
      <p:sp>
        <p:nvSpPr>
          <p:cNvPr id="495634" name="Text Box 18"/>
          <p:cNvSpPr txBox="1">
            <a:spLocks noChangeArrowheads="1"/>
          </p:cNvSpPr>
          <p:nvPr/>
        </p:nvSpPr>
        <p:spPr bwMode="auto">
          <a:xfrm>
            <a:off x="5191230" y="4038600"/>
            <a:ext cx="15685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E’T’i</a:t>
            </a:r>
          </a:p>
        </p:txBody>
      </p:sp>
      <p:sp>
        <p:nvSpPr>
          <p:cNvPr id="495635" name="Text Box 19"/>
          <p:cNvSpPr txBox="1">
            <a:spLocks noChangeArrowheads="1"/>
          </p:cNvSpPr>
          <p:nvPr/>
        </p:nvSpPr>
        <p:spPr bwMode="auto">
          <a:xfrm>
            <a:off x="5191645" y="3505200"/>
            <a:ext cx="16486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E’T’F</a:t>
            </a:r>
          </a:p>
        </p:txBody>
      </p:sp>
      <p:sp>
        <p:nvSpPr>
          <p:cNvPr id="495636" name="Text Box 20"/>
          <p:cNvSpPr txBox="1">
            <a:spLocks noChangeArrowheads="1"/>
          </p:cNvSpPr>
          <p:nvPr/>
        </p:nvSpPr>
        <p:spPr bwMode="auto">
          <a:xfrm>
            <a:off x="5191230" y="4572000"/>
            <a:ext cx="14771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E’T’</a:t>
            </a:r>
          </a:p>
        </p:txBody>
      </p:sp>
      <p:sp>
        <p:nvSpPr>
          <p:cNvPr id="495637" name="Text Box 21"/>
          <p:cNvSpPr txBox="1">
            <a:spLocks noChangeArrowheads="1"/>
          </p:cNvSpPr>
          <p:nvPr/>
        </p:nvSpPr>
        <p:spPr bwMode="auto">
          <a:xfrm>
            <a:off x="5196202" y="5715000"/>
            <a:ext cx="3818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495638" name="Text Box 22"/>
          <p:cNvSpPr txBox="1">
            <a:spLocks noChangeArrowheads="1"/>
          </p:cNvSpPr>
          <p:nvPr/>
        </p:nvSpPr>
        <p:spPr bwMode="auto">
          <a:xfrm>
            <a:off x="5196202" y="5181600"/>
            <a:ext cx="957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 E’</a:t>
            </a:r>
          </a:p>
        </p:txBody>
      </p:sp>
      <p:sp>
        <p:nvSpPr>
          <p:cNvPr id="495639" name="Text Box 23"/>
          <p:cNvSpPr txBox="1">
            <a:spLocks noChangeArrowheads="1"/>
          </p:cNvSpPr>
          <p:nvPr/>
        </p:nvSpPr>
        <p:spPr bwMode="auto">
          <a:xfrm>
            <a:off x="8158164" y="2286000"/>
            <a:ext cx="9893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 * i #</a:t>
            </a:r>
          </a:p>
        </p:txBody>
      </p:sp>
      <p:sp>
        <p:nvSpPr>
          <p:cNvPr id="495640" name="Text Box 24"/>
          <p:cNvSpPr txBox="1">
            <a:spLocks noChangeArrowheads="1"/>
          </p:cNvSpPr>
          <p:nvPr/>
        </p:nvSpPr>
        <p:spPr bwMode="auto">
          <a:xfrm>
            <a:off x="8203134" y="4038600"/>
            <a:ext cx="9893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   i #</a:t>
            </a:r>
          </a:p>
        </p:txBody>
      </p:sp>
      <p:sp>
        <p:nvSpPr>
          <p:cNvPr id="495641" name="Text Box 25"/>
          <p:cNvSpPr txBox="1">
            <a:spLocks noChangeArrowheads="1"/>
          </p:cNvSpPr>
          <p:nvPr/>
        </p:nvSpPr>
        <p:spPr bwMode="auto">
          <a:xfrm>
            <a:off x="8158164" y="2895600"/>
            <a:ext cx="9893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 * i #</a:t>
            </a:r>
          </a:p>
        </p:txBody>
      </p:sp>
      <p:sp>
        <p:nvSpPr>
          <p:cNvPr id="495642" name="Text Box 26"/>
          <p:cNvSpPr txBox="1">
            <a:spLocks noChangeArrowheads="1"/>
          </p:cNvSpPr>
          <p:nvPr/>
        </p:nvSpPr>
        <p:spPr bwMode="auto">
          <a:xfrm>
            <a:off x="8120689" y="3505200"/>
            <a:ext cx="10214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    i #</a:t>
            </a:r>
          </a:p>
        </p:txBody>
      </p:sp>
      <p:sp>
        <p:nvSpPr>
          <p:cNvPr id="495643" name="Text Box 27"/>
          <p:cNvSpPr txBox="1">
            <a:spLocks noChangeArrowheads="1"/>
          </p:cNvSpPr>
          <p:nvPr/>
        </p:nvSpPr>
        <p:spPr bwMode="auto">
          <a:xfrm>
            <a:off x="8023485" y="4572000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       #</a:t>
            </a:r>
          </a:p>
        </p:txBody>
      </p:sp>
      <p:sp>
        <p:nvSpPr>
          <p:cNvPr id="495644" name="Text Box 28"/>
          <p:cNvSpPr txBox="1">
            <a:spLocks noChangeArrowheads="1"/>
          </p:cNvSpPr>
          <p:nvPr/>
        </p:nvSpPr>
        <p:spPr bwMode="auto">
          <a:xfrm>
            <a:off x="8015990" y="5105400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       #</a:t>
            </a:r>
          </a:p>
        </p:txBody>
      </p:sp>
      <p:sp>
        <p:nvSpPr>
          <p:cNvPr id="495645" name="Text Box 29"/>
          <p:cNvSpPr txBox="1">
            <a:spLocks noChangeArrowheads="1"/>
          </p:cNvSpPr>
          <p:nvPr/>
        </p:nvSpPr>
        <p:spPr bwMode="auto">
          <a:xfrm>
            <a:off x="8015990" y="5715000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       #</a:t>
            </a:r>
          </a:p>
        </p:txBody>
      </p:sp>
      <p:sp>
        <p:nvSpPr>
          <p:cNvPr id="495646" name="Text Box 30"/>
          <p:cNvSpPr txBox="1">
            <a:spLocks noChangeArrowheads="1"/>
          </p:cNvSpPr>
          <p:nvPr/>
        </p:nvSpPr>
        <p:spPr bwMode="auto">
          <a:xfrm>
            <a:off x="9296400" y="2251075"/>
            <a:ext cx="15776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T’→*FT’</a:t>
            </a:r>
          </a:p>
        </p:txBody>
      </p:sp>
      <p:sp>
        <p:nvSpPr>
          <p:cNvPr id="495647" name="Text Box 31"/>
          <p:cNvSpPr txBox="1">
            <a:spLocks noChangeArrowheads="1"/>
          </p:cNvSpPr>
          <p:nvPr/>
        </p:nvSpPr>
        <p:spPr bwMode="auto">
          <a:xfrm>
            <a:off x="9296400" y="5715001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EE853E"/>
                </a:solidFill>
                <a:latin typeface="+mj-ea"/>
                <a:ea typeface="+mj-ea"/>
              </a:rPr>
              <a:t>输入串合法</a:t>
            </a:r>
          </a:p>
        </p:txBody>
      </p:sp>
      <p:sp>
        <p:nvSpPr>
          <p:cNvPr id="495648" name="Text Box 32"/>
          <p:cNvSpPr txBox="1">
            <a:spLocks noChangeArrowheads="1"/>
          </p:cNvSpPr>
          <p:nvPr/>
        </p:nvSpPr>
        <p:spPr bwMode="auto">
          <a:xfrm>
            <a:off x="9296400" y="3508375"/>
            <a:ext cx="75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F→i</a:t>
            </a:r>
          </a:p>
        </p:txBody>
      </p:sp>
      <p:sp>
        <p:nvSpPr>
          <p:cNvPr id="495649" name="Text Box 33"/>
          <p:cNvSpPr txBox="1">
            <a:spLocks noChangeArrowheads="1"/>
          </p:cNvSpPr>
          <p:nvPr/>
        </p:nvSpPr>
        <p:spPr bwMode="auto">
          <a:xfrm>
            <a:off x="9296400" y="4575176"/>
            <a:ext cx="11513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T’→ε</a:t>
            </a:r>
          </a:p>
        </p:txBody>
      </p:sp>
      <p:sp>
        <p:nvSpPr>
          <p:cNvPr id="495650" name="Text Box 34"/>
          <p:cNvSpPr txBox="1">
            <a:spLocks noChangeArrowheads="1"/>
          </p:cNvSpPr>
          <p:nvPr/>
        </p:nvSpPr>
        <p:spPr bwMode="auto">
          <a:xfrm>
            <a:off x="8158164" y="1066800"/>
            <a:ext cx="10807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* </a:t>
            </a:r>
            <a:r>
              <a:rPr kumimoji="1" lang="en-US" altLang="zh-CN" sz="2400" b="1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#</a:t>
            </a:r>
          </a:p>
        </p:txBody>
      </p:sp>
      <p:sp>
        <p:nvSpPr>
          <p:cNvPr id="495651" name="Text Box 35"/>
          <p:cNvSpPr txBox="1">
            <a:spLocks noChangeArrowheads="1"/>
          </p:cNvSpPr>
          <p:nvPr/>
        </p:nvSpPr>
        <p:spPr bwMode="auto">
          <a:xfrm>
            <a:off x="9296400" y="1069975"/>
            <a:ext cx="75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F→i</a:t>
            </a:r>
          </a:p>
        </p:txBody>
      </p:sp>
      <p:sp>
        <p:nvSpPr>
          <p:cNvPr id="495652" name="Text Box 36"/>
          <p:cNvSpPr txBox="1">
            <a:spLocks noChangeArrowheads="1"/>
          </p:cNvSpPr>
          <p:nvPr/>
        </p:nvSpPr>
        <p:spPr bwMode="auto">
          <a:xfrm>
            <a:off x="9296400" y="5108576"/>
            <a:ext cx="11288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E’→ε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D92D7CDC-5A57-429F-A220-4FFB0EA7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预测分析过程</a:t>
            </a:r>
          </a:p>
        </p:txBody>
      </p:sp>
      <p:sp>
        <p:nvSpPr>
          <p:cNvPr id="39" name="Text Box 6">
            <a:extLst>
              <a:ext uri="{FF2B5EF4-FFF2-40B4-BE49-F238E27FC236}">
                <a16:creationId xmlns:a16="http://schemas.microsoft.com/office/drawing/2014/main" id="{A2EE8384-8BC3-4417-8C41-2FD986FF4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867" y="1676400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40" name="Text Box 8">
            <a:extLst>
              <a:ext uri="{FF2B5EF4-FFF2-40B4-BE49-F238E27FC236}">
                <a16:creationId xmlns:a16="http://schemas.microsoft.com/office/drawing/2014/main" id="{B642A0A7-DB30-43AD-A7C3-BB4FC7BE6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10" y="2318985"/>
            <a:ext cx="389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T</a:t>
            </a:r>
          </a:p>
        </p:txBody>
      </p:sp>
      <p:sp>
        <p:nvSpPr>
          <p:cNvPr id="41" name="Text Box 19">
            <a:extLst>
              <a:ext uri="{FF2B5EF4-FFF2-40B4-BE49-F238E27FC236}">
                <a16:creationId xmlns:a16="http://schemas.microsoft.com/office/drawing/2014/main" id="{2ED96D6F-F556-4290-8FAC-5A690C1D6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332" y="2318985"/>
            <a:ext cx="668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E’</a:t>
            </a:r>
          </a:p>
        </p:txBody>
      </p:sp>
      <p:sp>
        <p:nvSpPr>
          <p:cNvPr id="42" name="Text Box 8">
            <a:extLst>
              <a:ext uri="{FF2B5EF4-FFF2-40B4-BE49-F238E27FC236}">
                <a16:creationId xmlns:a16="http://schemas.microsoft.com/office/drawing/2014/main" id="{25CD762A-EE83-48C1-987D-C1F036C0C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20847"/>
            <a:ext cx="356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 Box 19">
            <a:extLst>
              <a:ext uri="{FF2B5EF4-FFF2-40B4-BE49-F238E27FC236}">
                <a16:creationId xmlns:a16="http://schemas.microsoft.com/office/drawing/2014/main" id="{B05997F4-70D8-4410-842F-4034478A3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090" y="3020847"/>
            <a:ext cx="6912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T’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4" name="Text Box 8">
            <a:extLst>
              <a:ext uri="{FF2B5EF4-FFF2-40B4-BE49-F238E27FC236}">
                <a16:creationId xmlns:a16="http://schemas.microsoft.com/office/drawing/2014/main" id="{81834F7E-C42F-4E15-A926-4D0A38CDB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50" y="3805535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5" name="Text Box 8">
            <a:extLst>
              <a:ext uri="{FF2B5EF4-FFF2-40B4-BE49-F238E27FC236}">
                <a16:creationId xmlns:a16="http://schemas.microsoft.com/office/drawing/2014/main" id="{FE17C5E6-3664-41DE-97D1-28578F75D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7771" y="3019229"/>
            <a:ext cx="389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T</a:t>
            </a:r>
          </a:p>
        </p:txBody>
      </p:sp>
      <p:sp>
        <p:nvSpPr>
          <p:cNvPr id="46" name="Text Box 19">
            <a:extLst>
              <a:ext uri="{FF2B5EF4-FFF2-40B4-BE49-F238E27FC236}">
                <a16:creationId xmlns:a16="http://schemas.microsoft.com/office/drawing/2014/main" id="{D0259B18-CC3B-459E-9565-54AE8C5D1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5484" y="3019229"/>
            <a:ext cx="668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E’</a:t>
            </a:r>
          </a:p>
        </p:txBody>
      </p:sp>
      <p:sp>
        <p:nvSpPr>
          <p:cNvPr id="47" name="Text Box 8">
            <a:extLst>
              <a:ext uri="{FF2B5EF4-FFF2-40B4-BE49-F238E27FC236}">
                <a16:creationId xmlns:a16="http://schemas.microsoft.com/office/drawing/2014/main" id="{DC23ADEA-00DA-46E7-808E-3B46FFCF9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5583" y="3743004"/>
            <a:ext cx="356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8" name="Text Box 19">
            <a:extLst>
              <a:ext uri="{FF2B5EF4-FFF2-40B4-BE49-F238E27FC236}">
                <a16:creationId xmlns:a16="http://schemas.microsoft.com/office/drawing/2014/main" id="{B14A9624-AF3D-4316-AB8B-E41A8F8AB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581" y="3743004"/>
            <a:ext cx="6912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T’</a:t>
            </a:r>
          </a:p>
        </p:txBody>
      </p:sp>
      <p:sp>
        <p:nvSpPr>
          <p:cNvPr id="49" name="Text Box 8">
            <a:extLst>
              <a:ext uri="{FF2B5EF4-FFF2-40B4-BE49-F238E27FC236}">
                <a16:creationId xmlns:a16="http://schemas.microsoft.com/office/drawing/2014/main" id="{178A3865-7274-4049-95EA-753776480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986" y="3005950"/>
            <a:ext cx="418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" name="Text Box 8">
            <a:extLst>
              <a:ext uri="{FF2B5EF4-FFF2-40B4-BE49-F238E27FC236}">
                <a16:creationId xmlns:a16="http://schemas.microsoft.com/office/drawing/2014/main" id="{BA3EBDE9-29C0-4A31-81F5-761AEBF5E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3229" y="4537075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1" name="Text Box 8">
            <a:extLst>
              <a:ext uri="{FF2B5EF4-FFF2-40B4-BE49-F238E27FC236}">
                <a16:creationId xmlns:a16="http://schemas.microsoft.com/office/drawing/2014/main" id="{E799CE61-2E24-4C91-85EA-4079A0150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8860" y="4509079"/>
            <a:ext cx="356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2" name="Text Box 19">
            <a:extLst>
              <a:ext uri="{FF2B5EF4-FFF2-40B4-BE49-F238E27FC236}">
                <a16:creationId xmlns:a16="http://schemas.microsoft.com/office/drawing/2014/main" id="{4A95561E-E159-4AEA-90C4-093476FB2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6573" y="4509079"/>
            <a:ext cx="6912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T’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3" name="Text Box 8">
            <a:extLst>
              <a:ext uri="{FF2B5EF4-FFF2-40B4-BE49-F238E27FC236}">
                <a16:creationId xmlns:a16="http://schemas.microsoft.com/office/drawing/2014/main" id="{91BAE473-5984-4C98-AD32-1B67D0B1E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419" y="4590020"/>
            <a:ext cx="3353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4" name="Text Box 8">
            <a:extLst>
              <a:ext uri="{FF2B5EF4-FFF2-40B4-BE49-F238E27FC236}">
                <a16:creationId xmlns:a16="http://schemas.microsoft.com/office/drawing/2014/main" id="{E794DAA6-21DE-4FF2-8D2A-08F66D089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4520" y="5257800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Line 13">
            <a:extLst>
              <a:ext uri="{FF2B5EF4-FFF2-40B4-BE49-F238E27FC236}">
                <a16:creationId xmlns:a16="http://schemas.microsoft.com/office/drawing/2014/main" id="{6B95F550-C398-4ABB-B68D-BEA2E738DD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2721" y="2062726"/>
            <a:ext cx="333262" cy="29947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Line 13">
            <a:extLst>
              <a:ext uri="{FF2B5EF4-FFF2-40B4-BE49-F238E27FC236}">
                <a16:creationId xmlns:a16="http://schemas.microsoft.com/office/drawing/2014/main" id="{E1DAB5F7-63E4-4FA5-B0B7-03323267D8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189" y="2687570"/>
            <a:ext cx="333262" cy="29947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7" name="Line 13">
            <a:extLst>
              <a:ext uri="{FF2B5EF4-FFF2-40B4-BE49-F238E27FC236}">
                <a16:creationId xmlns:a16="http://schemas.microsoft.com/office/drawing/2014/main" id="{7EBE4152-6AE3-4DD9-8410-8AB148DB76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76039" y="3438737"/>
            <a:ext cx="333262" cy="29947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Line 13">
            <a:extLst>
              <a:ext uri="{FF2B5EF4-FFF2-40B4-BE49-F238E27FC236}">
                <a16:creationId xmlns:a16="http://schemas.microsoft.com/office/drawing/2014/main" id="{DFF51D34-4ADD-4EF7-95BF-DF5DF7CB8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7614" y="2061866"/>
            <a:ext cx="273099" cy="29947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9" name="Line 13">
            <a:extLst>
              <a:ext uri="{FF2B5EF4-FFF2-40B4-BE49-F238E27FC236}">
                <a16:creationId xmlns:a16="http://schemas.microsoft.com/office/drawing/2014/main" id="{BD8110CE-1B85-4665-9005-ABA7A39C98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8378" y="2702043"/>
            <a:ext cx="273099" cy="29947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0" name="Line 13">
            <a:extLst>
              <a:ext uri="{FF2B5EF4-FFF2-40B4-BE49-F238E27FC236}">
                <a16:creationId xmlns:a16="http://schemas.microsoft.com/office/drawing/2014/main" id="{E43F7084-3FDC-4F09-B731-03DE1ECCB4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5871" y="2701974"/>
            <a:ext cx="361651" cy="335796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1" name="Line 13">
            <a:extLst>
              <a:ext uri="{FF2B5EF4-FFF2-40B4-BE49-F238E27FC236}">
                <a16:creationId xmlns:a16="http://schemas.microsoft.com/office/drawing/2014/main" id="{C930D2B8-6AF4-4A6E-935B-6510303AF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1629" y="3429000"/>
            <a:ext cx="273099" cy="29947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2" name="Line 13">
            <a:extLst>
              <a:ext uri="{FF2B5EF4-FFF2-40B4-BE49-F238E27FC236}">
                <a16:creationId xmlns:a16="http://schemas.microsoft.com/office/drawing/2014/main" id="{003608C0-867F-407D-B850-2CDF24B9C7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8366" y="4129513"/>
            <a:ext cx="390487" cy="36221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3" name="Line 13">
            <a:extLst>
              <a:ext uri="{FF2B5EF4-FFF2-40B4-BE49-F238E27FC236}">
                <a16:creationId xmlns:a16="http://schemas.microsoft.com/office/drawing/2014/main" id="{C8A41A3C-FFA4-4C61-94C3-048C3274F0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188" y="3443324"/>
            <a:ext cx="0" cy="36221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4" name="Line 13">
            <a:extLst>
              <a:ext uri="{FF2B5EF4-FFF2-40B4-BE49-F238E27FC236}">
                <a16:creationId xmlns:a16="http://schemas.microsoft.com/office/drawing/2014/main" id="{DD9636A9-EA19-4A25-B9BB-E828558DD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7851" y="4154595"/>
            <a:ext cx="0" cy="36221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5" name="Line 13">
            <a:extLst>
              <a:ext uri="{FF2B5EF4-FFF2-40B4-BE49-F238E27FC236}">
                <a16:creationId xmlns:a16="http://schemas.microsoft.com/office/drawing/2014/main" id="{197C44CA-AD82-4655-9CB6-B61A403C3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5988" y="4146613"/>
            <a:ext cx="0" cy="36221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6" name="Line 13">
            <a:extLst>
              <a:ext uri="{FF2B5EF4-FFF2-40B4-BE49-F238E27FC236}">
                <a16:creationId xmlns:a16="http://schemas.microsoft.com/office/drawing/2014/main" id="{5256624C-1AAE-472B-8833-FC2EE50E81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539" y="4924294"/>
            <a:ext cx="0" cy="36221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7" name="Line 13">
            <a:extLst>
              <a:ext uri="{FF2B5EF4-FFF2-40B4-BE49-F238E27FC236}">
                <a16:creationId xmlns:a16="http://schemas.microsoft.com/office/drawing/2014/main" id="{860C60E8-F8BD-4FAA-8BC2-720691FAD8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7466" y="4047159"/>
            <a:ext cx="1222630" cy="46166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8" name="Line 13">
            <a:extLst>
              <a:ext uri="{FF2B5EF4-FFF2-40B4-BE49-F238E27FC236}">
                <a16:creationId xmlns:a16="http://schemas.microsoft.com/office/drawing/2014/main" id="{79883EA0-8157-47BF-A912-14133E324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6719" y="2620599"/>
            <a:ext cx="1209774" cy="39837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9" name="Line 13">
            <a:extLst>
              <a:ext uri="{FF2B5EF4-FFF2-40B4-BE49-F238E27FC236}">
                <a16:creationId xmlns:a16="http://schemas.microsoft.com/office/drawing/2014/main" id="{1EF97CEE-2531-48BF-B08A-862187C5A3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5583" y="2702043"/>
            <a:ext cx="0" cy="36221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0" name="箭头: 右 69">
            <a:extLst>
              <a:ext uri="{FF2B5EF4-FFF2-40B4-BE49-F238E27FC236}">
                <a16:creationId xmlns:a16="http://schemas.microsoft.com/office/drawing/2014/main" id="{260C48DD-C684-40DB-840C-5E7EBB0F63F7}"/>
              </a:ext>
            </a:extLst>
          </p:cNvPr>
          <p:cNvSpPr/>
          <p:nvPr/>
        </p:nvSpPr>
        <p:spPr>
          <a:xfrm rot="16200000">
            <a:off x="2580786" y="3546230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77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11111E-6 L -0.03945 0.0979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9" y="4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945 0.09792 L -0.03841 0.21667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9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5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41 0.21667 L 0.03125 0.09792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7" y="-5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5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5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95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25 0.09792 L 0.03321 0.20555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95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9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21 0.20555 L 0.08503 0.20555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9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95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9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2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503 0.20555 L 0.08503 0.31713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9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95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503 0.31713 L 0.15157 0.20555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0" y="-5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95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9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95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157 0.20555 L 0.06446 -0.00556 " pathEditMode="relative" rAng="0" ptsTypes="AA">
                                      <p:cBhvr>
                                        <p:cTn id="166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2" y="-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95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95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95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xit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9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9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9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9" grpId="0"/>
      <p:bldP spid="495631" grpId="0"/>
      <p:bldP spid="495634" grpId="0"/>
      <p:bldP spid="495637" grpId="0"/>
      <p:bldP spid="495641" grpId="0"/>
      <p:bldP spid="495643" grpId="0"/>
      <p:bldP spid="495645" grpId="0"/>
      <p:bldP spid="495647" grpId="0"/>
      <p:bldP spid="495648" grpId="0"/>
      <p:bldP spid="495650" grpId="0"/>
      <p:bldP spid="495651" grpId="0"/>
      <p:bldP spid="47" grpId="0"/>
      <p:bldP spid="48" grpId="0"/>
      <p:bldP spid="50" grpId="0"/>
      <p:bldP spid="51" grpId="0"/>
      <p:bldP spid="52" grpId="0"/>
      <p:bldP spid="53" grpId="0"/>
      <p:bldP spid="54" grpId="0"/>
      <p:bldP spid="57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70" grpId="0" animBg="1"/>
      <p:bldP spid="70" grpId="1" animBg="1"/>
      <p:bldP spid="70" grpId="2" animBg="1"/>
      <p:bldP spid="70" grpId="3" animBg="1"/>
      <p:bldP spid="70" grpId="4" animBg="1"/>
      <p:bldP spid="70" grpId="5" animBg="1"/>
      <p:bldP spid="70" grpId="6" animBg="1"/>
      <p:bldP spid="70" grpId="7" animBg="1"/>
      <p:bldP spid="70" grpId="8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文法的</a:t>
            </a:r>
            <a:r>
              <a:rPr lang="en-US" altLang="zh-CN" dirty="0"/>
              <a:t>FIRST</a:t>
            </a:r>
            <a:r>
              <a:rPr lang="zh-CN" altLang="en-US" dirty="0"/>
              <a:t>集</a:t>
            </a:r>
          </a:p>
          <a:p>
            <a:r>
              <a:rPr lang="zh-CN" altLang="en-US" dirty="0"/>
              <a:t>文法的</a:t>
            </a:r>
            <a:r>
              <a:rPr lang="en-US" altLang="zh-CN" dirty="0"/>
              <a:t>FOLLOW</a:t>
            </a:r>
            <a:r>
              <a:rPr lang="zh-CN" altLang="en-US" dirty="0"/>
              <a:t>集</a:t>
            </a:r>
          </a:p>
          <a:p>
            <a:r>
              <a:rPr lang="zh-CN" altLang="en-US" dirty="0"/>
              <a:t>预测分析表构造算法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预测分析表的构造</a:t>
            </a:r>
          </a:p>
        </p:txBody>
      </p:sp>
    </p:spTree>
    <p:extLst>
      <p:ext uri="{BB962C8B-B14F-4D97-AF65-F5344CB8AC3E}">
        <p14:creationId xmlns:p14="http://schemas.microsoft.com/office/powerpoint/2010/main" val="138874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96642" name="Rectangle 2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定义：对</a:t>
                </a:r>
                <a:r>
                  <a:rPr lang="en-US" altLang="zh-CN" dirty="0"/>
                  <a:t>α</a:t>
                </a:r>
                <a:r>
                  <a:rPr lang="en-US" altLang="zh-CN" dirty="0">
                    <a:sym typeface="Symbol" pitchFamily="18" charset="2"/>
                  </a:rPr>
                  <a:t>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T</a:t>
                </a:r>
                <a:r>
                  <a:rPr lang="en-US" altLang="zh-CN" dirty="0" err="1">
                    <a:sym typeface="Symbol" pitchFamily="18" charset="2"/>
                  </a:rPr>
                  <a:t>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N</a:t>
                </a:r>
                <a:r>
                  <a:rPr lang="en-US" altLang="zh-CN" dirty="0"/>
                  <a:t>)*</a:t>
                </a:r>
                <a:r>
                  <a:rPr lang="zh-CN" altLang="en-US" dirty="0"/>
                  <a:t>，</a:t>
                </a:r>
              </a:p>
              <a:p>
                <a:r>
                  <a:rPr lang="en-US" altLang="zh-CN" dirty="0"/>
                  <a:t>FIRST(α) = { a | α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a</a:t>
                </a:r>
                <a:r>
                  <a:rPr lang="en-US" altLang="zh-CN" dirty="0"/>
                  <a:t>. . . , </a:t>
                </a:r>
                <a:r>
                  <a:rPr lang="en-US" altLang="zh-CN" dirty="0" err="1"/>
                  <a:t>a</a:t>
                </a:r>
                <a:r>
                  <a:rPr lang="en-US" altLang="zh-CN" dirty="0" err="1">
                    <a:sym typeface="Symbol" pitchFamily="18" charset="2"/>
                  </a:rPr>
                  <a:t>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T</a:t>
                </a:r>
                <a:r>
                  <a:rPr lang="en-US" altLang="zh-CN" dirty="0"/>
                  <a:t> }</a:t>
                </a:r>
                <a:r>
                  <a:rPr lang="zh-CN" altLang="en-US" dirty="0"/>
                  <a:t>，</a:t>
                </a:r>
              </a:p>
              <a:p>
                <a:r>
                  <a:rPr lang="zh-CN" altLang="en-US" dirty="0"/>
                  <a:t>特别地，若有</a:t>
                </a:r>
                <a:r>
                  <a:rPr lang="en-US" altLang="zh-CN" dirty="0"/>
                  <a:t>α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ε</a:t>
                </a:r>
                <a:r>
                  <a:rPr lang="zh-CN" altLang="en-US" dirty="0"/>
                  <a:t>，则</a:t>
                </a:r>
                <a:r>
                  <a:rPr lang="en-US" altLang="zh-CN" dirty="0" err="1"/>
                  <a:t>ε</a:t>
                </a:r>
                <a:r>
                  <a:rPr lang="en-US" altLang="zh-CN" dirty="0" err="1">
                    <a:sym typeface="Symbol" pitchFamily="18" charset="2"/>
                  </a:rPr>
                  <a:t>FIRST</a:t>
                </a:r>
                <a:r>
                  <a:rPr lang="en-US" altLang="zh-CN" dirty="0"/>
                  <a:t>(α)</a:t>
                </a:r>
                <a:r>
                  <a:rPr lang="zh-CN" altLang="en-US" dirty="0"/>
                  <a:t>。</a:t>
                </a:r>
              </a:p>
              <a:p>
                <a:endParaRPr lang="en-US" altLang="zh-CN" dirty="0"/>
              </a:p>
              <a:p>
                <a:r>
                  <a:rPr lang="en-US" altLang="zh-CN" dirty="0">
                    <a:solidFill>
                      <a:srgbClr val="EE853E"/>
                    </a:solidFill>
                  </a:rPr>
                  <a:t>FIRST(α)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是所有能够由</a:t>
                </a:r>
                <a:r>
                  <a:rPr lang="en-US" altLang="zh-CN" dirty="0">
                    <a:solidFill>
                      <a:srgbClr val="EE853E"/>
                    </a:solidFill>
                  </a:rPr>
                  <a:t>α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推导出的“第</a:t>
                </a:r>
                <a:r>
                  <a:rPr lang="en-US" altLang="zh-CN" dirty="0">
                    <a:solidFill>
                      <a:srgbClr val="EE853E"/>
                    </a:solidFill>
                  </a:rPr>
                  <a:t>1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个终结符”或“</a:t>
                </a:r>
                <a:r>
                  <a:rPr lang="en-US" altLang="zh-CN" dirty="0">
                    <a:solidFill>
                      <a:srgbClr val="EE853E"/>
                    </a:solidFill>
                  </a:rPr>
                  <a:t>ε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”构成的集合。</a:t>
                </a:r>
              </a:p>
            </p:txBody>
          </p:sp>
        </mc:Choice>
        <mc:Fallback xmlns="">
          <p:sp>
            <p:nvSpPr>
              <p:cNvPr id="49664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66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文法的</a:t>
            </a:r>
            <a:r>
              <a:rPr lang="en-US" altLang="zh-CN"/>
              <a:t>FIRST</a:t>
            </a:r>
            <a:r>
              <a:rPr lang="zh-CN" altLang="en-US"/>
              <a:t>集</a:t>
            </a:r>
          </a:p>
        </p:txBody>
      </p:sp>
    </p:spTree>
    <p:extLst>
      <p:ext uri="{BB962C8B-B14F-4D97-AF65-F5344CB8AC3E}">
        <p14:creationId xmlns:p14="http://schemas.microsoft.com/office/powerpoint/2010/main" val="267501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97666" name="Rectangle 2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1.	</a:t>
                </a:r>
                <a:r>
                  <a:rPr lang="zh-CN" altLang="en-US" dirty="0"/>
                  <a:t>当</a:t>
                </a:r>
                <a:r>
                  <a:rPr lang="en-US" altLang="zh-CN" dirty="0"/>
                  <a:t>α=X</a:t>
                </a:r>
                <a:r>
                  <a:rPr lang="zh-CN" altLang="en-US" dirty="0"/>
                  <a:t>时，且</a:t>
                </a:r>
                <a:r>
                  <a:rPr lang="en-US" altLang="zh-CN" dirty="0" err="1"/>
                  <a:t>X</a:t>
                </a:r>
                <a:r>
                  <a:rPr lang="en-US" altLang="zh-CN" dirty="0" err="1">
                    <a:sym typeface="Symbol" pitchFamily="18" charset="2"/>
                  </a:rPr>
                  <a:t>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T</a:t>
                </a:r>
                <a:r>
                  <a:rPr lang="zh-CN" altLang="en-US" dirty="0"/>
                  <a:t>，则</a:t>
                </a:r>
                <a:r>
                  <a:rPr lang="en-US" altLang="zh-CN" dirty="0"/>
                  <a:t>FIRST(α)={X}</a:t>
                </a:r>
              </a:p>
              <a:p>
                <a:r>
                  <a:rPr lang="en-US" altLang="zh-CN" dirty="0"/>
                  <a:t>2.	</a:t>
                </a:r>
                <a:r>
                  <a:rPr lang="zh-CN" altLang="en-US" dirty="0"/>
                  <a:t>当</a:t>
                </a:r>
                <a:r>
                  <a:rPr lang="en-US" altLang="zh-CN" dirty="0"/>
                  <a:t>α=X</a:t>
                </a:r>
                <a:r>
                  <a:rPr lang="zh-CN" altLang="en-US" dirty="0"/>
                  <a:t>时，且</a:t>
                </a:r>
                <a:r>
                  <a:rPr lang="en-US" altLang="zh-CN" dirty="0" err="1"/>
                  <a:t>X</a:t>
                </a:r>
                <a:r>
                  <a:rPr lang="en-US" altLang="zh-CN" dirty="0" err="1">
                    <a:sym typeface="Symbol" pitchFamily="18" charset="2"/>
                  </a:rPr>
                  <a:t>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N</a:t>
                </a:r>
                <a:r>
                  <a:rPr lang="zh-CN" altLang="en-US" dirty="0"/>
                  <a:t>，分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种情形： </a:t>
                </a:r>
                <a:endParaRPr lang="en-US" altLang="zh-CN" dirty="0"/>
              </a:p>
              <a:p>
                <a:r>
                  <a:rPr lang="en-US" altLang="zh-CN" dirty="0"/>
                  <a:t>	2.1	</a:t>
                </a:r>
                <a:r>
                  <a:rPr lang="zh-CN" altLang="en-US" dirty="0"/>
                  <a:t>如有</a:t>
                </a:r>
                <a:r>
                  <a:rPr lang="en-US" altLang="zh-CN" dirty="0" err="1"/>
                  <a:t>X</a:t>
                </a:r>
                <a:r>
                  <a:rPr lang="en-US" altLang="zh-CN" dirty="0" err="1">
                    <a:sym typeface="Symbol" pitchFamily="18" charset="2"/>
                  </a:rPr>
                  <a:t>a</a:t>
                </a:r>
                <a:r>
                  <a:rPr lang="en-US" altLang="zh-CN" dirty="0">
                    <a:sym typeface="Symbol" pitchFamily="18" charset="2"/>
                  </a:rPr>
                  <a:t>…</a:t>
                </a:r>
                <a:r>
                  <a:rPr lang="zh-CN" altLang="en-US" dirty="0">
                    <a:sym typeface="Symbol" pitchFamily="18" charset="2"/>
                  </a:rPr>
                  <a:t>，</a:t>
                </a:r>
                <a:r>
                  <a:rPr lang="zh-CN" altLang="en-US" dirty="0"/>
                  <a:t>则</a:t>
                </a:r>
                <a:r>
                  <a:rPr lang="en-US" altLang="zh-CN" dirty="0"/>
                  <a:t>a </a:t>
                </a:r>
                <a:r>
                  <a:rPr lang="en-US" altLang="zh-CN" dirty="0">
                    <a:sym typeface="Symbol" pitchFamily="18" charset="2"/>
                  </a:rPr>
                  <a:t></a:t>
                </a:r>
                <a:r>
                  <a:rPr lang="en-US" altLang="zh-CN" dirty="0"/>
                  <a:t> FIRST(α)</a:t>
                </a:r>
              </a:p>
              <a:p>
                <a:r>
                  <a:rPr lang="en-US" altLang="zh-CN" dirty="0">
                    <a:sym typeface="Symbol" pitchFamily="18" charset="2"/>
                  </a:rPr>
                  <a:t>	2.2	</a:t>
                </a:r>
                <a:r>
                  <a:rPr lang="zh-CN" altLang="en-US" dirty="0"/>
                  <a:t>如有</a:t>
                </a:r>
                <a:r>
                  <a:rPr lang="en-US" altLang="zh-CN" dirty="0" err="1"/>
                  <a:t>X</a:t>
                </a:r>
                <a:r>
                  <a:rPr lang="en-US" altLang="zh-CN" dirty="0" err="1">
                    <a:sym typeface="Symbol" pitchFamily="18" charset="2"/>
                  </a:rPr>
                  <a:t></a:t>
                </a:r>
                <a:r>
                  <a:rPr lang="en-US" altLang="zh-CN" dirty="0" err="1"/>
                  <a:t>ε</a:t>
                </a:r>
                <a:r>
                  <a:rPr lang="zh-CN" altLang="en-US" dirty="0"/>
                  <a:t>，则</a:t>
                </a:r>
                <a:r>
                  <a:rPr lang="en-US" altLang="zh-CN" dirty="0"/>
                  <a:t>ε</a:t>
                </a:r>
                <a:r>
                  <a:rPr lang="en-US" altLang="zh-CN" dirty="0">
                    <a:sym typeface="Symbol" pitchFamily="18" charset="2"/>
                  </a:rPr>
                  <a:t></a:t>
                </a:r>
                <a:r>
                  <a:rPr lang="en-US" altLang="zh-CN" dirty="0"/>
                  <a:t> FIRST(α)</a:t>
                </a:r>
                <a:r>
                  <a:rPr lang="en-US" altLang="zh-CN" dirty="0">
                    <a:sym typeface="Symbol" pitchFamily="18" charset="2"/>
                  </a:rPr>
                  <a:t> </a:t>
                </a:r>
                <a:endParaRPr lang="zh-CN" altLang="en-US" dirty="0">
                  <a:sym typeface="Symbol" pitchFamily="18" charset="2"/>
                </a:endParaRPr>
              </a:p>
              <a:p>
                <a:r>
                  <a:rPr lang="en-US" altLang="zh-CN" dirty="0"/>
                  <a:t>	2.3	</a:t>
                </a:r>
                <a:r>
                  <a:rPr lang="zh-CN" altLang="en-US" dirty="0"/>
                  <a:t>如有</a:t>
                </a:r>
                <a:r>
                  <a:rPr lang="en-US" altLang="zh-CN" dirty="0" err="1"/>
                  <a:t>X</a:t>
                </a:r>
                <a:r>
                  <a:rPr lang="en-US" altLang="zh-CN" dirty="0" err="1">
                    <a:sym typeface="Symbol" pitchFamily="18" charset="2"/>
                  </a:rPr>
                  <a:t>Y</a:t>
                </a:r>
                <a:r>
                  <a:rPr lang="en-US" altLang="zh-CN" dirty="0">
                    <a:sym typeface="Symbol" pitchFamily="18" charset="2"/>
                  </a:rPr>
                  <a:t>…</a:t>
                </a:r>
                <a:r>
                  <a:rPr lang="zh-CN" altLang="en-US" dirty="0">
                    <a:sym typeface="Symbol" pitchFamily="18" charset="2"/>
                  </a:rPr>
                  <a:t>，则</a:t>
                </a:r>
                <a:r>
                  <a:rPr lang="en-US" altLang="zh-CN" dirty="0"/>
                  <a:t>FIRST(Y) </a:t>
                </a:r>
                <a:r>
                  <a:rPr lang="en-US" altLang="zh-CN" dirty="0">
                    <a:sym typeface="Symbol" pitchFamily="18" charset="2"/>
                  </a:rPr>
                  <a:t>- {</a:t>
                </a:r>
                <a:r>
                  <a:rPr lang="el-GR" altLang="zh-CN" dirty="0">
                    <a:sym typeface="Symbol" pitchFamily="18" charset="2"/>
                  </a:rPr>
                  <a:t>ε</a:t>
                </a:r>
                <a:r>
                  <a:rPr lang="en-US" altLang="zh-CN" dirty="0">
                    <a:sym typeface="Symbol" pitchFamily="18" charset="2"/>
                  </a:rPr>
                  <a:t>}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dirty="0"/>
                  <a:t> FIRST(α)</a:t>
                </a:r>
                <a:endParaRPr lang="zh-CN" altLang="en-US" dirty="0">
                  <a:sym typeface="Symbol" pitchFamily="18" charset="2"/>
                </a:endParaRPr>
              </a:p>
              <a:p>
                <a:r>
                  <a:rPr lang="en-US" altLang="zh-CN" dirty="0">
                    <a:sym typeface="Symbol" pitchFamily="18" charset="2"/>
                  </a:rPr>
                  <a:t>	2.4	</a:t>
                </a:r>
                <a:r>
                  <a:rPr lang="zh-CN" altLang="en-US" dirty="0">
                    <a:sym typeface="Symbol" pitchFamily="18" charset="2"/>
                  </a:rPr>
                  <a:t>如有</a:t>
                </a:r>
                <a:r>
                  <a:rPr lang="en-US" altLang="zh-CN" dirty="0" err="1">
                    <a:sym typeface="Symbol" pitchFamily="18" charset="2"/>
                  </a:rPr>
                  <a:t>XY</a:t>
                </a:r>
                <a:r>
                  <a:rPr lang="en-US" altLang="zh-CN" baseline="-25000" dirty="0" err="1">
                    <a:sym typeface="Symbol" pitchFamily="18" charset="2"/>
                  </a:rPr>
                  <a:t>1</a:t>
                </a:r>
                <a:r>
                  <a:rPr lang="en-US" altLang="zh-CN" dirty="0" err="1">
                    <a:sym typeface="Symbol" pitchFamily="18" charset="2"/>
                  </a:rPr>
                  <a:t>Y</a:t>
                </a:r>
                <a:r>
                  <a:rPr lang="en-US" altLang="zh-CN" baseline="-25000" dirty="0" err="1">
                    <a:sym typeface="Symbol" pitchFamily="18" charset="2"/>
                  </a:rPr>
                  <a:t>2</a:t>
                </a:r>
                <a:r>
                  <a:rPr lang="en-US" altLang="zh-CN" dirty="0">
                    <a:sym typeface="Symbol" pitchFamily="18" charset="2"/>
                  </a:rPr>
                  <a:t>…Y</a:t>
                </a:r>
                <a:r>
                  <a:rPr lang="en-US" altLang="zh-CN" baseline="-25000" dirty="0">
                    <a:sym typeface="Symbol" pitchFamily="18" charset="2"/>
                  </a:rPr>
                  <a:t>i</a:t>
                </a:r>
                <a:r>
                  <a:rPr lang="en-US" altLang="zh-CN" dirty="0">
                    <a:sym typeface="Symbol" pitchFamily="18" charset="2"/>
                  </a:rPr>
                  <a:t>…</a:t>
                </a:r>
                <a:r>
                  <a:rPr lang="zh-CN" altLang="en-US" dirty="0">
                    <a:sym typeface="Symbol" pitchFamily="18" charset="2"/>
                  </a:rPr>
                  <a:t>，且 </a:t>
                </a:r>
                <a:r>
                  <a:rPr lang="en-US" altLang="zh-CN" dirty="0" err="1">
                    <a:sym typeface="Symbol" pitchFamily="18" charset="2"/>
                  </a:rPr>
                  <a:t>Y</a:t>
                </a:r>
                <a:r>
                  <a:rPr lang="en-US" altLang="zh-CN" baseline="-25000" dirty="0" err="1">
                    <a:sym typeface="Symbol" pitchFamily="18" charset="2"/>
                  </a:rPr>
                  <a:t>1</a:t>
                </a:r>
                <a:r>
                  <a:rPr lang="en-US" altLang="zh-CN" dirty="0" err="1">
                    <a:sym typeface="Symbol" pitchFamily="18" charset="2"/>
                  </a:rPr>
                  <a:t>Y</a:t>
                </a:r>
                <a:r>
                  <a:rPr lang="en-US" altLang="zh-CN" baseline="-25000" dirty="0" err="1">
                    <a:sym typeface="Symbol" pitchFamily="18" charset="2"/>
                  </a:rPr>
                  <a:t>2</a:t>
                </a:r>
                <a:r>
                  <a:rPr lang="en-US" altLang="zh-CN" dirty="0">
                    <a:sym typeface="Symbol" pitchFamily="18" charset="2"/>
                  </a:rPr>
                  <a:t>…</a:t>
                </a:r>
                <a:r>
                  <a:rPr lang="en-US" altLang="zh-CN" dirty="0"/>
                  <a:t>Y</a:t>
                </a:r>
                <a:r>
                  <a:rPr lang="en-US" altLang="zh-CN" baseline="-25000" dirty="0"/>
                  <a:t>i-1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ε </a:t>
                </a:r>
                <a:r>
                  <a:rPr lang="zh-CN" altLang="en-US" dirty="0"/>
                  <a:t>，则</a:t>
                </a:r>
                <a:endParaRPr lang="en-US" altLang="zh-CN" dirty="0"/>
              </a:p>
              <a:p>
                <a:r>
                  <a:rPr lang="en-US" altLang="zh-CN" dirty="0"/>
                  <a:t>			FIRST(Y</a:t>
                </a:r>
                <a:r>
                  <a:rPr lang="en-US" altLang="zh-CN" baseline="-25000" dirty="0"/>
                  <a:t>i</a:t>
                </a:r>
                <a:r>
                  <a:rPr lang="en-US" altLang="zh-CN" dirty="0"/>
                  <a:t>) </a:t>
                </a:r>
                <a:r>
                  <a:rPr lang="en-US" altLang="zh-CN" dirty="0">
                    <a:sym typeface="Symbol" pitchFamily="18" charset="2"/>
                  </a:rPr>
                  <a:t>- {</a:t>
                </a:r>
                <a:r>
                  <a:rPr lang="el-GR" altLang="zh-CN" dirty="0">
                    <a:sym typeface="Symbol" pitchFamily="18" charset="2"/>
                  </a:rPr>
                  <a:t>ε</a:t>
                </a:r>
                <a:r>
                  <a:rPr lang="en-US" altLang="zh-CN" dirty="0">
                    <a:sym typeface="Symbol" pitchFamily="18" charset="2"/>
                  </a:rPr>
                  <a:t>}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dirty="0"/>
                  <a:t> FIRST(α)</a:t>
                </a:r>
                <a:endParaRPr lang="zh-CN" altLang="en-US" dirty="0">
                  <a:sym typeface="Symbol" pitchFamily="18" charset="2"/>
                </a:endParaRPr>
              </a:p>
              <a:p>
                <a:r>
                  <a:rPr lang="en-US" altLang="zh-CN" dirty="0"/>
                  <a:t>3.	</a:t>
                </a:r>
                <a:r>
                  <a:rPr lang="zh-CN" altLang="en-US" dirty="0"/>
                  <a:t>当</a:t>
                </a:r>
                <a:r>
                  <a:rPr lang="en-US" altLang="zh-CN" dirty="0"/>
                  <a:t>α=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1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2</a:t>
                </a:r>
                <a:r>
                  <a:rPr lang="en-US" altLang="zh-CN" dirty="0"/>
                  <a:t>…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N</a:t>
                </a:r>
                <a:r>
                  <a:rPr lang="zh-CN" altLang="en-US" dirty="0"/>
                  <a:t>时，</a:t>
                </a:r>
                <a:r>
                  <a:rPr lang="en-US" altLang="zh-CN" dirty="0"/>
                  <a:t>	</a:t>
                </a:r>
                <a:r>
                  <a:rPr lang="zh-CN" altLang="en-US" dirty="0"/>
                  <a:t>假设</a:t>
                </a:r>
                <a:r>
                  <a:rPr lang="en-US" altLang="zh-CN" dirty="0"/>
                  <a:t>α</a:t>
                </a:r>
                <a:r>
                  <a:rPr lang="en-US" altLang="zh-CN" dirty="0">
                    <a:sym typeface="Symbol" pitchFamily="18" charset="2"/>
                  </a:rPr>
                  <a:t> 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N</a:t>
                </a:r>
                <a:r>
                  <a:rPr lang="zh-CN" altLang="en-US"/>
                  <a:t> ，假设</a:t>
                </a:r>
                <a:r>
                  <a:rPr lang="en-US" altLang="zh-CN"/>
                  <a:t>α</a:t>
                </a:r>
                <a:r>
                  <a:rPr lang="en-US" altLang="zh-CN">
                    <a:sym typeface="Symbol" pitchFamily="18" charset="2"/>
                  </a:rPr>
                  <a:t> </a:t>
                </a:r>
                <a:r>
                  <a:rPr lang="en-US" altLang="zh-CN" dirty="0">
                    <a:sym typeface="Symbol" pitchFamily="18" charset="2"/>
                  </a:rPr>
                  <a:t> 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1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2</a:t>
                </a:r>
                <a:r>
                  <a:rPr lang="en-US" altLang="zh-CN" dirty="0"/>
                  <a:t>…</a:t>
                </a:r>
                <a:r>
                  <a:rPr lang="en-US" altLang="zh-CN" dirty="0" err="1"/>
                  <a:t>X</a:t>
                </a:r>
                <a:r>
                  <a:rPr lang="en-US" altLang="zh-CN" baseline="-25000" dirty="0" err="1"/>
                  <a:t>N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r>
                  <a:rPr lang="en-US" altLang="zh-CN" dirty="0"/>
                  <a:t>	</a:t>
                </a:r>
                <a:r>
                  <a:rPr lang="zh-CN" altLang="en-US" dirty="0"/>
                  <a:t>按照</a:t>
                </a:r>
                <a:r>
                  <a:rPr lang="en-US" altLang="zh-CN" dirty="0"/>
                  <a:t> 2. </a:t>
                </a:r>
                <a:r>
                  <a:rPr lang="zh-CN" altLang="en-US" dirty="0"/>
                  <a:t>的方法求</a:t>
                </a:r>
                <a:r>
                  <a:rPr lang="en-US" altLang="zh-CN" dirty="0"/>
                  <a:t>FIRST(α)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9766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76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</a:t>
            </a:r>
            <a:r>
              <a:rPr lang="zh-CN" altLang="en-US" dirty="0"/>
              <a:t>集的求法</a:t>
            </a:r>
          </a:p>
        </p:txBody>
      </p:sp>
      <p:sp>
        <p:nvSpPr>
          <p:cNvPr id="497675" name="Rectangle 11"/>
          <p:cNvSpPr>
            <a:spLocks noChangeArrowheads="1"/>
          </p:cNvSpPr>
          <p:nvPr/>
        </p:nvSpPr>
        <p:spPr bwMode="auto">
          <a:xfrm>
            <a:off x="1524000" y="3168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7683" name="Rectangle 19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2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00BD002-190F-4545-869E-08D915896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199798"/>
              </p:ext>
            </p:extLst>
          </p:nvPr>
        </p:nvGraphicFramePr>
        <p:xfrm>
          <a:off x="4724400" y="1676400"/>
          <a:ext cx="4343400" cy="2353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61929613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678928528"/>
                    </a:ext>
                  </a:extLst>
                </a:gridCol>
              </a:tblGrid>
              <a:tr h="470691">
                <a:tc>
                  <a:txBody>
                    <a:bodyPr/>
                    <a:lstStyle/>
                    <a:p>
                      <a:endParaRPr lang="zh-CN" altLang="en-US" sz="24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FIRST</a:t>
                      </a:r>
                      <a:endParaRPr lang="zh-CN" altLang="en-US" sz="24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97100"/>
                  </a:ext>
                </a:extLst>
              </a:tr>
              <a:tr h="4706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X</a:t>
                      </a:r>
                      <a:endParaRPr lang="zh-CN" altLang="en-US" sz="24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kern="1200" cap="none" baseline="-250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14937"/>
                  </a:ext>
                </a:extLst>
              </a:tr>
              <a:tr h="47069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kern="1200" cap="none" baseline="-250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36322"/>
                  </a:ext>
                </a:extLst>
              </a:tr>
              <a:tr h="47069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68964"/>
                  </a:ext>
                </a:extLst>
              </a:tr>
              <a:tr h="4706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A</a:t>
                      </a:r>
                      <a:endParaRPr lang="zh-CN" altLang="en-US" sz="24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21902"/>
                  </a:ext>
                </a:extLst>
              </a:tr>
            </a:tbl>
          </a:graphicData>
        </a:graphic>
      </p:graphicFrame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984337-501D-410A-9F02-5A4D28AB7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文法</a:t>
            </a:r>
            <a:r>
              <a:rPr lang="en-US" altLang="zh-CN" dirty="0"/>
              <a:t>G(X)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X </a:t>
            </a:r>
            <a:r>
              <a:rPr lang="en-US" altLang="zh-CN" dirty="0">
                <a:sym typeface="Symbol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dirty="0" err="1"/>
              <a:t>Y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Y</a:t>
            </a:r>
            <a:r>
              <a:rPr lang="en-US" altLang="zh-CN" baseline="-25000" dirty="0" err="1"/>
              <a:t>2</a:t>
            </a:r>
            <a:r>
              <a:rPr lang="en-US" altLang="zh-CN" dirty="0" err="1"/>
              <a:t>A</a:t>
            </a:r>
            <a:endParaRPr lang="en-US" altLang="zh-CN" dirty="0"/>
          </a:p>
          <a:p>
            <a:r>
              <a:rPr lang="en-US" altLang="zh-CN" dirty="0" err="1"/>
              <a:t>Y</a:t>
            </a:r>
            <a:r>
              <a:rPr lang="en-US" altLang="zh-CN" baseline="-25000" dirty="0" err="1"/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 err="1">
                <a:sym typeface="Symbol" pitchFamily="18" charset="2"/>
              </a:rPr>
              <a:t>y</a:t>
            </a:r>
            <a:r>
              <a:rPr lang="en-US" altLang="zh-CN" baseline="-25000" dirty="0" err="1">
                <a:sym typeface="Symbol" pitchFamily="18" charset="2"/>
              </a:rPr>
              <a:t>1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| </a:t>
            </a:r>
            <a:r>
              <a:rPr lang="el-GR" altLang="zh-CN" dirty="0">
                <a:sym typeface="Symbol" pitchFamily="18" charset="2"/>
              </a:rPr>
              <a:t>ε</a:t>
            </a:r>
            <a:endParaRPr lang="en-US" altLang="zh-CN" dirty="0">
              <a:sym typeface="Symbol" pitchFamily="18" charset="2"/>
            </a:endParaRPr>
          </a:p>
          <a:p>
            <a:r>
              <a:rPr lang="en-US" altLang="zh-CN" dirty="0" err="1"/>
              <a:t>Y</a:t>
            </a:r>
            <a:r>
              <a:rPr lang="en-US" altLang="zh-CN" baseline="-25000" dirty="0" err="1"/>
              <a:t>2</a:t>
            </a:r>
            <a:r>
              <a:rPr lang="en-US" altLang="zh-CN" dirty="0"/>
              <a:t>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 err="1">
                <a:sym typeface="Symbol" pitchFamily="18" charset="2"/>
              </a:rPr>
              <a:t>y</a:t>
            </a:r>
            <a:r>
              <a:rPr lang="en-US" altLang="zh-CN" baseline="-25000" dirty="0" err="1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| </a:t>
            </a:r>
            <a:r>
              <a:rPr lang="el-GR" altLang="zh-CN" dirty="0">
                <a:sym typeface="Symbol" pitchFamily="18" charset="2"/>
              </a:rPr>
              <a:t>ε</a:t>
            </a:r>
            <a:endParaRPr lang="en-US" altLang="zh-CN" dirty="0">
              <a:sym typeface="Symbol" pitchFamily="18" charset="2"/>
            </a:endParaRPr>
          </a:p>
          <a:p>
            <a:r>
              <a:rPr lang="en-US" altLang="zh-CN" dirty="0"/>
              <a:t>A </a:t>
            </a:r>
            <a:r>
              <a:rPr lang="en-US" altLang="zh-CN" dirty="0">
                <a:sym typeface="Symbol" pitchFamily="18" charset="2"/>
              </a:rPr>
              <a:t> a</a:t>
            </a:r>
          </a:p>
        </p:txBody>
      </p:sp>
      <p:sp>
        <p:nvSpPr>
          <p:cNvPr id="15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FIRST</a:t>
            </a:r>
            <a:r>
              <a:rPr lang="zh-CN" altLang="en-US"/>
              <a:t>集的求法</a:t>
            </a:r>
          </a:p>
        </p:txBody>
      </p:sp>
      <p:sp>
        <p:nvSpPr>
          <p:cNvPr id="498712" name="Text Box 24"/>
          <p:cNvSpPr txBox="1">
            <a:spLocks noChangeArrowheads="1"/>
          </p:cNvSpPr>
          <p:nvPr/>
        </p:nvSpPr>
        <p:spPr bwMode="auto">
          <a:xfrm>
            <a:off x="6542087" y="2124856"/>
            <a:ext cx="22092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y</a:t>
            </a:r>
            <a:r>
              <a:rPr lang="en-US" altLang="zh-CN" sz="24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1</a:t>
            </a: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	</a:t>
            </a: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y</a:t>
            </a:r>
            <a:r>
              <a:rPr lang="en-US" altLang="zh-CN" sz="24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2</a:t>
            </a: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 	a</a:t>
            </a:r>
          </a:p>
        </p:txBody>
      </p:sp>
      <p:sp>
        <p:nvSpPr>
          <p:cNvPr id="498713" name="Text Box 25"/>
          <p:cNvSpPr txBox="1">
            <a:spLocks noChangeArrowheads="1"/>
          </p:cNvSpPr>
          <p:nvPr/>
        </p:nvSpPr>
        <p:spPr bwMode="auto">
          <a:xfrm>
            <a:off x="6542087" y="2582056"/>
            <a:ext cx="12602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y</a:t>
            </a:r>
            <a:r>
              <a:rPr lang="en-US" altLang="zh-CN" sz="24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1</a:t>
            </a: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	</a:t>
            </a:r>
            <a:r>
              <a:rPr lang="el-GR" altLang="zh-CN" sz="24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ε</a:t>
            </a:r>
            <a:endParaRPr lang="en-US" altLang="zh-CN" sz="2400" b="1">
              <a:solidFill>
                <a:schemeClr val="bg1"/>
              </a:solidFill>
              <a:latin typeface="+mj-ea"/>
              <a:ea typeface="+mj-ea"/>
              <a:sym typeface="Symbol" pitchFamily="18" charset="2"/>
            </a:endParaRPr>
          </a:p>
        </p:txBody>
      </p:sp>
      <p:sp>
        <p:nvSpPr>
          <p:cNvPr id="498714" name="Text Box 26"/>
          <p:cNvSpPr txBox="1">
            <a:spLocks noChangeArrowheads="1"/>
          </p:cNvSpPr>
          <p:nvPr/>
        </p:nvSpPr>
        <p:spPr bwMode="auto">
          <a:xfrm>
            <a:off x="6542087" y="3067831"/>
            <a:ext cx="12602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y</a:t>
            </a:r>
            <a:r>
              <a:rPr lang="en-US" altLang="zh-CN" sz="24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2</a:t>
            </a: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	</a:t>
            </a:r>
            <a:r>
              <a:rPr lang="el-GR" altLang="zh-CN" sz="24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ε</a:t>
            </a:r>
            <a:endParaRPr lang="en-US" altLang="zh-CN" sz="2400" b="1">
              <a:solidFill>
                <a:schemeClr val="bg1"/>
              </a:solidFill>
              <a:latin typeface="+mj-ea"/>
              <a:ea typeface="+mj-ea"/>
              <a:sym typeface="Symbol" pitchFamily="18" charset="2"/>
            </a:endParaRPr>
          </a:p>
        </p:txBody>
      </p:sp>
      <p:sp>
        <p:nvSpPr>
          <p:cNvPr id="498715" name="Text Box 27"/>
          <p:cNvSpPr txBox="1">
            <a:spLocks noChangeArrowheads="1"/>
          </p:cNvSpPr>
          <p:nvPr/>
        </p:nvSpPr>
        <p:spPr bwMode="auto">
          <a:xfrm>
            <a:off x="6542087" y="3496456"/>
            <a:ext cx="3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a</a:t>
            </a:r>
            <a:endParaRPr kumimoji="1" lang="en-US" altLang="zh-CN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7440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8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8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8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8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8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8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8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8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712" grpId="0"/>
      <p:bldP spid="498713" grpId="0"/>
      <p:bldP spid="498714" grpId="0"/>
      <p:bldP spid="4987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99714" name="Rectangle 2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定义：对</a:t>
                </a:r>
                <a:r>
                  <a:rPr lang="en-US" altLang="zh-CN" dirty="0" err="1"/>
                  <a:t>A</a:t>
                </a:r>
                <a:r>
                  <a:rPr lang="en-US" altLang="zh-CN" dirty="0" err="1">
                    <a:sym typeface="Symbol" pitchFamily="18" charset="2"/>
                  </a:rPr>
                  <a:t>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N</a:t>
                </a:r>
                <a:r>
                  <a:rPr lang="zh-CN" altLang="en-US" dirty="0"/>
                  <a:t>，有</a:t>
                </a:r>
              </a:p>
              <a:p>
                <a:r>
                  <a:rPr lang="en-US" altLang="zh-CN" dirty="0"/>
                  <a:t>FOLLOW(A) = { a | S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 . . .Aa. . . </a:t>
                </a:r>
                <a:r>
                  <a:rPr lang="zh-CN" altLang="en-US" dirty="0"/>
                  <a:t>，</a:t>
                </a:r>
                <a:r>
                  <a:rPr lang="en-US" altLang="zh-CN" dirty="0" err="1"/>
                  <a:t>a</a:t>
                </a:r>
                <a:r>
                  <a:rPr lang="en-US" altLang="zh-CN" dirty="0" err="1">
                    <a:sym typeface="Symbol" pitchFamily="18" charset="2"/>
                  </a:rPr>
                  <a:t>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T</a:t>
                </a:r>
                <a:r>
                  <a:rPr lang="en-US" altLang="zh-CN" dirty="0"/>
                  <a:t> }</a:t>
                </a:r>
                <a:r>
                  <a:rPr lang="zh-CN" altLang="en-US" dirty="0"/>
                  <a:t>，</a:t>
                </a:r>
              </a:p>
              <a:p>
                <a:r>
                  <a:rPr lang="zh-CN" altLang="en-US" dirty="0"/>
                  <a:t>特别地，若有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 …A</a:t>
                </a:r>
                <a:r>
                  <a:rPr lang="zh-CN" altLang="en-US" dirty="0"/>
                  <a:t>，则 </a:t>
                </a:r>
                <a:r>
                  <a:rPr lang="en-US" altLang="zh-CN" dirty="0"/>
                  <a:t># </a:t>
                </a:r>
                <a:r>
                  <a:rPr lang="en-US" altLang="zh-CN" dirty="0">
                    <a:sym typeface="Symbol" pitchFamily="18" charset="2"/>
                  </a:rPr>
                  <a:t> </a:t>
                </a:r>
                <a:r>
                  <a:rPr lang="en-US" altLang="zh-CN" dirty="0"/>
                  <a:t>FOLLOW(A)</a:t>
                </a:r>
                <a:r>
                  <a:rPr lang="zh-CN" altLang="en-US" dirty="0"/>
                  <a:t>，其中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为文法开始符。</a:t>
                </a:r>
              </a:p>
              <a:p>
                <a:endParaRPr lang="en-US" altLang="zh-CN" dirty="0"/>
              </a:p>
              <a:p>
                <a:r>
                  <a:rPr lang="en-US" altLang="zh-CN" dirty="0">
                    <a:solidFill>
                      <a:srgbClr val="EE853E"/>
                    </a:solidFill>
                  </a:rPr>
                  <a:t>FOLLOW(A)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是所有合法句型中出现在</a:t>
                </a:r>
                <a:r>
                  <a:rPr lang="en-US" altLang="zh-CN" dirty="0">
                    <a:solidFill>
                      <a:srgbClr val="EE853E"/>
                    </a:solidFill>
                  </a:rPr>
                  <a:t>A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后面的“终结符”或“</a:t>
                </a:r>
                <a:r>
                  <a:rPr lang="en-US" altLang="zh-CN" dirty="0">
                    <a:solidFill>
                      <a:srgbClr val="EE853E"/>
                    </a:solidFill>
                  </a:rPr>
                  <a:t>#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”构成的集合。</a:t>
                </a:r>
                <a:endParaRPr lang="en-US" altLang="zh-CN" dirty="0">
                  <a:solidFill>
                    <a:srgbClr val="EE853E"/>
                  </a:solidFill>
                </a:endParaRPr>
              </a:p>
            </p:txBody>
          </p:sp>
        </mc:Choice>
        <mc:Fallback xmlns="">
          <p:sp>
            <p:nvSpPr>
              <p:cNvPr id="49971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850" r="-25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文法的</a:t>
            </a:r>
            <a:r>
              <a:rPr lang="en-US" altLang="zh-CN"/>
              <a:t>FOLLOW</a:t>
            </a:r>
            <a:r>
              <a:rPr lang="zh-CN" altLang="en-US"/>
              <a:t>集</a:t>
            </a:r>
          </a:p>
        </p:txBody>
      </p:sp>
    </p:spTree>
    <p:extLst>
      <p:ext uri="{BB962C8B-B14F-4D97-AF65-F5344CB8AC3E}">
        <p14:creationId xmlns:p14="http://schemas.microsoft.com/office/powerpoint/2010/main" val="269746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00738" name="Rectangle 2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1.	#</a:t>
                </a:r>
                <a:r>
                  <a:rPr lang="en-US" altLang="zh-CN" dirty="0">
                    <a:sym typeface="Symbol" pitchFamily="18" charset="2"/>
                  </a:rPr>
                  <a:t></a:t>
                </a:r>
                <a:r>
                  <a:rPr lang="en-US" altLang="zh-CN" dirty="0"/>
                  <a:t>FOLLOW(S)</a:t>
                </a:r>
              </a:p>
              <a:p>
                <a:r>
                  <a:rPr lang="en-US" altLang="zh-CN" dirty="0"/>
                  <a:t>2.	</a:t>
                </a:r>
                <a:r>
                  <a:rPr lang="zh-CN" altLang="en-US" dirty="0"/>
                  <a:t>如有</a:t>
                </a:r>
                <a:r>
                  <a:rPr lang="en-US" altLang="zh-CN" dirty="0"/>
                  <a:t>X → αAβ</a:t>
                </a:r>
                <a:r>
                  <a:rPr lang="zh-CN" altLang="en-US" dirty="0"/>
                  <a:t>，则</a:t>
                </a:r>
                <a:r>
                  <a:rPr lang="en-US" altLang="zh-CN" dirty="0"/>
                  <a:t>FIRST(β</a:t>
                </a:r>
                <a:r>
                  <a:rPr lang="en-US" altLang="zh-CN" dirty="0">
                    <a:sym typeface="Symbol" pitchFamily="18" charset="2"/>
                  </a:rPr>
                  <a:t>) - {</a:t>
                </a:r>
                <a:r>
                  <a:rPr lang="el-GR" altLang="zh-CN" dirty="0">
                    <a:sym typeface="Symbol" pitchFamily="18" charset="2"/>
                  </a:rPr>
                  <a:t>ε</a:t>
                </a:r>
                <a:r>
                  <a:rPr lang="en-US" altLang="zh-CN" dirty="0">
                    <a:sym typeface="Symbol" pitchFamily="18" charset="2"/>
                  </a:rPr>
                  <a:t>}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FOLLOW(</a:t>
                </a:r>
                <a:r>
                  <a:rPr lang="en-US" altLang="zh-CN" dirty="0"/>
                  <a:t>A</a:t>
                </a:r>
                <a:r>
                  <a:rPr lang="en-US" altLang="zh-CN" dirty="0">
                    <a:sym typeface="Symbol" pitchFamily="18" charset="2"/>
                  </a:rPr>
                  <a:t>)</a:t>
                </a:r>
              </a:p>
              <a:p>
                <a:r>
                  <a:rPr lang="en-US" altLang="zh-CN" dirty="0"/>
                  <a:t>3.	</a:t>
                </a:r>
                <a:r>
                  <a:rPr lang="zh-CN" altLang="en-US" dirty="0"/>
                  <a:t>如有</a:t>
                </a:r>
                <a:r>
                  <a:rPr lang="en-US" altLang="zh-CN" dirty="0"/>
                  <a:t>X → αA</a:t>
                </a:r>
                <a:r>
                  <a:rPr lang="zh-CN" altLang="en-US" dirty="0"/>
                  <a:t>，则</a:t>
                </a:r>
                <a:r>
                  <a:rPr lang="en-US" altLang="zh-CN" dirty="0"/>
                  <a:t>FOLLOW(X)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FOLLOW(</a:t>
                </a:r>
                <a:r>
                  <a:rPr lang="en-US" altLang="zh-CN" dirty="0"/>
                  <a:t>A</a:t>
                </a:r>
                <a:r>
                  <a:rPr lang="en-US" altLang="zh-CN" dirty="0">
                    <a:sym typeface="Symbol" pitchFamily="18" charset="2"/>
                  </a:rPr>
                  <a:t>)</a:t>
                </a:r>
              </a:p>
              <a:p>
                <a:r>
                  <a:rPr lang="en-US" altLang="zh-CN" dirty="0"/>
                  <a:t>4.	</a:t>
                </a:r>
                <a:r>
                  <a:rPr lang="zh-CN" altLang="en-US" dirty="0"/>
                  <a:t>如有</a:t>
                </a:r>
                <a:r>
                  <a:rPr lang="en-US" altLang="zh-CN" dirty="0"/>
                  <a:t>X → αAβ </a:t>
                </a:r>
                <a:r>
                  <a:rPr lang="zh-CN" altLang="en-US" dirty="0"/>
                  <a:t>且 </a:t>
                </a:r>
                <a:r>
                  <a:rPr lang="en-US" altLang="zh-CN" dirty="0"/>
                  <a:t>β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ε </a:t>
                </a:r>
                <a:r>
                  <a:rPr lang="zh-CN" altLang="en-US" dirty="0"/>
                  <a:t>，则</a:t>
                </a:r>
                <a:r>
                  <a:rPr lang="en-US" altLang="zh-CN" dirty="0"/>
                  <a:t>FOLLOW(X)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</a:t>
                </a:r>
                <a:r>
                  <a:rPr lang="en-US" altLang="zh-CN" dirty="0"/>
                  <a:t>FOLLOW(A)</a:t>
                </a:r>
              </a:p>
            </p:txBody>
          </p:sp>
        </mc:Choice>
        <mc:Fallback xmlns="">
          <p:sp>
            <p:nvSpPr>
              <p:cNvPr id="50073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07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FOLLOW</a:t>
            </a:r>
            <a:r>
              <a:rPr lang="zh-CN" altLang="en-US"/>
              <a:t>集的求法</a:t>
            </a:r>
          </a:p>
        </p:txBody>
      </p:sp>
    </p:spTree>
    <p:extLst>
      <p:ext uri="{BB962C8B-B14F-4D97-AF65-F5344CB8AC3E}">
        <p14:creationId xmlns:p14="http://schemas.microsoft.com/office/powerpoint/2010/main" val="3109607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 dirty="0"/>
              <a:t>文法</a:t>
            </a:r>
            <a:r>
              <a:rPr lang="en-US" altLang="zh-CN" dirty="0"/>
              <a:t>G’</a:t>
            </a:r>
            <a:r>
              <a:rPr lang="zh-CN" altLang="en-US" dirty="0"/>
              <a:t>：</a:t>
            </a:r>
          </a:p>
          <a:p>
            <a:r>
              <a:rPr lang="en-US" altLang="zh-CN" dirty="0"/>
              <a:t>E → </a:t>
            </a:r>
            <a:r>
              <a:rPr lang="en-US" altLang="zh-CN" dirty="0" err="1"/>
              <a:t>TE</a:t>
            </a:r>
            <a:r>
              <a:rPr lang="en-US" altLang="zh-CN" dirty="0"/>
              <a:t>’</a:t>
            </a:r>
          </a:p>
          <a:p>
            <a:r>
              <a:rPr lang="en-US" altLang="zh-CN" dirty="0"/>
              <a:t>E’ → +</a:t>
            </a:r>
            <a:r>
              <a:rPr lang="en-US" altLang="zh-CN" dirty="0" err="1"/>
              <a:t>TE</a:t>
            </a:r>
            <a:r>
              <a:rPr lang="en-US" altLang="zh-CN" dirty="0"/>
              <a:t>’| ε</a:t>
            </a:r>
          </a:p>
          <a:p>
            <a:r>
              <a:rPr lang="en-US" altLang="zh-CN" dirty="0"/>
              <a:t>T → FT’</a:t>
            </a:r>
          </a:p>
          <a:p>
            <a:r>
              <a:rPr lang="en-US" altLang="zh-CN" dirty="0"/>
              <a:t>T’ → *FT’| ε</a:t>
            </a:r>
          </a:p>
          <a:p>
            <a:r>
              <a:rPr lang="en-US" altLang="zh-CN" dirty="0"/>
              <a:t>F → (E) | </a:t>
            </a:r>
            <a:r>
              <a:rPr lang="en-US" altLang="zh-CN" dirty="0" err="1"/>
              <a:t>i</a:t>
            </a:r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FOLLOW</a:t>
            </a:r>
            <a:r>
              <a:rPr lang="zh-CN" altLang="en-US"/>
              <a:t>集的求法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581400" y="1143000"/>
            <a:ext cx="7391400" cy="38862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7446963" y="1143000"/>
            <a:ext cx="0" cy="3886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3581400" y="30480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4800600" y="1143000"/>
            <a:ext cx="0" cy="3886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 flipV="1">
            <a:off x="3581400" y="1828801"/>
            <a:ext cx="7391401" cy="63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3581400" y="24384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3581400" y="43434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3581400" y="3733800"/>
            <a:ext cx="7391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946525" y="1870075"/>
            <a:ext cx="360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933825" y="2555875"/>
            <a:ext cx="6687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E’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3946525" y="3165475"/>
            <a:ext cx="3770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3933825" y="3851275"/>
            <a:ext cx="6912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T’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3946525" y="4460875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5546726" y="1260475"/>
            <a:ext cx="10518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FIRST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8632826" y="1295400"/>
            <a:ext cx="15193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FOLLOW</a:t>
            </a: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5470525" y="1870075"/>
            <a:ext cx="11993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(	i</a:t>
            </a: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5486400" y="3200400"/>
            <a:ext cx="11993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( 	i</a:t>
            </a: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5486400" y="4495800"/>
            <a:ext cx="11993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(	i</a:t>
            </a: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5486400" y="2508250"/>
            <a:ext cx="12602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 	</a:t>
            </a:r>
            <a:r>
              <a:rPr kumimoji="1" lang="el-GR" altLang="zh-CN" sz="24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ε</a:t>
            </a:r>
            <a:endParaRPr kumimoji="1" lang="en-US" altLang="zh-CN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5486400" y="3803650"/>
            <a:ext cx="12602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	</a:t>
            </a:r>
            <a:r>
              <a:rPr kumimoji="1" lang="el-GR" altLang="zh-CN" sz="24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ε</a:t>
            </a:r>
            <a:endParaRPr kumimoji="1" lang="en-US" altLang="zh-CN" sz="2400" b="1">
              <a:solidFill>
                <a:schemeClr val="bg1"/>
              </a:solidFill>
              <a:latin typeface="+mj-ea"/>
              <a:ea typeface="+mj-ea"/>
              <a:sym typeface="Symbol" pitchFamily="18" charset="2"/>
            </a:endParaRP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7743825" y="1930400"/>
            <a:ext cx="3818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7714672" y="3225800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7713663" y="3810000"/>
            <a:ext cx="22429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+	# 	) </a:t>
            </a: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7752198" y="4495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</a:t>
            </a:r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7743825" y="2506663"/>
            <a:ext cx="12282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# 	)</a:t>
            </a: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8632825" y="3225800"/>
            <a:ext cx="12282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	)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8609013" y="4449763"/>
            <a:ext cx="22429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	# 	) </a:t>
            </a:r>
          </a:p>
        </p:txBody>
      </p:sp>
      <p:sp>
        <p:nvSpPr>
          <p:cNvPr id="33" name="Text Box 29"/>
          <p:cNvSpPr txBox="1">
            <a:spLocks noChangeArrowheads="1"/>
          </p:cNvSpPr>
          <p:nvPr/>
        </p:nvSpPr>
        <p:spPr bwMode="auto">
          <a:xfrm>
            <a:off x="8682038" y="1905000"/>
            <a:ext cx="304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327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6" grpId="0" autoUpdateAnimBg="0"/>
      <p:bldP spid="27" grpId="0" autoUpdateAnimBg="0"/>
      <p:bldP spid="28" grpId="0" autoUpdateAnimBg="0"/>
      <p:bldP spid="29" grpId="0" autoUpdateAnimBg="0"/>
      <p:bldP spid="30" grpId="0" autoUpdateAnimBg="0"/>
      <p:bldP spid="31" grpId="0" autoUpdateAnimBg="0"/>
      <p:bldP spid="32" grpId="0" autoUpdateAnimBg="0"/>
      <p:bldP spid="3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 dirty="0"/>
              <a:t>文法</a:t>
            </a:r>
            <a:r>
              <a:rPr lang="en-US" altLang="zh-CN" dirty="0"/>
              <a:t>G’</a:t>
            </a:r>
            <a:r>
              <a:rPr lang="zh-CN" altLang="en-US" dirty="0"/>
              <a:t>：</a:t>
            </a:r>
          </a:p>
          <a:p>
            <a:r>
              <a:rPr lang="en-US" altLang="zh-CN" dirty="0"/>
              <a:t>E → </a:t>
            </a:r>
            <a:r>
              <a:rPr lang="en-US" altLang="zh-CN" dirty="0" err="1"/>
              <a:t>TE</a:t>
            </a:r>
            <a:r>
              <a:rPr lang="en-US" altLang="zh-CN" dirty="0"/>
              <a:t>’					FIRST (  </a:t>
            </a:r>
            <a:r>
              <a:rPr lang="en-US" altLang="zh-CN" dirty="0" err="1"/>
              <a:t>TE</a:t>
            </a:r>
            <a:r>
              <a:rPr lang="en-US" altLang="zh-CN" dirty="0"/>
              <a:t>’) = 	{  </a:t>
            </a:r>
            <a:r>
              <a:rPr lang="en-US" altLang="zh-CN" dirty="0" err="1"/>
              <a:t>i</a:t>
            </a:r>
            <a:r>
              <a:rPr lang="en-US" altLang="zh-CN" dirty="0"/>
              <a:t> , (  }</a:t>
            </a:r>
          </a:p>
          <a:p>
            <a:r>
              <a:rPr lang="en-US" altLang="zh-CN" dirty="0"/>
              <a:t>E’ → +</a:t>
            </a:r>
            <a:r>
              <a:rPr lang="en-US" altLang="zh-CN" dirty="0" err="1"/>
              <a:t>TE</a:t>
            </a:r>
            <a:r>
              <a:rPr lang="en-US" altLang="zh-CN" dirty="0"/>
              <a:t>’| ε			FIRST (  +</a:t>
            </a:r>
            <a:r>
              <a:rPr lang="en-US" altLang="zh-CN" dirty="0" err="1"/>
              <a:t>TE</a:t>
            </a:r>
            <a:r>
              <a:rPr lang="en-US" altLang="zh-CN" dirty="0"/>
              <a:t>’) = {  +  }		FIRST ( ε ) = { ε }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T → FT’ 				FIRST (  FT’) = 	{  </a:t>
            </a:r>
            <a:r>
              <a:rPr lang="en-US" altLang="zh-CN" dirty="0" err="1"/>
              <a:t>i</a:t>
            </a:r>
            <a:r>
              <a:rPr lang="en-US" altLang="zh-CN" dirty="0"/>
              <a:t> , (  }</a:t>
            </a:r>
          </a:p>
          <a:p>
            <a:r>
              <a:rPr lang="en-US" altLang="zh-CN" dirty="0"/>
              <a:t>T’ → *FT’| ε			FIRST (  *FT’) = {  *  }		FIRST ( ε ) = { ε }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F → (E) | </a:t>
            </a:r>
            <a:r>
              <a:rPr lang="en-US" altLang="zh-CN" dirty="0" err="1"/>
              <a:t>i</a:t>
            </a:r>
            <a:r>
              <a:rPr lang="en-US" altLang="zh-CN" dirty="0"/>
              <a:t>				FIRST (  (E)  ) = {  (  }</a:t>
            </a:r>
            <a:r>
              <a:rPr lang="zh-CN" altLang="en-US" dirty="0"/>
              <a:t> </a:t>
            </a:r>
            <a:r>
              <a:rPr lang="en-US" altLang="zh-CN" dirty="0"/>
              <a:t>			FIRST ( </a:t>
            </a:r>
            <a:r>
              <a:rPr lang="en-US" altLang="zh-CN" dirty="0" err="1"/>
              <a:t>i</a:t>
            </a:r>
            <a:r>
              <a:rPr lang="en-US" altLang="zh-CN" dirty="0"/>
              <a:t> ) = {  </a:t>
            </a:r>
            <a:r>
              <a:rPr lang="en-US" altLang="zh-CN" dirty="0" err="1"/>
              <a:t>i</a:t>
            </a:r>
            <a:r>
              <a:rPr lang="en-US" altLang="zh-CN" dirty="0"/>
              <a:t>  }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预测分析表的构造</a:t>
            </a:r>
          </a:p>
        </p:txBody>
      </p:sp>
    </p:spTree>
    <p:extLst>
      <p:ext uri="{BB962C8B-B14F-4D97-AF65-F5344CB8AC3E}">
        <p14:creationId xmlns:p14="http://schemas.microsoft.com/office/powerpoint/2010/main" val="361375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9" name="Rectangle 3"/>
          <p:cNvSpPr>
            <a:spLocks noChangeArrowheads="1"/>
          </p:cNvSpPr>
          <p:nvPr/>
        </p:nvSpPr>
        <p:spPr bwMode="auto">
          <a:xfrm>
            <a:off x="2133600" y="1219200"/>
            <a:ext cx="8001000" cy="34290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0" name="Line 4"/>
          <p:cNvSpPr>
            <a:spLocks noChangeShapeType="1"/>
          </p:cNvSpPr>
          <p:nvPr/>
        </p:nvSpPr>
        <p:spPr bwMode="auto">
          <a:xfrm>
            <a:off x="6523220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1" name="Line 5"/>
          <p:cNvSpPr>
            <a:spLocks noChangeShapeType="1"/>
          </p:cNvSpPr>
          <p:nvPr/>
        </p:nvSpPr>
        <p:spPr bwMode="auto">
          <a:xfrm>
            <a:off x="2133600" y="2895600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2" name="Line 6"/>
          <p:cNvSpPr>
            <a:spLocks noChangeShapeType="1"/>
          </p:cNvSpPr>
          <p:nvPr/>
        </p:nvSpPr>
        <p:spPr bwMode="auto">
          <a:xfrm>
            <a:off x="2133600" y="1828800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3" name="Line 7"/>
          <p:cNvSpPr>
            <a:spLocks noChangeShapeType="1"/>
          </p:cNvSpPr>
          <p:nvPr/>
        </p:nvSpPr>
        <p:spPr bwMode="auto">
          <a:xfrm>
            <a:off x="2133600" y="2362200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4" name="Line 8"/>
          <p:cNvSpPr>
            <a:spLocks noChangeShapeType="1"/>
          </p:cNvSpPr>
          <p:nvPr/>
        </p:nvSpPr>
        <p:spPr bwMode="auto">
          <a:xfrm>
            <a:off x="2133600" y="3429000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5" name="Line 9"/>
          <p:cNvSpPr>
            <a:spLocks noChangeShapeType="1"/>
          </p:cNvSpPr>
          <p:nvPr/>
        </p:nvSpPr>
        <p:spPr bwMode="auto">
          <a:xfrm>
            <a:off x="2133600" y="4038600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6" name="Line 10"/>
          <p:cNvSpPr>
            <a:spLocks noChangeShapeType="1"/>
          </p:cNvSpPr>
          <p:nvPr/>
        </p:nvSpPr>
        <p:spPr bwMode="auto">
          <a:xfrm>
            <a:off x="2743200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7" name="Line 11"/>
          <p:cNvSpPr>
            <a:spLocks noChangeShapeType="1"/>
          </p:cNvSpPr>
          <p:nvPr/>
        </p:nvSpPr>
        <p:spPr bwMode="auto">
          <a:xfrm>
            <a:off x="3810000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8" name="Line 12"/>
          <p:cNvSpPr>
            <a:spLocks noChangeShapeType="1"/>
          </p:cNvSpPr>
          <p:nvPr/>
        </p:nvSpPr>
        <p:spPr bwMode="auto">
          <a:xfrm>
            <a:off x="5181600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9" name="Line 13"/>
          <p:cNvSpPr>
            <a:spLocks noChangeShapeType="1"/>
          </p:cNvSpPr>
          <p:nvPr/>
        </p:nvSpPr>
        <p:spPr bwMode="auto">
          <a:xfrm>
            <a:off x="7593448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70" name="Line 14"/>
          <p:cNvSpPr>
            <a:spLocks noChangeShapeType="1"/>
          </p:cNvSpPr>
          <p:nvPr/>
        </p:nvSpPr>
        <p:spPr bwMode="auto">
          <a:xfrm>
            <a:off x="8763000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71" name="Text Box 15"/>
          <p:cNvSpPr txBox="1">
            <a:spLocks noChangeArrowheads="1"/>
          </p:cNvSpPr>
          <p:nvPr/>
        </p:nvSpPr>
        <p:spPr bwMode="auto">
          <a:xfrm>
            <a:off x="2198687" y="1870075"/>
            <a:ext cx="360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505872" name="Text Box 16"/>
          <p:cNvSpPr txBox="1">
            <a:spLocks noChangeArrowheads="1"/>
          </p:cNvSpPr>
          <p:nvPr/>
        </p:nvSpPr>
        <p:spPr bwMode="auto">
          <a:xfrm>
            <a:off x="2193925" y="2403475"/>
            <a:ext cx="6687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E’</a:t>
            </a:r>
          </a:p>
        </p:txBody>
      </p:sp>
      <p:sp>
        <p:nvSpPr>
          <p:cNvPr id="505873" name="Text Box 17"/>
          <p:cNvSpPr txBox="1">
            <a:spLocks noChangeArrowheads="1"/>
          </p:cNvSpPr>
          <p:nvPr/>
        </p:nvSpPr>
        <p:spPr bwMode="auto">
          <a:xfrm>
            <a:off x="2198687" y="301307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</a:p>
        </p:txBody>
      </p:sp>
      <p:sp>
        <p:nvSpPr>
          <p:cNvPr id="505874" name="Text Box 18"/>
          <p:cNvSpPr txBox="1">
            <a:spLocks noChangeArrowheads="1"/>
          </p:cNvSpPr>
          <p:nvPr/>
        </p:nvSpPr>
        <p:spPr bwMode="auto">
          <a:xfrm>
            <a:off x="2193925" y="3546475"/>
            <a:ext cx="6912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T’</a:t>
            </a:r>
          </a:p>
        </p:txBody>
      </p:sp>
      <p:sp>
        <p:nvSpPr>
          <p:cNvPr id="505875" name="Text Box 19"/>
          <p:cNvSpPr txBox="1">
            <a:spLocks noChangeArrowheads="1"/>
          </p:cNvSpPr>
          <p:nvPr/>
        </p:nvSpPr>
        <p:spPr bwMode="auto">
          <a:xfrm>
            <a:off x="2198687" y="415607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505876" name="Text Box 20"/>
          <p:cNvSpPr txBox="1">
            <a:spLocks noChangeArrowheads="1"/>
          </p:cNvSpPr>
          <p:nvPr/>
        </p:nvSpPr>
        <p:spPr bwMode="auto">
          <a:xfrm>
            <a:off x="3108326" y="1260475"/>
            <a:ext cx="2760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505877" name="Text Box 21"/>
          <p:cNvSpPr txBox="1">
            <a:spLocks noChangeArrowheads="1"/>
          </p:cNvSpPr>
          <p:nvPr/>
        </p:nvSpPr>
        <p:spPr bwMode="auto">
          <a:xfrm>
            <a:off x="4251325" y="1260476"/>
            <a:ext cx="4187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</a:p>
        </p:txBody>
      </p:sp>
      <p:sp>
        <p:nvSpPr>
          <p:cNvPr id="505878" name="Text Box 22"/>
          <p:cNvSpPr txBox="1">
            <a:spLocks noChangeArrowheads="1"/>
          </p:cNvSpPr>
          <p:nvPr/>
        </p:nvSpPr>
        <p:spPr bwMode="auto">
          <a:xfrm>
            <a:off x="5454650" y="1371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</a:t>
            </a:r>
          </a:p>
        </p:txBody>
      </p:sp>
      <p:sp>
        <p:nvSpPr>
          <p:cNvPr id="505879" name="Text Box 23"/>
          <p:cNvSpPr txBox="1">
            <a:spLocks noChangeArrowheads="1"/>
          </p:cNvSpPr>
          <p:nvPr/>
        </p:nvSpPr>
        <p:spPr bwMode="auto">
          <a:xfrm>
            <a:off x="6739373" y="1260475"/>
            <a:ext cx="304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(</a:t>
            </a:r>
          </a:p>
        </p:txBody>
      </p:sp>
      <p:sp>
        <p:nvSpPr>
          <p:cNvPr id="505880" name="Text Box 24"/>
          <p:cNvSpPr txBox="1">
            <a:spLocks noChangeArrowheads="1"/>
          </p:cNvSpPr>
          <p:nvPr/>
        </p:nvSpPr>
        <p:spPr bwMode="auto">
          <a:xfrm>
            <a:off x="7985125" y="1260475"/>
            <a:ext cx="304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505881" name="Text Box 25"/>
          <p:cNvSpPr txBox="1">
            <a:spLocks noChangeArrowheads="1"/>
          </p:cNvSpPr>
          <p:nvPr/>
        </p:nvSpPr>
        <p:spPr bwMode="auto">
          <a:xfrm>
            <a:off x="9280525" y="13160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kumimoji="1"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82" name="Text Box 26"/>
          <p:cNvSpPr txBox="1">
            <a:spLocks noChangeArrowheads="1"/>
          </p:cNvSpPr>
          <p:nvPr/>
        </p:nvSpPr>
        <p:spPr bwMode="auto">
          <a:xfrm>
            <a:off x="9204325" y="1336675"/>
            <a:ext cx="3818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505883" name="Text Box 27"/>
          <p:cNvSpPr txBox="1">
            <a:spLocks noChangeArrowheads="1"/>
          </p:cNvSpPr>
          <p:nvPr/>
        </p:nvSpPr>
        <p:spPr bwMode="auto">
          <a:xfrm>
            <a:off x="2819401" y="1905000"/>
            <a:ext cx="114967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 dirty="0" err="1">
                <a:solidFill>
                  <a:schemeClr val="bg1"/>
                </a:solidFill>
                <a:latin typeface="+mj-ea"/>
                <a:ea typeface="+mj-ea"/>
              </a:rPr>
              <a:t>E→TE</a:t>
            </a:r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’</a:t>
            </a:r>
          </a:p>
        </p:txBody>
      </p:sp>
      <p:sp>
        <p:nvSpPr>
          <p:cNvPr id="505884" name="Text Box 28"/>
          <p:cNvSpPr txBox="1">
            <a:spLocks noChangeArrowheads="1"/>
          </p:cNvSpPr>
          <p:nvPr/>
        </p:nvSpPr>
        <p:spPr bwMode="auto">
          <a:xfrm>
            <a:off x="6526649" y="1905000"/>
            <a:ext cx="114967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E→TE’</a:t>
            </a:r>
          </a:p>
        </p:txBody>
      </p:sp>
      <p:sp>
        <p:nvSpPr>
          <p:cNvPr id="505885" name="Text Box 29"/>
          <p:cNvSpPr txBox="1">
            <a:spLocks noChangeArrowheads="1"/>
          </p:cNvSpPr>
          <p:nvPr/>
        </p:nvSpPr>
        <p:spPr bwMode="auto">
          <a:xfrm>
            <a:off x="3797301" y="2414589"/>
            <a:ext cx="16017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E’→+TE’</a:t>
            </a:r>
          </a:p>
        </p:txBody>
      </p:sp>
      <p:sp>
        <p:nvSpPr>
          <p:cNvPr id="505886" name="Text Box 30"/>
          <p:cNvSpPr txBox="1">
            <a:spLocks noChangeArrowheads="1"/>
          </p:cNvSpPr>
          <p:nvPr/>
        </p:nvSpPr>
        <p:spPr bwMode="auto">
          <a:xfrm>
            <a:off x="2819401" y="2971800"/>
            <a:ext cx="11695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 dirty="0" err="1">
                <a:solidFill>
                  <a:schemeClr val="bg1"/>
                </a:solidFill>
                <a:latin typeface="+mj-ea"/>
                <a:ea typeface="+mj-ea"/>
              </a:rPr>
              <a:t>T→FT</a:t>
            </a:r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’</a:t>
            </a:r>
          </a:p>
        </p:txBody>
      </p:sp>
      <p:sp>
        <p:nvSpPr>
          <p:cNvPr id="505887" name="Text Box 31"/>
          <p:cNvSpPr txBox="1">
            <a:spLocks noChangeArrowheads="1"/>
          </p:cNvSpPr>
          <p:nvPr/>
        </p:nvSpPr>
        <p:spPr bwMode="auto">
          <a:xfrm>
            <a:off x="6526649" y="2971800"/>
            <a:ext cx="11695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 dirty="0" err="1">
                <a:solidFill>
                  <a:schemeClr val="bg1"/>
                </a:solidFill>
                <a:latin typeface="+mj-ea"/>
                <a:ea typeface="+mj-ea"/>
              </a:rPr>
              <a:t>T→FT</a:t>
            </a:r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’</a:t>
            </a:r>
          </a:p>
        </p:txBody>
      </p:sp>
      <p:sp>
        <p:nvSpPr>
          <p:cNvPr id="505888" name="Text Box 32"/>
          <p:cNvSpPr txBox="1">
            <a:spLocks noChangeArrowheads="1"/>
          </p:cNvSpPr>
          <p:nvPr/>
        </p:nvSpPr>
        <p:spPr bwMode="auto">
          <a:xfrm>
            <a:off x="5164138" y="3557589"/>
            <a:ext cx="15564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T’→*FT’</a:t>
            </a:r>
          </a:p>
        </p:txBody>
      </p:sp>
      <p:sp>
        <p:nvSpPr>
          <p:cNvPr id="505889" name="Text Box 33"/>
          <p:cNvSpPr txBox="1">
            <a:spLocks noChangeArrowheads="1"/>
          </p:cNvSpPr>
          <p:nvPr/>
        </p:nvSpPr>
        <p:spPr bwMode="auto">
          <a:xfrm>
            <a:off x="2971801" y="4167189"/>
            <a:ext cx="663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F→i</a:t>
            </a:r>
          </a:p>
        </p:txBody>
      </p:sp>
      <p:sp>
        <p:nvSpPr>
          <p:cNvPr id="505890" name="Text Box 34"/>
          <p:cNvSpPr txBox="1">
            <a:spLocks noChangeArrowheads="1"/>
          </p:cNvSpPr>
          <p:nvPr/>
        </p:nvSpPr>
        <p:spPr bwMode="auto">
          <a:xfrm>
            <a:off x="6526648" y="4167189"/>
            <a:ext cx="931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F→(E)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3A4B5FB-276E-4FFD-AF87-E191AA706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对文法的每个产生式 </a:t>
            </a:r>
            <a:r>
              <a:rPr lang="en-US" altLang="zh-CN" dirty="0"/>
              <a:t>X→α </a:t>
            </a:r>
            <a:r>
              <a:rPr lang="zh-CN" altLang="en-US" dirty="0"/>
              <a:t>执行以下操作：</a:t>
            </a:r>
          </a:p>
          <a:p>
            <a:r>
              <a:rPr lang="zh-CN" altLang="en-US" dirty="0"/>
              <a:t>对 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 err="1"/>
              <a:t>a</a:t>
            </a:r>
            <a:r>
              <a:rPr lang="en-US" altLang="zh-CN" dirty="0" err="1">
                <a:sym typeface="Symbol" pitchFamily="18" charset="2"/>
              </a:rPr>
              <a:t></a:t>
            </a:r>
            <a:r>
              <a:rPr lang="en-US" altLang="zh-CN" dirty="0" err="1"/>
              <a:t>FIRST</a:t>
            </a:r>
            <a:r>
              <a:rPr lang="en-US" altLang="zh-CN" dirty="0"/>
              <a:t>(α)</a:t>
            </a:r>
            <a:r>
              <a:rPr lang="zh-CN" altLang="en-US" dirty="0"/>
              <a:t>，将 </a:t>
            </a:r>
            <a:r>
              <a:rPr lang="en-US" altLang="zh-CN" dirty="0"/>
              <a:t>X→α </a:t>
            </a:r>
            <a:r>
              <a:rPr lang="zh-CN" altLang="en-US" dirty="0"/>
              <a:t>记入 </a:t>
            </a:r>
            <a:r>
              <a:rPr lang="en-US" altLang="zh-CN" dirty="0"/>
              <a:t>M[</a:t>
            </a:r>
            <a:r>
              <a:rPr lang="en-US" altLang="zh-CN" dirty="0" err="1"/>
              <a:t>X,a</a:t>
            </a:r>
            <a:r>
              <a:rPr lang="en-US" altLang="zh-CN" dirty="0"/>
              <a:t>]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5A30CEF-500C-4A70-83AB-21FE8C22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预测分析表的构造</a:t>
            </a:r>
          </a:p>
        </p:txBody>
      </p:sp>
    </p:spTree>
    <p:extLst>
      <p:ext uri="{BB962C8B-B14F-4D97-AF65-F5344CB8AC3E}">
        <p14:creationId xmlns:p14="http://schemas.microsoft.com/office/powerpoint/2010/main" val="58817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5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5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5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5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5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5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5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5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5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5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5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5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5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5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05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05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83" grpId="0"/>
      <p:bldP spid="505884" grpId="0"/>
      <p:bldP spid="505885" grpId="0"/>
      <p:bldP spid="505886" grpId="0"/>
      <p:bldP spid="505887" grpId="0"/>
      <p:bldP spid="505888" grpId="0"/>
      <p:bldP spid="505889" grpId="0"/>
      <p:bldP spid="50589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9" name="Rectangle 3"/>
          <p:cNvSpPr>
            <a:spLocks noChangeArrowheads="1"/>
          </p:cNvSpPr>
          <p:nvPr/>
        </p:nvSpPr>
        <p:spPr bwMode="auto">
          <a:xfrm>
            <a:off x="2133600" y="1219200"/>
            <a:ext cx="8001000" cy="34290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0" name="Line 4"/>
          <p:cNvSpPr>
            <a:spLocks noChangeShapeType="1"/>
          </p:cNvSpPr>
          <p:nvPr/>
        </p:nvSpPr>
        <p:spPr bwMode="auto">
          <a:xfrm>
            <a:off x="6523220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1" name="Line 5"/>
          <p:cNvSpPr>
            <a:spLocks noChangeShapeType="1"/>
          </p:cNvSpPr>
          <p:nvPr/>
        </p:nvSpPr>
        <p:spPr bwMode="auto">
          <a:xfrm>
            <a:off x="2133600" y="2895600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2" name="Line 6"/>
          <p:cNvSpPr>
            <a:spLocks noChangeShapeType="1"/>
          </p:cNvSpPr>
          <p:nvPr/>
        </p:nvSpPr>
        <p:spPr bwMode="auto">
          <a:xfrm>
            <a:off x="2133600" y="1828800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3" name="Line 7"/>
          <p:cNvSpPr>
            <a:spLocks noChangeShapeType="1"/>
          </p:cNvSpPr>
          <p:nvPr/>
        </p:nvSpPr>
        <p:spPr bwMode="auto">
          <a:xfrm>
            <a:off x="2133600" y="2362200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4" name="Line 8"/>
          <p:cNvSpPr>
            <a:spLocks noChangeShapeType="1"/>
          </p:cNvSpPr>
          <p:nvPr/>
        </p:nvSpPr>
        <p:spPr bwMode="auto">
          <a:xfrm>
            <a:off x="2133600" y="3429000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5" name="Line 9"/>
          <p:cNvSpPr>
            <a:spLocks noChangeShapeType="1"/>
          </p:cNvSpPr>
          <p:nvPr/>
        </p:nvSpPr>
        <p:spPr bwMode="auto">
          <a:xfrm>
            <a:off x="2133600" y="4038600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6" name="Line 10"/>
          <p:cNvSpPr>
            <a:spLocks noChangeShapeType="1"/>
          </p:cNvSpPr>
          <p:nvPr/>
        </p:nvSpPr>
        <p:spPr bwMode="auto">
          <a:xfrm>
            <a:off x="2743200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7" name="Line 11"/>
          <p:cNvSpPr>
            <a:spLocks noChangeShapeType="1"/>
          </p:cNvSpPr>
          <p:nvPr/>
        </p:nvSpPr>
        <p:spPr bwMode="auto">
          <a:xfrm>
            <a:off x="3810000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8" name="Line 12"/>
          <p:cNvSpPr>
            <a:spLocks noChangeShapeType="1"/>
          </p:cNvSpPr>
          <p:nvPr/>
        </p:nvSpPr>
        <p:spPr bwMode="auto">
          <a:xfrm>
            <a:off x="5181600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69" name="Line 13"/>
          <p:cNvSpPr>
            <a:spLocks noChangeShapeType="1"/>
          </p:cNvSpPr>
          <p:nvPr/>
        </p:nvSpPr>
        <p:spPr bwMode="auto">
          <a:xfrm>
            <a:off x="7593448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70" name="Line 14"/>
          <p:cNvSpPr>
            <a:spLocks noChangeShapeType="1"/>
          </p:cNvSpPr>
          <p:nvPr/>
        </p:nvSpPr>
        <p:spPr bwMode="auto">
          <a:xfrm>
            <a:off x="8763000" y="1219200"/>
            <a:ext cx="0" cy="3429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71" name="Text Box 15"/>
          <p:cNvSpPr txBox="1">
            <a:spLocks noChangeArrowheads="1"/>
          </p:cNvSpPr>
          <p:nvPr/>
        </p:nvSpPr>
        <p:spPr bwMode="auto">
          <a:xfrm>
            <a:off x="2198687" y="1870075"/>
            <a:ext cx="360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505872" name="Text Box 16"/>
          <p:cNvSpPr txBox="1">
            <a:spLocks noChangeArrowheads="1"/>
          </p:cNvSpPr>
          <p:nvPr/>
        </p:nvSpPr>
        <p:spPr bwMode="auto">
          <a:xfrm>
            <a:off x="2193925" y="2403475"/>
            <a:ext cx="6687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E’</a:t>
            </a:r>
          </a:p>
        </p:txBody>
      </p:sp>
      <p:sp>
        <p:nvSpPr>
          <p:cNvPr id="505873" name="Text Box 17"/>
          <p:cNvSpPr txBox="1">
            <a:spLocks noChangeArrowheads="1"/>
          </p:cNvSpPr>
          <p:nvPr/>
        </p:nvSpPr>
        <p:spPr bwMode="auto">
          <a:xfrm>
            <a:off x="2198687" y="3013075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</a:p>
        </p:txBody>
      </p:sp>
      <p:sp>
        <p:nvSpPr>
          <p:cNvPr id="505874" name="Text Box 18"/>
          <p:cNvSpPr txBox="1">
            <a:spLocks noChangeArrowheads="1"/>
          </p:cNvSpPr>
          <p:nvPr/>
        </p:nvSpPr>
        <p:spPr bwMode="auto">
          <a:xfrm>
            <a:off x="2193925" y="3546475"/>
            <a:ext cx="6912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T’</a:t>
            </a:r>
          </a:p>
        </p:txBody>
      </p:sp>
      <p:sp>
        <p:nvSpPr>
          <p:cNvPr id="505875" name="Text Box 19"/>
          <p:cNvSpPr txBox="1">
            <a:spLocks noChangeArrowheads="1"/>
          </p:cNvSpPr>
          <p:nvPr/>
        </p:nvSpPr>
        <p:spPr bwMode="auto">
          <a:xfrm>
            <a:off x="2198687" y="415607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505876" name="Text Box 20"/>
          <p:cNvSpPr txBox="1">
            <a:spLocks noChangeArrowheads="1"/>
          </p:cNvSpPr>
          <p:nvPr/>
        </p:nvSpPr>
        <p:spPr bwMode="auto">
          <a:xfrm>
            <a:off x="3108326" y="1260475"/>
            <a:ext cx="2760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505877" name="Text Box 21"/>
          <p:cNvSpPr txBox="1">
            <a:spLocks noChangeArrowheads="1"/>
          </p:cNvSpPr>
          <p:nvPr/>
        </p:nvSpPr>
        <p:spPr bwMode="auto">
          <a:xfrm>
            <a:off x="4251325" y="1260476"/>
            <a:ext cx="4187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</a:p>
        </p:txBody>
      </p:sp>
      <p:sp>
        <p:nvSpPr>
          <p:cNvPr id="505878" name="Text Box 22"/>
          <p:cNvSpPr txBox="1">
            <a:spLocks noChangeArrowheads="1"/>
          </p:cNvSpPr>
          <p:nvPr/>
        </p:nvSpPr>
        <p:spPr bwMode="auto">
          <a:xfrm>
            <a:off x="5454650" y="1371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*</a:t>
            </a:r>
          </a:p>
        </p:txBody>
      </p:sp>
      <p:sp>
        <p:nvSpPr>
          <p:cNvPr id="505879" name="Text Box 23"/>
          <p:cNvSpPr txBox="1">
            <a:spLocks noChangeArrowheads="1"/>
          </p:cNvSpPr>
          <p:nvPr/>
        </p:nvSpPr>
        <p:spPr bwMode="auto">
          <a:xfrm>
            <a:off x="6739373" y="1260475"/>
            <a:ext cx="304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(</a:t>
            </a:r>
          </a:p>
        </p:txBody>
      </p:sp>
      <p:sp>
        <p:nvSpPr>
          <p:cNvPr id="505880" name="Text Box 24"/>
          <p:cNvSpPr txBox="1">
            <a:spLocks noChangeArrowheads="1"/>
          </p:cNvSpPr>
          <p:nvPr/>
        </p:nvSpPr>
        <p:spPr bwMode="auto">
          <a:xfrm>
            <a:off x="7985125" y="1260475"/>
            <a:ext cx="304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505881" name="Text Box 25"/>
          <p:cNvSpPr txBox="1">
            <a:spLocks noChangeArrowheads="1"/>
          </p:cNvSpPr>
          <p:nvPr/>
        </p:nvSpPr>
        <p:spPr bwMode="auto">
          <a:xfrm>
            <a:off x="9280525" y="13160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kumimoji="1"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5882" name="Text Box 26"/>
          <p:cNvSpPr txBox="1">
            <a:spLocks noChangeArrowheads="1"/>
          </p:cNvSpPr>
          <p:nvPr/>
        </p:nvSpPr>
        <p:spPr bwMode="auto">
          <a:xfrm>
            <a:off x="9204325" y="1336675"/>
            <a:ext cx="3818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505883" name="Text Box 27"/>
          <p:cNvSpPr txBox="1">
            <a:spLocks noChangeArrowheads="1"/>
          </p:cNvSpPr>
          <p:nvPr/>
        </p:nvSpPr>
        <p:spPr bwMode="auto">
          <a:xfrm>
            <a:off x="2819401" y="1905000"/>
            <a:ext cx="114967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 dirty="0" err="1">
                <a:solidFill>
                  <a:schemeClr val="bg1"/>
                </a:solidFill>
                <a:latin typeface="+mj-ea"/>
                <a:ea typeface="+mj-ea"/>
              </a:rPr>
              <a:t>E→TE</a:t>
            </a:r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’</a:t>
            </a:r>
          </a:p>
        </p:txBody>
      </p:sp>
      <p:sp>
        <p:nvSpPr>
          <p:cNvPr id="505884" name="Text Box 28"/>
          <p:cNvSpPr txBox="1">
            <a:spLocks noChangeArrowheads="1"/>
          </p:cNvSpPr>
          <p:nvPr/>
        </p:nvSpPr>
        <p:spPr bwMode="auto">
          <a:xfrm>
            <a:off x="6526649" y="1905000"/>
            <a:ext cx="114967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E→TE’</a:t>
            </a:r>
          </a:p>
        </p:txBody>
      </p:sp>
      <p:sp>
        <p:nvSpPr>
          <p:cNvPr id="505885" name="Text Box 29"/>
          <p:cNvSpPr txBox="1">
            <a:spLocks noChangeArrowheads="1"/>
          </p:cNvSpPr>
          <p:nvPr/>
        </p:nvSpPr>
        <p:spPr bwMode="auto">
          <a:xfrm>
            <a:off x="3797301" y="2414589"/>
            <a:ext cx="16017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E’→+TE’</a:t>
            </a:r>
          </a:p>
        </p:txBody>
      </p:sp>
      <p:sp>
        <p:nvSpPr>
          <p:cNvPr id="505886" name="Text Box 30"/>
          <p:cNvSpPr txBox="1">
            <a:spLocks noChangeArrowheads="1"/>
          </p:cNvSpPr>
          <p:nvPr/>
        </p:nvSpPr>
        <p:spPr bwMode="auto">
          <a:xfrm>
            <a:off x="2819401" y="2971800"/>
            <a:ext cx="11695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 dirty="0" err="1">
                <a:solidFill>
                  <a:schemeClr val="bg1"/>
                </a:solidFill>
                <a:latin typeface="+mj-ea"/>
                <a:ea typeface="+mj-ea"/>
              </a:rPr>
              <a:t>T→FT</a:t>
            </a:r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’</a:t>
            </a:r>
          </a:p>
        </p:txBody>
      </p:sp>
      <p:sp>
        <p:nvSpPr>
          <p:cNvPr id="505887" name="Text Box 31"/>
          <p:cNvSpPr txBox="1">
            <a:spLocks noChangeArrowheads="1"/>
          </p:cNvSpPr>
          <p:nvPr/>
        </p:nvSpPr>
        <p:spPr bwMode="auto">
          <a:xfrm>
            <a:off x="6526649" y="2971800"/>
            <a:ext cx="11695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 dirty="0" err="1">
                <a:solidFill>
                  <a:schemeClr val="bg1"/>
                </a:solidFill>
                <a:latin typeface="+mj-ea"/>
                <a:ea typeface="+mj-ea"/>
              </a:rPr>
              <a:t>T→FT</a:t>
            </a:r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’</a:t>
            </a:r>
          </a:p>
        </p:txBody>
      </p:sp>
      <p:sp>
        <p:nvSpPr>
          <p:cNvPr id="505888" name="Text Box 32"/>
          <p:cNvSpPr txBox="1">
            <a:spLocks noChangeArrowheads="1"/>
          </p:cNvSpPr>
          <p:nvPr/>
        </p:nvSpPr>
        <p:spPr bwMode="auto">
          <a:xfrm>
            <a:off x="5164138" y="3557589"/>
            <a:ext cx="15564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T’→*FT’</a:t>
            </a:r>
          </a:p>
        </p:txBody>
      </p:sp>
      <p:sp>
        <p:nvSpPr>
          <p:cNvPr id="505889" name="Text Box 33"/>
          <p:cNvSpPr txBox="1">
            <a:spLocks noChangeArrowheads="1"/>
          </p:cNvSpPr>
          <p:nvPr/>
        </p:nvSpPr>
        <p:spPr bwMode="auto">
          <a:xfrm>
            <a:off x="2971801" y="4167189"/>
            <a:ext cx="663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F→i</a:t>
            </a:r>
          </a:p>
        </p:txBody>
      </p:sp>
      <p:sp>
        <p:nvSpPr>
          <p:cNvPr id="505890" name="Text Box 34"/>
          <p:cNvSpPr txBox="1">
            <a:spLocks noChangeArrowheads="1"/>
          </p:cNvSpPr>
          <p:nvPr/>
        </p:nvSpPr>
        <p:spPr bwMode="auto">
          <a:xfrm>
            <a:off x="6526648" y="4167189"/>
            <a:ext cx="931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F→(E)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3A4B5FB-276E-4FFD-AF87-E191AA706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对文法的每个产生式 </a:t>
            </a:r>
            <a:r>
              <a:rPr lang="en-US" altLang="zh-CN" dirty="0"/>
              <a:t>X→α </a:t>
            </a:r>
            <a:r>
              <a:rPr lang="zh-CN" altLang="en-US" dirty="0"/>
              <a:t>执行以下操作：</a:t>
            </a:r>
          </a:p>
          <a:p>
            <a:r>
              <a:rPr lang="zh-CN" altLang="en-US" dirty="0"/>
              <a:t>若 </a:t>
            </a:r>
            <a:r>
              <a:rPr lang="en-US" altLang="zh-CN" dirty="0"/>
              <a:t>α  =  ε</a:t>
            </a:r>
            <a:r>
              <a:rPr lang="zh-CN" altLang="en-US" dirty="0"/>
              <a:t>，则对 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/>
              <a:t>b </a:t>
            </a:r>
            <a:r>
              <a:rPr lang="en-US" altLang="zh-CN" dirty="0">
                <a:sym typeface="Symbol" pitchFamily="18" charset="2"/>
              </a:rPr>
              <a:t> </a:t>
            </a:r>
            <a:r>
              <a:rPr lang="en-US" altLang="zh-CN" dirty="0"/>
              <a:t>FOLLOW(X)</a:t>
            </a:r>
            <a:r>
              <a:rPr lang="zh-CN" altLang="en-US" dirty="0"/>
              <a:t>，将 </a:t>
            </a:r>
            <a:r>
              <a:rPr lang="en-US" altLang="zh-CN" dirty="0"/>
              <a:t>X→α </a:t>
            </a:r>
            <a:r>
              <a:rPr lang="zh-CN" altLang="en-US" dirty="0"/>
              <a:t>记入 </a:t>
            </a:r>
            <a:r>
              <a:rPr lang="en-US" altLang="zh-CN" dirty="0"/>
              <a:t>M[</a:t>
            </a:r>
            <a:r>
              <a:rPr lang="en-US" altLang="zh-CN" dirty="0" err="1"/>
              <a:t>X,b</a:t>
            </a:r>
            <a:r>
              <a:rPr lang="en-US" altLang="zh-CN" dirty="0"/>
              <a:t>]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5A30CEF-500C-4A70-83AB-21FE8C22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预测分析表的构造</a:t>
            </a:r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50D76819-309B-4745-AFC1-203B553DD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058" y="2438400"/>
            <a:ext cx="9717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 dirty="0" err="1">
                <a:solidFill>
                  <a:schemeClr val="bg1"/>
                </a:solidFill>
                <a:latin typeface="+mj-ea"/>
                <a:ea typeface="+mj-ea"/>
              </a:rPr>
              <a:t>E’→ε</a:t>
            </a:r>
            <a:endParaRPr kumimoji="1"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CEA4C3C3-2E74-4CAC-BED0-23BF2E623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2438400"/>
            <a:ext cx="9717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E’→ε</a:t>
            </a:r>
          </a:p>
        </p:txBody>
      </p:sp>
      <p:sp>
        <p:nvSpPr>
          <p:cNvPr id="39" name="Text Box 37">
            <a:extLst>
              <a:ext uri="{FF2B5EF4-FFF2-40B4-BE49-F238E27FC236}">
                <a16:creationId xmlns:a16="http://schemas.microsoft.com/office/drawing/2014/main" id="{04ACD943-2EBD-4344-97CE-3B2B30DD5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3557336"/>
            <a:ext cx="9915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 dirty="0" err="1">
                <a:solidFill>
                  <a:schemeClr val="bg1"/>
                </a:solidFill>
                <a:latin typeface="+mj-ea"/>
                <a:ea typeface="+mj-ea"/>
              </a:rPr>
              <a:t>T’→ε</a:t>
            </a:r>
            <a:endParaRPr kumimoji="1"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C7322753-C4A6-44F6-97B1-AD2255311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557336"/>
            <a:ext cx="9915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T’→ε</a:t>
            </a:r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AF07B4BB-1237-4769-B7F1-FD930CF07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557336"/>
            <a:ext cx="9915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T’→ε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A6E919D-9EB7-4691-A7FE-1B7F13B082D3}"/>
                  </a:ext>
                </a:extLst>
              </p:cNvPr>
              <p:cNvSpPr/>
              <p:nvPr/>
            </p:nvSpPr>
            <p:spPr>
              <a:xfrm>
                <a:off x="1463675" y="5315518"/>
                <a:ext cx="441325" cy="55188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zh-CN" alt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∗</m:t>
                          </m:r>
                          <m:r>
                            <a:rPr lang="en-US" altLang="zh-C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 </m:t>
                          </m:r>
                        </m:e>
                      </m:groupChr>
                      <m:r>
                        <a:rPr lang="en-US" altLang="zh-CN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 </m:t>
                      </m:r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A6E919D-9EB7-4691-A7FE-1B7F13B08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675" y="5315518"/>
                <a:ext cx="441325" cy="5518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60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04834" name="Rectangle 2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对文法的每个产生式 </a:t>
                </a:r>
                <a:r>
                  <a:rPr lang="en-US" altLang="zh-CN" dirty="0"/>
                  <a:t>X→α </a:t>
                </a:r>
                <a:r>
                  <a:rPr lang="zh-CN" altLang="en-US" dirty="0"/>
                  <a:t>执行以下操作：</a:t>
                </a:r>
              </a:p>
              <a:p>
                <a:r>
                  <a:rPr lang="en-US" altLang="zh-CN" dirty="0"/>
                  <a:t>1.	</a:t>
                </a:r>
                <a:r>
                  <a:rPr lang="zh-CN" altLang="en-US" dirty="0"/>
                  <a:t>对 </a:t>
                </a:r>
                <a:r>
                  <a:rPr lang="zh-CN" altLang="en-US" dirty="0">
                    <a:sym typeface="Symbol" pitchFamily="18" charset="2"/>
                  </a:rPr>
                  <a:t></a:t>
                </a:r>
                <a:r>
                  <a:rPr lang="en-US" altLang="zh-CN" dirty="0" err="1"/>
                  <a:t>a</a:t>
                </a:r>
                <a:r>
                  <a:rPr lang="en-US" altLang="zh-CN" dirty="0" err="1">
                    <a:sym typeface="Symbol" pitchFamily="18" charset="2"/>
                  </a:rPr>
                  <a:t></a:t>
                </a:r>
                <a:r>
                  <a:rPr lang="en-US" altLang="zh-CN" dirty="0" err="1"/>
                  <a:t>FIRST</a:t>
                </a:r>
                <a:r>
                  <a:rPr lang="en-US" altLang="zh-CN" dirty="0"/>
                  <a:t>(α)</a:t>
                </a:r>
                <a:r>
                  <a:rPr lang="zh-CN" altLang="en-US" dirty="0"/>
                  <a:t>，将 </a:t>
                </a:r>
                <a:r>
                  <a:rPr lang="en-US" altLang="zh-CN" dirty="0"/>
                  <a:t>X→α </a:t>
                </a:r>
                <a:r>
                  <a:rPr lang="zh-CN" altLang="en-US" dirty="0"/>
                  <a:t>记入 </a:t>
                </a:r>
                <a:r>
                  <a:rPr lang="en-US" altLang="zh-CN" dirty="0"/>
                  <a:t>M[</a:t>
                </a:r>
                <a:r>
                  <a:rPr lang="en-US" altLang="zh-CN" dirty="0" err="1"/>
                  <a:t>X,a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en-US" altLang="zh-CN" dirty="0"/>
                  <a:t>2.	</a:t>
                </a:r>
                <a:r>
                  <a:rPr lang="zh-CN" altLang="en-US" dirty="0"/>
                  <a:t>若 </a:t>
                </a:r>
                <a:r>
                  <a:rPr lang="en-US" altLang="zh-CN" dirty="0"/>
                  <a:t>α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ε</a:t>
                </a:r>
                <a:r>
                  <a:rPr lang="zh-CN" altLang="en-US" dirty="0"/>
                  <a:t>，则对</a:t>
                </a:r>
                <a:r>
                  <a:rPr lang="zh-CN" altLang="en-US" dirty="0">
                    <a:sym typeface="Symbol" pitchFamily="18" charset="2"/>
                  </a:rPr>
                  <a:t></a:t>
                </a:r>
                <a:r>
                  <a:rPr lang="en-US" altLang="zh-CN" dirty="0"/>
                  <a:t>b </a:t>
                </a:r>
                <a:r>
                  <a:rPr lang="en-US" altLang="zh-CN" dirty="0">
                    <a:sym typeface="Symbol" pitchFamily="18" charset="2"/>
                  </a:rPr>
                  <a:t> </a:t>
                </a:r>
                <a:r>
                  <a:rPr lang="en-US" altLang="zh-CN" dirty="0"/>
                  <a:t>FOLLOW(X)</a:t>
                </a:r>
                <a:r>
                  <a:rPr lang="zh-CN" altLang="en-US" dirty="0"/>
                  <a:t>，将 </a:t>
                </a:r>
                <a:r>
                  <a:rPr lang="en-US" altLang="zh-CN" dirty="0"/>
                  <a:t>X→α </a:t>
                </a:r>
                <a:r>
                  <a:rPr lang="zh-CN" altLang="en-US" dirty="0"/>
                  <a:t>记入</a:t>
                </a:r>
                <a:r>
                  <a:rPr lang="en-US" altLang="zh-CN" dirty="0"/>
                  <a:t>M[</a:t>
                </a:r>
                <a:r>
                  <a:rPr lang="en-US" altLang="zh-CN" dirty="0" err="1"/>
                  <a:t>X,b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en-US" altLang="zh-CN" dirty="0"/>
                  <a:t>3.	</a:t>
                </a:r>
                <a:r>
                  <a:rPr lang="zh-CN" altLang="en-US" dirty="0"/>
                  <a:t>其它表项为空白，表示出错。</a:t>
                </a:r>
              </a:p>
            </p:txBody>
          </p:sp>
        </mc:Choice>
        <mc:Fallback xmlns="">
          <p:sp>
            <p:nvSpPr>
              <p:cNvPr id="50483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48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预测分析表的构造算法</a:t>
            </a:r>
          </a:p>
        </p:txBody>
      </p:sp>
    </p:spTree>
    <p:extLst>
      <p:ext uri="{BB962C8B-B14F-4D97-AF65-F5344CB8AC3E}">
        <p14:creationId xmlns:p14="http://schemas.microsoft.com/office/powerpoint/2010/main" val="1232119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如果文法</a:t>
            </a:r>
            <a:r>
              <a:rPr lang="en-US" altLang="zh-CN" dirty="0"/>
              <a:t>G</a:t>
            </a:r>
            <a:r>
              <a:rPr lang="zh-CN" altLang="en-US" dirty="0"/>
              <a:t>的预测分析表中不含冲突表项，则称文法</a:t>
            </a:r>
            <a:r>
              <a:rPr lang="en-US" altLang="zh-CN" dirty="0"/>
              <a:t>G</a:t>
            </a:r>
            <a:r>
              <a:rPr lang="zh-CN" altLang="en-US" dirty="0"/>
              <a:t>为</a:t>
            </a:r>
            <a:r>
              <a:rPr kumimoji="1" lang="en-US" altLang="zh-CN" dirty="0">
                <a:solidFill>
                  <a:srgbClr val="EE853E"/>
                </a:solidFill>
                <a:latin typeface="+mj-ea"/>
                <a:ea typeface="+mj-ea"/>
              </a:rPr>
              <a:t>LL(1)</a:t>
            </a:r>
            <a:r>
              <a:rPr kumimoji="1" lang="zh-CN" altLang="en-US" dirty="0">
                <a:solidFill>
                  <a:srgbClr val="EE853E"/>
                </a:solidFill>
                <a:latin typeface="+mj-ea"/>
                <a:ea typeface="+mj-ea"/>
              </a:rPr>
              <a:t>文法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LL(1)</a:t>
            </a:r>
            <a:r>
              <a:rPr lang="zh-CN" altLang="en-US" dirty="0"/>
              <a:t>文法，在进行预测分析过程中的每一步，都可以根据当前的输入符号，选择唯一的产生式进行推导。</a:t>
            </a:r>
            <a:endParaRPr lang="en-US" altLang="zh-CN" dirty="0"/>
          </a:p>
          <a:p>
            <a:r>
              <a:rPr kumimoji="1" lang="zh-CN" altLang="en-US" dirty="0">
                <a:solidFill>
                  <a:srgbClr val="EE853E"/>
                </a:solidFill>
                <a:latin typeface="+mj-ea"/>
                <a:ea typeface="+mj-ea"/>
              </a:rPr>
              <a:t>并非所有文法都是</a:t>
            </a:r>
            <a:r>
              <a:rPr kumimoji="1" lang="en-US" altLang="zh-CN" dirty="0">
                <a:solidFill>
                  <a:srgbClr val="EE853E"/>
                </a:solidFill>
                <a:latin typeface="+mj-ea"/>
                <a:ea typeface="+mj-ea"/>
              </a:rPr>
              <a:t>LL(1)</a:t>
            </a:r>
            <a:r>
              <a:rPr kumimoji="1" lang="zh-CN" altLang="en-US" dirty="0">
                <a:solidFill>
                  <a:srgbClr val="EE853E"/>
                </a:solidFill>
                <a:latin typeface="+mj-ea"/>
                <a:ea typeface="+mj-ea"/>
              </a:rPr>
              <a:t>文法。</a:t>
            </a:r>
          </a:p>
        </p:txBody>
      </p:sp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LL(1)</a:t>
            </a:r>
            <a:r>
              <a:rPr lang="zh-CN" altLang="en-US"/>
              <a:t>文法</a:t>
            </a:r>
          </a:p>
        </p:txBody>
      </p:sp>
    </p:spTree>
    <p:extLst>
      <p:ext uri="{BB962C8B-B14F-4D97-AF65-F5344CB8AC3E}">
        <p14:creationId xmlns:p14="http://schemas.microsoft.com/office/powerpoint/2010/main" val="1577030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文法</a:t>
            </a:r>
            <a:r>
              <a:rPr lang="en-US" altLang="zh-CN" dirty="0"/>
              <a:t>G(S)</a:t>
            </a:r>
            <a:r>
              <a:rPr lang="zh-CN" altLang="en-US" dirty="0"/>
              <a:t>：</a:t>
            </a:r>
          </a:p>
          <a:p>
            <a:r>
              <a:rPr lang="en-US" altLang="zh-CN" dirty="0"/>
              <a:t>S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 err="1">
                <a:sym typeface="Symbol" pitchFamily="18" charset="2"/>
              </a:rPr>
              <a:t>i</a:t>
            </a:r>
            <a:r>
              <a:rPr lang="en-US" altLang="zh-CN" dirty="0">
                <a:sym typeface="Symbol" pitchFamily="18" charset="2"/>
              </a:rPr>
              <a:t> C t S </a:t>
            </a:r>
            <a:r>
              <a:rPr lang="en-US" altLang="zh-CN" dirty="0"/>
              <a:t>| </a:t>
            </a:r>
            <a:r>
              <a:rPr lang="en-US" altLang="zh-CN" dirty="0" err="1"/>
              <a:t>i</a:t>
            </a:r>
            <a:r>
              <a:rPr lang="en-US" altLang="zh-CN" dirty="0"/>
              <a:t> C t S e S | a</a:t>
            </a:r>
          </a:p>
          <a:p>
            <a:r>
              <a:rPr lang="en-US" altLang="zh-CN" dirty="0"/>
              <a:t>C </a:t>
            </a:r>
            <a:r>
              <a:rPr lang="en-US" altLang="zh-CN" dirty="0">
                <a:sym typeface="Symbol" pitchFamily="18" charset="2"/>
              </a:rPr>
              <a:t> b</a:t>
            </a:r>
          </a:p>
          <a:p>
            <a:r>
              <a:rPr lang="zh-CN" altLang="en-US" dirty="0"/>
              <a:t>提取公共左因子后：</a:t>
            </a:r>
          </a:p>
          <a:p>
            <a:r>
              <a:rPr lang="en-US" altLang="zh-CN" dirty="0"/>
              <a:t>S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 err="1">
                <a:sym typeface="Symbol" pitchFamily="18" charset="2"/>
              </a:rPr>
              <a:t>i</a:t>
            </a:r>
            <a:r>
              <a:rPr lang="en-US" altLang="zh-CN" dirty="0">
                <a:sym typeface="Symbol" pitchFamily="18" charset="2"/>
              </a:rPr>
              <a:t> C t S S’</a:t>
            </a:r>
            <a:r>
              <a:rPr lang="en-US" altLang="zh-CN" dirty="0"/>
              <a:t>| a</a:t>
            </a:r>
          </a:p>
          <a:p>
            <a:r>
              <a:rPr lang="en-US" altLang="zh-CN" dirty="0"/>
              <a:t>S’</a:t>
            </a:r>
            <a:r>
              <a:rPr lang="en-US" altLang="zh-CN" dirty="0">
                <a:sym typeface="Symbol" pitchFamily="18" charset="2"/>
              </a:rPr>
              <a:t> e S </a:t>
            </a:r>
            <a:r>
              <a:rPr lang="en-US" altLang="zh-CN" dirty="0"/>
              <a:t>| </a:t>
            </a:r>
            <a:r>
              <a:rPr lang="el-GR" altLang="zh-CN" dirty="0">
                <a:sym typeface="Symbol" pitchFamily="18" charset="2"/>
              </a:rPr>
              <a:t>ε</a:t>
            </a:r>
            <a:endParaRPr lang="en-US" altLang="zh-CN" dirty="0"/>
          </a:p>
          <a:p>
            <a:r>
              <a:rPr lang="en-US" altLang="zh-CN" dirty="0"/>
              <a:t>C </a:t>
            </a:r>
            <a:r>
              <a:rPr lang="en-US" altLang="zh-CN" dirty="0">
                <a:sym typeface="Symbol" pitchFamily="18" charset="2"/>
              </a:rPr>
              <a:t> b</a:t>
            </a:r>
            <a:endParaRPr lang="en-US" altLang="zh-CN" dirty="0"/>
          </a:p>
        </p:txBody>
      </p:sp>
      <p:sp>
        <p:nvSpPr>
          <p:cNvPr id="5068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</a:t>
            </a:r>
            <a:r>
              <a:rPr lang="en-US" altLang="zh-CN" dirty="0"/>
              <a:t>LL(1)</a:t>
            </a:r>
            <a:r>
              <a:rPr lang="zh-CN" altLang="en-US" dirty="0"/>
              <a:t>文法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E6BBF43-F36B-4B5A-BA44-03A14892C0D8}"/>
              </a:ext>
            </a:extLst>
          </p:cNvPr>
          <p:cNvGrpSpPr/>
          <p:nvPr/>
        </p:nvGrpSpPr>
        <p:grpSpPr>
          <a:xfrm>
            <a:off x="4267200" y="2362200"/>
            <a:ext cx="6400799" cy="2622550"/>
            <a:chOff x="4191000" y="2286000"/>
            <a:chExt cx="7391401" cy="2622550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EC01A67E-A7D9-446B-8717-9ADA64B2A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286000"/>
              <a:ext cx="7391400" cy="262255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6EC7795A-3DA9-4EB1-8686-19A863810B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2286000"/>
              <a:ext cx="0" cy="262255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BEACF2F1-1AE4-4508-A89B-0F478E714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4191000"/>
              <a:ext cx="73914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4FE8C7A1-5878-4D2C-8D1D-CEBC9E4EA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2286000"/>
              <a:ext cx="0" cy="262255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24E3A23D-A85A-4A73-B1A5-198B0AC37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1000" y="2971801"/>
              <a:ext cx="7391401" cy="635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8B6AAA12-9602-47D6-B03A-3DB5005D2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3581400"/>
              <a:ext cx="73914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46E0C27B-1C3B-4362-9D62-6352EF9FD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125" y="3013075"/>
              <a:ext cx="37061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S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FA728CCA-0FC0-4B50-B135-8A78BC8C6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3425" y="3698875"/>
              <a:ext cx="67839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S’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A03F6A36-1E62-4FD8-99E2-67E1BDAE2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125" y="4308475"/>
              <a:ext cx="39145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C</a:t>
              </a: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F6C10AE6-78ED-403A-9061-FA3AD374C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6326" y="2403475"/>
              <a:ext cx="105189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FIRST</a:t>
              </a: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861B70FA-4ACE-4C7A-81FA-3EDB9BC2F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6401" y="2438400"/>
              <a:ext cx="151939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FOLLOW</a:t>
              </a: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0FAC0402-5C06-4E80-8136-11B46BC0A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0125" y="3013075"/>
              <a:ext cx="128592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i	a</a:t>
              </a:r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84B7A266-73F6-4EEA-BA0B-451C90219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4343400"/>
              <a:ext cx="3898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b</a:t>
              </a:r>
            </a:p>
          </p:txBody>
        </p:sp>
        <p:sp>
          <p:nvSpPr>
            <p:cNvPr id="17" name="Text Box 20">
              <a:extLst>
                <a:ext uri="{FF2B5EF4-FFF2-40B4-BE49-F238E27FC236}">
                  <a16:creationId xmlns:a16="http://schemas.microsoft.com/office/drawing/2014/main" id="{E505797F-32B4-45BC-A096-E3BF7DE20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3651250"/>
              <a:ext cx="126028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 	</a:t>
              </a:r>
              <a:r>
                <a:rPr kumimoji="1" lang="el-GR" altLang="zh-CN" sz="2400" b="1">
                  <a:solidFill>
                    <a:schemeClr val="bg1"/>
                  </a:solidFill>
                  <a:latin typeface="+mj-ea"/>
                  <a:ea typeface="+mj-ea"/>
                  <a:sym typeface="Symbol" pitchFamily="18" charset="2"/>
                </a:rPr>
                <a:t>ε</a:t>
              </a:r>
              <a:endParaRPr kumimoji="1" lang="en-US" altLang="zh-CN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027FA371-C0CC-40C3-BB72-708F7D9BA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9800" y="3073400"/>
              <a:ext cx="38183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</a:t>
              </a:r>
            </a:p>
          </p:txBody>
        </p:sp>
        <p:sp>
          <p:nvSpPr>
            <p:cNvPr id="19" name="Text Box 23">
              <a:extLst>
                <a:ext uri="{FF2B5EF4-FFF2-40B4-BE49-F238E27FC236}">
                  <a16:creationId xmlns:a16="http://schemas.microsoft.com/office/drawing/2014/main" id="{F3EE7E18-623F-49A3-8364-3EDAF4C3E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4563" y="4368800"/>
              <a:ext cx="355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t</a:t>
              </a:r>
            </a:p>
          </p:txBody>
        </p:sp>
        <p:sp>
          <p:nvSpPr>
            <p:cNvPr id="20" name="Text Box 26">
              <a:extLst>
                <a:ext uri="{FF2B5EF4-FFF2-40B4-BE49-F238E27FC236}">
                  <a16:creationId xmlns:a16="http://schemas.microsoft.com/office/drawing/2014/main" id="{76480151-A4F4-4538-897D-95AFE7983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9800" y="3649663"/>
              <a:ext cx="179070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#       e</a:t>
              </a:r>
            </a:p>
          </p:txBody>
        </p:sp>
        <p:sp>
          <p:nvSpPr>
            <p:cNvPr id="21" name="Text Box 29">
              <a:extLst>
                <a:ext uri="{FF2B5EF4-FFF2-40B4-BE49-F238E27FC236}">
                  <a16:creationId xmlns:a16="http://schemas.microsoft.com/office/drawing/2014/main" id="{62184B25-7926-44DC-9724-A8DADDD815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8013" y="3048000"/>
              <a:ext cx="36420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131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B866EE-0B1B-4666-90B6-87B34D928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hangingPunct="0"/>
            <a:endParaRPr lang="en-US" altLang="zh-CN" dirty="0">
              <a:latin typeface="+mj-ea"/>
            </a:endParaRPr>
          </a:p>
          <a:p>
            <a:pPr eaLnBrk="0" hangingPunct="0"/>
            <a:endParaRPr lang="en-US" altLang="zh-CN" dirty="0">
              <a:latin typeface="+mj-ea"/>
            </a:endParaRPr>
          </a:p>
          <a:p>
            <a:pPr eaLnBrk="0" hangingPunct="0"/>
            <a:endParaRPr lang="en-US" altLang="zh-CN" dirty="0">
              <a:latin typeface="+mj-ea"/>
            </a:endParaRPr>
          </a:p>
          <a:p>
            <a:pPr eaLnBrk="0" hangingPunct="0"/>
            <a:endParaRPr lang="en-US" altLang="zh-CN" dirty="0">
              <a:latin typeface="+mj-ea"/>
            </a:endParaRPr>
          </a:p>
          <a:p>
            <a:pPr eaLnBrk="0" hangingPunct="0"/>
            <a:endParaRPr lang="en-US" altLang="zh-CN" dirty="0">
              <a:latin typeface="+mj-ea"/>
            </a:endParaRPr>
          </a:p>
          <a:p>
            <a:pPr eaLnBrk="0" hangingPunct="0"/>
            <a:endParaRPr lang="en-US" altLang="zh-CN" dirty="0">
              <a:latin typeface="+mj-ea"/>
            </a:endParaRPr>
          </a:p>
          <a:p>
            <a:pPr eaLnBrk="0" hangingPunct="0"/>
            <a:r>
              <a:rPr lang="zh-CN" altLang="en-US" dirty="0">
                <a:latin typeface="+mj-ea"/>
              </a:rPr>
              <a:t>不是</a:t>
            </a:r>
            <a:r>
              <a:rPr lang="en-US" altLang="zh-CN" dirty="0">
                <a:latin typeface="+mj-ea"/>
              </a:rPr>
              <a:t>LL(1)</a:t>
            </a:r>
            <a:r>
              <a:rPr lang="zh-CN" altLang="en-US" dirty="0">
                <a:latin typeface="+mj-ea"/>
              </a:rPr>
              <a:t>文法，因为存在冲突表项。</a:t>
            </a:r>
          </a:p>
          <a:p>
            <a:pPr eaLnBrk="0" hangingPunct="0"/>
            <a:r>
              <a:rPr lang="zh-CN" altLang="en-US" dirty="0">
                <a:latin typeface="+mj-ea"/>
              </a:rPr>
              <a:t>解决方法：</a:t>
            </a:r>
            <a:r>
              <a:rPr lang="en-US" altLang="zh-CN" dirty="0">
                <a:latin typeface="+mj-ea"/>
              </a:rPr>
              <a:t>	1</a:t>
            </a:r>
            <a:r>
              <a:rPr lang="zh-CN" altLang="en-US" dirty="0">
                <a:latin typeface="+mj-ea"/>
              </a:rPr>
              <a:t>）逐个尝试。</a:t>
            </a:r>
            <a:endParaRPr lang="en-US" altLang="zh-CN" dirty="0">
              <a:latin typeface="+mj-ea"/>
            </a:endParaRPr>
          </a:p>
          <a:p>
            <a:pPr eaLnBrk="0" hangingPunct="0"/>
            <a:r>
              <a:rPr lang="en-US" altLang="zh-CN" dirty="0">
                <a:latin typeface="+mj-ea"/>
              </a:rPr>
              <a:t>				2</a:t>
            </a:r>
            <a:r>
              <a:rPr lang="zh-CN" altLang="en-US" dirty="0">
                <a:latin typeface="+mj-ea"/>
              </a:rPr>
              <a:t>）人为删除冲突表项，使其仅含一个产生式。</a:t>
            </a:r>
            <a:endParaRPr lang="en-US" altLang="zh-CN" dirty="0">
              <a:latin typeface="+mj-ea"/>
            </a:endParaRPr>
          </a:p>
        </p:txBody>
      </p:sp>
      <p:sp>
        <p:nvSpPr>
          <p:cNvPr id="509954" name="Rectangle 2"/>
          <p:cNvSpPr>
            <a:spLocks noChangeArrowheads="1"/>
          </p:cNvSpPr>
          <p:nvPr/>
        </p:nvSpPr>
        <p:spPr bwMode="auto">
          <a:xfrm>
            <a:off x="2057400" y="1214734"/>
            <a:ext cx="8001000" cy="2819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55" name="Line 3"/>
          <p:cNvSpPr>
            <a:spLocks noChangeShapeType="1"/>
          </p:cNvSpPr>
          <p:nvPr/>
        </p:nvSpPr>
        <p:spPr bwMode="auto">
          <a:xfrm>
            <a:off x="6096000" y="1214734"/>
            <a:ext cx="0" cy="2819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56" name="Line 4"/>
          <p:cNvSpPr>
            <a:spLocks noChangeShapeType="1"/>
          </p:cNvSpPr>
          <p:nvPr/>
        </p:nvSpPr>
        <p:spPr bwMode="auto">
          <a:xfrm>
            <a:off x="2057400" y="1824334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57" name="Line 5"/>
          <p:cNvSpPr>
            <a:spLocks noChangeShapeType="1"/>
          </p:cNvSpPr>
          <p:nvPr/>
        </p:nvSpPr>
        <p:spPr bwMode="auto">
          <a:xfrm>
            <a:off x="2057400" y="2357734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58" name="Line 6"/>
          <p:cNvSpPr>
            <a:spLocks noChangeShapeType="1"/>
          </p:cNvSpPr>
          <p:nvPr/>
        </p:nvSpPr>
        <p:spPr bwMode="auto">
          <a:xfrm>
            <a:off x="2057400" y="3424534"/>
            <a:ext cx="8001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59" name="Line 7"/>
          <p:cNvSpPr>
            <a:spLocks noChangeShapeType="1"/>
          </p:cNvSpPr>
          <p:nvPr/>
        </p:nvSpPr>
        <p:spPr bwMode="auto">
          <a:xfrm>
            <a:off x="2667000" y="1214734"/>
            <a:ext cx="0" cy="2819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60" name="Line 8"/>
          <p:cNvSpPr>
            <a:spLocks noChangeShapeType="1"/>
          </p:cNvSpPr>
          <p:nvPr/>
        </p:nvSpPr>
        <p:spPr bwMode="auto">
          <a:xfrm>
            <a:off x="3733800" y="1214734"/>
            <a:ext cx="0" cy="2819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61" name="Line 9"/>
          <p:cNvSpPr>
            <a:spLocks noChangeShapeType="1"/>
          </p:cNvSpPr>
          <p:nvPr/>
        </p:nvSpPr>
        <p:spPr bwMode="auto">
          <a:xfrm>
            <a:off x="4953000" y="1214734"/>
            <a:ext cx="0" cy="2819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62" name="Line 10"/>
          <p:cNvSpPr>
            <a:spLocks noChangeShapeType="1"/>
          </p:cNvSpPr>
          <p:nvPr/>
        </p:nvSpPr>
        <p:spPr bwMode="auto">
          <a:xfrm>
            <a:off x="7467600" y="1214734"/>
            <a:ext cx="0" cy="2819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63" name="Line 11"/>
          <p:cNvSpPr>
            <a:spLocks noChangeShapeType="1"/>
          </p:cNvSpPr>
          <p:nvPr/>
        </p:nvSpPr>
        <p:spPr bwMode="auto">
          <a:xfrm>
            <a:off x="8686800" y="1214734"/>
            <a:ext cx="0" cy="2819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65" name="Text Box 13"/>
          <p:cNvSpPr txBox="1">
            <a:spLocks noChangeArrowheads="1"/>
          </p:cNvSpPr>
          <p:nvPr/>
        </p:nvSpPr>
        <p:spPr bwMode="auto">
          <a:xfrm>
            <a:off x="2193926" y="1865609"/>
            <a:ext cx="3706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S</a:t>
            </a:r>
          </a:p>
        </p:txBody>
      </p:sp>
      <p:sp>
        <p:nvSpPr>
          <p:cNvPr id="509966" name="Text Box 14"/>
          <p:cNvSpPr txBox="1">
            <a:spLocks noChangeArrowheads="1"/>
          </p:cNvSpPr>
          <p:nvPr/>
        </p:nvSpPr>
        <p:spPr bwMode="auto">
          <a:xfrm>
            <a:off x="2133601" y="2662534"/>
            <a:ext cx="6783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S’</a:t>
            </a:r>
          </a:p>
        </p:txBody>
      </p:sp>
      <p:sp>
        <p:nvSpPr>
          <p:cNvPr id="509967" name="Text Box 15"/>
          <p:cNvSpPr txBox="1">
            <a:spLocks noChangeArrowheads="1"/>
          </p:cNvSpPr>
          <p:nvPr/>
        </p:nvSpPr>
        <p:spPr bwMode="auto">
          <a:xfrm>
            <a:off x="2117726" y="3542009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C</a:t>
            </a:r>
          </a:p>
        </p:txBody>
      </p:sp>
      <p:sp>
        <p:nvSpPr>
          <p:cNvPr id="509968" name="Text Box 16"/>
          <p:cNvSpPr txBox="1">
            <a:spLocks noChangeArrowheads="1"/>
          </p:cNvSpPr>
          <p:nvPr/>
        </p:nvSpPr>
        <p:spPr bwMode="auto">
          <a:xfrm>
            <a:off x="3032125" y="1256009"/>
            <a:ext cx="3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a</a:t>
            </a:r>
          </a:p>
        </p:txBody>
      </p:sp>
      <p:sp>
        <p:nvSpPr>
          <p:cNvPr id="509969" name="Text Box 17"/>
          <p:cNvSpPr txBox="1">
            <a:spLocks noChangeArrowheads="1"/>
          </p:cNvSpPr>
          <p:nvPr/>
        </p:nvSpPr>
        <p:spPr bwMode="auto">
          <a:xfrm>
            <a:off x="4175126" y="1256009"/>
            <a:ext cx="389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509970" name="Text Box 18"/>
          <p:cNvSpPr txBox="1">
            <a:spLocks noChangeArrowheads="1"/>
          </p:cNvSpPr>
          <p:nvPr/>
        </p:nvSpPr>
        <p:spPr bwMode="auto">
          <a:xfrm>
            <a:off x="5257800" y="1290934"/>
            <a:ext cx="3642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509971" name="Text Box 19"/>
          <p:cNvSpPr txBox="1">
            <a:spLocks noChangeArrowheads="1"/>
          </p:cNvSpPr>
          <p:nvPr/>
        </p:nvSpPr>
        <p:spPr bwMode="auto">
          <a:xfrm>
            <a:off x="6461125" y="1256009"/>
            <a:ext cx="276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509972" name="Text Box 20"/>
          <p:cNvSpPr txBox="1">
            <a:spLocks noChangeArrowheads="1"/>
          </p:cNvSpPr>
          <p:nvPr/>
        </p:nvSpPr>
        <p:spPr bwMode="auto">
          <a:xfrm>
            <a:off x="7908925" y="1256009"/>
            <a:ext cx="3129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</a:p>
        </p:txBody>
      </p:sp>
      <p:sp>
        <p:nvSpPr>
          <p:cNvPr id="509973" name="Text Box 21"/>
          <p:cNvSpPr txBox="1">
            <a:spLocks noChangeArrowheads="1"/>
          </p:cNvSpPr>
          <p:nvPr/>
        </p:nvSpPr>
        <p:spPr bwMode="auto">
          <a:xfrm>
            <a:off x="9204325" y="1311572"/>
            <a:ext cx="18415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1"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74" name="Text Box 22"/>
          <p:cNvSpPr txBox="1">
            <a:spLocks noChangeArrowheads="1"/>
          </p:cNvSpPr>
          <p:nvPr/>
        </p:nvSpPr>
        <p:spPr bwMode="auto">
          <a:xfrm>
            <a:off x="9128125" y="1332209"/>
            <a:ext cx="3818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#</a:t>
            </a:r>
          </a:p>
        </p:txBody>
      </p:sp>
      <p:sp>
        <p:nvSpPr>
          <p:cNvPr id="509975" name="Text Box 23"/>
          <p:cNvSpPr txBox="1">
            <a:spLocks noChangeArrowheads="1"/>
          </p:cNvSpPr>
          <p:nvPr/>
        </p:nvSpPr>
        <p:spPr bwMode="auto">
          <a:xfrm>
            <a:off x="2893391" y="1836295"/>
            <a:ext cx="68800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S→a</a:t>
            </a:r>
            <a:endParaRPr kumimoji="1" lang="en-US" altLang="zh-CN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76" name="Text Box 24"/>
          <p:cNvSpPr txBox="1">
            <a:spLocks noChangeArrowheads="1"/>
          </p:cNvSpPr>
          <p:nvPr/>
        </p:nvSpPr>
        <p:spPr bwMode="auto">
          <a:xfrm>
            <a:off x="6060815" y="1855565"/>
            <a:ext cx="16610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S→i C t S S’</a:t>
            </a:r>
            <a:endParaRPr kumimoji="1" lang="en-US" altLang="zh-CN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77" name="Text Box 25"/>
          <p:cNvSpPr txBox="1">
            <a:spLocks noChangeArrowheads="1"/>
          </p:cNvSpPr>
          <p:nvPr/>
        </p:nvSpPr>
        <p:spPr bwMode="auto">
          <a:xfrm>
            <a:off x="5029200" y="2537122"/>
            <a:ext cx="11288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 dirty="0" err="1">
                <a:solidFill>
                  <a:schemeClr val="bg1"/>
                </a:solidFill>
                <a:latin typeface="+mj-ea"/>
                <a:ea typeface="+mj-ea"/>
              </a:rPr>
              <a:t>S’→e</a:t>
            </a:r>
            <a:r>
              <a:rPr kumimoji="1" lang="en-US" altLang="zh-CN" b="1" dirty="0">
                <a:solidFill>
                  <a:schemeClr val="bg1"/>
                </a:solidFill>
                <a:latin typeface="+mj-ea"/>
                <a:ea typeface="+mj-ea"/>
              </a:rPr>
              <a:t> S</a:t>
            </a:r>
          </a:p>
        </p:txBody>
      </p:sp>
      <p:sp>
        <p:nvSpPr>
          <p:cNvPr id="509978" name="Text Box 26"/>
          <p:cNvSpPr txBox="1">
            <a:spLocks noChangeArrowheads="1"/>
          </p:cNvSpPr>
          <p:nvPr/>
        </p:nvSpPr>
        <p:spPr bwMode="auto">
          <a:xfrm>
            <a:off x="8915401" y="2667000"/>
            <a:ext cx="90120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S’→ε</a:t>
            </a:r>
            <a:endParaRPr kumimoji="1" lang="en-US" altLang="zh-CN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79" name="Text Box 27"/>
          <p:cNvSpPr txBox="1">
            <a:spLocks noChangeArrowheads="1"/>
          </p:cNvSpPr>
          <p:nvPr/>
        </p:nvSpPr>
        <p:spPr bwMode="auto">
          <a:xfrm>
            <a:off x="3886201" y="3554450"/>
            <a:ext cx="7248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C→b</a:t>
            </a:r>
            <a:endParaRPr kumimoji="1" lang="en-US" altLang="zh-CN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9982" name="Text Box 30"/>
          <p:cNvSpPr txBox="1">
            <a:spLocks noChangeArrowheads="1"/>
          </p:cNvSpPr>
          <p:nvPr/>
        </p:nvSpPr>
        <p:spPr bwMode="auto">
          <a:xfrm>
            <a:off x="5075239" y="2968922"/>
            <a:ext cx="9012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+mj-ea"/>
                <a:ea typeface="+mj-ea"/>
              </a:rPr>
              <a:t>S’→ε</a:t>
            </a:r>
          </a:p>
        </p:txBody>
      </p:sp>
      <p:sp>
        <p:nvSpPr>
          <p:cNvPr id="509986" name="Rectangle 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</a:t>
            </a:r>
            <a:r>
              <a:rPr lang="en-US" altLang="zh-CN" dirty="0"/>
              <a:t>LL(1)</a:t>
            </a:r>
            <a:r>
              <a:rPr lang="zh-CN" altLang="en-US" dirty="0"/>
              <a:t>文法</a:t>
            </a:r>
            <a:endParaRPr kumimoji="1" lang="zh-CN" altLang="en-US" dirty="0">
              <a:latin typeface="+mj-ea"/>
              <a:ea typeface="+mj-ea"/>
            </a:endParaRPr>
          </a:p>
        </p:txBody>
      </p:sp>
      <p:sp>
        <p:nvSpPr>
          <p:cNvPr id="2" name="乘号 1"/>
          <p:cNvSpPr/>
          <p:nvPr/>
        </p:nvSpPr>
        <p:spPr>
          <a:xfrm>
            <a:off x="5194300" y="2819400"/>
            <a:ext cx="673100" cy="688678"/>
          </a:xfrm>
          <a:prstGeom prst="mathMultiply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1098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9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9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9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9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9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9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9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9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9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9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9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9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09975" grpId="0"/>
      <p:bldP spid="509976" grpId="0"/>
      <p:bldP spid="509977" grpId="0"/>
      <p:bldP spid="509978" grpId="0"/>
      <p:bldP spid="509982" grpId="0"/>
      <p:bldP spid="2" grpId="0" uiExpan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698C1EE-EB92-4321-95DC-073B9D48C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1. </a:t>
            </a:r>
            <a:r>
              <a:rPr lang="zh-CN" altLang="en-US" dirty="0">
                <a:latin typeface="+mj-ea"/>
              </a:rPr>
              <a:t>输入串 </a:t>
            </a:r>
            <a:r>
              <a:rPr lang="en-US" altLang="zh-CN" dirty="0" err="1">
                <a:latin typeface="+mj-ea"/>
              </a:rPr>
              <a:t>i</a:t>
            </a:r>
            <a:r>
              <a:rPr lang="en-US" altLang="zh-CN" dirty="0">
                <a:latin typeface="+mj-ea"/>
              </a:rPr>
              <a:t> b t </a:t>
            </a:r>
            <a:r>
              <a:rPr lang="en-US" altLang="zh-CN" dirty="0" err="1">
                <a:latin typeface="+mj-ea"/>
              </a:rPr>
              <a:t>i</a:t>
            </a:r>
            <a:r>
              <a:rPr lang="en-US" altLang="zh-CN" dirty="0">
                <a:latin typeface="+mj-ea"/>
              </a:rPr>
              <a:t> b t a e a </a:t>
            </a:r>
            <a:r>
              <a:rPr lang="zh-CN" altLang="en-US" dirty="0">
                <a:latin typeface="+mj-ea"/>
              </a:rPr>
              <a:t>是否合法？（ </a:t>
            </a:r>
            <a:r>
              <a:rPr lang="en-US" altLang="zh-CN" dirty="0">
                <a:latin typeface="+mj-ea"/>
              </a:rPr>
              <a:t>if … then … else … </a:t>
            </a:r>
            <a:r>
              <a:rPr lang="zh-CN" altLang="en-US" dirty="0">
                <a:latin typeface="+mj-ea"/>
              </a:rPr>
              <a:t>）</a:t>
            </a:r>
          </a:p>
          <a:p>
            <a:r>
              <a:rPr lang="en-US" altLang="zh-CN" dirty="0">
                <a:latin typeface="+mj-ea"/>
              </a:rPr>
              <a:t>2. </a:t>
            </a:r>
            <a:r>
              <a:rPr lang="zh-CN" altLang="en-US" dirty="0">
                <a:latin typeface="+mj-ea"/>
              </a:rPr>
              <a:t>如果合法，对应的语法树是什么样子？（ 二义性 ）</a:t>
            </a:r>
          </a:p>
          <a:p>
            <a:r>
              <a:rPr lang="en-US" altLang="zh-CN" dirty="0">
                <a:latin typeface="+mj-ea"/>
              </a:rPr>
              <a:t>3. </a:t>
            </a:r>
            <a:r>
              <a:rPr lang="zh-CN" altLang="en-US" dirty="0">
                <a:latin typeface="+mj-ea"/>
              </a:rPr>
              <a:t>能否删除 </a:t>
            </a:r>
            <a:r>
              <a:rPr lang="en-US" altLang="zh-CN" dirty="0">
                <a:latin typeface="+mj-ea"/>
              </a:rPr>
              <a:t>S’→ e S </a:t>
            </a:r>
            <a:r>
              <a:rPr lang="zh-CN" altLang="en-US" dirty="0">
                <a:latin typeface="+mj-ea"/>
              </a:rPr>
              <a:t>？（ 最近匹配原则 ）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11EBA24-5070-4B54-B69B-5F403B12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</p:spTree>
    <p:extLst>
      <p:ext uri="{BB962C8B-B14F-4D97-AF65-F5344CB8AC3E}">
        <p14:creationId xmlns:p14="http://schemas.microsoft.com/office/powerpoint/2010/main" val="429220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7419</TotalTime>
  <Words>1860</Words>
  <Application>Microsoft Office PowerPoint</Application>
  <PresentationFormat>宽屏</PresentationFormat>
  <Paragraphs>325</Paragraphs>
  <Slides>22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Monotype Sorts</vt:lpstr>
      <vt:lpstr>微软雅黑</vt:lpstr>
      <vt:lpstr>Arial</vt:lpstr>
      <vt:lpstr>Arial Black</vt:lpstr>
      <vt:lpstr>Cambria Math</vt:lpstr>
      <vt:lpstr>Wingdings</vt:lpstr>
      <vt:lpstr>环保</vt:lpstr>
      <vt:lpstr>第七章 语法分析</vt:lpstr>
      <vt:lpstr>预测分析程序的结构</vt:lpstr>
      <vt:lpstr>预测分析过程</vt:lpstr>
      <vt:lpstr>预测分析表</vt:lpstr>
      <vt:lpstr>预测分析表</vt:lpstr>
      <vt:lpstr>预测分析过程</vt:lpstr>
      <vt:lpstr>预测分析过程</vt:lpstr>
      <vt:lpstr>预测分析表的构造</vt:lpstr>
      <vt:lpstr>文法的FIRST集</vt:lpstr>
      <vt:lpstr>FIRST集的求法</vt:lpstr>
      <vt:lpstr>FIRST集的求法</vt:lpstr>
      <vt:lpstr>文法的FOLLOW集</vt:lpstr>
      <vt:lpstr>FOLLOW集的求法</vt:lpstr>
      <vt:lpstr>FOLLOW集的求法</vt:lpstr>
      <vt:lpstr>预测分析表的构造</vt:lpstr>
      <vt:lpstr>预测分析表的构造</vt:lpstr>
      <vt:lpstr>预测分析表的构造</vt:lpstr>
      <vt:lpstr>预测分析表的构造算法</vt:lpstr>
      <vt:lpstr>LL(1)文法</vt:lpstr>
      <vt:lpstr>非LL(1)文法</vt:lpstr>
      <vt:lpstr>非LL(1)文法</vt:lpstr>
      <vt:lpstr>思考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1165</cp:revision>
  <cp:lastPrinted>1601-01-01T00:00:00Z</cp:lastPrinted>
  <dcterms:created xsi:type="dcterms:W3CDTF">1601-01-01T00:00:00Z</dcterms:created>
  <dcterms:modified xsi:type="dcterms:W3CDTF">2020-02-13T05:59:36Z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