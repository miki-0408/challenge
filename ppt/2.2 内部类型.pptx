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7"/>
  </p:notesMasterIdLst>
  <p:handoutMasterIdLst>
    <p:handoutMasterId r:id="rId8"/>
  </p:handoutMasterIdLst>
  <p:sldIdLst>
    <p:sldId id="382" r:id="rId2"/>
    <p:sldId id="263" r:id="rId3"/>
    <p:sldId id="385" r:id="rId4"/>
    <p:sldId id="264" r:id="rId5"/>
    <p:sldId id="266" r:id="rId6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040C0E"/>
    <a:srgbClr val="A18D60"/>
    <a:srgbClr val="EE8A3E"/>
    <a:srgbClr val="E98A3E"/>
    <a:srgbClr val="04141B"/>
    <a:srgbClr val="D9B247"/>
    <a:srgbClr val="2A9995"/>
    <a:srgbClr val="54D0CA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3" autoAdjust="0"/>
    <p:restoredTop sz="89127" autoAdjust="0"/>
  </p:normalViewPr>
  <p:slideViewPr>
    <p:cSldViewPr>
      <p:cViewPr varScale="1">
        <p:scale>
          <a:sx n="100" d="100"/>
          <a:sy n="100" d="100"/>
        </p:scale>
        <p:origin x="51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=""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=""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=""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=""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=""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=""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=""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=""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=""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=""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=""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=""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=""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=""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=""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=""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=""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=""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=""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=""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 hasCustomPrompt="1"/>
          </p:nvPr>
        </p:nvSpPr>
        <p:spPr>
          <a:xfrm>
            <a:off x="1295402" y="609600"/>
            <a:ext cx="9601196" cy="563880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tabLst/>
              <a:defRPr/>
            </a:pPr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743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  <p:sldLayoutId id="2147484309" r:id="rId4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=""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sp>
        <p:nvSpPr>
          <p:cNvPr id="30" name="对话气泡: 圆角矩形 29">
            <a:extLst>
              <a:ext uri="{FF2B5EF4-FFF2-40B4-BE49-F238E27FC236}">
                <a16:creationId xmlns=""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7261062" y="1774662"/>
            <a:ext cx="1530242" cy="3454834"/>
          </a:xfrm>
          <a:prstGeom prst="wedgeRoundRectCallout">
            <a:avLst>
              <a:gd name="adj1" fmla="val -27647"/>
              <a:gd name="adj2" fmla="val 62539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内部类型的特点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内部类型的优越性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="" xmlns:a16="http://schemas.microsoft.com/office/drawing/2014/main" id="{7E99BC05-4BA9-4B07-AE36-257C31072FFF}"/>
              </a:ext>
            </a:extLst>
          </p:cNvPr>
          <p:cNvGrpSpPr>
            <a:grpSpLocks noChangeAspect="1"/>
          </p:cNvGrpSpPr>
          <p:nvPr/>
        </p:nvGrpSpPr>
        <p:grpSpPr>
          <a:xfrm>
            <a:off x="990600" y="2057186"/>
            <a:ext cx="4767397" cy="2743627"/>
            <a:chOff x="1449652" y="2320203"/>
            <a:chExt cx="4724869" cy="2719152"/>
          </a:xfrm>
        </p:grpSpPr>
        <p:grpSp>
          <p:nvGrpSpPr>
            <p:cNvPr id="28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B6B6587D-22BC-404E-A1AE-3ABD6A05A0B3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34" name="Freeform 45">
                <a:extLst>
                  <a:ext uri="{FF2B5EF4-FFF2-40B4-BE49-F238E27FC236}">
                    <a16:creationId xmlns="" xmlns:a16="http://schemas.microsoft.com/office/drawing/2014/main" id="{FF3F24D4-104C-46DE-BC5B-5E203C7E0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5" name="Freeform 46">
                <a:extLst>
                  <a:ext uri="{FF2B5EF4-FFF2-40B4-BE49-F238E27FC236}">
                    <a16:creationId xmlns="" xmlns:a16="http://schemas.microsoft.com/office/drawing/2014/main" id="{570B0FCB-8922-4C4F-AAAA-EA8BF4ED0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6" name="Freeform 47">
                <a:extLst>
                  <a:ext uri="{FF2B5EF4-FFF2-40B4-BE49-F238E27FC236}">
                    <a16:creationId xmlns="" xmlns:a16="http://schemas.microsoft.com/office/drawing/2014/main" id="{702789CC-B8C9-4602-BB72-A868DBFDB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Freeform 48">
                <a:extLst>
                  <a:ext uri="{FF2B5EF4-FFF2-40B4-BE49-F238E27FC236}">
                    <a16:creationId xmlns="" xmlns:a16="http://schemas.microsoft.com/office/drawing/2014/main" id="{87C2909A-C0E2-4D6A-9119-13BCCDEF8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Freeform 49">
                <a:extLst>
                  <a:ext uri="{FF2B5EF4-FFF2-40B4-BE49-F238E27FC236}">
                    <a16:creationId xmlns="" xmlns:a16="http://schemas.microsoft.com/office/drawing/2014/main" id="{8B484526-6681-4CC2-84EA-94B7C32F1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Rectangle 50">
                <a:extLst>
                  <a:ext uri="{FF2B5EF4-FFF2-40B4-BE49-F238E27FC236}">
                    <a16:creationId xmlns="" xmlns:a16="http://schemas.microsoft.com/office/drawing/2014/main" id="{3761CB36-7C65-40FA-B3BC-E41DA3336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Freeform 51">
                <a:extLst>
                  <a:ext uri="{FF2B5EF4-FFF2-40B4-BE49-F238E27FC236}">
                    <a16:creationId xmlns="" xmlns:a16="http://schemas.microsoft.com/office/drawing/2014/main" id="{5A01DB55-F7D8-4F83-815F-FB2EC1975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Rectangle 52">
                <a:extLst>
                  <a:ext uri="{FF2B5EF4-FFF2-40B4-BE49-F238E27FC236}">
                    <a16:creationId xmlns="" xmlns:a16="http://schemas.microsoft.com/office/drawing/2014/main" id="{BDEDB414-B697-4563-AEC1-4A3150A39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2" name="Rectangle 53">
                <a:extLst>
                  <a:ext uri="{FF2B5EF4-FFF2-40B4-BE49-F238E27FC236}">
                    <a16:creationId xmlns="" xmlns:a16="http://schemas.microsoft.com/office/drawing/2014/main" id="{069C7BB0-7358-4472-A33E-DAE770480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3" name="Oval 54">
                <a:extLst>
                  <a:ext uri="{FF2B5EF4-FFF2-40B4-BE49-F238E27FC236}">
                    <a16:creationId xmlns="" xmlns:a16="http://schemas.microsoft.com/office/drawing/2014/main" id="{6647E314-FD21-4D99-B051-9394267EF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4" name="Oval 55">
                <a:extLst>
                  <a:ext uri="{FF2B5EF4-FFF2-40B4-BE49-F238E27FC236}">
                    <a16:creationId xmlns="" xmlns:a16="http://schemas.microsoft.com/office/drawing/2014/main" id="{2FE6E77E-9BE0-4866-BD72-0181C5AAB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Oval 56">
                <a:extLst>
                  <a:ext uri="{FF2B5EF4-FFF2-40B4-BE49-F238E27FC236}">
                    <a16:creationId xmlns="" xmlns:a16="http://schemas.microsoft.com/office/drawing/2014/main" id="{3054D693-3D63-4203-ACAF-32B2CFC7E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Oval 57">
                <a:extLst>
                  <a:ext uri="{FF2B5EF4-FFF2-40B4-BE49-F238E27FC236}">
                    <a16:creationId xmlns="" xmlns:a16="http://schemas.microsoft.com/office/drawing/2014/main" id="{EAC827E7-A97B-4D56-B440-997BFEA18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Freeform 58">
                <a:extLst>
                  <a:ext uri="{FF2B5EF4-FFF2-40B4-BE49-F238E27FC236}">
                    <a16:creationId xmlns="" xmlns:a16="http://schemas.microsoft.com/office/drawing/2014/main" id="{9DE1E18D-72DA-4EAB-AF45-838AC1510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29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A1609C5E-3DE2-4047-AABC-4467B68B6E93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引言</a:t>
              </a:r>
            </a:p>
          </p:txBody>
        </p:sp>
        <p:sp>
          <p:nvSpPr>
            <p:cNvPr id="31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D2314031-A0FF-430F-A1B0-88E40BDC7DB6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第二节 内部类型</a:t>
              </a:r>
            </a:p>
          </p:txBody>
        </p:sp>
        <p:sp>
          <p:nvSpPr>
            <p:cNvPr id="32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048338F6-34EC-4186-A7EC-C0E61525EFE4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用户定义类型</a:t>
              </a:r>
            </a:p>
          </p:txBody>
        </p:sp>
        <p:sp>
          <p:nvSpPr>
            <p:cNvPr id="33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1CE8E1E7-A1DE-4566-9BD8-34C41DD82DA0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</a:t>
              </a:r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C</a:t>
              </a:r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语言的数据类型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0780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zh-CN" altLang="en-US" dirty="0"/>
              <a:t>语言级</a:t>
            </a:r>
            <a:r>
              <a:rPr lang="zh-CN" altLang="en-US" dirty="0" smtClean="0"/>
              <a:t>，数据</a:t>
            </a:r>
            <a:r>
              <a:rPr lang="zh-CN" altLang="en-US" dirty="0"/>
              <a:t>的操作使用共用的</a:t>
            </a:r>
            <a:r>
              <a:rPr lang="zh-CN" altLang="en-US" dirty="0">
                <a:solidFill>
                  <a:srgbClr val="EE853E"/>
                </a:solidFill>
              </a:rPr>
              <a:t>抽象表示</a:t>
            </a:r>
            <a:r>
              <a:rPr lang="zh-CN" altLang="en-US" dirty="0"/>
              <a:t>（如</a:t>
            </a:r>
            <a:r>
              <a:rPr lang="en-US" altLang="zh-CN" dirty="0"/>
              <a:t>+</a:t>
            </a:r>
            <a:r>
              <a:rPr lang="zh-CN" altLang="en-US" dirty="0"/>
              <a:t>、</a:t>
            </a:r>
            <a:r>
              <a:rPr lang="en-US" altLang="zh-CN" dirty="0"/>
              <a:t>-</a:t>
            </a:r>
            <a:r>
              <a:rPr lang="zh-CN" altLang="en-US" dirty="0"/>
              <a:t>、*、</a:t>
            </a:r>
            <a:r>
              <a:rPr lang="en-US" altLang="zh-CN" dirty="0"/>
              <a:t>/</a:t>
            </a:r>
            <a:r>
              <a:rPr lang="zh-CN" altLang="en-US" dirty="0"/>
              <a:t>）</a:t>
            </a: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内部类型的特点</a:t>
            </a:r>
          </a:p>
        </p:txBody>
      </p:sp>
    </p:spTree>
    <p:extLst>
      <p:ext uri="{BB962C8B-B14F-4D97-AF65-F5344CB8AC3E}">
        <p14:creationId xmlns:p14="http://schemas.microsoft.com/office/powerpoint/2010/main" val="317894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=""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第二章 数据类型</a:t>
            </a:r>
          </a:p>
        </p:txBody>
      </p:sp>
      <p:sp>
        <p:nvSpPr>
          <p:cNvPr id="30" name="对话气泡: 圆角矩形 29">
            <a:extLst>
              <a:ext uri="{FF2B5EF4-FFF2-40B4-BE49-F238E27FC236}">
                <a16:creationId xmlns="" xmlns:a16="http://schemas.microsoft.com/office/drawing/2014/main" id="{23E85C67-7818-411F-A7D7-B4F4B0217B6D}"/>
              </a:ext>
            </a:extLst>
          </p:cNvPr>
          <p:cNvSpPr/>
          <p:nvPr/>
        </p:nvSpPr>
        <p:spPr>
          <a:xfrm rot="5400000">
            <a:off x="7261062" y="1774662"/>
            <a:ext cx="1530242" cy="3454834"/>
          </a:xfrm>
          <a:prstGeom prst="wedgeRoundRectCallout">
            <a:avLst>
              <a:gd name="adj1" fmla="val -27647"/>
              <a:gd name="adj2" fmla="val 62539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内部类型的特点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内部类型的优越性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="" xmlns:a16="http://schemas.microsoft.com/office/drawing/2014/main" id="{7E99BC05-4BA9-4B07-AE36-257C31072FFF}"/>
              </a:ext>
            </a:extLst>
          </p:cNvPr>
          <p:cNvGrpSpPr>
            <a:grpSpLocks noChangeAspect="1"/>
          </p:cNvGrpSpPr>
          <p:nvPr/>
        </p:nvGrpSpPr>
        <p:grpSpPr>
          <a:xfrm>
            <a:off x="990600" y="2057186"/>
            <a:ext cx="4767397" cy="2743627"/>
            <a:chOff x="1449652" y="2320203"/>
            <a:chExt cx="4724869" cy="2719152"/>
          </a:xfrm>
        </p:grpSpPr>
        <p:grpSp>
          <p:nvGrpSpPr>
            <p:cNvPr id="28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B6B6587D-22BC-404E-A1AE-3ABD6A05A0B3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34" name="Freeform 45">
                <a:extLst>
                  <a:ext uri="{FF2B5EF4-FFF2-40B4-BE49-F238E27FC236}">
                    <a16:creationId xmlns="" xmlns:a16="http://schemas.microsoft.com/office/drawing/2014/main" id="{FF3F24D4-104C-46DE-BC5B-5E203C7E0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5" name="Freeform 46">
                <a:extLst>
                  <a:ext uri="{FF2B5EF4-FFF2-40B4-BE49-F238E27FC236}">
                    <a16:creationId xmlns="" xmlns:a16="http://schemas.microsoft.com/office/drawing/2014/main" id="{570B0FCB-8922-4C4F-AAAA-EA8BF4ED06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6" name="Freeform 47">
                <a:extLst>
                  <a:ext uri="{FF2B5EF4-FFF2-40B4-BE49-F238E27FC236}">
                    <a16:creationId xmlns="" xmlns:a16="http://schemas.microsoft.com/office/drawing/2014/main" id="{702789CC-B8C9-4602-BB72-A868DBFDB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Freeform 48">
                <a:extLst>
                  <a:ext uri="{FF2B5EF4-FFF2-40B4-BE49-F238E27FC236}">
                    <a16:creationId xmlns="" xmlns:a16="http://schemas.microsoft.com/office/drawing/2014/main" id="{87C2909A-C0E2-4D6A-9119-13BCCDEF8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Freeform 49">
                <a:extLst>
                  <a:ext uri="{FF2B5EF4-FFF2-40B4-BE49-F238E27FC236}">
                    <a16:creationId xmlns="" xmlns:a16="http://schemas.microsoft.com/office/drawing/2014/main" id="{8B484526-6681-4CC2-84EA-94B7C32F1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Rectangle 50">
                <a:extLst>
                  <a:ext uri="{FF2B5EF4-FFF2-40B4-BE49-F238E27FC236}">
                    <a16:creationId xmlns="" xmlns:a16="http://schemas.microsoft.com/office/drawing/2014/main" id="{3761CB36-7C65-40FA-B3BC-E41DA3336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Freeform 51">
                <a:extLst>
                  <a:ext uri="{FF2B5EF4-FFF2-40B4-BE49-F238E27FC236}">
                    <a16:creationId xmlns="" xmlns:a16="http://schemas.microsoft.com/office/drawing/2014/main" id="{5A01DB55-F7D8-4F83-815F-FB2EC1975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Rectangle 52">
                <a:extLst>
                  <a:ext uri="{FF2B5EF4-FFF2-40B4-BE49-F238E27FC236}">
                    <a16:creationId xmlns="" xmlns:a16="http://schemas.microsoft.com/office/drawing/2014/main" id="{BDEDB414-B697-4563-AEC1-4A3150A39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2" name="Rectangle 53">
                <a:extLst>
                  <a:ext uri="{FF2B5EF4-FFF2-40B4-BE49-F238E27FC236}">
                    <a16:creationId xmlns="" xmlns:a16="http://schemas.microsoft.com/office/drawing/2014/main" id="{069C7BB0-7358-4472-A33E-DAE770480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3" name="Oval 54">
                <a:extLst>
                  <a:ext uri="{FF2B5EF4-FFF2-40B4-BE49-F238E27FC236}">
                    <a16:creationId xmlns="" xmlns:a16="http://schemas.microsoft.com/office/drawing/2014/main" id="{6647E314-FD21-4D99-B051-9394267EF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4" name="Oval 55">
                <a:extLst>
                  <a:ext uri="{FF2B5EF4-FFF2-40B4-BE49-F238E27FC236}">
                    <a16:creationId xmlns="" xmlns:a16="http://schemas.microsoft.com/office/drawing/2014/main" id="{2FE6E77E-9BE0-4866-BD72-0181C5AAB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Oval 56">
                <a:extLst>
                  <a:ext uri="{FF2B5EF4-FFF2-40B4-BE49-F238E27FC236}">
                    <a16:creationId xmlns="" xmlns:a16="http://schemas.microsoft.com/office/drawing/2014/main" id="{3054D693-3D63-4203-ACAF-32B2CFC7E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Oval 57">
                <a:extLst>
                  <a:ext uri="{FF2B5EF4-FFF2-40B4-BE49-F238E27FC236}">
                    <a16:creationId xmlns="" xmlns:a16="http://schemas.microsoft.com/office/drawing/2014/main" id="{EAC827E7-A97B-4D56-B440-997BFEA18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Freeform 58">
                <a:extLst>
                  <a:ext uri="{FF2B5EF4-FFF2-40B4-BE49-F238E27FC236}">
                    <a16:creationId xmlns="" xmlns:a16="http://schemas.microsoft.com/office/drawing/2014/main" id="{9DE1E18D-72DA-4EAB-AF45-838AC1510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29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A1609C5E-3DE2-4047-AABC-4467B68B6E93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引言</a:t>
              </a:r>
            </a:p>
          </p:txBody>
        </p:sp>
        <p:sp>
          <p:nvSpPr>
            <p:cNvPr id="31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D2314031-A0FF-430F-A1B0-88E40BDC7DB6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第二节 内部类型</a:t>
              </a:r>
            </a:p>
          </p:txBody>
        </p:sp>
        <p:sp>
          <p:nvSpPr>
            <p:cNvPr id="32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048338F6-34EC-4186-A7EC-C0E61525EFE4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用户定义类型</a:t>
              </a:r>
            </a:p>
          </p:txBody>
        </p:sp>
        <p:sp>
          <p:nvSpPr>
            <p:cNvPr id="33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="" xmlns:a16="http://schemas.microsoft.com/office/drawing/2014/main" id="{1CE8E1E7-A1DE-4566-9BD8-34C41DD82DA0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</a:t>
              </a:r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C</a:t>
              </a:r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语言的数据类型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708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1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基本表示的</a:t>
            </a:r>
            <a:r>
              <a:rPr lang="zh-CN" altLang="en-US" dirty="0">
                <a:solidFill>
                  <a:srgbClr val="EE853E"/>
                </a:solidFill>
              </a:rPr>
              <a:t>不可见性</a:t>
            </a:r>
          </a:p>
          <a:p>
            <a:r>
              <a:rPr lang="zh-CN" altLang="en-US" dirty="0"/>
              <a:t>基本表示对程序员是不可见的。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25+9</a:t>
            </a:r>
            <a:r>
              <a:rPr lang="en-US" altLang="zh-CN" dirty="0"/>
              <a:t>     </a:t>
            </a:r>
            <a:r>
              <a:rPr lang="zh-CN" altLang="en-US" dirty="0"/>
              <a:t>结果</a:t>
            </a:r>
            <a:r>
              <a:rPr lang="en-US" altLang="zh-CN" dirty="0">
                <a:solidFill>
                  <a:srgbClr val="EE853E"/>
                </a:solidFill>
              </a:rPr>
              <a:t>34</a:t>
            </a:r>
          </a:p>
          <a:p>
            <a:r>
              <a:rPr lang="zh-CN" altLang="en-US" dirty="0"/>
              <a:t>基本表示</a:t>
            </a:r>
            <a:r>
              <a:rPr lang="en-US" altLang="zh-CN" dirty="0">
                <a:solidFill>
                  <a:srgbClr val="EE853E"/>
                </a:solidFill>
              </a:rPr>
              <a:t>00011001+00001001</a:t>
            </a:r>
          </a:p>
          <a:p>
            <a:r>
              <a:rPr lang="zh-CN" altLang="en-US" dirty="0"/>
              <a:t>结果  </a:t>
            </a:r>
            <a:r>
              <a:rPr lang="en-US" altLang="zh-CN" dirty="0">
                <a:solidFill>
                  <a:srgbClr val="EE853E"/>
                </a:solidFill>
              </a:rPr>
              <a:t>00100010</a:t>
            </a:r>
            <a:r>
              <a:rPr lang="en-US" altLang="zh-CN" dirty="0"/>
              <a:t>   </a:t>
            </a:r>
          </a:p>
          <a:p>
            <a:endParaRPr lang="en-US" altLang="zh-CN" dirty="0"/>
          </a:p>
          <a:p>
            <a:r>
              <a:rPr lang="en-US" altLang="zh-CN" dirty="0"/>
              <a:t>(2) </a:t>
            </a:r>
            <a:r>
              <a:rPr lang="zh-CN" altLang="en-US" dirty="0"/>
              <a:t>编译时能检查变量使用的正确性</a:t>
            </a:r>
          </a:p>
          <a:p>
            <a:r>
              <a:rPr lang="zh-CN" altLang="en-US" dirty="0"/>
              <a:t>能够进行静态</a:t>
            </a:r>
            <a:r>
              <a:rPr lang="zh-CN" altLang="en-US" dirty="0">
                <a:solidFill>
                  <a:srgbClr val="EE853E"/>
                </a:solidFill>
              </a:rPr>
              <a:t>类型检查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如：非法运算；</a:t>
            </a:r>
            <a:r>
              <a:rPr lang="zh-CN" altLang="en-US" dirty="0">
                <a:solidFill>
                  <a:srgbClr val="EE853E"/>
                </a:solidFill>
              </a:rPr>
              <a:t>形、实参</a:t>
            </a:r>
            <a:r>
              <a:rPr lang="zh-CN" altLang="en-US" dirty="0"/>
              <a:t>类型匹配。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内部类型的优越性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750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(3) </a:t>
            </a:r>
            <a:r>
              <a:rPr lang="zh-CN" altLang="en-US" dirty="0"/>
              <a:t>编译时可以确定</a:t>
            </a:r>
            <a:r>
              <a:rPr lang="zh-CN" altLang="en-US" dirty="0">
                <a:solidFill>
                  <a:srgbClr val="EE853E"/>
                </a:solidFill>
              </a:rPr>
              <a:t>无二义</a:t>
            </a:r>
            <a:r>
              <a:rPr lang="zh-CN" altLang="en-US" dirty="0"/>
              <a:t>的操作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运算符重载</a:t>
            </a:r>
            <a:r>
              <a:rPr lang="zh-CN" altLang="en-US" dirty="0"/>
              <a:t>：“</a:t>
            </a:r>
            <a:r>
              <a:rPr lang="en-US" altLang="zh-CN" dirty="0">
                <a:solidFill>
                  <a:srgbClr val="EE853E"/>
                </a:solidFill>
              </a:rPr>
              <a:t>+</a:t>
            </a:r>
            <a:r>
              <a:rPr lang="zh-CN" altLang="en-US" dirty="0"/>
              <a:t>”可以表示整数或实数加</a:t>
            </a:r>
            <a:r>
              <a:rPr lang="zh-CN" altLang="en-US" dirty="0" smtClean="0"/>
              <a:t>，实际的</a:t>
            </a:r>
            <a:r>
              <a:rPr lang="zh-CN" altLang="en-US" dirty="0"/>
              <a:t>意义</a:t>
            </a:r>
            <a:r>
              <a:rPr lang="zh-CN" altLang="en-US" dirty="0">
                <a:solidFill>
                  <a:srgbClr val="EE853E"/>
                </a:solidFill>
              </a:rPr>
              <a:t>依赖于操作数的类型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编译时，拒绝混合运算，或提供类型转换指令。</a:t>
            </a:r>
          </a:p>
          <a:p>
            <a:r>
              <a:rPr lang="zh-CN" altLang="en-US" dirty="0"/>
              <a:t>合理地使用重载，可以提高可读性和可用性。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(4) </a:t>
            </a:r>
            <a:r>
              <a:rPr lang="zh-CN" altLang="en-US" dirty="0"/>
              <a:t>精度控制</a:t>
            </a:r>
          </a:p>
          <a:p>
            <a:r>
              <a:rPr lang="zh-CN" altLang="en-US" dirty="0"/>
              <a:t>可以通过数据类型显式定义数据的精度</a:t>
            </a:r>
          </a:p>
          <a:p>
            <a:r>
              <a:rPr lang="en-US" altLang="zh-CN" dirty="0" smtClean="0">
                <a:solidFill>
                  <a:srgbClr val="EE853E"/>
                </a:solidFill>
              </a:rPr>
              <a:t>f</a:t>
            </a:r>
            <a:r>
              <a:rPr lang="en-GB" altLang="zh-CN" dirty="0" err="1" smtClean="0">
                <a:solidFill>
                  <a:srgbClr val="EE853E"/>
                </a:solidFill>
              </a:rPr>
              <a:t>loat</a:t>
            </a:r>
            <a:r>
              <a:rPr lang="zh-CN" altLang="en-US" dirty="0" smtClean="0">
                <a:solidFill>
                  <a:srgbClr val="EE853E"/>
                </a:solidFill>
              </a:rPr>
              <a:t>、</a:t>
            </a:r>
            <a:r>
              <a:rPr lang="en-GB" altLang="zh-CN" dirty="0" smtClean="0">
                <a:solidFill>
                  <a:srgbClr val="EE853E"/>
                </a:solidFill>
              </a:rPr>
              <a:t> </a:t>
            </a:r>
            <a:r>
              <a:rPr lang="en-GB" altLang="zh-CN" dirty="0">
                <a:solidFill>
                  <a:srgbClr val="EE853E"/>
                </a:solidFill>
              </a:rPr>
              <a:t>double</a:t>
            </a:r>
            <a:endParaRPr lang="en-US" altLang="zh-CN" dirty="0">
              <a:solidFill>
                <a:srgbClr val="EE853E"/>
              </a:solidFill>
            </a:endParaRPr>
          </a:p>
          <a:p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="" xmlns:a16="http://schemas.microsoft.com/office/drawing/2014/main" id="{57CCBDDA-FF7D-432A-B12B-F040969DD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内部类型的优越性</a:t>
            </a:r>
          </a:p>
        </p:txBody>
      </p:sp>
    </p:spTree>
    <p:extLst>
      <p:ext uri="{BB962C8B-B14F-4D97-AF65-F5344CB8AC3E}">
        <p14:creationId xmlns:p14="http://schemas.microsoft.com/office/powerpoint/2010/main" val="3406385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5964</TotalTime>
  <Words>229</Words>
  <Application>Microsoft Office PowerPoint</Application>
  <PresentationFormat>宽屏</PresentationFormat>
  <Paragraphs>35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Clear Sans</vt:lpstr>
      <vt:lpstr>黑体</vt:lpstr>
      <vt:lpstr>宋体</vt:lpstr>
      <vt:lpstr>微软雅黑</vt:lpstr>
      <vt:lpstr>Arial</vt:lpstr>
      <vt:lpstr>Wingdings</vt:lpstr>
      <vt:lpstr>环保</vt:lpstr>
      <vt:lpstr>第二章 数据类型</vt:lpstr>
      <vt:lpstr>内部类型的特点</vt:lpstr>
      <vt:lpstr>第二章 数据类型</vt:lpstr>
      <vt:lpstr>内部类型的优越性</vt:lpstr>
      <vt:lpstr>内部类型的优越性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Microsoft</cp:lastModifiedBy>
  <cp:revision>1048</cp:revision>
  <cp:lastPrinted>1601-01-01T00:00:00Z</cp:lastPrinted>
  <dcterms:created xsi:type="dcterms:W3CDTF">1601-01-01T00:00:00Z</dcterms:created>
  <dcterms:modified xsi:type="dcterms:W3CDTF">2019-11-25T02:26:39Z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