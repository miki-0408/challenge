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01" r:id="rId1"/>
  </p:sldMasterIdLst>
  <p:notesMasterIdLst>
    <p:notesMasterId r:id="rId14"/>
  </p:notesMasterIdLst>
  <p:handoutMasterIdLst>
    <p:handoutMasterId r:id="rId15"/>
  </p:handoutMasterIdLst>
  <p:sldIdLst>
    <p:sldId id="370" r:id="rId2"/>
    <p:sldId id="263" r:id="rId3"/>
    <p:sldId id="264" r:id="rId4"/>
    <p:sldId id="371" r:id="rId5"/>
    <p:sldId id="374" r:id="rId6"/>
    <p:sldId id="375" r:id="rId7"/>
    <p:sldId id="376" r:id="rId8"/>
    <p:sldId id="377" r:id="rId9"/>
    <p:sldId id="378" r:id="rId10"/>
    <p:sldId id="379" r:id="rId11"/>
    <p:sldId id="380" r:id="rId12"/>
    <p:sldId id="266" r:id="rId13"/>
  </p:sldIdLst>
  <p:sldSz cx="12192000" cy="6858000"/>
  <p:notesSz cx="2782888" cy="3717925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853E"/>
    <a:srgbClr val="A18D60"/>
    <a:srgbClr val="EE8A3E"/>
    <a:srgbClr val="E98A3E"/>
    <a:srgbClr val="04141B"/>
    <a:srgbClr val="D9B247"/>
    <a:srgbClr val="2A9995"/>
    <a:srgbClr val="54D0CA"/>
    <a:srgbClr val="0000FF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7" autoAdjust="0"/>
    <p:restoredTop sz="89127" autoAdjust="0"/>
  </p:normalViewPr>
  <p:slideViewPr>
    <p:cSldViewPr>
      <p:cViewPr varScale="1">
        <p:scale>
          <a:sx n="80" d="100"/>
          <a:sy n="80" d="100"/>
        </p:scale>
        <p:origin x="432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148"/>
    </p:cViewPr>
  </p:sorterViewPr>
  <p:notesViewPr>
    <p:cSldViewPr>
      <p:cViewPr varScale="1">
        <p:scale>
          <a:sx n="183" d="100"/>
          <a:sy n="183" d="100"/>
        </p:scale>
        <p:origin x="266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F22DA3B-951B-42A7-9A91-80A8B753C47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196182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algn="r"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53988" y="279400"/>
            <a:ext cx="2474912" cy="1393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747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277813" y="1765300"/>
            <a:ext cx="2227262" cy="167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747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algn="r" defTabSz="371475">
              <a:defRPr sz="500"/>
            </a:lvl1pPr>
          </a:lstStyle>
          <a:p>
            <a:fld id="{7C94B347-5D95-4F16-91F2-C12A0B20C48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27714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82371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28626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94645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58746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26277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68831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08831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37720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26995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3844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692398" y="3623737"/>
            <a:ext cx="6815669" cy="94826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单击此处添加副标题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92398" y="2057406"/>
            <a:ext cx="6815669" cy="1329259"/>
          </a:xfrm>
          <a:prstGeom prst="rect">
            <a:avLst/>
          </a:prstGeom>
        </p:spPr>
        <p:txBody>
          <a:bodyPr anchor="ctr"/>
          <a:lstStyle>
            <a:lvl1pPr>
              <a:defRPr sz="6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8557376-49C6-4381-B102-72EEC70D751A}"/>
              </a:ext>
            </a:extLst>
          </p:cNvPr>
          <p:cNvCxnSpPr>
            <a:cxnSpLocks/>
          </p:cNvCxnSpPr>
          <p:nvPr userDrawn="1"/>
        </p:nvCxnSpPr>
        <p:spPr>
          <a:xfrm>
            <a:off x="2692398" y="3505200"/>
            <a:ext cx="6815669" cy="0"/>
          </a:xfrm>
          <a:prstGeom prst="line">
            <a:avLst/>
          </a:prstGeom>
          <a:ln w="12700">
            <a:gradFill flip="none" rotWithShape="1">
              <a:gsLst>
                <a:gs pos="59000">
                  <a:schemeClr val="bg1">
                    <a:alpha val="21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7846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1074810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29287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5257969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7E9892FE-F3AB-4039-9723-7093E7CEC2C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10130" y="899160"/>
            <a:ext cx="525797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567609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1" y="900000"/>
            <a:ext cx="3547199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添加正文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/>
              <a:t>第三级</a:t>
            </a:r>
            <a:endParaRPr lang="zh-CN" altLang="en-US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21D09B86-9E93-40B4-96E1-952B7B1A861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322401" y="900000"/>
            <a:ext cx="3547199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添加正文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/>
              <a:t>第三级</a:t>
            </a:r>
            <a:endParaRPr lang="zh-CN" altLang="en-US" dirty="0"/>
          </a:p>
        </p:txBody>
      </p:sp>
      <p:sp>
        <p:nvSpPr>
          <p:cNvPr id="21" name="内容占位符 2">
            <a:extLst>
              <a:ext uri="{FF2B5EF4-FFF2-40B4-BE49-F238E27FC236}">
                <a16:creationId xmlns:a16="http://schemas.microsoft.com/office/drawing/2014/main" id="{F3B0E141-4CCD-47B8-82F1-F307E0885F0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917182" y="899999"/>
            <a:ext cx="3547199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添加正文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/>
              <a:t>第三级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93825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252000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添加</a:t>
            </a:r>
            <a:r>
              <a:rPr lang="zh-CN" altLang="en-US" dirty="0"/>
              <a:t>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/>
              <a:t>第三级</a:t>
            </a:r>
            <a:endParaRPr lang="zh-CN" altLang="en-US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B9730401-D273-4D1F-9940-003BE36C43E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404000" y="900000"/>
            <a:ext cx="252000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添加</a:t>
            </a:r>
            <a:r>
              <a:rPr lang="zh-CN" altLang="en-US" dirty="0"/>
              <a:t>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/>
              <a:t>第三级</a:t>
            </a:r>
            <a:endParaRPr lang="zh-CN" altLang="en-US" dirty="0"/>
          </a:p>
        </p:txBody>
      </p:sp>
      <p:sp>
        <p:nvSpPr>
          <p:cNvPr id="19" name="内容占位符 2">
            <a:extLst>
              <a:ext uri="{FF2B5EF4-FFF2-40B4-BE49-F238E27FC236}">
                <a16:creationId xmlns:a16="http://schemas.microsoft.com/office/drawing/2014/main" id="{850BD6D6-313F-4541-B890-2C03031B9866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88000" y="900000"/>
            <a:ext cx="252000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添加</a:t>
            </a:r>
            <a:r>
              <a:rPr lang="zh-CN" altLang="en-US" dirty="0"/>
              <a:t>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/>
              <a:t>第三级</a:t>
            </a:r>
            <a:endParaRPr lang="zh-CN" altLang="en-US" dirty="0"/>
          </a:p>
        </p:txBody>
      </p: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121EF50E-2028-4C0F-844C-62767D0B5385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772000" y="900000"/>
            <a:ext cx="252000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添加</a:t>
            </a:r>
            <a:r>
              <a:rPr lang="zh-CN" altLang="en-US" dirty="0"/>
              <a:t>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/>
              <a:t>第三级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667726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5E28B1FC-3605-4CC3-A226-94C02D2641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A153692-77AD-465A-A07A-1F236B045846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1A30A995-568B-4288-A1AE-69EE8DAF081C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8" name="任意多边形 41">
              <a:extLst>
                <a:ext uri="{FF2B5EF4-FFF2-40B4-BE49-F238E27FC236}">
                  <a16:creationId xmlns:a16="http://schemas.microsoft.com/office/drawing/2014/main" id="{548C9EB0-9642-44C5-B2B7-07F802F76B58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>
              <a:extLst>
                <a:ext uri="{FF2B5EF4-FFF2-40B4-BE49-F238E27FC236}">
                  <a16:creationId xmlns:a16="http://schemas.microsoft.com/office/drawing/2014/main" id="{19E95DC8-161D-40C4-9683-31996CC1D0AF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1F05C3C9-12CA-416C-9887-3B295CCCFB74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F7FFC115-1EE8-42CC-B656-23881B4B180E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0214CFBE-9CFB-4E8F-ACC6-A52DE709F3F1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898DDCA7-1785-41D9-A6F9-240A9B2251D5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31679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5404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2" r:id="rId1"/>
    <p:sldLayoutId id="2147484303" r:id="rId2"/>
    <p:sldLayoutId id="2147484310" r:id="rId3"/>
    <p:sldLayoutId id="2147484311" r:id="rId4"/>
    <p:sldLayoutId id="2147484312" r:id="rId5"/>
    <p:sldLayoutId id="2147484308" r:id="rId6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 cap="none">
          <a:ln w="3175" cmpd="sng"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4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0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6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第十章 目标代码生成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A6E4869-161E-4E0A-87C0-52C9CF42DC82}"/>
              </a:ext>
            </a:extLst>
          </p:cNvPr>
          <p:cNvGrpSpPr>
            <a:grpSpLocks noChangeAspect="1"/>
          </p:cNvGrpSpPr>
          <p:nvPr/>
        </p:nvGrpSpPr>
        <p:grpSpPr>
          <a:xfrm>
            <a:off x="2984433" y="1638300"/>
            <a:ext cx="6223134" cy="3581400"/>
            <a:chOff x="1449652" y="2320203"/>
            <a:chExt cx="4724869" cy="2719152"/>
          </a:xfrm>
        </p:grpSpPr>
        <p:grpSp>
          <p:nvGrpSpPr>
            <p:cNvPr id="6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6B464E78-0213-4258-9BA3-F024CB4694A2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11" name="Freeform 45">
                <a:extLst>
                  <a:ext uri="{FF2B5EF4-FFF2-40B4-BE49-F238E27FC236}">
                    <a16:creationId xmlns:a16="http://schemas.microsoft.com/office/drawing/2014/main" id="{0AAF4C99-21B1-4C65-9170-DBB9F406E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Freeform 46">
                <a:extLst>
                  <a:ext uri="{FF2B5EF4-FFF2-40B4-BE49-F238E27FC236}">
                    <a16:creationId xmlns:a16="http://schemas.microsoft.com/office/drawing/2014/main" id="{42F4E6CE-4F80-41FB-8539-E7049AA88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Freeform 47">
                <a:extLst>
                  <a:ext uri="{FF2B5EF4-FFF2-40B4-BE49-F238E27FC236}">
                    <a16:creationId xmlns:a16="http://schemas.microsoft.com/office/drawing/2014/main" id="{CF1B1288-17F3-48AE-A6F4-F3DDDFC3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" name="Freeform 48">
                <a:extLst>
                  <a:ext uri="{FF2B5EF4-FFF2-40B4-BE49-F238E27FC236}">
                    <a16:creationId xmlns:a16="http://schemas.microsoft.com/office/drawing/2014/main" id="{F028F4F2-46C5-4AF7-A757-F80DCF29F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" name="Freeform 49">
                <a:extLst>
                  <a:ext uri="{FF2B5EF4-FFF2-40B4-BE49-F238E27FC236}">
                    <a16:creationId xmlns:a16="http://schemas.microsoft.com/office/drawing/2014/main" id="{0FA8FE6F-7911-4DA3-9280-CD41893BC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Rectangle 50">
                <a:extLst>
                  <a:ext uri="{FF2B5EF4-FFF2-40B4-BE49-F238E27FC236}">
                    <a16:creationId xmlns:a16="http://schemas.microsoft.com/office/drawing/2014/main" id="{0CC20CD7-5926-4020-B630-6E6CB0660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Freeform 51">
                <a:extLst>
                  <a:ext uri="{FF2B5EF4-FFF2-40B4-BE49-F238E27FC236}">
                    <a16:creationId xmlns:a16="http://schemas.microsoft.com/office/drawing/2014/main" id="{43560EC3-2B3C-4178-A88D-F5F6BE39C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" name="Rectangle 52">
                <a:extLst>
                  <a:ext uri="{FF2B5EF4-FFF2-40B4-BE49-F238E27FC236}">
                    <a16:creationId xmlns:a16="http://schemas.microsoft.com/office/drawing/2014/main" id="{5FF586EA-939E-4292-B33F-19F5CF18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" name="Rectangle 53">
                <a:extLst>
                  <a:ext uri="{FF2B5EF4-FFF2-40B4-BE49-F238E27FC236}">
                    <a16:creationId xmlns:a16="http://schemas.microsoft.com/office/drawing/2014/main" id="{A24BBED8-D594-40A5-A918-74EE9FA5C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0" name="Oval 54">
                <a:extLst>
                  <a:ext uri="{FF2B5EF4-FFF2-40B4-BE49-F238E27FC236}">
                    <a16:creationId xmlns:a16="http://schemas.microsoft.com/office/drawing/2014/main" id="{6B28BA7D-3322-4138-9747-9B16C575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" name="Oval 55">
                <a:extLst>
                  <a:ext uri="{FF2B5EF4-FFF2-40B4-BE49-F238E27FC236}">
                    <a16:creationId xmlns:a16="http://schemas.microsoft.com/office/drawing/2014/main" id="{2F5F9035-B4F1-4847-BB55-10B3F1E3B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Oval 56">
                <a:extLst>
                  <a:ext uri="{FF2B5EF4-FFF2-40B4-BE49-F238E27FC236}">
                    <a16:creationId xmlns:a16="http://schemas.microsoft.com/office/drawing/2014/main" id="{7E773054-250E-45A4-B703-E04E19F39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3" name="Oval 57">
                <a:extLst>
                  <a:ext uri="{FF2B5EF4-FFF2-40B4-BE49-F238E27FC236}">
                    <a16:creationId xmlns:a16="http://schemas.microsoft.com/office/drawing/2014/main" id="{4DBFDE35-A851-45E3-B125-87316FAE5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4" name="Freeform 58">
                <a:extLst>
                  <a:ext uri="{FF2B5EF4-FFF2-40B4-BE49-F238E27FC236}">
                    <a16:creationId xmlns:a16="http://schemas.microsoft.com/office/drawing/2014/main" id="{D19D53F3-FBC6-40CB-BFC1-35AA5208A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7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0741D96E-8037-4722-9A7D-22D1E718F9D8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第一节 目标代码生成概述</a:t>
              </a:r>
            </a:p>
          </p:txBody>
        </p:sp>
        <p:sp>
          <p:nvSpPr>
            <p:cNvPr id="8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E4182719-1631-476B-8107-AD3EE3E832C0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第二</a:t>
              </a:r>
              <a:r>
                <a:rPr lang="zh-CN" altLang="en-US" sz="2400" b="1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节 简单代码生成</a:t>
              </a:r>
              <a:endPara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Clear Sans" panose="020B0503030202020304" pitchFamily="34" charset="0"/>
              </a:endParaRPr>
            </a:p>
          </p:txBody>
        </p:sp>
        <p:sp>
          <p:nvSpPr>
            <p:cNvPr id="9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7935E166-FAD5-4A3A-B94A-3995A4A679CA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第三节 寄存器分配</a:t>
              </a:r>
            </a:p>
          </p:txBody>
        </p:sp>
        <p:sp>
          <p:nvSpPr>
            <p:cNvPr id="10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4BC68BE9-AB19-424E-BC85-905C1B758E42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第四</a:t>
              </a:r>
              <a:r>
                <a:rPr lang="zh-CN" altLang="en-US" sz="2400" b="1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节 存储空间分配</a:t>
              </a:r>
              <a:endPara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Clear Sans" panose="020B0503030202020304" pitchFamily="34" charset="0"/>
              </a:endParaRPr>
            </a:p>
          </p:txBody>
        </p:sp>
      </p:grpSp>
      <p:sp>
        <p:nvSpPr>
          <p:cNvPr id="25" name="箭头: 右 24">
            <a:extLst>
              <a:ext uri="{FF2B5EF4-FFF2-40B4-BE49-F238E27FC236}">
                <a16:creationId xmlns:a16="http://schemas.microsoft.com/office/drawing/2014/main" id="{067BC837-BD63-48BE-9925-5D7273E2E2C7}"/>
              </a:ext>
            </a:extLst>
          </p:cNvPr>
          <p:cNvSpPr/>
          <p:nvPr/>
        </p:nvSpPr>
        <p:spPr>
          <a:xfrm>
            <a:off x="2983159" y="3422400"/>
            <a:ext cx="540000" cy="540000"/>
          </a:xfrm>
          <a:prstGeom prst="rightArrow">
            <a:avLst/>
          </a:prstGeom>
          <a:solidFill>
            <a:srgbClr val="EE8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6374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在目标代码生成的过程中，须要合理分配寄存器。</a:t>
            </a:r>
            <a:endParaRPr lang="en-US" altLang="zh-CN" dirty="0"/>
          </a:p>
          <a:p>
            <a:r>
              <a:rPr lang="en-US" altLang="zh-CN" dirty="0">
                <a:solidFill>
                  <a:srgbClr val="EE853E"/>
                </a:solidFill>
              </a:rPr>
              <a:t>1.	</a:t>
            </a:r>
            <a:r>
              <a:rPr lang="zh-CN" altLang="en-US" dirty="0">
                <a:solidFill>
                  <a:srgbClr val="EE853E"/>
                </a:solidFill>
              </a:rPr>
              <a:t>硬件系统的限制</a:t>
            </a:r>
            <a:endParaRPr lang="en-US" altLang="zh-CN" dirty="0">
              <a:solidFill>
                <a:srgbClr val="EE853E"/>
              </a:solidFill>
            </a:endParaRPr>
          </a:p>
          <a:p>
            <a:r>
              <a:rPr lang="en-US" altLang="zh-CN" dirty="0"/>
              <a:t>	</a:t>
            </a:r>
            <a:r>
              <a:rPr lang="zh-CN" altLang="en-US" dirty="0"/>
              <a:t>指令系统的限制</a:t>
            </a:r>
            <a:r>
              <a:rPr lang="en-US" altLang="zh-CN" dirty="0"/>
              <a:t>	</a:t>
            </a:r>
          </a:p>
          <a:p>
            <a:r>
              <a:rPr lang="en-US" altLang="zh-CN" dirty="0"/>
              <a:t>	</a:t>
            </a:r>
            <a:r>
              <a:rPr lang="zh-CN" altLang="en-US" dirty="0"/>
              <a:t>寄存器数量的限制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>
                <a:solidFill>
                  <a:srgbClr val="EE853E"/>
                </a:solidFill>
              </a:rPr>
              <a:t>2.	</a:t>
            </a:r>
            <a:r>
              <a:rPr lang="zh-CN" altLang="en-US" dirty="0">
                <a:solidFill>
                  <a:srgbClr val="EE853E"/>
                </a:solidFill>
              </a:rPr>
              <a:t>运行效率的需要</a:t>
            </a:r>
          </a:p>
          <a:p>
            <a:r>
              <a:rPr lang="en-US" altLang="zh-CN" dirty="0"/>
              <a:t>	</a:t>
            </a:r>
            <a:r>
              <a:rPr lang="zh-CN" altLang="en-US" dirty="0"/>
              <a:t>访问内存的速度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访问寄存器的速度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寄存器分配</a:t>
            </a:r>
          </a:p>
        </p:txBody>
      </p:sp>
    </p:spTree>
    <p:extLst>
      <p:ext uri="{BB962C8B-B14F-4D97-AF65-F5344CB8AC3E}">
        <p14:creationId xmlns:p14="http://schemas.microsoft.com/office/powerpoint/2010/main" val="20045742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EE853E"/>
                </a:solidFill>
              </a:rPr>
              <a:t>变量的访问</a:t>
            </a:r>
            <a:endParaRPr lang="en-US" altLang="zh-CN" dirty="0">
              <a:solidFill>
                <a:srgbClr val="EE853E"/>
              </a:solidFill>
            </a:endParaRPr>
          </a:p>
          <a:p>
            <a:r>
              <a:rPr lang="zh-CN" altLang="en-US" dirty="0"/>
              <a:t>在某个时间段内，如果将某个寄存器分配给了某个变量，那么对该变量的访问就可以用该寄存器来代替，而不用每次都访问内存。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olidFill>
                  <a:srgbClr val="EE853E"/>
                </a:solidFill>
              </a:rPr>
              <a:t>变量的回写</a:t>
            </a:r>
            <a:endParaRPr lang="en-US" altLang="zh-CN" dirty="0">
              <a:solidFill>
                <a:srgbClr val="EE853E"/>
              </a:solidFill>
            </a:endParaRPr>
          </a:p>
          <a:p>
            <a:r>
              <a:rPr lang="zh-CN" altLang="en-US" dirty="0"/>
              <a:t>将某个寄存器分配给某个变量之后，如果要释放该寄存器（不再将该寄存器分配给该变量），则需要先判断该寄存器的值（变量的值）是否已被修改。如果已被修改，则先将寄存器的值回写到变量（内存单元）中，然后进行释放。</a:t>
            </a:r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变量的访问与回写</a:t>
            </a:r>
          </a:p>
        </p:txBody>
      </p:sp>
    </p:spTree>
    <p:extLst>
      <p:ext uri="{BB962C8B-B14F-4D97-AF65-F5344CB8AC3E}">
        <p14:creationId xmlns:p14="http://schemas.microsoft.com/office/powerpoint/2010/main" val="27034293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2C56720-F6FF-41B0-A6A8-F486013ED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solidFill>
                  <a:srgbClr val="EE853E"/>
                </a:solidFill>
              </a:rPr>
              <a:t>三地址码</a:t>
            </a:r>
            <a:r>
              <a:rPr lang="zh-CN" altLang="en-US"/>
              <a:t> </a:t>
            </a:r>
            <a:endParaRPr lang="en-US" altLang="zh-CN"/>
          </a:p>
          <a:p>
            <a:r>
              <a:rPr lang="en-US" altLang="zh-CN"/>
              <a:t>x = y + z</a:t>
            </a:r>
          </a:p>
          <a:p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F09898D-7B1E-4FE5-8EBD-D62FD396D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寄存器分配实例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A513ACF-046D-48E4-A9B2-C383AE0A746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EE853E"/>
                </a:solidFill>
              </a:rPr>
              <a:t>汇编代码</a:t>
            </a:r>
            <a:endParaRPr lang="en-US" altLang="zh-CN" dirty="0"/>
          </a:p>
          <a:p>
            <a:r>
              <a:rPr lang="en-US" altLang="zh-CN" dirty="0"/>
              <a:t>LOD	Rx , x</a:t>
            </a:r>
            <a:r>
              <a:rPr lang="zh-CN" altLang="en-US" dirty="0"/>
              <a:t>的地址</a:t>
            </a:r>
          </a:p>
          <a:p>
            <a:r>
              <a:rPr lang="en-US" altLang="zh-CN" dirty="0"/>
              <a:t>LOD	Ry , y</a:t>
            </a:r>
            <a:r>
              <a:rPr lang="zh-CN" altLang="en-US" dirty="0"/>
              <a:t>的地址</a:t>
            </a:r>
          </a:p>
          <a:p>
            <a:r>
              <a:rPr lang="en-US" altLang="zh-CN" dirty="0"/>
              <a:t>LOD	Rz , z</a:t>
            </a:r>
            <a:r>
              <a:rPr lang="zh-CN" altLang="en-US" dirty="0"/>
              <a:t>的地址</a:t>
            </a:r>
          </a:p>
          <a:p>
            <a:r>
              <a:rPr lang="en-US" altLang="zh-CN" dirty="0"/>
              <a:t>LOD	Ra , (Ry)</a:t>
            </a:r>
          </a:p>
          <a:p>
            <a:r>
              <a:rPr lang="en-US" altLang="zh-CN" dirty="0"/>
              <a:t>LOD	</a:t>
            </a:r>
            <a:r>
              <a:rPr lang="en-US" altLang="zh-CN" dirty="0" err="1"/>
              <a:t>Rb</a:t>
            </a:r>
            <a:r>
              <a:rPr lang="en-US" altLang="zh-CN" dirty="0"/>
              <a:t> , (Rz)</a:t>
            </a:r>
          </a:p>
          <a:p>
            <a:r>
              <a:rPr lang="en-US" altLang="zh-CN" dirty="0"/>
              <a:t>LOD	</a:t>
            </a:r>
            <a:r>
              <a:rPr lang="en-US" altLang="zh-CN" dirty="0" err="1"/>
              <a:t>Rc</a:t>
            </a:r>
            <a:r>
              <a:rPr lang="en-US" altLang="zh-CN" dirty="0"/>
              <a:t> , Ra</a:t>
            </a:r>
          </a:p>
          <a:p>
            <a:r>
              <a:rPr lang="en-US" altLang="zh-CN" dirty="0"/>
              <a:t>ADD	</a:t>
            </a:r>
            <a:r>
              <a:rPr lang="en-US" altLang="zh-CN" dirty="0" err="1"/>
              <a:t>Rc</a:t>
            </a:r>
            <a:r>
              <a:rPr lang="en-US" altLang="zh-CN" dirty="0"/>
              <a:t> , </a:t>
            </a:r>
            <a:r>
              <a:rPr lang="en-US" altLang="zh-CN" dirty="0" err="1"/>
              <a:t>Rb</a:t>
            </a:r>
            <a:endParaRPr lang="en-US" altLang="zh-CN" dirty="0"/>
          </a:p>
          <a:p>
            <a:r>
              <a:rPr lang="en-US" altLang="zh-CN" dirty="0" err="1"/>
              <a:t>STO</a:t>
            </a:r>
            <a:r>
              <a:rPr lang="en-US" altLang="zh-CN" dirty="0"/>
              <a:t>	(Rx) , </a:t>
            </a:r>
            <a:r>
              <a:rPr lang="en-US" altLang="zh-CN" dirty="0" err="1"/>
              <a:t>Rc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427386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2C56720-F6FF-41B0-A6A8-F486013ED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solidFill>
                  <a:srgbClr val="EE853E"/>
                </a:solidFill>
              </a:rPr>
              <a:t>三地址码</a:t>
            </a:r>
            <a:r>
              <a:rPr lang="zh-CN" altLang="en-US"/>
              <a:t> </a:t>
            </a:r>
            <a:endParaRPr lang="en-US" altLang="zh-CN"/>
          </a:p>
          <a:p>
            <a:r>
              <a:rPr lang="en-US" altLang="zh-CN"/>
              <a:t>x = y + z</a:t>
            </a:r>
          </a:p>
          <a:p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F09898D-7B1E-4FE5-8EBD-D62FD396D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步：将 </a:t>
            </a:r>
            <a:r>
              <a:rPr lang="en-US" altLang="zh-CN" dirty="0"/>
              <a:t>Ra </a:t>
            </a:r>
            <a:r>
              <a:rPr lang="zh-CN" altLang="en-US" dirty="0"/>
              <a:t>分配给 </a:t>
            </a:r>
            <a:r>
              <a:rPr lang="en-US" altLang="zh-CN" dirty="0"/>
              <a:t>y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A513ACF-046D-48E4-A9B2-C383AE0A746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EE853E"/>
                </a:solidFill>
              </a:rPr>
              <a:t>汇编代码</a:t>
            </a:r>
            <a:endParaRPr lang="en-US" altLang="zh-CN" dirty="0"/>
          </a:p>
          <a:p>
            <a:r>
              <a:rPr lang="en-US" altLang="zh-CN" dirty="0"/>
              <a:t>LOD	Rx , x</a:t>
            </a:r>
            <a:r>
              <a:rPr lang="zh-CN" altLang="en-US" dirty="0"/>
              <a:t>的地址</a:t>
            </a:r>
          </a:p>
          <a:p>
            <a:r>
              <a:rPr lang="en-US" altLang="zh-CN" dirty="0"/>
              <a:t>LOD	Ry , y</a:t>
            </a:r>
            <a:r>
              <a:rPr lang="zh-CN" altLang="en-US" dirty="0"/>
              <a:t>的地址</a:t>
            </a:r>
          </a:p>
          <a:p>
            <a:r>
              <a:rPr lang="en-US" altLang="zh-CN" dirty="0"/>
              <a:t>LOD	Rz , z</a:t>
            </a:r>
            <a:r>
              <a:rPr lang="zh-CN" altLang="en-US" dirty="0"/>
              <a:t>的地址</a:t>
            </a:r>
          </a:p>
          <a:p>
            <a:r>
              <a:rPr lang="en-US" altLang="zh-CN" dirty="0"/>
              <a:t>LOD	Ra , (Ry)</a:t>
            </a:r>
          </a:p>
          <a:p>
            <a:r>
              <a:rPr lang="en-US" altLang="zh-CN" dirty="0"/>
              <a:t>LOD	</a:t>
            </a:r>
            <a:r>
              <a:rPr lang="en-US" altLang="zh-CN" dirty="0" err="1"/>
              <a:t>Rb</a:t>
            </a:r>
            <a:r>
              <a:rPr lang="en-US" altLang="zh-CN" dirty="0"/>
              <a:t> , (Rz)</a:t>
            </a:r>
          </a:p>
          <a:p>
            <a:r>
              <a:rPr lang="en-US" altLang="zh-CN" dirty="0"/>
              <a:t>LOD	</a:t>
            </a:r>
            <a:r>
              <a:rPr lang="en-US" altLang="zh-CN" dirty="0" err="1"/>
              <a:t>Rc</a:t>
            </a:r>
            <a:r>
              <a:rPr lang="en-US" altLang="zh-CN" dirty="0"/>
              <a:t> , Ra</a:t>
            </a:r>
          </a:p>
          <a:p>
            <a:r>
              <a:rPr lang="en-US" altLang="zh-CN" dirty="0"/>
              <a:t>ADD	</a:t>
            </a:r>
            <a:r>
              <a:rPr lang="en-US" altLang="zh-CN" dirty="0" err="1"/>
              <a:t>Rc</a:t>
            </a:r>
            <a:r>
              <a:rPr lang="en-US" altLang="zh-CN" dirty="0"/>
              <a:t> , </a:t>
            </a:r>
            <a:r>
              <a:rPr lang="en-US" altLang="zh-CN" dirty="0" err="1"/>
              <a:t>Rb</a:t>
            </a:r>
            <a:endParaRPr lang="en-US" altLang="zh-CN" dirty="0"/>
          </a:p>
          <a:p>
            <a:r>
              <a:rPr lang="en-US" altLang="zh-CN" dirty="0" err="1"/>
              <a:t>STO</a:t>
            </a:r>
            <a:r>
              <a:rPr lang="en-US" altLang="zh-CN" dirty="0"/>
              <a:t>	(Rx) , </a:t>
            </a:r>
            <a:r>
              <a:rPr lang="en-US" altLang="zh-CN" dirty="0" err="1"/>
              <a:t>Rc</a:t>
            </a:r>
            <a:endParaRPr lang="zh-CN" altLang="en-US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9C8F808-890D-4DC1-94EE-C6EE5CA4A4A2}"/>
              </a:ext>
            </a:extLst>
          </p:cNvPr>
          <p:cNvCxnSpPr>
            <a:cxnSpLocks/>
          </p:cNvCxnSpPr>
          <p:nvPr/>
        </p:nvCxnSpPr>
        <p:spPr>
          <a:xfrm>
            <a:off x="6019800" y="3429000"/>
            <a:ext cx="3200400" cy="0"/>
          </a:xfrm>
          <a:prstGeom prst="line">
            <a:avLst/>
          </a:prstGeom>
          <a:ln w="76200">
            <a:solidFill>
              <a:srgbClr val="EE85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D24B1CE-3264-40C0-B065-2514E4B1262A}"/>
              </a:ext>
            </a:extLst>
          </p:cNvPr>
          <p:cNvCxnSpPr>
            <a:cxnSpLocks/>
          </p:cNvCxnSpPr>
          <p:nvPr/>
        </p:nvCxnSpPr>
        <p:spPr>
          <a:xfrm>
            <a:off x="6019800" y="2362200"/>
            <a:ext cx="3200400" cy="0"/>
          </a:xfrm>
          <a:prstGeom prst="line">
            <a:avLst/>
          </a:prstGeom>
          <a:ln w="76200">
            <a:solidFill>
              <a:srgbClr val="EE85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54458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2C56720-F6FF-41B0-A6A8-F486013ED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solidFill>
                  <a:srgbClr val="EE853E"/>
                </a:solidFill>
              </a:rPr>
              <a:t>三地址码</a:t>
            </a:r>
            <a:r>
              <a:rPr lang="zh-CN" altLang="en-US"/>
              <a:t> </a:t>
            </a:r>
            <a:endParaRPr lang="en-US" altLang="zh-CN"/>
          </a:p>
          <a:p>
            <a:r>
              <a:rPr lang="en-US" altLang="zh-CN"/>
              <a:t>x = y + z</a:t>
            </a:r>
          </a:p>
          <a:p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F09898D-7B1E-4FE5-8EBD-D62FD396D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步：将 </a:t>
            </a:r>
            <a:r>
              <a:rPr lang="en-US" altLang="zh-CN" dirty="0"/>
              <a:t>Ra </a:t>
            </a:r>
            <a:r>
              <a:rPr lang="zh-CN" altLang="en-US" dirty="0"/>
              <a:t>分配给 </a:t>
            </a:r>
            <a:r>
              <a:rPr lang="en-US" altLang="zh-CN" dirty="0"/>
              <a:t>y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A513ACF-046D-48E4-A9B2-C383AE0A746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EE853E"/>
                </a:solidFill>
              </a:rPr>
              <a:t>汇编代码</a:t>
            </a:r>
            <a:endParaRPr lang="en-US" altLang="zh-CN" dirty="0"/>
          </a:p>
          <a:p>
            <a:r>
              <a:rPr lang="en-US" altLang="zh-CN" dirty="0"/>
              <a:t>LOD	Rx , x</a:t>
            </a:r>
            <a:r>
              <a:rPr lang="zh-CN" altLang="en-US" dirty="0"/>
              <a:t>的地址</a:t>
            </a:r>
          </a:p>
          <a:p>
            <a:endParaRPr lang="en-US" altLang="zh-CN" dirty="0"/>
          </a:p>
          <a:p>
            <a:r>
              <a:rPr lang="en-US" altLang="zh-CN" dirty="0"/>
              <a:t>LOD	Rz , z</a:t>
            </a:r>
            <a:r>
              <a:rPr lang="zh-CN" altLang="en-US" dirty="0"/>
              <a:t>的地址</a:t>
            </a:r>
          </a:p>
          <a:p>
            <a:endParaRPr lang="en-US" altLang="zh-CN" dirty="0"/>
          </a:p>
          <a:p>
            <a:r>
              <a:rPr lang="en-US" altLang="zh-CN" dirty="0"/>
              <a:t>LOD	</a:t>
            </a:r>
            <a:r>
              <a:rPr lang="en-US" altLang="zh-CN" dirty="0" err="1"/>
              <a:t>Rb</a:t>
            </a:r>
            <a:r>
              <a:rPr lang="en-US" altLang="zh-CN" dirty="0"/>
              <a:t> , (Rz)</a:t>
            </a:r>
          </a:p>
          <a:p>
            <a:r>
              <a:rPr lang="en-US" altLang="zh-CN" dirty="0"/>
              <a:t>LOD	</a:t>
            </a:r>
            <a:r>
              <a:rPr lang="en-US" altLang="zh-CN" dirty="0" err="1"/>
              <a:t>Rc</a:t>
            </a:r>
            <a:r>
              <a:rPr lang="en-US" altLang="zh-CN" dirty="0"/>
              <a:t> , Ra</a:t>
            </a:r>
          </a:p>
          <a:p>
            <a:r>
              <a:rPr lang="en-US" altLang="zh-CN" dirty="0"/>
              <a:t>ADD	</a:t>
            </a:r>
            <a:r>
              <a:rPr lang="en-US" altLang="zh-CN" dirty="0" err="1"/>
              <a:t>Rc</a:t>
            </a:r>
            <a:r>
              <a:rPr lang="en-US" altLang="zh-CN" dirty="0"/>
              <a:t> , </a:t>
            </a:r>
            <a:r>
              <a:rPr lang="en-US" altLang="zh-CN" dirty="0" err="1"/>
              <a:t>Rb</a:t>
            </a:r>
            <a:endParaRPr lang="en-US" altLang="zh-CN" dirty="0"/>
          </a:p>
          <a:p>
            <a:r>
              <a:rPr lang="en-US" altLang="zh-CN" dirty="0" err="1"/>
              <a:t>STO</a:t>
            </a:r>
            <a:r>
              <a:rPr lang="en-US" altLang="zh-CN" dirty="0"/>
              <a:t>	(Rx) , </a:t>
            </a:r>
            <a:r>
              <a:rPr lang="en-US" altLang="zh-CN" dirty="0" err="1"/>
              <a:t>Rc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940992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2C56720-F6FF-41B0-A6A8-F486013ED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solidFill>
                  <a:srgbClr val="EE853E"/>
                </a:solidFill>
              </a:rPr>
              <a:t>三地址码</a:t>
            </a:r>
            <a:r>
              <a:rPr lang="zh-CN" altLang="en-US"/>
              <a:t> </a:t>
            </a:r>
            <a:endParaRPr lang="en-US" altLang="zh-CN"/>
          </a:p>
          <a:p>
            <a:r>
              <a:rPr lang="en-US" altLang="zh-CN"/>
              <a:t>x = y + z</a:t>
            </a:r>
          </a:p>
          <a:p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F09898D-7B1E-4FE5-8EBD-D62FD396D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步：将 </a:t>
            </a:r>
            <a:r>
              <a:rPr lang="en-US" altLang="zh-CN" dirty="0" err="1"/>
              <a:t>Rb</a:t>
            </a:r>
            <a:r>
              <a:rPr lang="en-US" altLang="zh-CN" dirty="0"/>
              <a:t> </a:t>
            </a:r>
            <a:r>
              <a:rPr lang="zh-CN" altLang="en-US" dirty="0"/>
              <a:t>分配给 </a:t>
            </a:r>
            <a:r>
              <a:rPr lang="en-US" altLang="zh-CN" dirty="0"/>
              <a:t>z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A513ACF-046D-48E4-A9B2-C383AE0A746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EE853E"/>
                </a:solidFill>
              </a:rPr>
              <a:t>汇编代码</a:t>
            </a:r>
            <a:endParaRPr lang="en-US" altLang="zh-CN" dirty="0"/>
          </a:p>
          <a:p>
            <a:r>
              <a:rPr lang="en-US" altLang="zh-CN" dirty="0"/>
              <a:t>LOD	Rx , x</a:t>
            </a:r>
            <a:r>
              <a:rPr lang="zh-CN" altLang="en-US" dirty="0"/>
              <a:t>的地址</a:t>
            </a:r>
          </a:p>
          <a:p>
            <a:endParaRPr lang="en-US" altLang="zh-CN" dirty="0"/>
          </a:p>
          <a:p>
            <a:r>
              <a:rPr lang="en-US" altLang="zh-CN" dirty="0"/>
              <a:t>LOD	Rz , z</a:t>
            </a:r>
            <a:r>
              <a:rPr lang="zh-CN" altLang="en-US" dirty="0"/>
              <a:t>的地址</a:t>
            </a:r>
          </a:p>
          <a:p>
            <a:endParaRPr lang="en-US" altLang="zh-CN" dirty="0"/>
          </a:p>
          <a:p>
            <a:r>
              <a:rPr lang="en-US" altLang="zh-CN" dirty="0"/>
              <a:t>LOD	</a:t>
            </a:r>
            <a:r>
              <a:rPr lang="en-US" altLang="zh-CN" dirty="0" err="1"/>
              <a:t>Rb</a:t>
            </a:r>
            <a:r>
              <a:rPr lang="en-US" altLang="zh-CN" dirty="0"/>
              <a:t> , (Rz)</a:t>
            </a:r>
          </a:p>
          <a:p>
            <a:r>
              <a:rPr lang="en-US" altLang="zh-CN" dirty="0"/>
              <a:t>LOD	</a:t>
            </a:r>
            <a:r>
              <a:rPr lang="en-US" altLang="zh-CN" dirty="0" err="1"/>
              <a:t>Rc</a:t>
            </a:r>
            <a:r>
              <a:rPr lang="en-US" altLang="zh-CN" dirty="0"/>
              <a:t> , Ra</a:t>
            </a:r>
          </a:p>
          <a:p>
            <a:r>
              <a:rPr lang="en-US" altLang="zh-CN" dirty="0"/>
              <a:t>ADD	</a:t>
            </a:r>
            <a:r>
              <a:rPr lang="en-US" altLang="zh-CN" dirty="0" err="1"/>
              <a:t>Rc</a:t>
            </a:r>
            <a:r>
              <a:rPr lang="en-US" altLang="zh-CN" dirty="0"/>
              <a:t> , </a:t>
            </a:r>
            <a:r>
              <a:rPr lang="en-US" altLang="zh-CN" dirty="0" err="1"/>
              <a:t>Rb</a:t>
            </a:r>
            <a:endParaRPr lang="en-US" altLang="zh-CN" dirty="0"/>
          </a:p>
          <a:p>
            <a:r>
              <a:rPr lang="en-US" altLang="zh-CN" dirty="0" err="1"/>
              <a:t>STO</a:t>
            </a:r>
            <a:r>
              <a:rPr lang="en-US" altLang="zh-CN" dirty="0"/>
              <a:t>	(Rx) , </a:t>
            </a:r>
            <a:r>
              <a:rPr lang="en-US" altLang="zh-CN" dirty="0" err="1"/>
              <a:t>Rc</a:t>
            </a:r>
            <a:endParaRPr lang="zh-CN" altLang="en-US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EFB716A1-CA83-4073-9EE4-B90A1D8B0FE9}"/>
              </a:ext>
            </a:extLst>
          </p:cNvPr>
          <p:cNvCxnSpPr>
            <a:cxnSpLocks/>
          </p:cNvCxnSpPr>
          <p:nvPr/>
        </p:nvCxnSpPr>
        <p:spPr>
          <a:xfrm>
            <a:off x="5977969" y="3962400"/>
            <a:ext cx="3200400" cy="0"/>
          </a:xfrm>
          <a:prstGeom prst="line">
            <a:avLst/>
          </a:prstGeom>
          <a:ln w="76200">
            <a:solidFill>
              <a:srgbClr val="EE85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6D966154-7FB4-4D3F-9F93-77CA6654C7E0}"/>
              </a:ext>
            </a:extLst>
          </p:cNvPr>
          <p:cNvCxnSpPr>
            <a:cxnSpLocks/>
          </p:cNvCxnSpPr>
          <p:nvPr/>
        </p:nvCxnSpPr>
        <p:spPr>
          <a:xfrm>
            <a:off x="5977969" y="2895600"/>
            <a:ext cx="3200400" cy="0"/>
          </a:xfrm>
          <a:prstGeom prst="line">
            <a:avLst/>
          </a:prstGeom>
          <a:ln w="76200">
            <a:solidFill>
              <a:srgbClr val="EE85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56421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2C56720-F6FF-41B0-A6A8-F486013ED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solidFill>
                  <a:srgbClr val="EE853E"/>
                </a:solidFill>
              </a:rPr>
              <a:t>三地址码</a:t>
            </a:r>
            <a:r>
              <a:rPr lang="zh-CN" altLang="en-US"/>
              <a:t> </a:t>
            </a:r>
            <a:endParaRPr lang="en-US" altLang="zh-CN"/>
          </a:p>
          <a:p>
            <a:r>
              <a:rPr lang="en-US" altLang="zh-CN"/>
              <a:t>x = y + z</a:t>
            </a:r>
          </a:p>
          <a:p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F09898D-7B1E-4FE5-8EBD-D62FD396D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步：将 </a:t>
            </a:r>
            <a:r>
              <a:rPr lang="en-US" altLang="zh-CN" dirty="0" err="1"/>
              <a:t>Rb</a:t>
            </a:r>
            <a:r>
              <a:rPr lang="en-US" altLang="zh-CN" dirty="0"/>
              <a:t> </a:t>
            </a:r>
            <a:r>
              <a:rPr lang="zh-CN" altLang="en-US" dirty="0"/>
              <a:t>分配给 </a:t>
            </a:r>
            <a:r>
              <a:rPr lang="en-US" altLang="zh-CN" dirty="0"/>
              <a:t>z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A513ACF-046D-48E4-A9B2-C383AE0A746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EE853E"/>
                </a:solidFill>
              </a:rPr>
              <a:t>汇编代码</a:t>
            </a:r>
            <a:endParaRPr lang="en-US" altLang="zh-CN" dirty="0"/>
          </a:p>
          <a:p>
            <a:r>
              <a:rPr lang="en-US" altLang="zh-CN" dirty="0"/>
              <a:t>LOD	Rx , x</a:t>
            </a:r>
            <a:r>
              <a:rPr lang="zh-CN" altLang="en-US" dirty="0"/>
              <a:t>的地址</a:t>
            </a:r>
          </a:p>
          <a:p>
            <a:endParaRPr lang="en-US" altLang="zh-CN" dirty="0"/>
          </a:p>
          <a:p>
            <a:endParaRPr lang="zh-CN" altLang="en-US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LOD	</a:t>
            </a:r>
            <a:r>
              <a:rPr lang="en-US" altLang="zh-CN" dirty="0" err="1"/>
              <a:t>Rc</a:t>
            </a:r>
            <a:r>
              <a:rPr lang="en-US" altLang="zh-CN" dirty="0"/>
              <a:t> , Ra</a:t>
            </a:r>
          </a:p>
          <a:p>
            <a:r>
              <a:rPr lang="en-US" altLang="zh-CN" dirty="0"/>
              <a:t>ADD	</a:t>
            </a:r>
            <a:r>
              <a:rPr lang="en-US" altLang="zh-CN" dirty="0" err="1"/>
              <a:t>Rc</a:t>
            </a:r>
            <a:r>
              <a:rPr lang="en-US" altLang="zh-CN" dirty="0"/>
              <a:t> , </a:t>
            </a:r>
            <a:r>
              <a:rPr lang="en-US" altLang="zh-CN" dirty="0" err="1"/>
              <a:t>Rb</a:t>
            </a:r>
            <a:endParaRPr lang="en-US" altLang="zh-CN" dirty="0"/>
          </a:p>
          <a:p>
            <a:r>
              <a:rPr lang="en-US" altLang="zh-CN" dirty="0" err="1"/>
              <a:t>STO</a:t>
            </a:r>
            <a:r>
              <a:rPr lang="en-US" altLang="zh-CN" dirty="0"/>
              <a:t>	(Rx) , </a:t>
            </a:r>
            <a:r>
              <a:rPr lang="en-US" altLang="zh-CN" dirty="0" err="1"/>
              <a:t>Rc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0873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2C56720-F6FF-41B0-A6A8-F486013ED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solidFill>
                  <a:srgbClr val="EE853E"/>
                </a:solidFill>
              </a:rPr>
              <a:t>三地址码</a:t>
            </a:r>
            <a:r>
              <a:rPr lang="zh-CN" altLang="en-US"/>
              <a:t> </a:t>
            </a:r>
            <a:endParaRPr lang="en-US" altLang="zh-CN"/>
          </a:p>
          <a:p>
            <a:r>
              <a:rPr lang="en-US" altLang="zh-CN"/>
              <a:t>x = y + z</a:t>
            </a:r>
          </a:p>
          <a:p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F09898D-7B1E-4FE5-8EBD-D62FD396D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步：将 </a:t>
            </a:r>
            <a:r>
              <a:rPr lang="en-US" altLang="zh-CN" dirty="0" err="1"/>
              <a:t>Rc</a:t>
            </a:r>
            <a:r>
              <a:rPr lang="en-US" altLang="zh-CN" dirty="0"/>
              <a:t> </a:t>
            </a:r>
            <a:r>
              <a:rPr lang="zh-CN" altLang="en-US" dirty="0"/>
              <a:t>分配给 </a:t>
            </a:r>
            <a:r>
              <a:rPr lang="en-US" altLang="zh-CN" dirty="0"/>
              <a:t>x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A513ACF-046D-48E4-A9B2-C383AE0A746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EE853E"/>
                </a:solidFill>
              </a:rPr>
              <a:t>汇编代码</a:t>
            </a:r>
            <a:endParaRPr lang="en-US" altLang="zh-CN" dirty="0"/>
          </a:p>
          <a:p>
            <a:r>
              <a:rPr lang="en-US" altLang="zh-CN" dirty="0"/>
              <a:t>LOD	Rx , x</a:t>
            </a:r>
            <a:r>
              <a:rPr lang="zh-CN" altLang="en-US" dirty="0"/>
              <a:t>的地址</a:t>
            </a:r>
          </a:p>
          <a:p>
            <a:endParaRPr lang="en-US" altLang="zh-CN" dirty="0"/>
          </a:p>
          <a:p>
            <a:endParaRPr lang="zh-CN" altLang="en-US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LOD	</a:t>
            </a:r>
            <a:r>
              <a:rPr lang="en-US" altLang="zh-CN" dirty="0" err="1"/>
              <a:t>Rc</a:t>
            </a:r>
            <a:r>
              <a:rPr lang="en-US" altLang="zh-CN" dirty="0"/>
              <a:t> , Ra</a:t>
            </a:r>
          </a:p>
          <a:p>
            <a:r>
              <a:rPr lang="en-US" altLang="zh-CN" dirty="0"/>
              <a:t>ADD	</a:t>
            </a:r>
            <a:r>
              <a:rPr lang="en-US" altLang="zh-CN" dirty="0" err="1"/>
              <a:t>Rc</a:t>
            </a:r>
            <a:r>
              <a:rPr lang="en-US" altLang="zh-CN" dirty="0"/>
              <a:t> , </a:t>
            </a:r>
            <a:r>
              <a:rPr lang="en-US" altLang="zh-CN" dirty="0" err="1"/>
              <a:t>Rb</a:t>
            </a:r>
            <a:endParaRPr lang="en-US" altLang="zh-CN" dirty="0"/>
          </a:p>
          <a:p>
            <a:r>
              <a:rPr lang="en-US" altLang="zh-CN" dirty="0" err="1"/>
              <a:t>STO</a:t>
            </a:r>
            <a:r>
              <a:rPr lang="en-US" altLang="zh-CN" dirty="0"/>
              <a:t>	(Rx) , </a:t>
            </a:r>
            <a:r>
              <a:rPr lang="en-US" altLang="zh-CN" dirty="0" err="1"/>
              <a:t>Rc</a:t>
            </a:r>
            <a:endParaRPr lang="zh-CN" altLang="en-US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A398E42-D91E-40BE-9726-3CF2EDA1A2C6}"/>
              </a:ext>
            </a:extLst>
          </p:cNvPr>
          <p:cNvCxnSpPr>
            <a:cxnSpLocks/>
          </p:cNvCxnSpPr>
          <p:nvPr/>
        </p:nvCxnSpPr>
        <p:spPr>
          <a:xfrm>
            <a:off x="5977969" y="5638800"/>
            <a:ext cx="3200400" cy="0"/>
          </a:xfrm>
          <a:prstGeom prst="line">
            <a:avLst/>
          </a:prstGeom>
          <a:ln w="76200">
            <a:solidFill>
              <a:srgbClr val="EE85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E778B69-5837-4335-864E-DBA0CAB37796}"/>
              </a:ext>
            </a:extLst>
          </p:cNvPr>
          <p:cNvCxnSpPr>
            <a:cxnSpLocks/>
          </p:cNvCxnSpPr>
          <p:nvPr/>
        </p:nvCxnSpPr>
        <p:spPr>
          <a:xfrm>
            <a:off x="5977969" y="1828800"/>
            <a:ext cx="3200400" cy="0"/>
          </a:xfrm>
          <a:prstGeom prst="line">
            <a:avLst/>
          </a:prstGeom>
          <a:ln w="76200">
            <a:solidFill>
              <a:srgbClr val="EE85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44676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2C56720-F6FF-41B0-A6A8-F486013ED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EE853E"/>
                </a:solidFill>
              </a:rPr>
              <a:t>三地址码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en-US" altLang="zh-CN" dirty="0"/>
              <a:t>x = y + z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F09898D-7B1E-4FE5-8EBD-D62FD396D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步：将 </a:t>
            </a:r>
            <a:r>
              <a:rPr lang="en-US" altLang="zh-CN" dirty="0" err="1"/>
              <a:t>Rc</a:t>
            </a:r>
            <a:r>
              <a:rPr lang="en-US" altLang="zh-CN" dirty="0"/>
              <a:t> </a:t>
            </a:r>
            <a:r>
              <a:rPr lang="zh-CN" altLang="en-US" dirty="0"/>
              <a:t>分配给 </a:t>
            </a:r>
            <a:r>
              <a:rPr lang="en-US" altLang="zh-CN" dirty="0"/>
              <a:t>x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A513ACF-046D-48E4-A9B2-C383AE0A746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EE853E"/>
                </a:solidFill>
              </a:rPr>
              <a:t>汇编代码</a:t>
            </a:r>
            <a:endParaRPr lang="en-US" altLang="zh-CN" dirty="0"/>
          </a:p>
          <a:p>
            <a:endParaRPr lang="zh-CN" altLang="en-US" dirty="0"/>
          </a:p>
          <a:p>
            <a:endParaRPr lang="en-US" altLang="zh-CN" dirty="0"/>
          </a:p>
          <a:p>
            <a:endParaRPr lang="zh-CN" altLang="en-US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LOD</a:t>
            </a:r>
            <a:r>
              <a:rPr lang="en-US" altLang="zh-CN"/>
              <a:t>	Rc , Ra</a:t>
            </a:r>
            <a:endParaRPr lang="en-US" altLang="zh-CN" dirty="0"/>
          </a:p>
          <a:p>
            <a:r>
              <a:rPr lang="en-US" altLang="zh-CN" dirty="0"/>
              <a:t>ADD</a:t>
            </a:r>
            <a:r>
              <a:rPr lang="en-US" altLang="zh-CN"/>
              <a:t>	Rc , Rb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831565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88E1C93-00EA-4A34-9AB7-F6FEF828A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EE853E"/>
                </a:solidFill>
              </a:rPr>
              <a:t>三地址码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en-US" altLang="zh-CN" dirty="0"/>
              <a:t>x = y + z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E9FEB0E-ED8E-46B4-BA1D-E01C34DC8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寄存器分配前后对比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3BDBD78-71FC-4FC7-908D-944F17072EF6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EE853E"/>
                </a:solidFill>
              </a:rPr>
              <a:t>分配前：</a:t>
            </a:r>
            <a:endParaRPr lang="en-US" altLang="zh-CN" dirty="0"/>
          </a:p>
          <a:p>
            <a:r>
              <a:rPr lang="en-US" altLang="zh-CN" dirty="0"/>
              <a:t>LOD	Rx , x</a:t>
            </a:r>
            <a:r>
              <a:rPr lang="zh-CN" altLang="en-US" dirty="0"/>
              <a:t>的地址</a:t>
            </a:r>
          </a:p>
          <a:p>
            <a:r>
              <a:rPr lang="en-US" altLang="zh-CN" dirty="0"/>
              <a:t>LOD	Ry , y</a:t>
            </a:r>
            <a:r>
              <a:rPr lang="zh-CN" altLang="en-US" dirty="0"/>
              <a:t>的地址</a:t>
            </a:r>
          </a:p>
          <a:p>
            <a:r>
              <a:rPr lang="en-US" altLang="zh-CN" dirty="0"/>
              <a:t>LOD	Rz , z</a:t>
            </a:r>
            <a:r>
              <a:rPr lang="zh-CN" altLang="en-US" dirty="0"/>
              <a:t>的地址</a:t>
            </a:r>
          </a:p>
          <a:p>
            <a:r>
              <a:rPr lang="en-US" altLang="zh-CN" dirty="0"/>
              <a:t>LOD	Ra , (Ry)</a:t>
            </a:r>
          </a:p>
          <a:p>
            <a:r>
              <a:rPr lang="en-US" altLang="zh-CN" dirty="0"/>
              <a:t>LOD	</a:t>
            </a:r>
            <a:r>
              <a:rPr lang="en-US" altLang="zh-CN" dirty="0" err="1"/>
              <a:t>Rb</a:t>
            </a:r>
            <a:r>
              <a:rPr lang="en-US" altLang="zh-CN" dirty="0"/>
              <a:t> , (Rz)</a:t>
            </a:r>
          </a:p>
          <a:p>
            <a:r>
              <a:rPr lang="en-US" altLang="zh-CN" dirty="0"/>
              <a:t>LOD	</a:t>
            </a:r>
            <a:r>
              <a:rPr lang="en-US" altLang="zh-CN" dirty="0" err="1"/>
              <a:t>Rc</a:t>
            </a:r>
            <a:r>
              <a:rPr lang="en-US" altLang="zh-CN" dirty="0"/>
              <a:t> , Ra</a:t>
            </a:r>
          </a:p>
          <a:p>
            <a:r>
              <a:rPr lang="en-US" altLang="zh-CN" dirty="0"/>
              <a:t>ADD	</a:t>
            </a:r>
            <a:r>
              <a:rPr lang="en-US" altLang="zh-CN" dirty="0" err="1"/>
              <a:t>Rc</a:t>
            </a:r>
            <a:r>
              <a:rPr lang="en-US" altLang="zh-CN" dirty="0"/>
              <a:t> , </a:t>
            </a:r>
            <a:r>
              <a:rPr lang="en-US" altLang="zh-CN" dirty="0" err="1"/>
              <a:t>Rb</a:t>
            </a:r>
            <a:endParaRPr lang="en-US" altLang="zh-CN" dirty="0"/>
          </a:p>
          <a:p>
            <a:r>
              <a:rPr lang="en-US" altLang="zh-CN" dirty="0" err="1"/>
              <a:t>STO</a:t>
            </a:r>
            <a:r>
              <a:rPr lang="en-US" altLang="zh-CN" dirty="0"/>
              <a:t>	(Rx) , </a:t>
            </a:r>
            <a:r>
              <a:rPr lang="en-US" altLang="zh-CN" dirty="0" err="1"/>
              <a:t>Rc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3F96261-AB37-4608-86E2-CF7E37D98349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EE853E"/>
                </a:solidFill>
              </a:rPr>
              <a:t>分配后：</a:t>
            </a:r>
            <a:endParaRPr lang="en-US" altLang="zh-CN" dirty="0">
              <a:solidFill>
                <a:srgbClr val="EE853E"/>
              </a:solidFill>
            </a:endParaRPr>
          </a:p>
          <a:p>
            <a:r>
              <a:rPr lang="en-US" altLang="zh-CN" dirty="0"/>
              <a:t>LOD	</a:t>
            </a:r>
            <a:r>
              <a:rPr lang="en-US" altLang="zh-CN" dirty="0" err="1"/>
              <a:t>Rc</a:t>
            </a:r>
            <a:r>
              <a:rPr lang="en-US" altLang="zh-CN" dirty="0"/>
              <a:t> , Ra</a:t>
            </a:r>
          </a:p>
          <a:p>
            <a:r>
              <a:rPr lang="en-US" altLang="zh-CN" dirty="0"/>
              <a:t>ADD	</a:t>
            </a:r>
            <a:r>
              <a:rPr lang="en-US" altLang="zh-CN" dirty="0" err="1"/>
              <a:t>Rc</a:t>
            </a:r>
            <a:r>
              <a:rPr lang="en-US" altLang="zh-CN" dirty="0"/>
              <a:t> , </a:t>
            </a:r>
            <a:r>
              <a:rPr lang="en-US" altLang="zh-CN" dirty="0" err="1"/>
              <a:t>Rb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注：</a:t>
            </a:r>
            <a:endParaRPr lang="en-US" altLang="zh-CN" dirty="0"/>
          </a:p>
          <a:p>
            <a:r>
              <a:rPr lang="en-US" altLang="zh-CN" dirty="0"/>
              <a:t>Ra </a:t>
            </a:r>
            <a:r>
              <a:rPr lang="zh-CN" altLang="en-US" dirty="0"/>
              <a:t>分配给 </a:t>
            </a:r>
            <a:r>
              <a:rPr lang="en-US" altLang="zh-CN" dirty="0"/>
              <a:t>y</a:t>
            </a:r>
          </a:p>
          <a:p>
            <a:r>
              <a:rPr lang="en-US" altLang="zh-CN" dirty="0" err="1"/>
              <a:t>Rb</a:t>
            </a:r>
            <a:r>
              <a:rPr lang="en-US" altLang="zh-CN" dirty="0"/>
              <a:t> </a:t>
            </a:r>
            <a:r>
              <a:rPr lang="zh-CN" altLang="en-US" dirty="0"/>
              <a:t>分配给 </a:t>
            </a:r>
            <a:r>
              <a:rPr lang="en-US" altLang="zh-CN" dirty="0"/>
              <a:t>z</a:t>
            </a:r>
          </a:p>
          <a:p>
            <a:r>
              <a:rPr lang="en-US" altLang="zh-CN" dirty="0" err="1"/>
              <a:t>Rc</a:t>
            </a:r>
            <a:r>
              <a:rPr lang="en-US" altLang="zh-CN" dirty="0"/>
              <a:t> </a:t>
            </a:r>
            <a:r>
              <a:rPr lang="zh-CN" altLang="en-US" dirty="0"/>
              <a:t>分配给 </a:t>
            </a:r>
            <a:r>
              <a:rPr lang="en-US" altLang="zh-CN" dirty="0"/>
              <a:t>x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51088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为一个新的变量分配寄存器时，</a:t>
            </a:r>
            <a:r>
              <a:rPr lang="en-US" altLang="zh-CN" dirty="0"/>
              <a:t> </a:t>
            </a:r>
            <a:r>
              <a:rPr lang="zh-CN" altLang="en-US" dirty="0"/>
              <a:t>可按以下优先级选择寄存器：</a:t>
            </a:r>
            <a:endParaRPr lang="en-US" altLang="zh-CN" dirty="0"/>
          </a:p>
          <a:p>
            <a:r>
              <a:rPr lang="en-US" altLang="zh-CN" dirty="0"/>
              <a:t>1.	</a:t>
            </a:r>
            <a:r>
              <a:rPr lang="zh-CN" altLang="en-US" dirty="0">
                <a:solidFill>
                  <a:srgbClr val="EE853E"/>
                </a:solidFill>
              </a:rPr>
              <a:t>未分配</a:t>
            </a:r>
            <a:r>
              <a:rPr lang="zh-CN" altLang="en-US" dirty="0"/>
              <a:t>给其它变量的寄存器，任选一个。</a:t>
            </a:r>
            <a:endParaRPr lang="en-US" altLang="zh-CN" dirty="0"/>
          </a:p>
          <a:p>
            <a:r>
              <a:rPr lang="en-US" altLang="zh-CN" dirty="0"/>
              <a:t>2.	</a:t>
            </a:r>
            <a:r>
              <a:rPr lang="zh-CN" altLang="en-US" dirty="0">
                <a:solidFill>
                  <a:srgbClr val="EE853E"/>
                </a:solidFill>
              </a:rPr>
              <a:t>已分配</a:t>
            </a:r>
            <a:r>
              <a:rPr lang="zh-CN" altLang="en-US" dirty="0"/>
              <a:t>给其它变量，但其值</a:t>
            </a:r>
            <a:r>
              <a:rPr lang="zh-CN" altLang="en-US" dirty="0">
                <a:solidFill>
                  <a:srgbClr val="EE853E"/>
                </a:solidFill>
              </a:rPr>
              <a:t>未被修改</a:t>
            </a:r>
            <a:r>
              <a:rPr lang="zh-CN" altLang="en-US" dirty="0"/>
              <a:t>的寄存器。</a:t>
            </a:r>
            <a:endParaRPr lang="en-US" altLang="zh-CN" dirty="0"/>
          </a:p>
          <a:p>
            <a:r>
              <a:rPr lang="en-US" altLang="zh-CN" dirty="0"/>
              <a:t>	2.1 </a:t>
            </a:r>
            <a:r>
              <a:rPr lang="zh-CN" altLang="en-US" dirty="0"/>
              <a:t>如有多个，选择</a:t>
            </a:r>
            <a:r>
              <a:rPr lang="zh-CN" altLang="en-US" dirty="0">
                <a:solidFill>
                  <a:srgbClr val="EE853E"/>
                </a:solidFill>
              </a:rPr>
              <a:t>活跃度较低</a:t>
            </a:r>
            <a:r>
              <a:rPr lang="zh-CN" altLang="en-US" dirty="0"/>
              <a:t>的变量对应的那个；</a:t>
            </a:r>
            <a:endParaRPr lang="en-US" altLang="zh-CN" dirty="0"/>
          </a:p>
          <a:p>
            <a:r>
              <a:rPr lang="en-US" altLang="zh-CN" dirty="0"/>
              <a:t>	2.2 </a:t>
            </a:r>
            <a:r>
              <a:rPr lang="zh-CN" altLang="en-US" dirty="0"/>
              <a:t>先</a:t>
            </a:r>
            <a:r>
              <a:rPr lang="zh-CN" altLang="en-US" dirty="0">
                <a:solidFill>
                  <a:srgbClr val="EE853E"/>
                </a:solidFill>
              </a:rPr>
              <a:t>释放</a:t>
            </a:r>
            <a:r>
              <a:rPr lang="zh-CN" altLang="en-US" dirty="0"/>
              <a:t>寄存器，再将该寄存器</a:t>
            </a:r>
            <a:r>
              <a:rPr lang="zh-CN" altLang="en-US" dirty="0">
                <a:solidFill>
                  <a:srgbClr val="EE853E"/>
                </a:solidFill>
              </a:rPr>
              <a:t>分配</a:t>
            </a:r>
            <a:r>
              <a:rPr lang="zh-CN" altLang="en-US" dirty="0"/>
              <a:t>给新的变量。</a:t>
            </a:r>
            <a:endParaRPr lang="en-US" altLang="zh-CN" dirty="0"/>
          </a:p>
          <a:p>
            <a:r>
              <a:rPr lang="en-US" altLang="zh-CN" dirty="0"/>
              <a:t>3.	</a:t>
            </a:r>
            <a:r>
              <a:rPr lang="zh-CN" altLang="en-US" dirty="0">
                <a:solidFill>
                  <a:srgbClr val="EE853E"/>
                </a:solidFill>
              </a:rPr>
              <a:t>已分配</a:t>
            </a:r>
            <a:r>
              <a:rPr lang="zh-CN" altLang="en-US" dirty="0"/>
              <a:t>给其它变量，其值</a:t>
            </a:r>
            <a:r>
              <a:rPr lang="zh-CN" altLang="en-US" dirty="0">
                <a:solidFill>
                  <a:srgbClr val="EE853E"/>
                </a:solidFill>
              </a:rPr>
              <a:t>已被修改</a:t>
            </a:r>
            <a:r>
              <a:rPr lang="zh-CN" altLang="en-US" dirty="0"/>
              <a:t>的寄存器。</a:t>
            </a:r>
            <a:endParaRPr lang="en-US" altLang="zh-CN" dirty="0"/>
          </a:p>
          <a:p>
            <a:r>
              <a:rPr lang="en-US" altLang="zh-CN" dirty="0"/>
              <a:t>	3.1 </a:t>
            </a:r>
            <a:r>
              <a:rPr lang="zh-CN" altLang="en-US" dirty="0"/>
              <a:t>如有多个，选择</a:t>
            </a:r>
            <a:r>
              <a:rPr lang="zh-CN" altLang="en-US" dirty="0">
                <a:solidFill>
                  <a:srgbClr val="EE853E"/>
                </a:solidFill>
              </a:rPr>
              <a:t>活跃度较低</a:t>
            </a:r>
            <a:r>
              <a:rPr lang="zh-CN" altLang="en-US" dirty="0"/>
              <a:t>的变量对应的那个；</a:t>
            </a:r>
            <a:endParaRPr lang="en-US" altLang="zh-CN" dirty="0"/>
          </a:p>
          <a:p>
            <a:r>
              <a:rPr lang="en-US" altLang="zh-CN" dirty="0"/>
              <a:t>	3.2 </a:t>
            </a:r>
            <a:r>
              <a:rPr lang="zh-CN" altLang="en-US" dirty="0"/>
              <a:t>先</a:t>
            </a:r>
            <a:r>
              <a:rPr lang="zh-CN" altLang="en-US" dirty="0">
                <a:solidFill>
                  <a:srgbClr val="EE853E"/>
                </a:solidFill>
              </a:rPr>
              <a:t>回写</a:t>
            </a:r>
            <a:r>
              <a:rPr lang="zh-CN" altLang="en-US" dirty="0"/>
              <a:t>变量，再</a:t>
            </a:r>
            <a:r>
              <a:rPr lang="zh-CN" altLang="en-US" dirty="0">
                <a:solidFill>
                  <a:srgbClr val="EE853E"/>
                </a:solidFill>
              </a:rPr>
              <a:t>释放</a:t>
            </a:r>
            <a:r>
              <a:rPr lang="zh-CN" altLang="en-US" dirty="0"/>
              <a:t>寄存器，再将寄存器</a:t>
            </a:r>
            <a:r>
              <a:rPr lang="zh-CN" altLang="en-US" dirty="0">
                <a:solidFill>
                  <a:srgbClr val="EE853E"/>
                </a:solidFill>
              </a:rPr>
              <a:t>分配</a:t>
            </a:r>
            <a:r>
              <a:rPr lang="zh-CN" altLang="en-US" dirty="0"/>
              <a:t>给新的变量。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寄存器分配方法</a:t>
            </a:r>
          </a:p>
        </p:txBody>
      </p:sp>
    </p:spTree>
    <p:extLst>
      <p:ext uri="{BB962C8B-B14F-4D97-AF65-F5344CB8AC3E}">
        <p14:creationId xmlns:p14="http://schemas.microsoft.com/office/powerpoint/2010/main" val="8794302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7721</TotalTime>
  <Words>777</Words>
  <Application>Microsoft Office PowerPoint</Application>
  <PresentationFormat>宽屏</PresentationFormat>
  <Paragraphs>132</Paragraphs>
  <Slides>12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微软雅黑</vt:lpstr>
      <vt:lpstr>Arial</vt:lpstr>
      <vt:lpstr>Wingdings</vt:lpstr>
      <vt:lpstr>环保</vt:lpstr>
      <vt:lpstr>第十章 目标代码生成</vt:lpstr>
      <vt:lpstr>寄存器分配</vt:lpstr>
      <vt:lpstr>变量的访问与回写</vt:lpstr>
      <vt:lpstr>寄存器分配实例</vt:lpstr>
      <vt:lpstr>第1步：将 Ra 分配给 y</vt:lpstr>
      <vt:lpstr>第1步：将 Ra 分配给 y</vt:lpstr>
      <vt:lpstr>第2步：将 Rb 分配给 z</vt:lpstr>
      <vt:lpstr>第2步：将 Rb 分配给 z</vt:lpstr>
      <vt:lpstr>第3步：将 Rc 分配给 x</vt:lpstr>
      <vt:lpstr>第3步：将 Rc 分配给 x</vt:lpstr>
      <vt:lpstr>寄存器分配前后对比</vt:lpstr>
      <vt:lpstr>寄存器分配方法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TEST</dc:creator>
  <cp:lastModifiedBy>TEST</cp:lastModifiedBy>
  <cp:revision>1335</cp:revision>
  <cp:lastPrinted>1601-01-01T00:00:00Z</cp:lastPrinted>
  <dcterms:created xsi:type="dcterms:W3CDTF">1601-01-01T00:00:00Z</dcterms:created>
  <dcterms:modified xsi:type="dcterms:W3CDTF">2020-05-11T14:42:23Z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