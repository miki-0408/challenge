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24"/>
  </p:notesMasterIdLst>
  <p:handoutMasterIdLst>
    <p:handoutMasterId r:id="rId25"/>
  </p:handoutMasterIdLst>
  <p:sldIdLst>
    <p:sldId id="370" r:id="rId2"/>
    <p:sldId id="257" r:id="rId3"/>
    <p:sldId id="378" r:id="rId4"/>
    <p:sldId id="258" r:id="rId5"/>
    <p:sldId id="376" r:id="rId6"/>
    <p:sldId id="259" r:id="rId7"/>
    <p:sldId id="260" r:id="rId8"/>
    <p:sldId id="379" r:id="rId9"/>
    <p:sldId id="261" r:id="rId10"/>
    <p:sldId id="262" r:id="rId11"/>
    <p:sldId id="324" r:id="rId12"/>
    <p:sldId id="264" r:id="rId13"/>
    <p:sldId id="265" r:id="rId14"/>
    <p:sldId id="266" r:id="rId15"/>
    <p:sldId id="267" r:id="rId16"/>
    <p:sldId id="268" r:id="rId17"/>
    <p:sldId id="270" r:id="rId18"/>
    <p:sldId id="272" r:id="rId19"/>
    <p:sldId id="380" r:id="rId20"/>
    <p:sldId id="274" r:id="rId21"/>
    <p:sldId id="325" r:id="rId22"/>
    <p:sldId id="326" r:id="rId23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58" d="100"/>
          <a:sy n="58" d="100"/>
        </p:scale>
        <p:origin x="-822" y="-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808857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6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27234F-889B-47EA-BBE3-0DF106ED4298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576114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=""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716784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=""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=""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=""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=""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=""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=""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=""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=""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392928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=""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=""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=""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=""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=""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=""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=""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=""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=""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2573167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 hasCustomPrompt="1"/>
          </p:nvPr>
        </p:nvSpPr>
        <p:spPr>
          <a:xfrm>
            <a:off x="1295402" y="1474304"/>
            <a:ext cx="4754880" cy="4774096"/>
          </a:xfrm>
        </p:spPr>
        <p:txBody>
          <a:bodyPr/>
          <a:lstStyle/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0" hasCustomPrompt="1"/>
          </p:nvPr>
        </p:nvSpPr>
        <p:spPr>
          <a:xfrm>
            <a:off x="6141720" y="1474304"/>
            <a:ext cx="4754878" cy="4774096"/>
          </a:xfrm>
        </p:spPr>
        <p:txBody>
          <a:bodyPr/>
          <a:lstStyle/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95402" y="609600"/>
            <a:ext cx="9601196" cy="71230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396169" y="1394792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979016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  <p:sldLayoutId id="2147484309" r:id="rId4"/>
  </p:sldLayoutIdLst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=""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控制结构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=""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=""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=""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=""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=""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=""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=""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=""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=""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=""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=""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=""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=""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=""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=""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语句级控制结构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单元级控制结构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4196374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控制结构</a:t>
            </a:r>
            <a:endParaRPr lang="en-US" altLang="zh-CN" dirty="0"/>
          </a:p>
          <a:p>
            <a:r>
              <a:rPr lang="zh-CN" altLang="en-US" dirty="0"/>
              <a:t>规定程序</a:t>
            </a:r>
            <a:r>
              <a:rPr lang="zh-CN" altLang="en-US" dirty="0">
                <a:solidFill>
                  <a:srgbClr val="EE853E"/>
                </a:solidFill>
              </a:rPr>
              <a:t>语句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EE853E"/>
                </a:solidFill>
              </a:rPr>
              <a:t>程序单元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EE853E"/>
                </a:solidFill>
              </a:rPr>
              <a:t>执行流程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EE853E"/>
                </a:solidFill>
              </a:rPr>
              <a:t>控制机制</a:t>
            </a:r>
            <a:r>
              <a:rPr lang="zh-CN" altLang="en-US" dirty="0"/>
              <a:t>。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语句级</a:t>
            </a:r>
            <a:r>
              <a:rPr lang="zh-CN" altLang="en-US" dirty="0"/>
              <a:t>控制结构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单元级</a:t>
            </a:r>
            <a:r>
              <a:rPr lang="zh-CN" altLang="en-US" dirty="0"/>
              <a:t>控制结构</a:t>
            </a:r>
            <a:endParaRPr lang="en-US" altLang="zh-CN" dirty="0"/>
          </a:p>
        </p:txBody>
      </p:sp>
      <p:sp>
        <p:nvSpPr>
          <p:cNvPr id="5" name="标题 4">
            <a:extLst>
              <a:ext uri="{FF2B5EF4-FFF2-40B4-BE49-F238E27FC236}">
                <a16:creationId xmlns="" xmlns:a16="http://schemas.microsoft.com/office/drawing/2014/main" id="{36311EFF-9B8A-4A4C-AFD7-EADBE2ED2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控制结构</a:t>
            </a:r>
          </a:p>
        </p:txBody>
      </p:sp>
    </p:spTree>
    <p:extLst>
      <p:ext uri="{BB962C8B-B14F-4D97-AF65-F5344CB8AC3E}">
        <p14:creationId xmlns:p14="http://schemas.microsoft.com/office/powerpoint/2010/main" xmlns="" val="1465016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=""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控制结构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=""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=""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=""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=""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=""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=""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=""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=""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=""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=""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=""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=""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=""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=""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=""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rgbClr val="EE853E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语句级控制结构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单元级控制结构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583281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语句级</a:t>
            </a:r>
            <a:r>
              <a:rPr lang="zh-CN" altLang="en-US" dirty="0"/>
              <a:t>控制结构</a:t>
            </a:r>
            <a:endParaRPr lang="en-US" altLang="zh-CN" dirty="0"/>
          </a:p>
          <a:p>
            <a:r>
              <a:rPr lang="zh-CN" altLang="en-US" dirty="0" smtClean="0"/>
              <a:t>规定</a:t>
            </a:r>
            <a:r>
              <a:rPr lang="zh-CN" altLang="en-US" dirty="0" smtClean="0">
                <a:solidFill>
                  <a:srgbClr val="EE853E"/>
                </a:solidFill>
              </a:rPr>
              <a:t>语句</a:t>
            </a:r>
            <a:r>
              <a:rPr lang="zh-CN" altLang="en-US" dirty="0">
                <a:solidFill>
                  <a:srgbClr val="EE853E"/>
                </a:solidFill>
              </a:rPr>
              <a:t>执行流程</a:t>
            </a:r>
            <a:r>
              <a:rPr lang="zh-CN" altLang="en-US" dirty="0"/>
              <a:t>的机制。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三</a:t>
            </a:r>
            <a:r>
              <a:rPr lang="zh-CN" altLang="en-US" dirty="0" smtClean="0">
                <a:solidFill>
                  <a:srgbClr val="EE853E"/>
                </a:solidFill>
              </a:rPr>
              <a:t>种 </a:t>
            </a:r>
            <a:r>
              <a:rPr lang="zh-CN" altLang="en-US" dirty="0" smtClean="0"/>
              <a:t>语句</a:t>
            </a:r>
            <a:r>
              <a:rPr lang="zh-CN" altLang="en-US" dirty="0"/>
              <a:t>级控制结构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顺序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选择</a:t>
            </a:r>
            <a:r>
              <a:rPr lang="zh-CN" altLang="en-US" dirty="0"/>
              <a:t>（分支）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重复</a:t>
            </a:r>
            <a:r>
              <a:rPr lang="zh-CN" altLang="en-US" dirty="0"/>
              <a:t>（循环）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="" xmlns:a16="http://schemas.microsoft.com/office/drawing/2014/main" id="{0E9AB678-067D-4BEC-9F8B-B69B8F75D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语句级控制结构</a:t>
            </a:r>
          </a:p>
        </p:txBody>
      </p:sp>
    </p:spTree>
    <p:extLst>
      <p:ext uri="{BB962C8B-B14F-4D97-AF65-F5344CB8AC3E}">
        <p14:creationId xmlns:p14="http://schemas.microsoft.com/office/powerpoint/2010/main" xmlns="" val="1802858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=""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控制结构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=""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=""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=""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=""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=""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=""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=""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=""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=""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=""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=""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=""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=""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=""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=""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第一节 语句级控制结构</a:t>
              </a:r>
              <a:endParaRPr lang="zh-CN" altLang="en-US" b="1" dirty="0">
                <a:solidFill>
                  <a:srgbClr val="EE853E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节 单元级控制结构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30" name="对话气泡: 圆角矩形 29">
            <a:extLst>
              <a:ext uri="{FF2B5EF4-FFF2-40B4-BE49-F238E27FC236}">
                <a16:creationId xmlns=""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937077" y="1434883"/>
            <a:ext cx="2711612" cy="3988234"/>
          </a:xfrm>
          <a:prstGeom prst="wedgeRoundRectCallout">
            <a:avLst>
              <a:gd name="adj1" fmla="val -30411"/>
              <a:gd name="adj2" fmla="val 61975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语句级控制结构讨论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88444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语言可用的、最简单的控制结构。</a:t>
            </a:r>
          </a:p>
          <a:p>
            <a:r>
              <a:rPr lang="en-US" altLang="zh-CN" dirty="0" smtClean="0"/>
              <a:t>A 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B </a:t>
            </a:r>
            <a:r>
              <a:rPr lang="zh-CN" altLang="en-US" dirty="0"/>
              <a:t>；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顺序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81293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0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若干个语句可以组合在一起，</a:t>
            </a:r>
            <a:endParaRPr lang="en-US" altLang="zh-CN" dirty="0"/>
          </a:p>
          <a:p>
            <a:r>
              <a:rPr lang="zh-CN" altLang="en-US" dirty="0" smtClean="0"/>
              <a:t>作为逻辑上一条</a:t>
            </a:r>
            <a:r>
              <a:rPr lang="zh-CN" altLang="en-US" dirty="0" smtClean="0">
                <a:solidFill>
                  <a:srgbClr val="EE853E"/>
                </a:solidFill>
              </a:rPr>
              <a:t>语句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复合语句的表示</a:t>
            </a:r>
            <a:r>
              <a:rPr lang="zh-CN" altLang="en-US" dirty="0">
                <a:sym typeface="Wingdings" pitchFamily="2" charset="2"/>
              </a:rPr>
              <a:t>：（</a:t>
            </a:r>
            <a:r>
              <a:rPr lang="zh-CN" altLang="en-US" dirty="0"/>
              <a:t>利用语句括号</a:t>
            </a:r>
            <a:r>
              <a:rPr lang="zh-CN" altLang="en-US" dirty="0">
                <a:sym typeface="Wingdings" pitchFamily="2" charset="2"/>
              </a:rPr>
              <a:t>）</a:t>
            </a:r>
            <a:endParaRPr lang="en-US" altLang="zh-CN" dirty="0"/>
          </a:p>
          <a:p>
            <a:r>
              <a:rPr lang="en-GB" altLang="zh-CN" dirty="0">
                <a:solidFill>
                  <a:srgbClr val="EE853E"/>
                </a:solidFill>
              </a:rPr>
              <a:t>begin  …  end    </a:t>
            </a:r>
          </a:p>
          <a:p>
            <a:r>
              <a:rPr lang="zh-CN" altLang="en-US" dirty="0"/>
              <a:t>或 </a:t>
            </a:r>
            <a:r>
              <a:rPr lang="en-GB" altLang="zh-CN" dirty="0">
                <a:solidFill>
                  <a:srgbClr val="EE853E"/>
                </a:solidFill>
              </a:rPr>
              <a:t>{  …  }</a:t>
            </a:r>
            <a:endParaRPr lang="zh-CN" altLang="en-US" dirty="0">
              <a:solidFill>
                <a:srgbClr val="EE853E"/>
              </a:solidFill>
            </a:endParaRP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复合语句</a:t>
            </a:r>
          </a:p>
        </p:txBody>
      </p:sp>
    </p:spTree>
    <p:extLst>
      <p:ext uri="{BB962C8B-B14F-4D97-AF65-F5344CB8AC3E}">
        <p14:creationId xmlns:p14="http://schemas.microsoft.com/office/powerpoint/2010/main" xmlns="" val="2504238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=""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控制结构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=""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=""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=""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=""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=""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=""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=""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=""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=""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=""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=""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=""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=""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=""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=""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第一节 语句级控制结构</a:t>
              </a:r>
              <a:endParaRPr lang="zh-CN" altLang="en-US" b="1" dirty="0">
                <a:solidFill>
                  <a:srgbClr val="EE853E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节 单元级控制结构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30" name="对话气泡: 圆角矩形 29">
            <a:extLst>
              <a:ext uri="{FF2B5EF4-FFF2-40B4-BE49-F238E27FC236}">
                <a16:creationId xmlns=""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937077" y="1434883"/>
            <a:ext cx="2711612" cy="3988234"/>
          </a:xfrm>
          <a:prstGeom prst="wedgeRoundRectCallout">
            <a:avLst>
              <a:gd name="adj1" fmla="val -30411"/>
              <a:gd name="adj2" fmla="val 61975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语句级控制结构讨论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77322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9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选择控制结构</a:t>
            </a:r>
            <a:r>
              <a:rPr lang="zh-CN" altLang="en-US" dirty="0" smtClean="0"/>
              <a:t>允许在</a:t>
            </a:r>
            <a:r>
              <a:rPr lang="zh-CN" altLang="en-US" dirty="0">
                <a:solidFill>
                  <a:srgbClr val="EE853E"/>
                </a:solidFill>
              </a:rPr>
              <a:t>某些可选择的语句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EE853E"/>
                </a:solidFill>
              </a:rPr>
              <a:t>选择其中一条</a:t>
            </a:r>
            <a:r>
              <a:rPr lang="zh-CN" altLang="en-US" dirty="0"/>
              <a:t>来执行。</a:t>
            </a:r>
          </a:p>
          <a:p>
            <a:r>
              <a:rPr lang="zh-CN" altLang="en-US" dirty="0"/>
              <a:t>单选</a:t>
            </a:r>
            <a:r>
              <a:rPr lang="en-US" altLang="zh-CN" dirty="0"/>
              <a:t>		</a:t>
            </a:r>
            <a:r>
              <a:rPr lang="en-GB" altLang="zh-CN" dirty="0"/>
              <a:t>if   then</a:t>
            </a:r>
            <a:endParaRPr lang="en-US" altLang="zh-CN" dirty="0"/>
          </a:p>
          <a:p>
            <a:r>
              <a:rPr lang="zh-CN" altLang="en-US" dirty="0"/>
              <a:t>二选一</a:t>
            </a:r>
            <a:r>
              <a:rPr lang="en-US" altLang="zh-CN" dirty="0"/>
              <a:t>	if  then  else</a:t>
            </a:r>
          </a:p>
          <a:p>
            <a:r>
              <a:rPr lang="zh-CN" altLang="en-US" dirty="0"/>
              <a:t>多选一 </a:t>
            </a:r>
            <a:r>
              <a:rPr lang="en-US" altLang="zh-CN" dirty="0"/>
              <a:t>	</a:t>
            </a:r>
            <a:r>
              <a:rPr lang="zh-CN" altLang="en-US" dirty="0" smtClean="0"/>
              <a:t>嵌套  </a:t>
            </a:r>
            <a:r>
              <a:rPr lang="en-US" altLang="zh-CN" dirty="0" smtClean="0"/>
              <a:t>if  </a:t>
            </a:r>
            <a:r>
              <a:rPr lang="en-US" altLang="zh-CN" dirty="0"/>
              <a:t>then else</a:t>
            </a:r>
            <a:r>
              <a:rPr lang="zh-CN" altLang="en-US" dirty="0"/>
              <a:t>  </a:t>
            </a:r>
            <a:r>
              <a:rPr lang="en-US" altLang="zh-CN" dirty="0"/>
              <a:t> </a:t>
            </a: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</a:t>
            </a:r>
          </a:p>
        </p:txBody>
      </p:sp>
    </p:spTree>
    <p:extLst>
      <p:ext uri="{BB962C8B-B14F-4D97-AF65-F5344CB8AC3E}">
        <p14:creationId xmlns:p14="http://schemas.microsoft.com/office/powerpoint/2010/main" xmlns="" val="2458862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0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 dirty="0"/>
              <a:t>max:=a;     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if</a:t>
            </a:r>
            <a:r>
              <a:rPr lang="en-US" altLang="zh-CN" dirty="0"/>
              <a:t>  (a&lt;b) </a:t>
            </a:r>
            <a:r>
              <a:rPr lang="en-US" altLang="zh-CN" dirty="0">
                <a:solidFill>
                  <a:srgbClr val="EE853E"/>
                </a:solidFill>
              </a:rPr>
              <a:t>then</a:t>
            </a:r>
            <a:r>
              <a:rPr lang="en-US" altLang="zh-CN" dirty="0"/>
              <a:t>  max:=b; </a:t>
            </a:r>
            <a:r>
              <a:rPr lang="en-GB" altLang="zh-CN" dirty="0"/>
              <a:t> </a:t>
            </a:r>
          </a:p>
          <a:p>
            <a:r>
              <a:rPr lang="zh-CN" altLang="en-US" dirty="0"/>
              <a:t>可供选择的一条语句 </a:t>
            </a:r>
            <a:r>
              <a:rPr lang="en-US" altLang="zh-CN" dirty="0"/>
              <a:t>max:=b </a:t>
            </a:r>
          </a:p>
          <a:p>
            <a:r>
              <a:rPr lang="zh-CN" altLang="en-US" dirty="0"/>
              <a:t>要么执行</a:t>
            </a:r>
          </a:p>
          <a:p>
            <a:r>
              <a:rPr lang="zh-CN" altLang="en-US" dirty="0"/>
              <a:t>要么不执行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单选</a:t>
            </a:r>
          </a:p>
        </p:txBody>
      </p:sp>
    </p:spTree>
    <p:extLst>
      <p:ext uri="{BB962C8B-B14F-4D97-AF65-F5344CB8AC3E}">
        <p14:creationId xmlns:p14="http://schemas.microsoft.com/office/powerpoint/2010/main" xmlns="" val="2754451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E853E"/>
                </a:solidFill>
              </a:rPr>
              <a:t>if</a:t>
            </a:r>
            <a:r>
              <a:rPr lang="en-US" altLang="zh-CN" dirty="0"/>
              <a:t>  (a&gt;b) 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then</a:t>
            </a:r>
            <a:r>
              <a:rPr lang="en-US" altLang="zh-CN" dirty="0"/>
              <a:t>  max:=a 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else</a:t>
            </a:r>
            <a:r>
              <a:rPr lang="en-US" altLang="zh-CN" dirty="0"/>
              <a:t>  max:=b;</a:t>
            </a:r>
          </a:p>
          <a:p>
            <a:r>
              <a:rPr lang="zh-CN" altLang="en-US" dirty="0"/>
              <a:t>可供选择的语句</a:t>
            </a:r>
            <a:endParaRPr lang="en-US" altLang="zh-CN" dirty="0"/>
          </a:p>
          <a:p>
            <a:r>
              <a:rPr lang="en-US" altLang="zh-CN" dirty="0"/>
              <a:t>max:=a </a:t>
            </a:r>
            <a:r>
              <a:rPr lang="zh-CN" altLang="en-US" dirty="0"/>
              <a:t>和 </a:t>
            </a:r>
            <a:r>
              <a:rPr lang="en-US" altLang="zh-CN" dirty="0"/>
              <a:t>max:=b</a:t>
            </a:r>
          </a:p>
          <a:p>
            <a:r>
              <a:rPr lang="zh-CN" altLang="en-US" dirty="0"/>
              <a:t>只选择其中一个执行</a:t>
            </a:r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二选一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1732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语句包含</a:t>
            </a:r>
            <a:r>
              <a:rPr lang="en-US" altLang="zh-CN" dirty="0"/>
              <a:t>if</a:t>
            </a:r>
            <a:r>
              <a:rPr lang="zh-CN" altLang="en-US" dirty="0"/>
              <a:t>语句</a:t>
            </a:r>
            <a:endParaRPr lang="en-US" altLang="zh-CN" dirty="0"/>
          </a:p>
          <a:p>
            <a:r>
              <a:rPr lang="en-US" altLang="zh-CN" dirty="0"/>
              <a:t>(a) </a:t>
            </a:r>
            <a:r>
              <a:rPr lang="en-US" altLang="zh-CN" dirty="0">
                <a:solidFill>
                  <a:srgbClr val="EE853E"/>
                </a:solidFill>
              </a:rPr>
              <a:t>ALGOL 60</a:t>
            </a:r>
            <a:r>
              <a:rPr lang="zh-CN" altLang="en-US" dirty="0"/>
              <a:t>的选择结构引起</a:t>
            </a:r>
            <a:r>
              <a:rPr lang="zh-CN" altLang="en-US" dirty="0">
                <a:solidFill>
                  <a:srgbClr val="EE853E"/>
                </a:solidFill>
              </a:rPr>
              <a:t>二义性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if</a:t>
            </a:r>
            <a:r>
              <a:rPr lang="en-US" altLang="zh-CN" dirty="0"/>
              <a:t> x&gt;0 then </a:t>
            </a:r>
            <a:r>
              <a:rPr lang="en-US" altLang="zh-CN" dirty="0">
                <a:solidFill>
                  <a:srgbClr val="EE853E"/>
                </a:solidFill>
              </a:rPr>
              <a:t>if </a:t>
            </a:r>
            <a:r>
              <a:rPr lang="en-US" altLang="zh-CN" dirty="0"/>
              <a:t>x&lt;6 then x:=0   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else</a:t>
            </a:r>
            <a:r>
              <a:rPr lang="en-US" altLang="zh-CN" dirty="0"/>
              <a:t> x:=9</a:t>
            </a:r>
          </a:p>
          <a:p>
            <a:endParaRPr lang="en-US" altLang="zh-CN" dirty="0"/>
          </a:p>
          <a:p>
            <a:r>
              <a:rPr lang="en-US" altLang="zh-CN" dirty="0"/>
              <a:t>(b) </a:t>
            </a:r>
            <a:r>
              <a:rPr lang="en-US" altLang="zh-CN" dirty="0">
                <a:solidFill>
                  <a:srgbClr val="EE853E"/>
                </a:solidFill>
              </a:rPr>
              <a:t>PASCAL</a:t>
            </a:r>
            <a:r>
              <a:rPr lang="zh-CN" altLang="en-US" dirty="0"/>
              <a:t>的“最近匹配原则”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多选一</a:t>
            </a:r>
          </a:p>
        </p:txBody>
      </p:sp>
    </p:spTree>
    <p:extLst>
      <p:ext uri="{BB962C8B-B14F-4D97-AF65-F5344CB8AC3E}">
        <p14:creationId xmlns:p14="http://schemas.microsoft.com/office/powerpoint/2010/main" xmlns="" val="559514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10904244" cy="5486400"/>
          </a:xfrm>
        </p:spPr>
        <p:txBody>
          <a:bodyPr/>
          <a:lstStyle/>
          <a:p>
            <a:r>
              <a:rPr lang="en-US" altLang="zh-CN" dirty="0">
                <a:solidFill>
                  <a:srgbClr val="EE853E"/>
                </a:solidFill>
              </a:rPr>
              <a:t>if</a:t>
            </a:r>
            <a:r>
              <a:rPr lang="en-US" altLang="zh-CN" dirty="0"/>
              <a:t>  a   </a:t>
            </a:r>
          </a:p>
          <a:p>
            <a:r>
              <a:rPr lang="en-US" altLang="zh-CN" dirty="0"/>
              <a:t>then  S1 </a:t>
            </a:r>
          </a:p>
          <a:p>
            <a:r>
              <a:rPr lang="en-US" altLang="zh-CN" dirty="0"/>
              <a:t>else </a:t>
            </a:r>
            <a:r>
              <a:rPr lang="en-US" altLang="zh-CN" dirty="0">
                <a:solidFill>
                  <a:srgbClr val="FF0000"/>
                </a:solidFill>
              </a:rPr>
              <a:t>if</a:t>
            </a:r>
            <a:r>
              <a:rPr lang="en-US" altLang="zh-CN" dirty="0"/>
              <a:t>  b  </a:t>
            </a:r>
          </a:p>
          <a:p>
            <a:r>
              <a:rPr lang="en-US" altLang="zh-CN" dirty="0"/>
              <a:t>         then  S2 </a:t>
            </a:r>
          </a:p>
          <a:p>
            <a:r>
              <a:rPr lang="en-US" altLang="zh-CN" dirty="0"/>
              <a:t>      	  else  </a:t>
            </a:r>
            <a:r>
              <a:rPr lang="en-US" altLang="zh-CN" dirty="0">
                <a:solidFill>
                  <a:srgbClr val="EE853E"/>
                </a:solidFill>
              </a:rPr>
              <a:t>if</a:t>
            </a:r>
            <a:r>
              <a:rPr lang="en-US" altLang="zh-CN" dirty="0"/>
              <a:t>  c </a:t>
            </a:r>
          </a:p>
          <a:p>
            <a:r>
              <a:rPr lang="en-US" altLang="zh-CN" dirty="0"/>
              <a:t>                   then  S3 </a:t>
            </a:r>
          </a:p>
          <a:p>
            <a:r>
              <a:rPr lang="en-US" altLang="zh-CN" dirty="0"/>
              <a:t>            	     else  S4</a:t>
            </a:r>
          </a:p>
          <a:p>
            <a:r>
              <a:rPr lang="en-US" altLang="zh-CN" dirty="0"/>
              <a:t>            	     </a:t>
            </a:r>
            <a:r>
              <a:rPr lang="en-US" altLang="zh-CN" dirty="0">
                <a:solidFill>
                  <a:srgbClr val="EE853E"/>
                </a:solidFill>
              </a:rPr>
              <a:t>fi </a:t>
            </a:r>
          </a:p>
          <a:p>
            <a:r>
              <a:rPr lang="en-US" altLang="zh-CN" dirty="0"/>
              <a:t>         </a:t>
            </a:r>
            <a:r>
              <a:rPr lang="en-US" altLang="zh-CN" dirty="0">
                <a:solidFill>
                  <a:srgbClr val="FF0000"/>
                </a:solidFill>
              </a:rPr>
              <a:t>fi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fi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ALGOL 68</a:t>
            </a:r>
            <a:r>
              <a:rPr lang="zh-CN" altLang="en-US" dirty="0"/>
              <a:t>使用</a:t>
            </a:r>
            <a:r>
              <a:rPr lang="en-US" altLang="zh-CN" dirty="0"/>
              <a:t>if</a:t>
            </a:r>
            <a:r>
              <a:rPr lang="zh-CN" altLang="en-US" dirty="0"/>
              <a:t>语句的结束符号</a:t>
            </a:r>
            <a:r>
              <a:rPr lang="en-US" altLang="zh-CN" dirty="0"/>
              <a:t>fi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60908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if a </a:t>
            </a:r>
          </a:p>
          <a:p>
            <a:r>
              <a:rPr lang="en-US" altLang="zh-CN" dirty="0"/>
              <a:t>then  S1</a:t>
            </a:r>
          </a:p>
          <a:p>
            <a:r>
              <a:rPr lang="en-US" altLang="zh-CN" dirty="0" err="1">
                <a:solidFill>
                  <a:srgbClr val="EE853E"/>
                </a:solidFill>
              </a:rPr>
              <a:t>elif</a:t>
            </a:r>
            <a:r>
              <a:rPr lang="en-US" altLang="zh-CN" dirty="0"/>
              <a:t> b </a:t>
            </a:r>
          </a:p>
          <a:p>
            <a:r>
              <a:rPr lang="en-US" altLang="zh-CN" dirty="0"/>
              <a:t>then  S2 </a:t>
            </a:r>
          </a:p>
          <a:p>
            <a:r>
              <a:rPr lang="en-US" altLang="zh-CN" dirty="0" err="1">
                <a:solidFill>
                  <a:srgbClr val="EE853E"/>
                </a:solidFill>
              </a:rPr>
              <a:t>elif</a:t>
            </a:r>
            <a:r>
              <a:rPr lang="en-US" altLang="zh-CN" dirty="0"/>
              <a:t> c </a:t>
            </a:r>
          </a:p>
          <a:p>
            <a:r>
              <a:rPr lang="en-US" altLang="zh-CN" dirty="0"/>
              <a:t>then  S3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else</a:t>
            </a:r>
            <a:r>
              <a:rPr lang="en-US" altLang="zh-CN" dirty="0"/>
              <a:t>   S4</a:t>
            </a:r>
          </a:p>
          <a:p>
            <a:r>
              <a:rPr lang="en-US" altLang="zh-CN" dirty="0"/>
              <a:t>fi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ALGOL 68</a:t>
            </a:r>
            <a:r>
              <a:rPr lang="zh-CN" altLang="en-US" dirty="0"/>
              <a:t>对</a:t>
            </a:r>
            <a:r>
              <a:rPr lang="en-US" altLang="zh-CN" dirty="0"/>
              <a:t>else if </a:t>
            </a:r>
            <a:r>
              <a:rPr lang="zh-CN" altLang="en-US" dirty="0"/>
              <a:t>缩写为</a:t>
            </a:r>
            <a:r>
              <a:rPr lang="en-US" altLang="zh-CN" dirty="0" err="1"/>
              <a:t>elif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1035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SELECT :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WHEN</a:t>
            </a:r>
            <a:r>
              <a:rPr lang="en-US" altLang="zh-CN" dirty="0"/>
              <a:t> (A)		S1;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WHEN</a:t>
            </a:r>
            <a:r>
              <a:rPr lang="en-US" altLang="zh-CN" dirty="0"/>
              <a:t> (B)		S2;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WHEN</a:t>
            </a:r>
            <a:r>
              <a:rPr lang="en-US" altLang="zh-CN" dirty="0"/>
              <a:t> (C) 		S3;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OTHERWISE</a:t>
            </a:r>
            <a:r>
              <a:rPr lang="en-US" altLang="zh-CN" dirty="0"/>
              <a:t>	S4;</a:t>
            </a:r>
          </a:p>
          <a:p>
            <a:r>
              <a:rPr lang="en-US" altLang="zh-CN" dirty="0"/>
              <a:t>END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PL/1</a:t>
            </a:r>
            <a:r>
              <a:rPr lang="zh-CN" altLang="en-US" dirty="0"/>
              <a:t>的</a:t>
            </a:r>
            <a:r>
              <a:rPr lang="en-US" altLang="zh-CN" dirty="0"/>
              <a:t>select</a:t>
            </a:r>
            <a:r>
              <a:rPr lang="zh-CN" altLang="en-US" dirty="0"/>
              <a:t>结构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65931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 dirty="0"/>
              <a:t>v</a:t>
            </a:r>
            <a:r>
              <a:rPr lang="en-US" altLang="zh-CN" dirty="0" err="1"/>
              <a:t>ar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operator : char;</a:t>
            </a:r>
          </a:p>
          <a:p>
            <a:r>
              <a:rPr lang="en-US" altLang="zh-CN" dirty="0"/>
              <a:t>operand1 , operand2 , result : real;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case</a:t>
            </a:r>
            <a:r>
              <a:rPr lang="en-US" altLang="zh-CN" dirty="0"/>
              <a:t> operator </a:t>
            </a:r>
            <a:r>
              <a:rPr lang="en-US" altLang="zh-CN" dirty="0">
                <a:solidFill>
                  <a:srgbClr val="EE853E"/>
                </a:solidFill>
              </a:rPr>
              <a:t>of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‘+’</a:t>
            </a:r>
            <a:r>
              <a:rPr lang="en-US" altLang="zh-CN" dirty="0"/>
              <a:t>	: result:=operand1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en-US" altLang="zh-CN" dirty="0"/>
              <a:t> operand2;</a:t>
            </a:r>
          </a:p>
          <a:p>
            <a:r>
              <a:rPr lang="en-US" altLang="zh-CN" dirty="0"/>
              <a:t>	‘-’ 	: result:=operand1 - operand2;</a:t>
            </a:r>
          </a:p>
          <a:p>
            <a:r>
              <a:rPr lang="en-US" altLang="zh-CN" dirty="0"/>
              <a:t>	‘/’ 	: result:=operand1 / operand2;</a:t>
            </a:r>
          </a:p>
          <a:p>
            <a:r>
              <a:rPr lang="en-US" altLang="zh-CN" dirty="0"/>
              <a:t>	‘*’	: result:=operand1 * operand2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end</a:t>
            </a:r>
            <a:r>
              <a:rPr lang="en-US" altLang="zh-CN" dirty="0"/>
              <a:t>  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PASCAL</a:t>
            </a:r>
            <a:r>
              <a:rPr lang="zh-CN" altLang="en-US" dirty="0"/>
              <a:t>的</a:t>
            </a:r>
            <a:r>
              <a:rPr lang="en-US" dirty="0"/>
              <a:t>case</a:t>
            </a:r>
            <a:r>
              <a:rPr lang="zh-CN" altLang="en-US" dirty="0"/>
              <a:t>语句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00771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char </a:t>
            </a:r>
            <a:r>
              <a:rPr lang="en-US" altLang="zh-CN" dirty="0" err="1"/>
              <a:t>opr</a:t>
            </a:r>
            <a:r>
              <a:rPr lang="en-US" altLang="zh-CN" dirty="0"/>
              <a:t>;</a:t>
            </a:r>
          </a:p>
          <a:p>
            <a:r>
              <a:rPr lang="en-GB" altLang="zh-CN" dirty="0"/>
              <a:t>float</a:t>
            </a:r>
            <a:r>
              <a:rPr lang="en-US" altLang="zh-CN" dirty="0"/>
              <a:t>  op1,op2,result;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switch</a:t>
            </a:r>
            <a:r>
              <a:rPr lang="en-US" altLang="zh-CN" dirty="0"/>
              <a:t>  (</a:t>
            </a:r>
            <a:r>
              <a:rPr lang="en-US" altLang="zh-CN" dirty="0" err="1"/>
              <a:t>opr</a:t>
            </a:r>
            <a:r>
              <a:rPr lang="en-US" altLang="zh-CN" dirty="0"/>
              <a:t>) 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case</a:t>
            </a:r>
            <a:r>
              <a:rPr lang="en-US" altLang="zh-CN" dirty="0"/>
              <a:t> ‘+’	:  result:=op1 + op2;	</a:t>
            </a:r>
            <a:r>
              <a:rPr lang="en-US" altLang="zh-CN" dirty="0">
                <a:solidFill>
                  <a:srgbClr val="EE853E"/>
                </a:solidFill>
              </a:rPr>
              <a:t>break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case</a:t>
            </a:r>
            <a:r>
              <a:rPr lang="en-US" altLang="zh-CN" dirty="0"/>
              <a:t> ‘-’	:  result:=op1 - op2; 	</a:t>
            </a:r>
            <a:r>
              <a:rPr lang="en-US" altLang="zh-CN" dirty="0">
                <a:solidFill>
                  <a:srgbClr val="EE853E"/>
                </a:solidFill>
              </a:rPr>
              <a:t>break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case</a:t>
            </a:r>
            <a:r>
              <a:rPr lang="en-US" altLang="zh-CN" dirty="0"/>
              <a:t> ‘/’	:  result:= op1 / op2;	</a:t>
            </a:r>
            <a:r>
              <a:rPr lang="en-US" altLang="zh-CN" dirty="0">
                <a:solidFill>
                  <a:srgbClr val="EE853E"/>
                </a:solidFill>
              </a:rPr>
              <a:t>break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case</a:t>
            </a:r>
            <a:r>
              <a:rPr lang="en-US" altLang="zh-CN" dirty="0"/>
              <a:t> ‘*’	: result:= op1 * op2;	</a:t>
            </a:r>
            <a:r>
              <a:rPr lang="en-US" altLang="zh-CN" dirty="0">
                <a:solidFill>
                  <a:srgbClr val="EE853E"/>
                </a:solidFill>
              </a:rPr>
              <a:t>break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end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zh-CN" altLang="en-US" dirty="0"/>
              <a:t>语言的</a:t>
            </a:r>
            <a:r>
              <a:rPr lang="en-US" dirty="0"/>
              <a:t>switch</a:t>
            </a:r>
            <a:r>
              <a:rPr lang="zh-CN" altLang="en-US" dirty="0"/>
              <a:t>语句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55239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E853E"/>
                </a:solidFill>
              </a:rPr>
              <a:t>if</a:t>
            </a:r>
          </a:p>
          <a:p>
            <a:r>
              <a:rPr lang="en-US" altLang="zh-CN" dirty="0"/>
              <a:t>	B1 → S1 </a:t>
            </a:r>
          </a:p>
          <a:p>
            <a:r>
              <a:rPr lang="en-US" altLang="zh-CN" dirty="0"/>
              <a:t>	B2 → S2 </a:t>
            </a:r>
          </a:p>
          <a:p>
            <a:r>
              <a:rPr lang="en-US" altLang="zh-CN" dirty="0"/>
              <a:t>	B3 → S3 </a:t>
            </a:r>
          </a:p>
          <a:p>
            <a:r>
              <a:rPr lang="en-US" altLang="zh-CN" dirty="0"/>
              <a:t>	…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Bn</a:t>
            </a:r>
            <a:r>
              <a:rPr lang="en-US" altLang="zh-CN" dirty="0"/>
              <a:t> → Sn   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fi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</a:t>
            </a:r>
            <a:r>
              <a:rPr lang="zh-CN" altLang="en-US" dirty="0"/>
              <a:t>选择结构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4294967295"/>
          </p:nvPr>
        </p:nvSpPr>
        <p:spPr>
          <a:xfrm>
            <a:off x="4114800" y="1447800"/>
            <a:ext cx="5791200" cy="1905000"/>
          </a:xfrm>
        </p:spPr>
        <p:txBody>
          <a:bodyPr/>
          <a:lstStyle/>
          <a:p>
            <a:pPr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非确定性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是布尔表达式，称为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卫哨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若有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卫哨为真时执行任意一个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3991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=""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控制结构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=""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=""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=""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=""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=""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=""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=""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=""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=""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=""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=""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=""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=""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=""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=""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第一节 语句级控制结构</a:t>
              </a:r>
              <a:endParaRPr lang="zh-CN" altLang="en-US" b="1" dirty="0">
                <a:solidFill>
                  <a:srgbClr val="EE853E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节 单元级控制结构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30" name="对话气泡: 圆角矩形 29">
            <a:extLst>
              <a:ext uri="{FF2B5EF4-FFF2-40B4-BE49-F238E27FC236}">
                <a16:creationId xmlns=""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937077" y="1434883"/>
            <a:ext cx="2711612" cy="3988234"/>
          </a:xfrm>
          <a:prstGeom prst="wedgeRoundRectCallout">
            <a:avLst>
              <a:gd name="adj1" fmla="val -30411"/>
              <a:gd name="adj2" fmla="val 61975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语句级控制结构讨论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08988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计数器制导</a:t>
            </a:r>
            <a:endParaRPr lang="en-US" altLang="zh-CN" dirty="0"/>
          </a:p>
          <a:p>
            <a:r>
              <a:rPr lang="zh-CN" altLang="en-US" dirty="0"/>
              <a:t>条件制导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计数器制导</a:t>
            </a:r>
            <a:endParaRPr lang="en-US" altLang="zh-CN" dirty="0"/>
          </a:p>
          <a:p>
            <a:r>
              <a:rPr lang="zh-CN" altLang="en-US" dirty="0"/>
              <a:t>当预先知道重复次数时，在</a:t>
            </a:r>
            <a:r>
              <a:rPr lang="zh-CN" altLang="en-US" dirty="0">
                <a:solidFill>
                  <a:srgbClr val="EE853E"/>
                </a:solidFill>
              </a:rPr>
              <a:t>循环计数器</a:t>
            </a:r>
            <a:r>
              <a:rPr lang="zh-CN" altLang="en-US" dirty="0"/>
              <a:t>值的</a:t>
            </a:r>
            <a:r>
              <a:rPr lang="zh-CN" altLang="en-US" dirty="0">
                <a:solidFill>
                  <a:srgbClr val="EE853E"/>
                </a:solidFill>
              </a:rPr>
              <a:t>有限</a:t>
            </a:r>
            <a:r>
              <a:rPr lang="zh-CN" altLang="en-US" dirty="0"/>
              <a:t>集合上重复。      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重复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85350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条件制导</a:t>
            </a:r>
            <a:endParaRPr lang="en-US" altLang="zh-CN" dirty="0"/>
          </a:p>
          <a:p>
            <a:r>
              <a:rPr lang="en-US" altLang="zh-CN" dirty="0"/>
              <a:t>(1) </a:t>
            </a:r>
            <a:r>
              <a:rPr lang="en-US" altLang="zh-CN" dirty="0">
                <a:solidFill>
                  <a:srgbClr val="EE853E"/>
                </a:solidFill>
              </a:rPr>
              <a:t>while</a:t>
            </a:r>
          </a:p>
          <a:p>
            <a:r>
              <a:rPr lang="en-US" altLang="zh-CN" dirty="0"/>
              <a:t>0</a:t>
            </a:r>
            <a:r>
              <a:rPr lang="zh-CN" altLang="en-US" dirty="0"/>
              <a:t>次或多次重复</a:t>
            </a:r>
          </a:p>
          <a:p>
            <a:endParaRPr lang="en-US" altLang="zh-CN" dirty="0"/>
          </a:p>
          <a:p>
            <a:r>
              <a:rPr lang="en-US" altLang="zh-CN" dirty="0"/>
              <a:t>(2) </a:t>
            </a:r>
            <a:r>
              <a:rPr lang="en-US" altLang="zh-CN" dirty="0">
                <a:solidFill>
                  <a:srgbClr val="EE853E"/>
                </a:solidFill>
              </a:rPr>
              <a:t>do-while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EE853E"/>
                </a:solidFill>
              </a:rPr>
              <a:t>repeat-until</a:t>
            </a:r>
          </a:p>
          <a:p>
            <a:r>
              <a:rPr lang="zh-CN" altLang="en-US" dirty="0"/>
              <a:t>多次重复</a:t>
            </a:r>
          </a:p>
          <a:p>
            <a:endParaRPr lang="en-US" altLang="zh-CN" dirty="0"/>
          </a:p>
          <a:p>
            <a:r>
              <a:rPr lang="en-US" altLang="zh-CN" dirty="0"/>
              <a:t>(3) ALGOL 68</a:t>
            </a:r>
            <a:r>
              <a:rPr lang="zh-CN" altLang="en-US" dirty="0"/>
              <a:t>循环的一般形式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for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EE853E"/>
                </a:solidFill>
              </a:rPr>
              <a:t>from</a:t>
            </a:r>
            <a:r>
              <a:rPr lang="en-US" altLang="zh-CN" dirty="0"/>
              <a:t> j </a:t>
            </a:r>
            <a:r>
              <a:rPr lang="en-US" altLang="zh-CN" dirty="0">
                <a:solidFill>
                  <a:srgbClr val="EE853E"/>
                </a:solidFill>
              </a:rPr>
              <a:t>by</a:t>
            </a:r>
            <a:r>
              <a:rPr lang="en-US" altLang="zh-CN" dirty="0"/>
              <a:t> k </a:t>
            </a:r>
            <a:r>
              <a:rPr lang="en-US" altLang="zh-CN" dirty="0">
                <a:solidFill>
                  <a:srgbClr val="EE853E"/>
                </a:solidFill>
              </a:rPr>
              <a:t>to</a:t>
            </a:r>
            <a:r>
              <a:rPr lang="en-US" altLang="zh-CN" dirty="0"/>
              <a:t> m </a:t>
            </a:r>
            <a:r>
              <a:rPr lang="en-US" altLang="zh-CN" dirty="0">
                <a:solidFill>
                  <a:srgbClr val="EE853E"/>
                </a:solidFill>
              </a:rPr>
              <a:t>while</a:t>
            </a:r>
            <a:r>
              <a:rPr lang="en-US" altLang="zh-CN" dirty="0"/>
              <a:t> b </a:t>
            </a:r>
            <a:r>
              <a:rPr lang="en-US" altLang="zh-CN" dirty="0">
                <a:solidFill>
                  <a:srgbClr val="EE853E"/>
                </a:solidFill>
              </a:rPr>
              <a:t>do</a:t>
            </a:r>
            <a:r>
              <a:rPr lang="en-US" altLang="zh-CN" dirty="0"/>
              <a:t> ... </a:t>
            </a:r>
            <a:r>
              <a:rPr lang="en-US" altLang="zh-CN" dirty="0">
                <a:solidFill>
                  <a:srgbClr val="EE853E"/>
                </a:solidFill>
              </a:rPr>
              <a:t>od</a:t>
            </a:r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重复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25827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(4) Dijkstra</a:t>
            </a:r>
            <a:r>
              <a:rPr lang="zh-CN" altLang="en-US" dirty="0"/>
              <a:t>的卫哨命令表示法</a:t>
            </a:r>
          </a:p>
          <a:p>
            <a:r>
              <a:rPr lang="en-US" dirty="0">
                <a:solidFill>
                  <a:srgbClr val="EE853E"/>
                </a:solidFill>
              </a:rPr>
              <a:t>do</a:t>
            </a:r>
          </a:p>
          <a:p>
            <a:r>
              <a:rPr lang="en-US" dirty="0"/>
              <a:t>	B1→S1</a:t>
            </a:r>
          </a:p>
          <a:p>
            <a:r>
              <a:rPr lang="en-US" dirty="0"/>
              <a:t>	B2→S2</a:t>
            </a:r>
          </a:p>
          <a:p>
            <a:r>
              <a:rPr lang="en-US" dirty="0"/>
              <a:t>	. . .</a:t>
            </a:r>
          </a:p>
          <a:p>
            <a:r>
              <a:rPr lang="en-US" dirty="0"/>
              <a:t>	</a:t>
            </a:r>
            <a:r>
              <a:rPr lang="en-US" dirty="0" err="1"/>
              <a:t>Bn→Sn</a:t>
            </a:r>
            <a:endParaRPr lang="en-US" dirty="0"/>
          </a:p>
          <a:p>
            <a:r>
              <a:rPr lang="en-US" dirty="0">
                <a:solidFill>
                  <a:srgbClr val="EE853E"/>
                </a:solidFill>
              </a:rPr>
              <a:t>od</a:t>
            </a:r>
          </a:p>
        </p:txBody>
      </p:sp>
      <p:sp>
        <p:nvSpPr>
          <p:cNvPr id="6" name="标题 5">
            <a:extLst>
              <a:ext uri="{FF2B5EF4-FFF2-40B4-BE49-F238E27FC236}">
                <a16:creationId xmlns="" xmlns:a16="http://schemas.microsoft.com/office/drawing/2014/main" id="{A1F95703-F826-4695-841B-B97E44D16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重复</a:t>
            </a:r>
          </a:p>
        </p:txBody>
      </p:sp>
    </p:spTree>
    <p:extLst>
      <p:ext uri="{BB962C8B-B14F-4D97-AF65-F5344CB8AC3E}">
        <p14:creationId xmlns:p14="http://schemas.microsoft.com/office/powerpoint/2010/main" xmlns="" val="3037582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5746</TotalTime>
  <Words>504</Words>
  <Application>Microsoft Office PowerPoint</Application>
  <PresentationFormat>自定义</PresentationFormat>
  <Paragraphs>158</Paragraphs>
  <Slides>22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3" baseType="lpstr">
      <vt:lpstr>环保</vt:lpstr>
      <vt:lpstr>第三章 控制结构</vt:lpstr>
      <vt:lpstr>控制结构</vt:lpstr>
      <vt:lpstr>第三章 控制结构</vt:lpstr>
      <vt:lpstr>语句级控制结构</vt:lpstr>
      <vt:lpstr>第三章 控制结构</vt:lpstr>
      <vt:lpstr>顺序</vt:lpstr>
      <vt:lpstr>复合语句</vt:lpstr>
      <vt:lpstr>第三章 控制结构</vt:lpstr>
      <vt:lpstr>选择</vt:lpstr>
      <vt:lpstr>单选</vt:lpstr>
      <vt:lpstr>二选一</vt:lpstr>
      <vt:lpstr>多选一</vt:lpstr>
      <vt:lpstr>ALGOL 68使用if语句的结束符号fi</vt:lpstr>
      <vt:lpstr>ALGOL 68对else if 缩写为elif</vt:lpstr>
      <vt:lpstr>PL/1的select结构</vt:lpstr>
      <vt:lpstr>PASCAL的case语句</vt:lpstr>
      <vt:lpstr>C语言的switch语句</vt:lpstr>
      <vt:lpstr>Dijkstra选择结构</vt:lpstr>
      <vt:lpstr>第三章 控制结构</vt:lpstr>
      <vt:lpstr>重复</vt:lpstr>
      <vt:lpstr>重复</vt:lpstr>
      <vt:lpstr>重复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陈文宇</cp:lastModifiedBy>
  <cp:revision>1042</cp:revision>
  <cp:lastPrinted>1601-01-01T00:00:00Z</cp:lastPrinted>
  <dcterms:created xsi:type="dcterms:W3CDTF">1601-01-01T00:00:00Z</dcterms:created>
  <dcterms:modified xsi:type="dcterms:W3CDTF">2019-11-29T00:36:32Z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