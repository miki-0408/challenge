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1"/>
  </p:notesMasterIdLst>
  <p:handoutMasterIdLst>
    <p:handoutMasterId r:id="rId12"/>
  </p:handoutMasterIdLst>
  <p:sldIdLst>
    <p:sldId id="371" r:id="rId2"/>
    <p:sldId id="285" r:id="rId3"/>
    <p:sldId id="286" r:id="rId4"/>
    <p:sldId id="288" r:id="rId5"/>
    <p:sldId id="372" r:id="rId6"/>
    <p:sldId id="373" r:id="rId7"/>
    <p:sldId id="374" r:id="rId8"/>
    <p:sldId id="375" r:id="rId9"/>
    <p:sldId id="376" r:id="rId10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95848" autoAdjust="0"/>
  </p:normalViewPr>
  <p:slideViewPr>
    <p:cSldViewPr snapToGrid="0">
      <p:cViewPr varScale="1">
        <p:scale>
          <a:sx n="40" d="100"/>
          <a:sy n="40" d="100"/>
        </p:scale>
        <p:origin x="69" y="3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3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82" d="100"/>
          <a:sy n="182" d="100"/>
        </p:scale>
        <p:origin x="2676" y="1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49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第七章 语法分析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第一节 语法分析概述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回溯分析法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递归下降分析法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预测分析法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6323BE9-57D8-467F-9A2D-90902E82A543}"/>
              </a:ext>
            </a:extLst>
          </p:cNvPr>
          <p:cNvSpPr/>
          <p:nvPr/>
        </p:nvSpPr>
        <p:spPr>
          <a:xfrm>
            <a:off x="2983159" y="34224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62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果一个文法不含公共左因子和左递归，则可能（仅是可能）构造一个不带回溯的自上而下分析程序。该程序由一组递归函数组成，每个函数对应一个非终结符，对该非终结符的产生式右端的符号依次进行匹配，匹配方式为：</a:t>
            </a:r>
            <a:endParaRPr lang="en-US" altLang="zh-CN" dirty="0"/>
          </a:p>
          <a:p>
            <a:r>
              <a:rPr lang="en-US" altLang="zh-CN" dirty="0"/>
              <a:t>1.	</a:t>
            </a:r>
            <a:r>
              <a:rPr lang="zh-CN" altLang="en-US" dirty="0"/>
              <a:t>如果是终结符，则检查输入串中的当前符号是否与该终结符一致；</a:t>
            </a:r>
          </a:p>
          <a:p>
            <a:r>
              <a:rPr lang="en-US" altLang="zh-CN" dirty="0"/>
              <a:t>2.	</a:t>
            </a:r>
            <a:r>
              <a:rPr lang="zh-CN" altLang="en-US" dirty="0"/>
              <a:t>如果是非终结符，则调用该非终结符对应的函数；</a:t>
            </a:r>
            <a:endParaRPr lang="en-US" altLang="zh-CN" dirty="0"/>
          </a:p>
          <a:p>
            <a:r>
              <a:rPr lang="en-US" altLang="zh-CN" dirty="0"/>
              <a:t>3.	</a:t>
            </a:r>
            <a:r>
              <a:rPr lang="zh-CN" altLang="en-US" dirty="0"/>
              <a:t>如果产生式右端是空串</a:t>
            </a:r>
            <a:r>
              <a:rPr lang="en-US" altLang="zh-CN" dirty="0">
                <a:ea typeface="仿宋_GB2312" pitchFamily="49" charset="-122"/>
              </a:rPr>
              <a:t>ε</a:t>
            </a:r>
            <a:r>
              <a:rPr lang="zh-CN" altLang="en-US" dirty="0"/>
              <a:t>，则直接返回。</a:t>
            </a:r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递归下降分析法</a:t>
            </a:r>
          </a:p>
        </p:txBody>
      </p:sp>
    </p:spTree>
    <p:extLst>
      <p:ext uri="{BB962C8B-B14F-4D97-AF65-F5344CB8AC3E}">
        <p14:creationId xmlns:p14="http://schemas.microsoft.com/office/powerpoint/2010/main" val="37049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  <a:endParaRPr lang="en-US" dirty="0"/>
          </a:p>
        </p:txBody>
      </p:sp>
      <p:sp>
        <p:nvSpPr>
          <p:cNvPr id="53555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sz="2400" dirty="0">
                <a:ea typeface="仿宋_GB2312" pitchFamily="49" charset="-122"/>
              </a:rPr>
              <a:t>文法</a:t>
            </a:r>
            <a:r>
              <a:rPr lang="en-US" altLang="zh-CN" sz="2400" dirty="0">
                <a:ea typeface="仿宋_GB2312" pitchFamily="49" charset="-122"/>
              </a:rPr>
              <a:t>G</a:t>
            </a:r>
            <a:r>
              <a:rPr lang="zh-CN" altLang="en-US" sz="2400" dirty="0">
                <a:ea typeface="仿宋_GB2312" pitchFamily="49" charset="-122"/>
              </a:rPr>
              <a:t>：</a:t>
            </a:r>
            <a:r>
              <a:rPr lang="en-US" altLang="zh-CN" sz="2400" dirty="0">
                <a:ea typeface="仿宋_GB2312" pitchFamily="49" charset="-122"/>
              </a:rPr>
              <a:t>	E → E+T | T</a:t>
            </a:r>
          </a:p>
          <a:p>
            <a:pPr algn="just"/>
            <a:r>
              <a:rPr lang="en-US" altLang="zh-CN" sz="2400" dirty="0">
                <a:ea typeface="仿宋_GB2312" pitchFamily="49" charset="-122"/>
              </a:rPr>
              <a:t>			T → T*F | F</a:t>
            </a:r>
          </a:p>
          <a:p>
            <a:pPr algn="just"/>
            <a:r>
              <a:rPr lang="en-US" altLang="zh-CN" sz="2400" dirty="0">
                <a:ea typeface="仿宋_GB2312" pitchFamily="49" charset="-122"/>
              </a:rPr>
              <a:t>			F → (E) | </a:t>
            </a:r>
            <a:r>
              <a:rPr lang="en-US" altLang="zh-CN" sz="2400" dirty="0" err="1">
                <a:ea typeface="仿宋_GB2312" pitchFamily="49" charset="-122"/>
              </a:rPr>
              <a:t>i</a:t>
            </a:r>
            <a:endParaRPr lang="en-US" altLang="zh-CN" sz="2400" dirty="0">
              <a:ea typeface="仿宋_GB2312" pitchFamily="49" charset="-122"/>
            </a:endParaRPr>
          </a:p>
          <a:p>
            <a:r>
              <a:rPr lang="zh-CN" altLang="en-US" sz="2400" dirty="0">
                <a:ea typeface="仿宋_GB2312" pitchFamily="49" charset="-122"/>
              </a:rPr>
              <a:t>消除左递归后，得到文法</a:t>
            </a:r>
            <a:r>
              <a:rPr lang="en-US" altLang="zh-CN" sz="2400" dirty="0">
                <a:ea typeface="仿宋_GB2312" pitchFamily="49" charset="-122"/>
              </a:rPr>
              <a:t>G’</a:t>
            </a:r>
            <a:r>
              <a:rPr lang="zh-CN" altLang="en-US" sz="2400" dirty="0">
                <a:ea typeface="仿宋_GB2312" pitchFamily="49" charset="-122"/>
              </a:rPr>
              <a:t>：</a:t>
            </a:r>
          </a:p>
          <a:p>
            <a:r>
              <a:rPr lang="zh-CN" altLang="en-US" sz="2400" dirty="0">
                <a:ea typeface="仿宋_GB2312" pitchFamily="49" charset="-122"/>
              </a:rPr>
              <a:t>			</a:t>
            </a:r>
            <a:r>
              <a:rPr lang="en-US" altLang="zh-CN" sz="2400" dirty="0">
                <a:ea typeface="仿宋_GB2312" pitchFamily="49" charset="-122"/>
              </a:rPr>
              <a:t>E → TE’</a:t>
            </a:r>
          </a:p>
          <a:p>
            <a:r>
              <a:rPr lang="en-US" altLang="zh-CN" sz="2400" dirty="0">
                <a:ea typeface="仿宋_GB2312" pitchFamily="49" charset="-122"/>
              </a:rPr>
              <a:t>			E’→ +TE’| ε</a:t>
            </a:r>
          </a:p>
          <a:p>
            <a:r>
              <a:rPr lang="en-US" altLang="zh-CN" sz="2400" dirty="0">
                <a:ea typeface="仿宋_GB2312" pitchFamily="49" charset="-122"/>
              </a:rPr>
              <a:t>			T → FT’</a:t>
            </a:r>
          </a:p>
          <a:p>
            <a:r>
              <a:rPr lang="en-US" altLang="zh-CN" sz="2400" dirty="0">
                <a:ea typeface="仿宋_GB2312" pitchFamily="49" charset="-122"/>
              </a:rPr>
              <a:t>			T’ → *FT’| ε</a:t>
            </a:r>
          </a:p>
          <a:p>
            <a:r>
              <a:rPr lang="en-US" altLang="zh-CN" sz="2400" dirty="0">
                <a:ea typeface="仿宋_GB2312" pitchFamily="49" charset="-122"/>
              </a:rPr>
              <a:t>			F → (E) | </a:t>
            </a:r>
            <a:r>
              <a:rPr lang="en-US" altLang="zh-CN" sz="2400" dirty="0" err="1">
                <a:ea typeface="仿宋_GB2312" pitchFamily="49" charset="-122"/>
              </a:rPr>
              <a:t>i</a:t>
            </a:r>
            <a:endParaRPr lang="en-US" altLang="zh-CN" sz="2400" dirty="0"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051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9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void E()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T()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E'()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DD5B840B-5A23-43DD-B56A-2D755595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仿宋_GB2312" pitchFamily="49" charset="-122"/>
              </a:rPr>
              <a:t>E → TE’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295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9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void E'()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if( *</a:t>
            </a:r>
            <a:r>
              <a:rPr lang="en-US" altLang="zh-CN" dirty="0" err="1"/>
              <a:t>ip</a:t>
            </a:r>
            <a:r>
              <a:rPr lang="en-US" altLang="zh-CN" dirty="0"/>
              <a:t> == '+' 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advance()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	</a:t>
            </a:r>
            <a:r>
              <a:rPr lang="en-US" altLang="zh-CN" dirty="0"/>
              <a:t>T()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	</a:t>
            </a:r>
            <a:r>
              <a:rPr lang="en-US" altLang="zh-CN" dirty="0"/>
              <a:t>E'()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DD5B840B-5A23-43DD-B56A-2D755595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仿宋_GB2312" pitchFamily="49" charset="-122"/>
              </a:rPr>
              <a:t>E’→ +TE’| 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559AF5-2481-4A58-9407-8F7665E84BF9}"/>
              </a:ext>
            </a:extLst>
          </p:cNvPr>
          <p:cNvSpPr/>
          <p:nvPr/>
        </p:nvSpPr>
        <p:spPr>
          <a:xfrm>
            <a:off x="4492598" y="2112545"/>
            <a:ext cx="62973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输入串中的当前符号，即输入指针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指向的符号。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E235BB-5BA1-4C64-A42A-24DE385CFF3B}"/>
              </a:ext>
            </a:extLst>
          </p:cNvPr>
          <p:cNvSpPr/>
          <p:nvPr/>
        </p:nvSpPr>
        <p:spPr>
          <a:xfrm>
            <a:off x="4492598" y="3250729"/>
            <a:ext cx="62189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advance()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输入指针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右移，指向下一个符号。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083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4762B3E-90F9-4F28-9220-0E5187508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void T()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F()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T'()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A9B0F73-773C-4CF2-8F07-909354D7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仿宋_GB2312" pitchFamily="49" charset="-122"/>
              </a:rPr>
              <a:t>T → FT’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215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A413BC6-5E74-4DD0-966A-A26D2DAD2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void T'()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if( *</a:t>
            </a:r>
            <a:r>
              <a:rPr lang="en-US" altLang="zh-CN" dirty="0" err="1"/>
              <a:t>ip</a:t>
            </a:r>
            <a:r>
              <a:rPr lang="en-US" altLang="zh-CN" dirty="0"/>
              <a:t> == '*' )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advance()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	</a:t>
            </a:r>
            <a:r>
              <a:rPr lang="en-US" altLang="zh-CN" dirty="0"/>
              <a:t>F()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	</a:t>
            </a:r>
            <a:r>
              <a:rPr lang="en-US" altLang="zh-CN" dirty="0"/>
              <a:t>T'()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F47B4C3-CD04-474D-88BB-8867069A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仿宋_GB2312" pitchFamily="49" charset="-122"/>
              </a:rPr>
              <a:t>T’ → *FT’| 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855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08FCA8C-8B35-49A9-89D5-47B1D519F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void F() {	</a:t>
            </a:r>
          </a:p>
          <a:p>
            <a:r>
              <a:rPr lang="en-US" altLang="zh-CN" dirty="0"/>
              <a:t>	if ( *</a:t>
            </a:r>
            <a:r>
              <a:rPr lang="en-US" altLang="zh-CN" dirty="0" err="1"/>
              <a:t>ip</a:t>
            </a:r>
            <a:r>
              <a:rPr lang="en-US" altLang="zh-CN" dirty="0"/>
              <a:t> == '(' ) {</a:t>
            </a:r>
          </a:p>
          <a:p>
            <a:r>
              <a:rPr lang="en-US" altLang="zh-CN" dirty="0"/>
              <a:t>		advance()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	</a:t>
            </a:r>
            <a:r>
              <a:rPr lang="en-US" altLang="zh-CN" dirty="0"/>
              <a:t>E()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	</a:t>
            </a:r>
            <a:r>
              <a:rPr lang="en-US" altLang="zh-CN" dirty="0"/>
              <a:t>if ( *</a:t>
            </a:r>
            <a:r>
              <a:rPr lang="en-US" altLang="zh-CN" dirty="0" err="1"/>
              <a:t>ip</a:t>
            </a:r>
            <a:r>
              <a:rPr lang="en-US" altLang="zh-CN" dirty="0"/>
              <a:t> == ')' )  advance()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	</a:t>
            </a:r>
            <a:r>
              <a:rPr lang="en-US" altLang="zh-CN" dirty="0"/>
              <a:t>else error()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}	</a:t>
            </a:r>
          </a:p>
          <a:p>
            <a:r>
              <a:rPr lang="en-US" altLang="zh-CN" dirty="0"/>
              <a:t>	else if ( *</a:t>
            </a:r>
            <a:r>
              <a:rPr lang="en-US" altLang="zh-CN" dirty="0" err="1"/>
              <a:t>ip</a:t>
            </a:r>
            <a:r>
              <a:rPr lang="en-US" altLang="zh-CN" dirty="0"/>
              <a:t> == '</a:t>
            </a:r>
            <a:r>
              <a:rPr lang="en-US" altLang="zh-CN" dirty="0" err="1"/>
              <a:t>i</a:t>
            </a:r>
            <a:r>
              <a:rPr lang="en-US" altLang="zh-CN" dirty="0"/>
              <a:t>'  )  advance()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	</a:t>
            </a:r>
            <a:r>
              <a:rPr lang="en-US" altLang="zh-CN" dirty="0"/>
              <a:t>else error()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04255C4-6DCF-4A0D-B32B-E6B77F4AF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仿宋_GB2312" pitchFamily="49" charset="-122"/>
              </a:rPr>
              <a:t>F → (E) | </a:t>
            </a:r>
            <a:r>
              <a:rPr lang="en-US" altLang="zh-CN" dirty="0" err="1">
                <a:ea typeface="仿宋_GB2312" pitchFamily="49" charset="-122"/>
              </a:rPr>
              <a:t>i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6D66EF-28A0-4D2A-A60F-1529077CFAA6}"/>
              </a:ext>
            </a:extLst>
          </p:cNvPr>
          <p:cNvSpPr/>
          <p:nvPr/>
        </p:nvSpPr>
        <p:spPr>
          <a:xfrm>
            <a:off x="6097628" y="3781952"/>
            <a:ext cx="5121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error()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：出错处理程序。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40B0B6-B14D-4079-A132-73BC9F6C8FEE}"/>
              </a:ext>
            </a:extLst>
          </p:cNvPr>
          <p:cNvSpPr/>
          <p:nvPr/>
        </p:nvSpPr>
        <p:spPr>
          <a:xfrm>
            <a:off x="6097628" y="5470208"/>
            <a:ext cx="51216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error()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：出错处理程序。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691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F61704-A18D-474D-9C02-FFE9A5E07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 → </a:t>
            </a:r>
            <a:r>
              <a:rPr lang="en-US" altLang="zh-CN" dirty="0" err="1"/>
              <a:t>TE</a:t>
            </a:r>
            <a:r>
              <a:rPr lang="en-US" altLang="zh-CN" dirty="0"/>
              <a:t>’</a:t>
            </a:r>
          </a:p>
          <a:p>
            <a:r>
              <a:rPr lang="en-US" altLang="zh-CN" dirty="0"/>
              <a:t>E’→ +</a:t>
            </a:r>
            <a:r>
              <a:rPr lang="en-US" altLang="zh-CN" dirty="0" err="1"/>
              <a:t>TE</a:t>
            </a:r>
            <a:r>
              <a:rPr lang="en-US" altLang="zh-CN" dirty="0"/>
              <a:t>’| </a:t>
            </a:r>
            <a:r>
              <a:rPr lang="el-GR" altLang="zh-CN" dirty="0"/>
              <a:t>ε</a:t>
            </a:r>
          </a:p>
          <a:p>
            <a:r>
              <a:rPr lang="en-US" altLang="zh-CN" dirty="0"/>
              <a:t>T → FT’</a:t>
            </a:r>
          </a:p>
          <a:p>
            <a:r>
              <a:rPr lang="en-US" altLang="zh-CN" dirty="0"/>
              <a:t>T’ → *FT’| </a:t>
            </a:r>
            <a:r>
              <a:rPr lang="el-GR" altLang="zh-CN" dirty="0"/>
              <a:t>ε</a:t>
            </a:r>
          </a:p>
          <a:p>
            <a:r>
              <a:rPr lang="en-US" altLang="zh-CN" dirty="0"/>
              <a:t>F → (E) | </a:t>
            </a:r>
            <a:r>
              <a:rPr lang="en-US" altLang="zh-CN" dirty="0" err="1"/>
              <a:t>i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E4869A-15B7-4151-8A25-603268E7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输入串 </a:t>
            </a:r>
            <a:r>
              <a:rPr lang="en-US" altLang="zh-CN" dirty="0" err="1"/>
              <a:t>i</a:t>
            </a:r>
            <a:r>
              <a:rPr lang="en-US" altLang="zh-CN" dirty="0"/>
              <a:t> + </a:t>
            </a:r>
            <a:r>
              <a:rPr lang="en-US" altLang="zh-CN" dirty="0" err="1"/>
              <a:t>i</a:t>
            </a:r>
            <a:r>
              <a:rPr lang="en-US" altLang="zh-CN" dirty="0"/>
              <a:t> *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的分析过程</a:t>
            </a:r>
          </a:p>
        </p:txBody>
      </p:sp>
      <p:sp>
        <p:nvSpPr>
          <p:cNvPr id="152" name="Oval 5">
            <a:extLst>
              <a:ext uri="{FF2B5EF4-FFF2-40B4-BE49-F238E27FC236}">
                <a16:creationId xmlns:a16="http://schemas.microsoft.com/office/drawing/2014/main" id="{071D9593-C6EC-4C04-BDC4-6F67FD701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368" y="1044388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3" name="Text Box 6">
            <a:extLst>
              <a:ext uri="{FF2B5EF4-FFF2-40B4-BE49-F238E27FC236}">
                <a16:creationId xmlns:a16="http://schemas.microsoft.com/office/drawing/2014/main" id="{0E5AAE43-D469-4E6E-A736-9BBAED79E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7682" y="1089358"/>
            <a:ext cx="3609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54" name="Oval 7">
            <a:extLst>
              <a:ext uri="{FF2B5EF4-FFF2-40B4-BE49-F238E27FC236}">
                <a16:creationId xmlns:a16="http://schemas.microsoft.com/office/drawing/2014/main" id="{8E1F818C-0833-41B5-BD72-EFB11D0B3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280" y="1965832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5" name="Text Box 8">
            <a:extLst>
              <a:ext uri="{FF2B5EF4-FFF2-40B4-BE49-F238E27FC236}">
                <a16:creationId xmlns:a16="http://schemas.microsoft.com/office/drawing/2014/main" id="{B42CF806-1D1E-4361-9E28-0DC004B6C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0480" y="2010802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156" name="Line 9">
            <a:extLst>
              <a:ext uri="{FF2B5EF4-FFF2-40B4-BE49-F238E27FC236}">
                <a16:creationId xmlns:a16="http://schemas.microsoft.com/office/drawing/2014/main" id="{B8046FC1-0F62-4FE3-9619-64F781F89B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5280" y="1467650"/>
            <a:ext cx="427745" cy="49818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7" name="Line 10">
            <a:extLst>
              <a:ext uri="{FF2B5EF4-FFF2-40B4-BE49-F238E27FC236}">
                <a16:creationId xmlns:a16="http://schemas.microsoft.com/office/drawing/2014/main" id="{0F9647D3-F2C4-43BE-A7DF-145C1EC881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78122" y="1577785"/>
            <a:ext cx="437304" cy="47129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8" name="Oval 11">
            <a:extLst>
              <a:ext uri="{FF2B5EF4-FFF2-40B4-BE49-F238E27FC236}">
                <a16:creationId xmlns:a16="http://schemas.microsoft.com/office/drawing/2014/main" id="{1C989C13-3228-4FB4-8517-BF7C1CFBF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9880" y="2956432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9" name="Text Box 12">
            <a:extLst>
              <a:ext uri="{FF2B5EF4-FFF2-40B4-BE49-F238E27FC236}">
                <a16:creationId xmlns:a16="http://schemas.microsoft.com/office/drawing/2014/main" id="{AA6C3F38-DB48-43CD-AB45-DC1B288A1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067" y="3001402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160" name="Line 13">
            <a:extLst>
              <a:ext uri="{FF2B5EF4-FFF2-40B4-BE49-F238E27FC236}">
                <a16:creationId xmlns:a16="http://schemas.microsoft.com/office/drawing/2014/main" id="{36F56AE1-70BC-45AF-8A10-FEA50A3274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20880" y="2270632"/>
            <a:ext cx="533400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1" name="Line 14">
            <a:extLst>
              <a:ext uri="{FF2B5EF4-FFF2-40B4-BE49-F238E27FC236}">
                <a16:creationId xmlns:a16="http://schemas.microsoft.com/office/drawing/2014/main" id="{904B097A-50A4-41ED-A808-159B483D44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3280" y="2499232"/>
            <a:ext cx="533400" cy="609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4" name="Oval 18">
            <a:extLst>
              <a:ext uri="{FF2B5EF4-FFF2-40B4-BE49-F238E27FC236}">
                <a16:creationId xmlns:a16="http://schemas.microsoft.com/office/drawing/2014/main" id="{FB7CBBE1-1B9E-4C58-B032-00BE72A90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4136" y="1865940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5" name="Text Box 19">
            <a:extLst>
              <a:ext uri="{FF2B5EF4-FFF2-40B4-BE49-F238E27FC236}">
                <a16:creationId xmlns:a16="http://schemas.microsoft.com/office/drawing/2014/main" id="{0EB8CF68-2C9B-4D1E-91B1-8F1B73980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0336" y="1910910"/>
            <a:ext cx="668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E’</a:t>
            </a:r>
          </a:p>
        </p:txBody>
      </p:sp>
      <p:sp>
        <p:nvSpPr>
          <p:cNvPr id="166" name="Oval 20">
            <a:extLst>
              <a:ext uri="{FF2B5EF4-FFF2-40B4-BE49-F238E27FC236}">
                <a16:creationId xmlns:a16="http://schemas.microsoft.com/office/drawing/2014/main" id="{AF426024-ADD2-471B-B761-8027BAFA8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936" y="2856540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7" name="Text Box 21">
            <a:extLst>
              <a:ext uri="{FF2B5EF4-FFF2-40B4-BE49-F238E27FC236}">
                <a16:creationId xmlns:a16="http://schemas.microsoft.com/office/drawing/2014/main" id="{C50E87AD-60F2-4F28-85B3-E4341926A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3136" y="2901510"/>
            <a:ext cx="389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</a:t>
            </a:r>
          </a:p>
        </p:txBody>
      </p:sp>
      <p:sp>
        <p:nvSpPr>
          <p:cNvPr id="168" name="Line 22">
            <a:extLst>
              <a:ext uri="{FF2B5EF4-FFF2-40B4-BE49-F238E27FC236}">
                <a16:creationId xmlns:a16="http://schemas.microsoft.com/office/drawing/2014/main" id="{7EF298A4-BCE3-43FF-B08C-4863426CA9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9249" y="2362642"/>
            <a:ext cx="249207" cy="46713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9" name="Line 23">
            <a:extLst>
              <a:ext uri="{FF2B5EF4-FFF2-40B4-BE49-F238E27FC236}">
                <a16:creationId xmlns:a16="http://schemas.microsoft.com/office/drawing/2014/main" id="{5FBEEC3F-909E-4F2D-8B02-3A02A31370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02253" y="2424855"/>
            <a:ext cx="249208" cy="45845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0" name="Oval 24">
            <a:extLst>
              <a:ext uri="{FF2B5EF4-FFF2-40B4-BE49-F238E27FC236}">
                <a16:creationId xmlns:a16="http://schemas.microsoft.com/office/drawing/2014/main" id="{23998F39-DFCF-41AF-9EF4-27DE1AD1F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3058" y="3846638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1" name="Text Box 25">
            <a:extLst>
              <a:ext uri="{FF2B5EF4-FFF2-40B4-BE49-F238E27FC236}">
                <a16:creationId xmlns:a16="http://schemas.microsoft.com/office/drawing/2014/main" id="{A629388C-272D-45E6-953D-7B9FE551E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6245" y="3891608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172" name="Line 26">
            <a:extLst>
              <a:ext uri="{FF2B5EF4-FFF2-40B4-BE49-F238E27FC236}">
                <a16:creationId xmlns:a16="http://schemas.microsoft.com/office/drawing/2014/main" id="{FEE01E2B-59A7-4FBF-B3FB-BE4B64DD59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572" y="3282508"/>
            <a:ext cx="476182" cy="501169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3" name="Line 27">
            <a:extLst>
              <a:ext uri="{FF2B5EF4-FFF2-40B4-BE49-F238E27FC236}">
                <a16:creationId xmlns:a16="http://schemas.microsoft.com/office/drawing/2014/main" id="{7EA5ACF9-A70F-42A1-96F2-A29A90EF44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3607" y="3397561"/>
            <a:ext cx="476187" cy="52096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7" name="Line 31">
            <a:extLst>
              <a:ext uri="{FF2B5EF4-FFF2-40B4-BE49-F238E27FC236}">
                <a16:creationId xmlns:a16="http://schemas.microsoft.com/office/drawing/2014/main" id="{4F7DD8E6-E5FC-4F22-A8ED-4004A198D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246" y="1451131"/>
            <a:ext cx="1913890" cy="59794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8" name="Line 32">
            <a:extLst>
              <a:ext uri="{FF2B5EF4-FFF2-40B4-BE49-F238E27FC236}">
                <a16:creationId xmlns:a16="http://schemas.microsoft.com/office/drawing/2014/main" id="{07785353-F25D-4F32-BFD7-0B3D30483E5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98694" y="1281441"/>
            <a:ext cx="1894292" cy="62813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9" name="Oval 33">
            <a:extLst>
              <a:ext uri="{FF2B5EF4-FFF2-40B4-BE49-F238E27FC236}">
                <a16:creationId xmlns:a16="http://schemas.microsoft.com/office/drawing/2014/main" id="{983F4AB2-D51C-4B8D-B93A-7FA978EB6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6809" y="2591385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2" name="Oval 36">
            <a:extLst>
              <a:ext uri="{FF2B5EF4-FFF2-40B4-BE49-F238E27FC236}">
                <a16:creationId xmlns:a16="http://schemas.microsoft.com/office/drawing/2014/main" id="{880D572F-30E8-4674-BD39-C7D4DD2EC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6077" y="3582353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3" name="Oval 37">
            <a:extLst>
              <a:ext uri="{FF2B5EF4-FFF2-40B4-BE49-F238E27FC236}">
                <a16:creationId xmlns:a16="http://schemas.microsoft.com/office/drawing/2014/main" id="{322B0521-2318-41FA-8ACF-C32CFCD50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2973" y="4615536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4" name="Oval 38">
            <a:extLst>
              <a:ext uri="{FF2B5EF4-FFF2-40B4-BE49-F238E27FC236}">
                <a16:creationId xmlns:a16="http://schemas.microsoft.com/office/drawing/2014/main" id="{D49D4E2F-FF5B-48B0-9A2B-AB42598F6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4473" y="4173447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5" name="Line 39">
            <a:extLst>
              <a:ext uri="{FF2B5EF4-FFF2-40B4-BE49-F238E27FC236}">
                <a16:creationId xmlns:a16="http://schemas.microsoft.com/office/drawing/2014/main" id="{D31480C1-0F9A-4916-8FC3-29C8B001D8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4135" y="3326478"/>
            <a:ext cx="1279526" cy="491334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6" name="Line 40">
            <a:extLst>
              <a:ext uri="{FF2B5EF4-FFF2-40B4-BE49-F238E27FC236}">
                <a16:creationId xmlns:a16="http://schemas.microsoft.com/office/drawing/2014/main" id="{2358D643-DBA2-49C1-8F48-0D73DFDD6E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31055" y="3168886"/>
            <a:ext cx="1221478" cy="45230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7" name="Line 41">
            <a:extLst>
              <a:ext uri="{FF2B5EF4-FFF2-40B4-BE49-F238E27FC236}">
                <a16:creationId xmlns:a16="http://schemas.microsoft.com/office/drawing/2014/main" id="{30A1862D-5311-4B8E-ABA6-6D4A49A26C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1849" y="3977754"/>
            <a:ext cx="474226" cy="61027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8" name="Line 42">
            <a:extLst>
              <a:ext uri="{FF2B5EF4-FFF2-40B4-BE49-F238E27FC236}">
                <a16:creationId xmlns:a16="http://schemas.microsoft.com/office/drawing/2014/main" id="{7C5FFCA2-DF78-4ABA-89E0-F93B3515E3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22348" y="4137290"/>
            <a:ext cx="352926" cy="489125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9" name="Line 43">
            <a:extLst>
              <a:ext uri="{FF2B5EF4-FFF2-40B4-BE49-F238E27FC236}">
                <a16:creationId xmlns:a16="http://schemas.microsoft.com/office/drawing/2014/main" id="{C0AA1ED3-E4A8-470E-AB97-04AC5ACC1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6266" y="4109079"/>
            <a:ext cx="827569" cy="294526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90" name="Line 44">
            <a:extLst>
              <a:ext uri="{FF2B5EF4-FFF2-40B4-BE49-F238E27FC236}">
                <a16:creationId xmlns:a16="http://schemas.microsoft.com/office/drawing/2014/main" id="{EA63D90B-B73F-4513-B508-40F7C564D0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43622" y="3894116"/>
            <a:ext cx="924776" cy="32051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91" name="Line 45">
            <a:extLst>
              <a:ext uri="{FF2B5EF4-FFF2-40B4-BE49-F238E27FC236}">
                <a16:creationId xmlns:a16="http://schemas.microsoft.com/office/drawing/2014/main" id="{F6310504-1AF5-4AFA-B8F4-B2F478410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1335" y="2316538"/>
            <a:ext cx="1542409" cy="479871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92" name="Line 46">
            <a:extLst>
              <a:ext uri="{FF2B5EF4-FFF2-40B4-BE49-F238E27FC236}">
                <a16:creationId xmlns:a16="http://schemas.microsoft.com/office/drawing/2014/main" id="{FDAE1EE7-6F9D-4C37-B3D4-E69FF9731A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743533" y="2132182"/>
            <a:ext cx="1440212" cy="41980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0" name="Text Box 54">
            <a:extLst>
              <a:ext uri="{FF2B5EF4-FFF2-40B4-BE49-F238E27FC236}">
                <a16:creationId xmlns:a16="http://schemas.microsoft.com/office/drawing/2014/main" id="{686671A3-00EE-4361-A071-962C016BC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6402" y="3668598"/>
            <a:ext cx="691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</a:t>
            </a:r>
          </a:p>
        </p:txBody>
      </p:sp>
      <p:sp>
        <p:nvSpPr>
          <p:cNvPr id="203" name="Text Box 57">
            <a:extLst>
              <a:ext uri="{FF2B5EF4-FFF2-40B4-BE49-F238E27FC236}">
                <a16:creationId xmlns:a16="http://schemas.microsoft.com/office/drawing/2014/main" id="{52D1F109-08A2-4158-AFC9-D1363708B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6160" y="4701781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F</a:t>
            </a:r>
          </a:p>
        </p:txBody>
      </p:sp>
      <p:sp>
        <p:nvSpPr>
          <p:cNvPr id="207" name="Text Box 61">
            <a:extLst>
              <a:ext uri="{FF2B5EF4-FFF2-40B4-BE49-F238E27FC236}">
                <a16:creationId xmlns:a16="http://schemas.microsoft.com/office/drawing/2014/main" id="{5C52A7C2-0A6C-4552-95E6-950B44146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0673" y="4218417"/>
            <a:ext cx="691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T’</a:t>
            </a:r>
          </a:p>
        </p:txBody>
      </p:sp>
      <p:sp>
        <p:nvSpPr>
          <p:cNvPr id="208" name="Text Box 62">
            <a:extLst>
              <a:ext uri="{FF2B5EF4-FFF2-40B4-BE49-F238E27FC236}">
                <a16:creationId xmlns:a16="http://schemas.microsoft.com/office/drawing/2014/main" id="{323877E6-EEE3-4E31-A603-677BFAFE7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009" y="2636355"/>
            <a:ext cx="668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E’</a:t>
            </a:r>
          </a:p>
        </p:txBody>
      </p:sp>
      <p:sp>
        <p:nvSpPr>
          <p:cNvPr id="214" name="Line 68">
            <a:extLst>
              <a:ext uri="{FF2B5EF4-FFF2-40B4-BE49-F238E27FC236}">
                <a16:creationId xmlns:a16="http://schemas.microsoft.com/office/drawing/2014/main" id="{5F56CCCD-00B0-43EE-B62B-CCAFD0FC90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87680" y="2346832"/>
            <a:ext cx="609600" cy="6096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15" name="Line 69">
            <a:extLst>
              <a:ext uri="{FF2B5EF4-FFF2-40B4-BE49-F238E27FC236}">
                <a16:creationId xmlns:a16="http://schemas.microsoft.com/office/drawing/2014/main" id="{EFA203D4-184E-4C00-BE00-2EDDD3E4C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5280" y="2499232"/>
            <a:ext cx="609600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16" name="Text Box 70">
            <a:extLst>
              <a:ext uri="{FF2B5EF4-FFF2-40B4-BE49-F238E27FC236}">
                <a16:creationId xmlns:a16="http://schemas.microsoft.com/office/drawing/2014/main" id="{97C53C64-EAA1-4B75-84C6-5F7BE1D2F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080" y="3001402"/>
            <a:ext cx="6912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bg1"/>
                </a:solidFill>
                <a:latin typeface="+mj-ea"/>
                <a:ea typeface="+mj-ea"/>
              </a:rPr>
              <a:t>T’</a:t>
            </a:r>
          </a:p>
        </p:txBody>
      </p:sp>
      <p:sp>
        <p:nvSpPr>
          <p:cNvPr id="217" name="Oval 71">
            <a:extLst>
              <a:ext uri="{FF2B5EF4-FFF2-40B4-BE49-F238E27FC236}">
                <a16:creationId xmlns:a16="http://schemas.microsoft.com/office/drawing/2014/main" id="{C01647F6-2D21-4E13-B8A9-9CCB3F18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4880" y="2956432"/>
            <a:ext cx="533400" cy="533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29" name="Rectangle 82">
            <a:extLst>
              <a:ext uri="{FF2B5EF4-FFF2-40B4-BE49-F238E27FC236}">
                <a16:creationId xmlns:a16="http://schemas.microsoft.com/office/drawing/2014/main" id="{FAEEE6EC-0915-4D1C-9600-9C65E7781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280" y="4132076"/>
            <a:ext cx="2438400" cy="5334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+ 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* 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#</a:t>
            </a:r>
          </a:p>
        </p:txBody>
      </p:sp>
      <p:grpSp>
        <p:nvGrpSpPr>
          <p:cNvPr id="230" name="Group 85">
            <a:extLst>
              <a:ext uri="{FF2B5EF4-FFF2-40B4-BE49-F238E27FC236}">
                <a16:creationId xmlns:a16="http://schemas.microsoft.com/office/drawing/2014/main" id="{36F5738E-E942-462C-AAA6-8EAFADA403FA}"/>
              </a:ext>
            </a:extLst>
          </p:cNvPr>
          <p:cNvGrpSpPr>
            <a:grpSpLocks/>
          </p:cNvGrpSpPr>
          <p:nvPr/>
        </p:nvGrpSpPr>
        <p:grpSpPr bwMode="auto">
          <a:xfrm>
            <a:off x="906498" y="4741676"/>
            <a:ext cx="381000" cy="762000"/>
            <a:chOff x="336" y="3552"/>
            <a:chExt cx="240" cy="480"/>
          </a:xfrm>
        </p:grpSpPr>
        <p:sp>
          <p:nvSpPr>
            <p:cNvPr id="231" name="Line 83">
              <a:extLst>
                <a:ext uri="{FF2B5EF4-FFF2-40B4-BE49-F238E27FC236}">
                  <a16:creationId xmlns:a16="http://schemas.microsoft.com/office/drawing/2014/main" id="{8B5F418E-0C0C-4BEE-A61F-A3B5395F60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" y="3552"/>
              <a:ext cx="0" cy="24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2" name="Rectangle 84">
              <a:extLst>
                <a:ext uri="{FF2B5EF4-FFF2-40B4-BE49-F238E27FC236}">
                  <a16:creationId xmlns:a16="http://schemas.microsoft.com/office/drawing/2014/main" id="{CA241918-3BDD-495D-94E4-22E51015B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792"/>
              <a:ext cx="24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1EB8542F-BE9A-40B2-9783-93604C412B20}"/>
              </a:ext>
            </a:extLst>
          </p:cNvPr>
          <p:cNvGrpSpPr/>
          <p:nvPr/>
        </p:nvGrpSpPr>
        <p:grpSpPr>
          <a:xfrm>
            <a:off x="4175713" y="3566032"/>
            <a:ext cx="323541" cy="609600"/>
            <a:chOff x="4174434" y="3581400"/>
            <a:chExt cx="319088" cy="990600"/>
          </a:xfrm>
        </p:grpSpPr>
        <p:sp>
          <p:nvSpPr>
            <p:cNvPr id="233" name="Line 39">
              <a:extLst>
                <a:ext uri="{FF2B5EF4-FFF2-40B4-BE49-F238E27FC236}">
                  <a16:creationId xmlns:a16="http://schemas.microsoft.com/office/drawing/2014/main" id="{C343A8D4-6795-4BCD-B63E-F6370FDF1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620" y="3581400"/>
              <a:ext cx="0" cy="533400"/>
            </a:xfrm>
            <a:prstGeom prst="line">
              <a:avLst/>
            </a:prstGeom>
            <a:noFill/>
            <a:ln w="38100">
              <a:solidFill>
                <a:srgbClr val="EE853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>
                <a:solidFill>
                  <a:srgbClr val="EE853E"/>
                </a:solidFill>
                <a:latin typeface="+mj-ea"/>
                <a:ea typeface="+mj-ea"/>
              </a:endParaRPr>
            </a:p>
          </p:txBody>
        </p:sp>
        <p:sp>
          <p:nvSpPr>
            <p:cNvPr id="234" name="Text Box 44">
              <a:extLst>
                <a:ext uri="{FF2B5EF4-FFF2-40B4-BE49-F238E27FC236}">
                  <a16:creationId xmlns:a16="http://schemas.microsoft.com/office/drawing/2014/main" id="{30208328-25B3-4EFD-92D5-228C9FE78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34" y="4114800"/>
              <a:ext cx="31908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>
                <a:defRPr>
                  <a:solidFill>
                    <a:schemeClr val="bg1"/>
                  </a:solidFill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EE853E"/>
                  </a:solidFill>
                  <a:latin typeface="+mj-ea"/>
                  <a:ea typeface="+mj-ea"/>
                </a:rPr>
                <a:t>i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0614986-CB6B-43C0-ACE6-8D1AA96A88E2}"/>
              </a:ext>
            </a:extLst>
          </p:cNvPr>
          <p:cNvGrpSpPr/>
          <p:nvPr/>
        </p:nvGrpSpPr>
        <p:grpSpPr>
          <a:xfrm>
            <a:off x="6947923" y="2160205"/>
            <a:ext cx="1178422" cy="230033"/>
            <a:chOff x="6725754" y="2275464"/>
            <a:chExt cx="1522256" cy="547270"/>
          </a:xfrm>
        </p:grpSpPr>
        <p:sp>
          <p:nvSpPr>
            <p:cNvPr id="237" name="Line 39">
              <a:extLst>
                <a:ext uri="{FF2B5EF4-FFF2-40B4-BE49-F238E27FC236}">
                  <a16:creationId xmlns:a16="http://schemas.microsoft.com/office/drawing/2014/main" id="{A00CE049-E9AE-4B83-809D-958C07B994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22281" y="2275464"/>
              <a:ext cx="1025729" cy="547270"/>
            </a:xfrm>
            <a:prstGeom prst="line">
              <a:avLst/>
            </a:prstGeom>
            <a:noFill/>
            <a:ln w="38100">
              <a:solidFill>
                <a:srgbClr val="EE853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>
                <a:solidFill>
                  <a:srgbClr val="EE853E"/>
                </a:solidFill>
                <a:latin typeface="+mj-ea"/>
                <a:ea typeface="+mj-ea"/>
              </a:endParaRPr>
            </a:p>
          </p:txBody>
        </p:sp>
        <p:sp>
          <p:nvSpPr>
            <p:cNvPr id="238" name="Text Box 44">
              <a:extLst>
                <a:ext uri="{FF2B5EF4-FFF2-40B4-BE49-F238E27FC236}">
                  <a16:creationId xmlns:a16="http://schemas.microsoft.com/office/drawing/2014/main" id="{295C13A3-C0D4-4E8F-ADA0-5FDF41B84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5754" y="2397345"/>
              <a:ext cx="448221" cy="370463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>
                <a:defRPr sz="2400" b="1">
                  <a:solidFill>
                    <a:srgbClr val="EE853E"/>
                  </a:solidFill>
                  <a:latin typeface="+mj-ea"/>
                  <a:ea typeface="+mj-ea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dirty="0"/>
                <a:t>+</a:t>
              </a:r>
            </a:p>
          </p:txBody>
        </p:sp>
      </p:grp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433B6044-6FE9-462B-8EE0-57063AA451BC}"/>
              </a:ext>
            </a:extLst>
          </p:cNvPr>
          <p:cNvGrpSpPr/>
          <p:nvPr/>
        </p:nvGrpSpPr>
        <p:grpSpPr>
          <a:xfrm>
            <a:off x="7025722" y="4456740"/>
            <a:ext cx="319088" cy="752396"/>
            <a:chOff x="4174434" y="3581400"/>
            <a:chExt cx="319088" cy="752396"/>
          </a:xfrm>
        </p:grpSpPr>
        <p:sp>
          <p:nvSpPr>
            <p:cNvPr id="240" name="Line 39">
              <a:extLst>
                <a:ext uri="{FF2B5EF4-FFF2-40B4-BE49-F238E27FC236}">
                  <a16:creationId xmlns:a16="http://schemas.microsoft.com/office/drawing/2014/main" id="{1C3EECE5-5222-4C54-A34F-873F3B669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620" y="3581400"/>
              <a:ext cx="0" cy="291993"/>
            </a:xfrm>
            <a:prstGeom prst="line">
              <a:avLst/>
            </a:prstGeom>
            <a:noFill/>
            <a:ln w="38100">
              <a:solidFill>
                <a:srgbClr val="EE853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>
                <a:solidFill>
                  <a:srgbClr val="EE853E"/>
                </a:solidFill>
                <a:latin typeface="+mj-ea"/>
                <a:ea typeface="+mj-ea"/>
              </a:endParaRPr>
            </a:p>
          </p:txBody>
        </p:sp>
        <p:sp>
          <p:nvSpPr>
            <p:cNvPr id="241" name="Text Box 44">
              <a:extLst>
                <a:ext uri="{FF2B5EF4-FFF2-40B4-BE49-F238E27FC236}">
                  <a16:creationId xmlns:a16="http://schemas.microsoft.com/office/drawing/2014/main" id="{6D466653-5A61-42AA-9943-069EA99A6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34" y="3876596"/>
              <a:ext cx="319088" cy="4572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>
                <a:defRPr sz="2400" b="1">
                  <a:solidFill>
                    <a:srgbClr val="EE853E"/>
                  </a:solidFill>
                  <a:latin typeface="+mj-ea"/>
                  <a:ea typeface="+mj-ea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dirty="0" err="1"/>
                <a:t>i</a:t>
              </a:r>
              <a:endParaRPr lang="en-US" altLang="zh-CN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B316BE00-1F62-451E-A76A-CCFE5077F032}"/>
              </a:ext>
            </a:extLst>
          </p:cNvPr>
          <p:cNvGrpSpPr/>
          <p:nvPr/>
        </p:nvGrpSpPr>
        <p:grpSpPr>
          <a:xfrm>
            <a:off x="8363575" y="3995119"/>
            <a:ext cx="1156193" cy="610719"/>
            <a:chOff x="8271570" y="4359798"/>
            <a:chExt cx="1156193" cy="610719"/>
          </a:xfrm>
        </p:grpSpPr>
        <p:sp>
          <p:nvSpPr>
            <p:cNvPr id="243" name="Line 39">
              <a:extLst>
                <a:ext uri="{FF2B5EF4-FFF2-40B4-BE49-F238E27FC236}">
                  <a16:creationId xmlns:a16="http://schemas.microsoft.com/office/drawing/2014/main" id="{BE23DB10-087E-4984-9B0C-0B505D9FBE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763378" flipH="1">
              <a:off x="8579254" y="4359798"/>
              <a:ext cx="848509" cy="134522"/>
            </a:xfrm>
            <a:prstGeom prst="line">
              <a:avLst/>
            </a:prstGeom>
            <a:noFill/>
            <a:ln w="38100">
              <a:solidFill>
                <a:srgbClr val="EE853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>
                <a:solidFill>
                  <a:srgbClr val="EE853E"/>
                </a:solidFill>
                <a:latin typeface="+mj-ea"/>
                <a:ea typeface="+mj-ea"/>
              </a:endParaRPr>
            </a:p>
          </p:txBody>
        </p:sp>
        <p:sp>
          <p:nvSpPr>
            <p:cNvPr id="244" name="Text Box 44">
              <a:extLst>
                <a:ext uri="{FF2B5EF4-FFF2-40B4-BE49-F238E27FC236}">
                  <a16:creationId xmlns:a16="http://schemas.microsoft.com/office/drawing/2014/main" id="{B875F8D1-A9CC-495F-BE4C-8A92500FA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1570" y="4513316"/>
              <a:ext cx="398683" cy="457201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>
                <a:defRPr sz="2400" b="1">
                  <a:solidFill>
                    <a:srgbClr val="EE853E"/>
                  </a:solidFill>
                  <a:latin typeface="+mj-ea"/>
                  <a:ea typeface="+mj-ea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dirty="0"/>
                <a:t>*</a:t>
              </a:r>
            </a:p>
          </p:txBody>
        </p:sp>
      </p:grp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FE317CD7-A319-4904-9705-74AF15B60523}"/>
              </a:ext>
            </a:extLst>
          </p:cNvPr>
          <p:cNvGrpSpPr/>
          <p:nvPr/>
        </p:nvGrpSpPr>
        <p:grpSpPr>
          <a:xfrm>
            <a:off x="8989537" y="5225136"/>
            <a:ext cx="319088" cy="737028"/>
            <a:chOff x="4174434" y="3581400"/>
            <a:chExt cx="319088" cy="737028"/>
          </a:xfrm>
        </p:grpSpPr>
        <p:sp>
          <p:nvSpPr>
            <p:cNvPr id="246" name="Line 39">
              <a:extLst>
                <a:ext uri="{FF2B5EF4-FFF2-40B4-BE49-F238E27FC236}">
                  <a16:creationId xmlns:a16="http://schemas.microsoft.com/office/drawing/2014/main" id="{AECC566F-4D1B-43F7-9FED-55E83E0FDB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620" y="3581400"/>
              <a:ext cx="0" cy="304102"/>
            </a:xfrm>
            <a:prstGeom prst="line">
              <a:avLst/>
            </a:prstGeom>
            <a:noFill/>
            <a:ln w="38100">
              <a:solidFill>
                <a:srgbClr val="EE853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>
                <a:solidFill>
                  <a:srgbClr val="EE853E"/>
                </a:solidFill>
                <a:latin typeface="+mj-ea"/>
                <a:ea typeface="+mj-ea"/>
              </a:endParaRPr>
            </a:p>
          </p:txBody>
        </p:sp>
        <p:sp>
          <p:nvSpPr>
            <p:cNvPr id="247" name="Text Box 44">
              <a:extLst>
                <a:ext uri="{FF2B5EF4-FFF2-40B4-BE49-F238E27FC236}">
                  <a16:creationId xmlns:a16="http://schemas.microsoft.com/office/drawing/2014/main" id="{30C363C1-D427-4B56-AE6B-6AE6EC9C7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34" y="3861228"/>
              <a:ext cx="319088" cy="4572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>
                <a:defRPr sz="2400" b="1">
                  <a:solidFill>
                    <a:srgbClr val="EE853E"/>
                  </a:solidFill>
                  <a:latin typeface="+mj-ea"/>
                  <a:ea typeface="+mj-ea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dirty="0" err="1"/>
                <a:t>i</a:t>
              </a:r>
              <a:endParaRPr lang="en-US" altLang="zh-CN" dirty="0"/>
            </a:p>
          </p:txBody>
        </p:sp>
      </p:grpSp>
      <p:sp>
        <p:nvSpPr>
          <p:cNvPr id="70" name="Text Box 57">
            <a:extLst>
              <a:ext uri="{FF2B5EF4-FFF2-40B4-BE49-F238E27FC236}">
                <a16:creationId xmlns:a16="http://schemas.microsoft.com/office/drawing/2014/main" id="{1E47AAEC-ADBC-48DA-9D98-BD5B03C2C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26" y="5633637"/>
            <a:ext cx="31201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EE853E"/>
                </a:solidFill>
                <a:latin typeface="+mj-ea"/>
                <a:ea typeface="+mj-ea"/>
              </a:rPr>
              <a:t>结论：输入串合法！</a:t>
            </a:r>
            <a:endParaRPr kumimoji="1" lang="en-US" altLang="zh-CN" sz="2400" b="1" dirty="0">
              <a:solidFill>
                <a:srgbClr val="EE853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6980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11111E-6 L 0.03633 -1.11111E-6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633 -1.11111E-6 L 0.07175 -4.44444E-6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4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75 -1.11111E-6 L 0.09583 -1.11111E-6 " pathEditMode="relative" rAng="0" ptsTypes="AA">
                                      <p:cBhvr>
                                        <p:cTn id="144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84 -1.11111E-6 L 0.12045 -1.11111E-6 " pathEditMode="relative" rAng="0" ptsTypes="AA">
                                      <p:cBhvr>
                                        <p:cTn id="182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45 -1.11111E-6 L 0.15404 -1.11111E-6 " pathEditMode="relative" rAng="0" ptsTypes="AA">
                                      <p:cBhvr>
                                        <p:cTn id="215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 animBg="1"/>
      <p:bldP spid="153" grpId="0"/>
      <p:bldP spid="154" grpId="0" animBg="1"/>
      <p:bldP spid="155" grpId="0"/>
      <p:bldP spid="156" grpId="0" animBg="1"/>
      <p:bldP spid="157" grpId="0" animBg="1"/>
      <p:bldP spid="158" grpId="0" animBg="1"/>
      <p:bldP spid="159" grpId="0"/>
      <p:bldP spid="160" grpId="0" animBg="1"/>
      <p:bldP spid="161" grpId="0" animBg="1"/>
      <p:bldP spid="164" grpId="0" animBg="1"/>
      <p:bldP spid="165" grpId="0"/>
      <p:bldP spid="166" grpId="0" animBg="1"/>
      <p:bldP spid="167" grpId="0"/>
      <p:bldP spid="168" grpId="0" animBg="1"/>
      <p:bldP spid="169" grpId="0" animBg="1"/>
      <p:bldP spid="170" grpId="0" animBg="1"/>
      <p:bldP spid="171" grpId="0"/>
      <p:bldP spid="172" grpId="0" animBg="1"/>
      <p:bldP spid="173" grpId="0" animBg="1"/>
      <p:bldP spid="177" grpId="0" animBg="1"/>
      <p:bldP spid="178" grpId="0" animBg="1"/>
      <p:bldP spid="179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200" grpId="0"/>
      <p:bldP spid="203" grpId="0"/>
      <p:bldP spid="207" grpId="0"/>
      <p:bldP spid="208" grpId="0"/>
      <p:bldP spid="214" grpId="0" animBg="1"/>
      <p:bldP spid="215" grpId="0" animBg="1"/>
      <p:bldP spid="216" grpId="0"/>
      <p:bldP spid="217" grpId="0" animBg="1"/>
      <p:bldP spid="70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7085</TotalTime>
  <Words>536</Words>
  <Application>Microsoft Office PowerPoint</Application>
  <PresentationFormat>宽屏</PresentationFormat>
  <Paragraphs>92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微软雅黑</vt:lpstr>
      <vt:lpstr>Arial</vt:lpstr>
      <vt:lpstr>Wingdings</vt:lpstr>
      <vt:lpstr>环保</vt:lpstr>
      <vt:lpstr>第七章 语法分析</vt:lpstr>
      <vt:lpstr>递归下降分析法</vt:lpstr>
      <vt:lpstr>实例</vt:lpstr>
      <vt:lpstr>E → TE’</vt:lpstr>
      <vt:lpstr>E’→ +TE’| ε</vt:lpstr>
      <vt:lpstr>T → FT’</vt:lpstr>
      <vt:lpstr>T’ → *FT’| ε</vt:lpstr>
      <vt:lpstr>F → (E) | i</vt:lpstr>
      <vt:lpstr>输入串 i + i * i 的分析过程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1073</cp:revision>
  <cp:lastPrinted>1601-01-01T00:00:00Z</cp:lastPrinted>
  <dcterms:created xsi:type="dcterms:W3CDTF">1601-01-01T00:00:00Z</dcterms:created>
  <dcterms:modified xsi:type="dcterms:W3CDTF">2020-01-27T05:12:31Z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