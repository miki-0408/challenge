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8"/>
  </p:notesMasterIdLst>
  <p:handoutMasterIdLst>
    <p:handoutMasterId r:id="rId19"/>
  </p:handoutMasterIdLst>
  <p:sldIdLst>
    <p:sldId id="399" r:id="rId2"/>
    <p:sldId id="394" r:id="rId3"/>
    <p:sldId id="288" r:id="rId4"/>
    <p:sldId id="289" r:id="rId5"/>
    <p:sldId id="291" r:id="rId6"/>
    <p:sldId id="292" r:id="rId7"/>
    <p:sldId id="294" r:id="rId8"/>
    <p:sldId id="391" r:id="rId9"/>
    <p:sldId id="295" r:id="rId10"/>
    <p:sldId id="296" r:id="rId11"/>
    <p:sldId id="400" r:id="rId12"/>
    <p:sldId id="298" r:id="rId13"/>
    <p:sldId id="392" r:id="rId14"/>
    <p:sldId id="301" r:id="rId15"/>
    <p:sldId id="393" r:id="rId16"/>
    <p:sldId id="303" r:id="rId17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040C0E"/>
    <a:srgbClr val="A18D60"/>
    <a:srgbClr val="EE8A3E"/>
    <a:srgbClr val="E98A3E"/>
    <a:srgbClr val="04141B"/>
    <a:srgbClr val="D9B247"/>
    <a:srgbClr val="2A9995"/>
    <a:srgbClr val="54D0C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3" autoAdjust="0"/>
    <p:restoredTop sz="89127" autoAdjust="0"/>
  </p:normalViewPr>
  <p:slideViewPr>
    <p:cSldViewPr>
      <p:cViewPr varScale="1">
        <p:scale>
          <a:sx n="62" d="100"/>
          <a:sy n="62" d="100"/>
        </p:scale>
        <p:origin x="27" y="15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112535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9442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728184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语言除内部类型外，还允许用户借助于语言提供的</a:t>
            </a:r>
            <a:r>
              <a:rPr lang="zh-CN" altLang="en-GB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数据的组合</a:t>
            </a:r>
            <a:r>
              <a:rPr lang="zh-CN" altLang="en-US" sz="1200" b="0" kern="1200" dirty="0">
                <a:solidFill>
                  <a:schemeClr val="bg1"/>
                </a:solidFill>
                <a:latin typeface="+mj-ea"/>
                <a:ea typeface="宋体" pitchFamily="2" charset="-122"/>
                <a:cs typeface="+mn-cs"/>
              </a:rPr>
              <a:t>（聚合）机制，自己定义新的数据类型。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90921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609600"/>
            <a:ext cx="9601196" cy="56388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4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内部类型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</a:rPr>
                <a:t>第四节 </a:t>
              </a:r>
              <a:r>
                <a:rPr lang="en-US" altLang="zh-CN" sz="2400" b="1" dirty="0">
                  <a:solidFill>
                    <a:srgbClr val="EE853E"/>
                  </a:solidFill>
                  <a:latin typeface="+mj-ea"/>
                  <a:ea typeface="+mj-ea"/>
                </a:rPr>
                <a:t>C</a:t>
              </a:r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596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60026" y="2102974"/>
            <a:ext cx="2681948" cy="2743200"/>
          </a:xfrm>
          <a:prstGeom prst="wedgeRoundRectCallout">
            <a:avLst>
              <a:gd name="adj1" fmla="val 27923"/>
              <a:gd name="adj2" fmla="val 67261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空类型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第四节 </a:t>
              </a:r>
              <a:r>
                <a:rPr lang="en-US" altLang="zh-CN" b="1" dirty="0">
                  <a:solidFill>
                    <a:srgbClr val="EE853E"/>
                  </a:solidFill>
                  <a:latin typeface="+mj-ea"/>
                  <a:ea typeface="+mj-ea"/>
                </a:rPr>
                <a:t>C</a:t>
              </a:r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583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内部类型</a:t>
            </a:r>
          </a:p>
          <a:p>
            <a:r>
              <a:rPr lang="zh-CN" altLang="en-US" dirty="0"/>
              <a:t>整型：</a:t>
            </a:r>
            <a:r>
              <a:rPr lang="en-US" altLang="zh-CN" dirty="0" err="1">
                <a:solidFill>
                  <a:srgbClr val="EE853E"/>
                </a:solidFill>
              </a:rPr>
              <a:t>int</a:t>
            </a:r>
            <a:r>
              <a:rPr lang="zh-CN" altLang="en-US" dirty="0">
                <a:solidFill>
                  <a:srgbClr val="EE853E"/>
                </a:solidFill>
              </a:rPr>
              <a:t>，</a:t>
            </a:r>
            <a:r>
              <a:rPr lang="en-US" altLang="zh-CN" dirty="0">
                <a:solidFill>
                  <a:srgbClr val="EE853E"/>
                </a:solidFill>
              </a:rPr>
              <a:t>short</a:t>
            </a:r>
            <a:r>
              <a:rPr lang="zh-CN" altLang="en-US" dirty="0">
                <a:solidFill>
                  <a:srgbClr val="EE853E"/>
                </a:solidFill>
              </a:rPr>
              <a:t>，</a:t>
            </a:r>
            <a:r>
              <a:rPr lang="en-US" altLang="zh-CN" dirty="0">
                <a:solidFill>
                  <a:srgbClr val="EE853E"/>
                </a:solidFill>
              </a:rPr>
              <a:t>long</a:t>
            </a:r>
            <a:r>
              <a:rPr lang="zh-CN" altLang="en-US" dirty="0">
                <a:solidFill>
                  <a:srgbClr val="EE853E"/>
                </a:solidFill>
              </a:rPr>
              <a:t>，</a:t>
            </a:r>
            <a:r>
              <a:rPr lang="en-US" altLang="zh-CN" dirty="0">
                <a:solidFill>
                  <a:srgbClr val="EE853E"/>
                </a:solidFill>
              </a:rPr>
              <a:t>unsigned</a:t>
            </a:r>
            <a:endParaRPr lang="zh-CN" altLang="en-US" dirty="0">
              <a:solidFill>
                <a:srgbClr val="EE853E"/>
              </a:solidFill>
            </a:endParaRPr>
          </a:p>
          <a:p>
            <a:r>
              <a:rPr lang="zh-CN" altLang="en-US" dirty="0"/>
              <a:t>实型又称为浮点型，</a:t>
            </a:r>
            <a:r>
              <a:rPr lang="en-US" altLang="zh-CN" dirty="0">
                <a:solidFill>
                  <a:srgbClr val="EE853E"/>
                </a:solidFill>
              </a:rPr>
              <a:t>float</a:t>
            </a:r>
            <a:r>
              <a:rPr lang="zh-CN" altLang="en-US" dirty="0">
                <a:solidFill>
                  <a:srgbClr val="EE853E"/>
                </a:solidFill>
              </a:rPr>
              <a:t>，</a:t>
            </a:r>
            <a:r>
              <a:rPr lang="en-US" altLang="zh-CN" dirty="0">
                <a:solidFill>
                  <a:srgbClr val="EE853E"/>
                </a:solidFill>
              </a:rPr>
              <a:t>double</a:t>
            </a:r>
          </a:p>
          <a:p>
            <a:r>
              <a:rPr lang="zh-CN" altLang="en-US" dirty="0"/>
              <a:t>字符型数据的值是有限字符集的元素。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非结构类型</a:t>
            </a:r>
          </a:p>
        </p:txBody>
      </p:sp>
    </p:spTree>
    <p:extLst>
      <p:ext uri="{BB962C8B-B14F-4D97-AF65-F5344CB8AC3E}">
        <p14:creationId xmlns:p14="http://schemas.microsoft.com/office/powerpoint/2010/main" val="22534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类型</a:t>
            </a:r>
            <a:r>
              <a:rPr lang="en-US" altLang="zh-CN" dirty="0"/>
              <a:t>    </a:t>
            </a:r>
            <a:r>
              <a:rPr lang="zh-CN" altLang="en-US" dirty="0">
                <a:solidFill>
                  <a:srgbClr val="EE853E"/>
                </a:solidFill>
              </a:rPr>
              <a:t>字节数</a:t>
            </a:r>
            <a:r>
              <a:rPr lang="en-US" altLang="zh-CN" dirty="0">
                <a:solidFill>
                  <a:srgbClr val="EE853E"/>
                </a:solidFill>
              </a:rPr>
              <a:t>    </a:t>
            </a:r>
            <a:r>
              <a:rPr lang="zh-CN" altLang="en-US" dirty="0"/>
              <a:t>有效位数</a:t>
            </a:r>
            <a:endParaRPr lang="en-US" altLang="zh-CN" dirty="0"/>
          </a:p>
          <a:p>
            <a:r>
              <a:rPr lang="en-US" altLang="zh-CN" dirty="0"/>
              <a:t>float          </a:t>
            </a:r>
            <a:r>
              <a:rPr lang="en-US" altLang="zh-CN" dirty="0">
                <a:solidFill>
                  <a:srgbClr val="EE853E"/>
                </a:solidFill>
              </a:rPr>
              <a:t>4</a:t>
            </a:r>
            <a:r>
              <a:rPr lang="en-US" altLang="zh-CN" dirty="0"/>
              <a:t>            7 </a:t>
            </a:r>
          </a:p>
          <a:p>
            <a:r>
              <a:rPr lang="zh-CN" altLang="en-US" dirty="0"/>
              <a:t>数值范围</a:t>
            </a:r>
          </a:p>
          <a:p>
            <a:r>
              <a:rPr lang="en-US" altLang="zh-CN" dirty="0">
                <a:sym typeface="Symbol" pitchFamily="18" charset="2"/>
              </a:rPr>
              <a:t>-</a:t>
            </a:r>
            <a:r>
              <a:rPr lang="en-US" altLang="zh-CN" dirty="0"/>
              <a:t>3.4×10</a:t>
            </a:r>
            <a:r>
              <a:rPr lang="en-US" altLang="zh-CN" baseline="30000" dirty="0"/>
              <a:t>38</a:t>
            </a:r>
            <a:r>
              <a:rPr lang="zh-CN" altLang="en-US" dirty="0"/>
              <a:t>～</a:t>
            </a:r>
            <a:r>
              <a:rPr lang="en-US" altLang="zh-CN" dirty="0">
                <a:solidFill>
                  <a:srgbClr val="EE853E"/>
                </a:solidFill>
              </a:rPr>
              <a:t>3.4</a:t>
            </a:r>
            <a:r>
              <a:rPr lang="en-US" altLang="zh-CN" dirty="0"/>
              <a:t>×10</a:t>
            </a:r>
            <a:r>
              <a:rPr lang="en-US" altLang="zh-CN" baseline="30000" dirty="0"/>
              <a:t>38</a:t>
            </a:r>
          </a:p>
          <a:p>
            <a:r>
              <a:rPr lang="zh-CN" altLang="en-US" dirty="0"/>
              <a:t>阶的范围</a:t>
            </a:r>
          </a:p>
          <a:p>
            <a:r>
              <a:rPr lang="en-US" altLang="zh-CN" dirty="0"/>
              <a:t>-38</a:t>
            </a:r>
            <a:r>
              <a:rPr lang="zh-CN" altLang="en-US" dirty="0"/>
              <a:t>～</a:t>
            </a:r>
            <a:r>
              <a:rPr lang="en-US" altLang="zh-CN" dirty="0"/>
              <a:t>38</a:t>
            </a:r>
          </a:p>
          <a:p>
            <a:endParaRPr lang="en-US" altLang="zh-CN" dirty="0"/>
          </a:p>
          <a:p>
            <a:r>
              <a:rPr lang="zh-CN" altLang="en-US" dirty="0"/>
              <a:t>思考：最接近</a:t>
            </a:r>
            <a:r>
              <a:rPr lang="en-US" altLang="zh-CN" dirty="0"/>
              <a:t>0</a:t>
            </a:r>
            <a:r>
              <a:rPr lang="zh-CN" altLang="en-US" dirty="0"/>
              <a:t>的正的</a:t>
            </a:r>
            <a:r>
              <a:rPr lang="en-US" altLang="zh-CN" dirty="0"/>
              <a:t>float</a:t>
            </a:r>
            <a:r>
              <a:rPr lang="zh-CN" altLang="en-US" dirty="0"/>
              <a:t>型数据是？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非结构类型</a:t>
            </a:r>
          </a:p>
        </p:txBody>
      </p:sp>
    </p:spTree>
    <p:extLst>
      <p:ext uri="{BB962C8B-B14F-4D97-AF65-F5344CB8AC3E}">
        <p14:creationId xmlns:p14="http://schemas.microsoft.com/office/powerpoint/2010/main" val="161880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类型    </a:t>
            </a:r>
            <a:r>
              <a:rPr lang="zh-CN" altLang="en-US" dirty="0">
                <a:solidFill>
                  <a:srgbClr val="EE853E"/>
                </a:solidFill>
              </a:rPr>
              <a:t>字节数    </a:t>
            </a:r>
            <a:r>
              <a:rPr lang="zh-CN" altLang="en-US" dirty="0"/>
              <a:t>有效位数</a:t>
            </a:r>
            <a:endParaRPr lang="en-US" altLang="zh-CN" dirty="0"/>
          </a:p>
          <a:p>
            <a:r>
              <a:rPr lang="en-US" altLang="zh-CN" dirty="0"/>
              <a:t>double      </a:t>
            </a:r>
            <a:r>
              <a:rPr lang="en-US" altLang="zh-CN" dirty="0">
                <a:solidFill>
                  <a:srgbClr val="EE853E"/>
                </a:solidFill>
              </a:rPr>
              <a:t>8</a:t>
            </a:r>
            <a:r>
              <a:rPr lang="en-US" altLang="zh-CN" dirty="0"/>
              <a:t>           16 </a:t>
            </a:r>
          </a:p>
          <a:p>
            <a:r>
              <a:rPr lang="zh-CN" altLang="en-US" dirty="0"/>
              <a:t>数值范围</a:t>
            </a:r>
          </a:p>
          <a:p>
            <a:r>
              <a:rPr lang="en-US" altLang="zh-CN" dirty="0"/>
              <a:t>-1.7×10</a:t>
            </a:r>
            <a:r>
              <a:rPr lang="en-US" altLang="zh-CN" baseline="30000" dirty="0"/>
              <a:t>308</a:t>
            </a:r>
            <a:r>
              <a:rPr lang="zh-CN" altLang="en-US" dirty="0"/>
              <a:t>～</a:t>
            </a:r>
            <a:r>
              <a:rPr lang="en-US" altLang="zh-CN" dirty="0">
                <a:solidFill>
                  <a:srgbClr val="EE853E"/>
                </a:solidFill>
              </a:rPr>
              <a:t>1.7</a:t>
            </a:r>
            <a:r>
              <a:rPr lang="en-US" altLang="zh-CN" dirty="0"/>
              <a:t>×10</a:t>
            </a:r>
            <a:r>
              <a:rPr lang="en-US" altLang="zh-CN" baseline="30000" dirty="0"/>
              <a:t>308</a:t>
            </a:r>
          </a:p>
          <a:p>
            <a:r>
              <a:rPr lang="zh-CN" altLang="en-US" dirty="0"/>
              <a:t>阶的范围</a:t>
            </a:r>
          </a:p>
          <a:p>
            <a:r>
              <a:rPr lang="en-US" altLang="zh-CN" dirty="0"/>
              <a:t>-308</a:t>
            </a:r>
            <a:r>
              <a:rPr lang="zh-CN" altLang="en-US" dirty="0"/>
              <a:t>～</a:t>
            </a:r>
            <a:r>
              <a:rPr lang="en-US" altLang="zh-CN" dirty="0"/>
              <a:t>308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非结构类型</a:t>
            </a:r>
          </a:p>
        </p:txBody>
      </p:sp>
    </p:spTree>
    <p:extLst>
      <p:ext uri="{BB962C8B-B14F-4D97-AF65-F5344CB8AC3E}">
        <p14:creationId xmlns:p14="http://schemas.microsoft.com/office/powerpoint/2010/main" val="315702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语言没有布尔型。</a:t>
            </a:r>
          </a:p>
          <a:p>
            <a:r>
              <a:rPr lang="en-US" altLang="zh-CN" dirty="0"/>
              <a:t>0</a:t>
            </a:r>
            <a:r>
              <a:rPr lang="zh-CN" altLang="en-US" dirty="0"/>
              <a:t>表示</a:t>
            </a:r>
            <a:r>
              <a:rPr lang="en-US" altLang="zh-CN" dirty="0">
                <a:solidFill>
                  <a:srgbClr val="EE853E"/>
                </a:solidFill>
              </a:rPr>
              <a:t>false</a:t>
            </a:r>
            <a:r>
              <a:rPr lang="zh-CN" altLang="en-US" dirty="0"/>
              <a:t>，非</a:t>
            </a:r>
            <a:r>
              <a:rPr lang="en-US" altLang="zh-CN" dirty="0"/>
              <a:t>0</a:t>
            </a:r>
            <a:r>
              <a:rPr lang="zh-CN" altLang="en-US" dirty="0"/>
              <a:t>表示</a:t>
            </a:r>
            <a:r>
              <a:rPr lang="en-US" altLang="zh-CN" dirty="0">
                <a:solidFill>
                  <a:srgbClr val="EE853E"/>
                </a:solidFill>
              </a:rPr>
              <a:t>true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思考：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语言为什么没有布尔类型？</a:t>
            </a:r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8C9DC8B-2490-41FB-A7C5-D1DCCA51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非结构类型</a:t>
            </a:r>
          </a:p>
        </p:txBody>
      </p:sp>
    </p:spTree>
    <p:extLst>
      <p:ext uri="{BB962C8B-B14F-4D97-AF65-F5344CB8AC3E}">
        <p14:creationId xmlns:p14="http://schemas.microsoft.com/office/powerpoint/2010/main" val="294258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用户定义的非结构类型</a:t>
            </a:r>
          </a:p>
          <a:p>
            <a:r>
              <a:rPr lang="zh-CN" altLang="en-US" dirty="0"/>
              <a:t>枚举类型 </a:t>
            </a:r>
          </a:p>
          <a:p>
            <a:r>
              <a:rPr lang="en-US" altLang="zh-CN" dirty="0" err="1"/>
              <a:t>enum</a:t>
            </a:r>
            <a:r>
              <a:rPr lang="en-US" altLang="zh-CN" dirty="0"/>
              <a:t> </a:t>
            </a:r>
            <a:r>
              <a:rPr lang="en-US" altLang="zh-CN" dirty="0" err="1"/>
              <a:t>bool</a:t>
            </a:r>
            <a:r>
              <a:rPr lang="en-US" altLang="zh-CN" dirty="0"/>
              <a:t> { false, true }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5F1D94A-BBAB-41BA-ACCB-6389A2A9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非结构类型</a:t>
            </a:r>
          </a:p>
        </p:txBody>
      </p:sp>
    </p:spTree>
    <p:extLst>
      <p:ext uri="{BB962C8B-B14F-4D97-AF65-F5344CB8AC3E}">
        <p14:creationId xmlns:p14="http://schemas.microsoft.com/office/powerpoint/2010/main" val="180666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60026" y="2102974"/>
            <a:ext cx="2681948" cy="2743200"/>
          </a:xfrm>
          <a:prstGeom prst="wedgeRoundRectCallout">
            <a:avLst>
              <a:gd name="adj1" fmla="val 27923"/>
              <a:gd name="adj2" fmla="val 67261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空类型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第四节 </a:t>
              </a:r>
              <a:r>
                <a:rPr lang="en-US" altLang="zh-CN" b="1" dirty="0">
                  <a:solidFill>
                    <a:srgbClr val="EE853E"/>
                  </a:solidFill>
                  <a:latin typeface="+mj-ea"/>
                  <a:ea typeface="+mj-ea"/>
                </a:rPr>
                <a:t>C</a:t>
              </a:r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8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数组</a:t>
            </a:r>
          </a:p>
          <a:p>
            <a:r>
              <a:rPr lang="zh-CN" altLang="en-US" dirty="0"/>
              <a:t>数组构造实现</a:t>
            </a:r>
            <a:r>
              <a:rPr lang="zh-CN" altLang="en-US" dirty="0">
                <a:solidFill>
                  <a:srgbClr val="EE853E"/>
                </a:solidFill>
              </a:rPr>
              <a:t>有限映像</a:t>
            </a:r>
            <a:r>
              <a:rPr lang="zh-CN" altLang="en-US" dirty="0"/>
              <a:t>：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intarr</a:t>
            </a:r>
            <a:r>
              <a:rPr lang="en-US" altLang="zh-CN" dirty="0"/>
              <a:t>[5]</a:t>
            </a:r>
          </a:p>
          <a:p>
            <a:r>
              <a:rPr lang="zh-CN" altLang="en-US" dirty="0"/>
              <a:t>下标从</a:t>
            </a:r>
            <a:r>
              <a:rPr lang="en-US" altLang="zh-CN" dirty="0"/>
              <a:t>0</a:t>
            </a:r>
            <a:r>
              <a:rPr lang="zh-CN" altLang="en-US" dirty="0"/>
              <a:t>开始</a:t>
            </a:r>
          </a:p>
          <a:p>
            <a:r>
              <a:rPr lang="zh-CN" altLang="en-US" dirty="0"/>
              <a:t>二维数组按行存放：</a:t>
            </a:r>
            <a:r>
              <a:rPr lang="en-US" altLang="zh-CN" dirty="0"/>
              <a:t>float </a:t>
            </a:r>
            <a:r>
              <a:rPr lang="en-US" altLang="zh-CN" dirty="0" err="1"/>
              <a:t>farr</a:t>
            </a:r>
            <a:r>
              <a:rPr lang="en-US" altLang="zh-CN" dirty="0"/>
              <a:t>[3][4]</a:t>
            </a:r>
            <a:endParaRPr lang="zh-CN" altLang="en-US" dirty="0"/>
          </a:p>
          <a:p>
            <a:r>
              <a:rPr lang="zh-CN" altLang="en-US" dirty="0"/>
              <a:t>可以定义</a:t>
            </a:r>
            <a:r>
              <a:rPr lang="zh-CN" altLang="en-US" dirty="0">
                <a:solidFill>
                  <a:srgbClr val="EE853E"/>
                </a:solidFill>
              </a:rPr>
              <a:t>多维数组</a:t>
            </a:r>
          </a:p>
          <a:p>
            <a:r>
              <a:rPr lang="zh-CN" altLang="en-US" dirty="0"/>
              <a:t>对</a:t>
            </a:r>
            <a:r>
              <a:rPr lang="zh-CN" altLang="en-US" dirty="0">
                <a:solidFill>
                  <a:srgbClr val="EE853E"/>
                </a:solidFill>
              </a:rPr>
              <a:t>数组名</a:t>
            </a:r>
            <a:r>
              <a:rPr lang="zh-CN" altLang="en-US" dirty="0"/>
              <a:t>的处理相当于</a:t>
            </a:r>
            <a:r>
              <a:rPr lang="zh-CN" altLang="en-US" dirty="0">
                <a:solidFill>
                  <a:srgbClr val="EE853E"/>
                </a:solidFill>
              </a:rPr>
              <a:t>指针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8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结构</a:t>
            </a:r>
            <a:endParaRPr lang="en-US" altLang="zh-CN" dirty="0"/>
          </a:p>
          <a:p>
            <a:r>
              <a:rPr lang="zh-CN" altLang="en-US" dirty="0"/>
              <a:t>构造符</a:t>
            </a:r>
            <a:r>
              <a:rPr lang="en-US" altLang="zh-CN" dirty="0" err="1"/>
              <a:t>struct</a:t>
            </a:r>
            <a:r>
              <a:rPr lang="zh-CN" altLang="en-US" dirty="0"/>
              <a:t>支持笛卡尔积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struct</a:t>
            </a:r>
            <a:r>
              <a:rPr lang="en-US" altLang="zh-CN" dirty="0"/>
              <a:t> student {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char name[20];    </a:t>
            </a:r>
            <a:r>
              <a:rPr lang="en-US" altLang="zh-CN" dirty="0"/>
              <a:t>//</a:t>
            </a:r>
            <a:r>
              <a:rPr lang="zh-CN" altLang="en-US" dirty="0"/>
              <a:t>聚合的聚合</a:t>
            </a:r>
            <a:endParaRPr lang="en-US" altLang="zh-CN" dirty="0"/>
          </a:p>
          <a:p>
            <a:r>
              <a:rPr lang="en-US" altLang="zh-CN" dirty="0"/>
              <a:t>	char sex;  …</a:t>
            </a:r>
            <a:endParaRPr lang="zh-CN" altLang="en-US" dirty="0"/>
          </a:p>
          <a:p>
            <a:r>
              <a:rPr lang="en-US" altLang="zh-CN" dirty="0"/>
              <a:t>	char </a:t>
            </a:r>
            <a:r>
              <a:rPr lang="en-US" altLang="zh-CN" dirty="0" err="1"/>
              <a:t>addr</a:t>
            </a:r>
            <a:r>
              <a:rPr lang="en-US" altLang="zh-CN" dirty="0"/>
              <a:t>[30];     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struct student  </a:t>
            </a:r>
            <a:r>
              <a:rPr lang="en-GB" altLang="zh-CN" dirty="0" err="1"/>
              <a:t>wenyu</a:t>
            </a:r>
            <a:r>
              <a:rPr lang="en-GB" altLang="zh-CN" dirty="0"/>
              <a:t>;</a:t>
            </a:r>
            <a:r>
              <a:rPr lang="en-US" altLang="zh-CN" dirty="0"/>
              <a:t> //</a:t>
            </a:r>
            <a:r>
              <a:rPr lang="zh-CN" altLang="en-US" dirty="0"/>
              <a:t>定义结构变量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6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struct date </a:t>
            </a:r>
            <a:r>
              <a:rPr lang="en-US" altLang="zh-CN" dirty="0"/>
              <a:t>{ int year</a:t>
            </a:r>
            <a:r>
              <a:rPr lang="zh-CN" altLang="en-US" dirty="0"/>
              <a:t>；</a:t>
            </a:r>
            <a:r>
              <a:rPr lang="en-US" altLang="zh-CN" dirty="0"/>
              <a:t>int month</a:t>
            </a:r>
            <a:r>
              <a:rPr lang="zh-CN" altLang="en-US" dirty="0"/>
              <a:t>；</a:t>
            </a:r>
            <a:r>
              <a:rPr lang="en-US" altLang="zh-CN"/>
              <a:t>int day</a:t>
            </a:r>
            <a:r>
              <a:rPr lang="zh-CN" altLang="en-US"/>
              <a:t>；</a:t>
            </a:r>
            <a:r>
              <a:rPr lang="en-US" altLang="zh-CN" dirty="0"/>
              <a:t>}</a:t>
            </a:r>
            <a:r>
              <a:rPr lang="zh-CN" altLang="en-US" dirty="0"/>
              <a:t>； </a:t>
            </a:r>
          </a:p>
          <a:p>
            <a:r>
              <a:rPr lang="en-US" altLang="zh-CN" dirty="0" err="1"/>
              <a:t>struct</a:t>
            </a:r>
            <a:r>
              <a:rPr lang="en-US" altLang="zh-CN" dirty="0"/>
              <a:t> student { </a:t>
            </a:r>
          </a:p>
          <a:p>
            <a:r>
              <a:rPr lang="en-US" altLang="zh-CN" dirty="0"/>
              <a:t>	char name[20]</a:t>
            </a:r>
            <a:r>
              <a:rPr lang="zh-CN" altLang="en-US" dirty="0"/>
              <a:t>； </a:t>
            </a:r>
            <a:r>
              <a:rPr lang="en-US" altLang="zh-CN" dirty="0"/>
              <a:t>char sex</a:t>
            </a:r>
            <a:r>
              <a:rPr lang="zh-CN" altLang="en-US" dirty="0"/>
              <a:t>；</a:t>
            </a:r>
            <a:r>
              <a:rPr lang="en-US" altLang="zh-CN" dirty="0"/>
              <a:t>…</a:t>
            </a:r>
            <a:endParaRPr lang="zh-CN" altLang="en-US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struct date </a:t>
            </a:r>
            <a:r>
              <a:rPr lang="en-US" altLang="zh-CN" dirty="0"/>
              <a:t>birthday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} </a:t>
            </a:r>
            <a:r>
              <a:rPr lang="en-US" altLang="zh-CN" dirty="0" err="1"/>
              <a:t>wenyu</a:t>
            </a:r>
            <a:r>
              <a:rPr lang="zh-CN" altLang="en-US" dirty="0"/>
              <a:t>； </a:t>
            </a:r>
          </a:p>
          <a:p>
            <a:r>
              <a:rPr lang="zh-CN" altLang="en-US" dirty="0"/>
              <a:t>引用时可以依次找到最低一级的成员</a:t>
            </a:r>
          </a:p>
          <a:p>
            <a:r>
              <a:rPr lang="en-US" altLang="zh-CN" dirty="0" err="1"/>
              <a:t>wenyu.birthday.day</a:t>
            </a:r>
            <a:r>
              <a:rPr lang="en-US" altLang="zh-CN" dirty="0"/>
              <a:t> = 12</a:t>
            </a:r>
            <a:r>
              <a:rPr lang="zh-CN" altLang="en-US" dirty="0"/>
              <a:t>； 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B419C4B-CD12-4CC3-96FA-F25D5B25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</a:t>
            </a:r>
          </a:p>
        </p:txBody>
      </p:sp>
    </p:spTree>
    <p:extLst>
      <p:ext uri="{BB962C8B-B14F-4D97-AF65-F5344CB8AC3E}">
        <p14:creationId xmlns:p14="http://schemas.microsoft.com/office/powerpoint/2010/main" val="128231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zh-CN" altLang="en-US" dirty="0"/>
              <a:t>联合</a:t>
            </a:r>
            <a:endParaRPr lang="en-US" altLang="zh-CN" dirty="0"/>
          </a:p>
          <a:p>
            <a:r>
              <a:rPr lang="zh-CN" altLang="en-US" dirty="0"/>
              <a:t>构造符</a:t>
            </a:r>
            <a:r>
              <a:rPr lang="en-US" altLang="zh-CN" dirty="0">
                <a:solidFill>
                  <a:srgbClr val="EE853E"/>
                </a:solidFill>
              </a:rPr>
              <a:t>union</a:t>
            </a:r>
            <a:r>
              <a:rPr lang="zh-CN" altLang="en-US" dirty="0"/>
              <a:t>（联合、共用体）</a:t>
            </a:r>
            <a:r>
              <a:rPr lang="zh-CN" altLang="en-US" dirty="0">
                <a:solidFill>
                  <a:srgbClr val="EE853E"/>
                </a:solidFill>
              </a:rPr>
              <a:t>支持</a:t>
            </a:r>
            <a:r>
              <a:rPr lang="zh-CN" altLang="en-US" dirty="0"/>
              <a:t>判定或</a:t>
            </a:r>
          </a:p>
          <a:p>
            <a:r>
              <a:rPr lang="zh-CN" altLang="en-US" dirty="0"/>
              <a:t>联合把不同类型的变量存放在同一段内存单元中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的联合是</a:t>
            </a:r>
            <a:r>
              <a:rPr lang="zh-CN" altLang="en-US" dirty="0">
                <a:solidFill>
                  <a:srgbClr val="EE853E"/>
                </a:solidFill>
              </a:rPr>
              <a:t>不安全</a:t>
            </a:r>
            <a:r>
              <a:rPr lang="zh-CN" altLang="en-US" dirty="0"/>
              <a:t>的。</a:t>
            </a:r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union</a:t>
            </a:r>
            <a:r>
              <a:rPr lang="en-US" altLang="zh-CN" dirty="0"/>
              <a:t> data 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	char c;</a:t>
            </a:r>
          </a:p>
          <a:p>
            <a:r>
              <a:rPr lang="en-US" altLang="zh-CN" dirty="0"/>
              <a:t>	float f;</a:t>
            </a:r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2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60026" y="2102974"/>
            <a:ext cx="2681948" cy="2743200"/>
          </a:xfrm>
          <a:prstGeom prst="wedgeRoundRectCallout">
            <a:avLst>
              <a:gd name="adj1" fmla="val 27923"/>
              <a:gd name="adj2" fmla="val 67261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空类型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第四节 </a:t>
              </a:r>
              <a:r>
                <a:rPr lang="en-US" altLang="zh-CN" b="1" dirty="0">
                  <a:solidFill>
                    <a:srgbClr val="EE853E"/>
                  </a:solidFill>
                  <a:latin typeface="+mj-ea"/>
                  <a:ea typeface="+mj-ea"/>
                </a:rPr>
                <a:t>C</a:t>
              </a:r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733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指针可用来构造结构数据，支持递归</a:t>
            </a:r>
          </a:p>
          <a:p>
            <a:r>
              <a:rPr lang="zh-CN" altLang="en-US" dirty="0"/>
              <a:t>没有空指针，可以对指针赋</a:t>
            </a:r>
            <a:r>
              <a:rPr lang="en-US" altLang="zh-CN" dirty="0"/>
              <a:t>0</a:t>
            </a:r>
            <a:r>
              <a:rPr lang="zh-CN" altLang="en-US" dirty="0"/>
              <a:t>值表示空</a:t>
            </a:r>
            <a:endParaRPr lang="en-US" altLang="zh-CN" dirty="0"/>
          </a:p>
          <a:p>
            <a:r>
              <a:rPr lang="en-US" altLang="zh-CN" dirty="0" err="1"/>
              <a:t>struct</a:t>
            </a:r>
            <a:r>
              <a:rPr lang="en-US" altLang="zh-CN" dirty="0"/>
              <a:t> Pointer {   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data;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struct Pointer </a:t>
            </a:r>
            <a:r>
              <a:rPr lang="en-US" altLang="zh-CN" dirty="0"/>
              <a:t>* next;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struct Pointer * head;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16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660026" y="2102974"/>
            <a:ext cx="2681948" cy="2743200"/>
          </a:xfrm>
          <a:prstGeom prst="wedgeRoundRectCallout">
            <a:avLst>
              <a:gd name="adj1" fmla="val 27923"/>
              <a:gd name="adj2" fmla="val 67261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结构类型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空类型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第四节 </a:t>
              </a:r>
              <a:r>
                <a:rPr lang="en-US" altLang="zh-CN" b="1" dirty="0">
                  <a:solidFill>
                    <a:srgbClr val="EE853E"/>
                  </a:solidFill>
                  <a:latin typeface="+mj-ea"/>
                  <a:ea typeface="+mj-ea"/>
                </a:rPr>
                <a:t>C</a:t>
              </a:r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663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不允许定义空类型变量</a:t>
            </a:r>
            <a:endParaRPr lang="en-US" altLang="zh-CN" dirty="0"/>
          </a:p>
          <a:p>
            <a:r>
              <a:rPr lang="zh-CN" altLang="en-US" dirty="0"/>
              <a:t>若函数的返回类型为空类型（</a:t>
            </a:r>
            <a:r>
              <a:rPr lang="en-US" altLang="zh-CN" dirty="0"/>
              <a:t>void</a:t>
            </a:r>
            <a:r>
              <a:rPr lang="zh-CN" altLang="en-US" dirty="0"/>
              <a:t>），则表示该函数没有返回值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可以定义</a:t>
            </a:r>
            <a:r>
              <a:rPr lang="zh-CN" altLang="en-US" dirty="0"/>
              <a:t>空类型</a:t>
            </a:r>
            <a:r>
              <a:rPr lang="zh-CN" altLang="en-US" dirty="0">
                <a:solidFill>
                  <a:srgbClr val="EE853E"/>
                </a:solidFill>
              </a:rPr>
              <a:t>指针变量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</a:t>
            </a:r>
            <a:r>
              <a:rPr lang="zh-CN" altLang="en-US" dirty="0">
                <a:solidFill>
                  <a:srgbClr val="EE853E"/>
                </a:solidFill>
              </a:rPr>
              <a:t>不支持</a:t>
            </a:r>
            <a:r>
              <a:rPr lang="zh-CN" altLang="en-US" dirty="0"/>
              <a:t>用户定义类型构造机制的</a:t>
            </a:r>
            <a:r>
              <a:rPr lang="zh-CN" altLang="en-US" dirty="0">
                <a:solidFill>
                  <a:srgbClr val="EE853E"/>
                </a:solidFill>
              </a:rPr>
              <a:t>幂集</a:t>
            </a:r>
            <a:r>
              <a:rPr lang="zh-CN" altLang="en-US" dirty="0"/>
              <a:t>。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空类型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35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5955</TotalTime>
  <Words>711</Words>
  <Application>Microsoft Office PowerPoint</Application>
  <PresentationFormat>宽屏</PresentationFormat>
  <Paragraphs>124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宋体</vt:lpstr>
      <vt:lpstr>微软雅黑</vt:lpstr>
      <vt:lpstr>Arial</vt:lpstr>
      <vt:lpstr>Wingdings</vt:lpstr>
      <vt:lpstr>环保</vt:lpstr>
      <vt:lpstr>第二章 数据类型</vt:lpstr>
      <vt:lpstr>第二章 数据类型</vt:lpstr>
      <vt:lpstr>非结构类型</vt:lpstr>
      <vt:lpstr>非结构类型</vt:lpstr>
      <vt:lpstr>非结构类型</vt:lpstr>
      <vt:lpstr>非结构类型</vt:lpstr>
      <vt:lpstr>非结构类型</vt:lpstr>
      <vt:lpstr>第二章 数据类型</vt:lpstr>
      <vt:lpstr>结构类型</vt:lpstr>
      <vt:lpstr>结构类型</vt:lpstr>
      <vt:lpstr>结构类型</vt:lpstr>
      <vt:lpstr>结构类型</vt:lpstr>
      <vt:lpstr>第二章 数据类型</vt:lpstr>
      <vt:lpstr>指针</vt:lpstr>
      <vt:lpstr>第二章 数据类型</vt:lpstr>
      <vt:lpstr>空类型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1051</cp:revision>
  <cp:lastPrinted>1601-01-01T00:00:00Z</cp:lastPrinted>
  <dcterms:created xsi:type="dcterms:W3CDTF">1601-01-01T00:00:00Z</dcterms:created>
  <dcterms:modified xsi:type="dcterms:W3CDTF">2019-12-24T08:45:53Z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