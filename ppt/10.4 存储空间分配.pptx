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01" r:id="rId1"/>
  </p:sldMasterIdLst>
  <p:notesMasterIdLst>
    <p:notesMasterId r:id="rId34"/>
  </p:notesMasterIdLst>
  <p:handoutMasterIdLst>
    <p:handoutMasterId r:id="rId35"/>
  </p:handoutMasterIdLst>
  <p:sldIdLst>
    <p:sldId id="370" r:id="rId2"/>
    <p:sldId id="371" r:id="rId3"/>
    <p:sldId id="373" r:id="rId4"/>
    <p:sldId id="257" r:id="rId5"/>
    <p:sldId id="372" r:id="rId6"/>
    <p:sldId id="264" r:id="rId7"/>
    <p:sldId id="385" r:id="rId8"/>
    <p:sldId id="259" r:id="rId9"/>
    <p:sldId id="261" r:id="rId10"/>
    <p:sldId id="262" r:id="rId11"/>
    <p:sldId id="260" r:id="rId12"/>
    <p:sldId id="267" r:id="rId13"/>
    <p:sldId id="268" r:id="rId14"/>
    <p:sldId id="269" r:id="rId15"/>
    <p:sldId id="272" r:id="rId16"/>
    <p:sldId id="386" r:id="rId17"/>
    <p:sldId id="378" r:id="rId18"/>
    <p:sldId id="274" r:id="rId19"/>
    <p:sldId id="389" r:id="rId20"/>
    <p:sldId id="382" r:id="rId21"/>
    <p:sldId id="276" r:id="rId22"/>
    <p:sldId id="387" r:id="rId23"/>
    <p:sldId id="279" r:id="rId24"/>
    <p:sldId id="383" r:id="rId25"/>
    <p:sldId id="281" r:id="rId26"/>
    <p:sldId id="283" r:id="rId27"/>
    <p:sldId id="286" r:id="rId28"/>
    <p:sldId id="287" r:id="rId29"/>
    <p:sldId id="288" r:id="rId30"/>
    <p:sldId id="391" r:id="rId31"/>
    <p:sldId id="384" r:id="rId32"/>
    <p:sldId id="290" r:id="rId33"/>
  </p:sldIdLst>
  <p:sldSz cx="12192000" cy="6858000"/>
  <p:notesSz cx="2782888" cy="37179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853E"/>
    <a:srgbClr val="A18D60"/>
    <a:srgbClr val="EE8A3E"/>
    <a:srgbClr val="E98A3E"/>
    <a:srgbClr val="04141B"/>
    <a:srgbClr val="D9B247"/>
    <a:srgbClr val="2A9995"/>
    <a:srgbClr val="54D0CA"/>
    <a:srgbClr val="0000FF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89127" autoAdjust="0"/>
  </p:normalViewPr>
  <p:slideViewPr>
    <p:cSldViewPr>
      <p:cViewPr varScale="1">
        <p:scale>
          <a:sx n="92" d="100"/>
          <a:sy n="92" d="100"/>
        </p:scale>
        <p:origin x="102" y="3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48"/>
    </p:cViewPr>
  </p:sorterViewPr>
  <p:notesViewPr>
    <p:cSldViewPr>
      <p:cViewPr varScale="1">
        <p:scale>
          <a:sx n="125" d="100"/>
          <a:sy n="125" d="100"/>
        </p:scale>
        <p:origin x="2094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F22DA3B-951B-42A7-9A91-80A8B753C4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196182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algn="r"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3988" y="279400"/>
            <a:ext cx="2474912" cy="1393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74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77813" y="1765300"/>
            <a:ext cx="2227262" cy="167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74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algn="r" defTabSz="371475">
              <a:defRPr sz="500"/>
            </a:lvl1pPr>
          </a:lstStyle>
          <a:p>
            <a:fld id="{7C94B347-5D95-4F16-91F2-C12A0B20C4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27714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7707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2239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63830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33109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83942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5506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54163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04107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97813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03603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15390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55936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3502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11528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94839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92705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92317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57241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96179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84404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46139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48176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6342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92398" y="3623737"/>
            <a:ext cx="6815669" cy="94826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副标题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92398" y="2057406"/>
            <a:ext cx="6815669" cy="1329259"/>
          </a:xfrm>
          <a:prstGeom prst="rect">
            <a:avLst/>
          </a:prstGeom>
        </p:spPr>
        <p:txBody>
          <a:bodyPr anchor="ctr"/>
          <a:lstStyle>
            <a:lvl1pPr>
              <a:defRPr sz="6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标题</a:t>
            </a:r>
            <a:endParaRPr 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8557376-49C6-4381-B102-72EEC70D751A}"/>
              </a:ext>
            </a:extLst>
          </p:cNvPr>
          <p:cNvCxnSpPr>
            <a:cxnSpLocks/>
          </p:cNvCxnSpPr>
          <p:nvPr userDrawn="1"/>
        </p:nvCxnSpPr>
        <p:spPr>
          <a:xfrm>
            <a:off x="2692398" y="3505200"/>
            <a:ext cx="6815669" cy="0"/>
          </a:xfrm>
          <a:prstGeom prst="line">
            <a:avLst/>
          </a:prstGeom>
          <a:ln w="12700">
            <a:gradFill flip="none" rotWithShape="1">
              <a:gsLst>
                <a:gs pos="59000">
                  <a:schemeClr val="bg1">
                    <a:alpha val="21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784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107481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lang="en-US" altLang="zh-CN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lvl="0"/>
            <a:r>
              <a:rPr lang="zh-CN" altLang="en-US"/>
              <a:t>正文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</a:t>
            </a:r>
            <a:r>
              <a:rPr lang="zh-CN" altLang="en-US" dirty="0"/>
              <a:t>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/>
              <a:t>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92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525796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lang="en-US" altLang="zh-CN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lvl="0"/>
            <a:r>
              <a:rPr lang="zh-CN" altLang="en-US"/>
              <a:t>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/>
              <a:t>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7E9892FE-F3AB-4039-9723-7093E7CEC2C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10130" y="899160"/>
            <a:ext cx="525797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lang="en-US" altLang="zh-CN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lvl="0"/>
            <a:r>
              <a:rPr lang="zh-CN" altLang="en-US"/>
              <a:t>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56760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1" y="900000"/>
            <a:ext cx="354719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/>
              <a:t>第三级</a:t>
            </a:r>
            <a:endParaRPr lang="zh-CN" altLang="en-US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/>
              <a:t>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21D09B86-9E93-40B4-96E1-952B7B1A861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322401" y="900000"/>
            <a:ext cx="354719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F3B0E141-4CCD-47B8-82F1-F307E0885F0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917182" y="899999"/>
            <a:ext cx="354719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</p:spTree>
    <p:extLst>
      <p:ext uri="{BB962C8B-B14F-4D97-AF65-F5344CB8AC3E}">
        <p14:creationId xmlns:p14="http://schemas.microsoft.com/office/powerpoint/2010/main" val="3569382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25200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/>
              <a:t>第三级</a:t>
            </a:r>
            <a:endParaRPr lang="zh-CN" altLang="en-US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/>
              <a:t>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B9730401-D273-4D1F-9940-003BE36C43E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404000" y="900000"/>
            <a:ext cx="25200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/>
              <a:t>第三级</a:t>
            </a:r>
            <a:endParaRPr lang="zh-CN" altLang="en-US" dirty="0"/>
          </a:p>
        </p:txBody>
      </p: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850BD6D6-313F-4541-B890-2C03031B9866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88000" y="900000"/>
            <a:ext cx="25200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/>
              <a:t>第三级</a:t>
            </a:r>
            <a:endParaRPr lang="zh-CN" altLang="en-US" dirty="0"/>
          </a:p>
        </p:txBody>
      </p: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121EF50E-2028-4C0F-844C-62767D0B5385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772000" y="900000"/>
            <a:ext cx="25200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zh-CN" altLang="en-US" sz="2400" b="1" kern="1200" cap="none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/>
              <a:t>第三级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6772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40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3" r:id="rId2"/>
    <p:sldLayoutId id="2147484310" r:id="rId3"/>
    <p:sldLayoutId id="2147484311" r:id="rId4"/>
    <p:sldLayoutId id="2147484312" r:id="rId5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 cap="none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0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第十章 目标代码生成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2984433" y="1638300"/>
            <a:ext cx="6223134" cy="3581400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第一节 目标代码生成概述</a:t>
              </a: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第二</a:t>
              </a:r>
              <a:r>
                <a:rPr lang="zh-CN" altLang="en-US" sz="2400" b="1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节 简单代码生成</a:t>
              </a:r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第三节 寄存器分配</a:t>
              </a: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第四</a:t>
              </a:r>
              <a:r>
                <a:rPr lang="zh-CN" altLang="en-US" sz="2400" b="1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节 存储空间分配</a:t>
              </a:r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</p:grpSp>
      <p:sp>
        <p:nvSpPr>
          <p:cNvPr id="25" name="箭头: 右 24">
            <a:extLst>
              <a:ext uri="{FF2B5EF4-FFF2-40B4-BE49-F238E27FC236}">
                <a16:creationId xmlns:a16="http://schemas.microsoft.com/office/drawing/2014/main" id="{067BC837-BD63-48BE-9925-5D7273E2E2C7}"/>
              </a:ext>
            </a:extLst>
          </p:cNvPr>
          <p:cNvSpPr/>
          <p:nvPr/>
        </p:nvSpPr>
        <p:spPr>
          <a:xfrm>
            <a:off x="2983159" y="4168770"/>
            <a:ext cx="540000" cy="540000"/>
          </a:xfrm>
          <a:prstGeom prst="rightArrow">
            <a:avLst/>
          </a:prstGeom>
          <a:solidFill>
            <a:srgbClr val="EE8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6374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0037797-9464-4AF1-BAE9-A8CD307F0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	</a:t>
            </a:r>
            <a:r>
              <a:rPr lang="zh-CN" altLang="en-US" dirty="0"/>
              <a:t>程序的存储空间</a:t>
            </a:r>
            <a:endParaRPr lang="en-US" altLang="zh-CN" dirty="0"/>
          </a:p>
          <a:p>
            <a:r>
              <a:rPr lang="en-US" altLang="zh-CN" dirty="0"/>
              <a:t>2.	</a:t>
            </a:r>
            <a:r>
              <a:rPr lang="zh-CN" altLang="en-US" dirty="0"/>
              <a:t>活动记录</a:t>
            </a:r>
          </a:p>
          <a:p>
            <a:r>
              <a:rPr lang="en-US" altLang="zh-CN" dirty="0"/>
              <a:t>3.	</a:t>
            </a:r>
            <a:r>
              <a:rPr lang="zh-CN" altLang="en-US" dirty="0"/>
              <a:t>参数传递</a:t>
            </a:r>
          </a:p>
          <a:p>
            <a:r>
              <a:rPr lang="en-US" altLang="zh-CN" dirty="0"/>
              <a:t>4.	</a:t>
            </a:r>
            <a:r>
              <a:rPr lang="zh-CN" altLang="en-US" dirty="0"/>
              <a:t>非局部变量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6B7A8BF-E20D-4B98-BDAC-C60E75C81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存储空间分配</a:t>
            </a:r>
          </a:p>
        </p:txBody>
      </p:sp>
    </p:spTree>
    <p:extLst>
      <p:ext uri="{BB962C8B-B14F-4D97-AF65-F5344CB8AC3E}">
        <p14:creationId xmlns:p14="http://schemas.microsoft.com/office/powerpoint/2010/main" val="1615058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0037797-9464-4AF1-BAE9-A8CD307F0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EE853E"/>
                </a:solidFill>
              </a:rPr>
              <a:t>1.	</a:t>
            </a:r>
            <a:r>
              <a:rPr lang="zh-CN" altLang="en-US" dirty="0">
                <a:solidFill>
                  <a:srgbClr val="EE853E"/>
                </a:solidFill>
              </a:rPr>
              <a:t>程序的存储空间</a:t>
            </a:r>
          </a:p>
          <a:p>
            <a:r>
              <a:rPr lang="en-US" altLang="zh-CN" dirty="0"/>
              <a:t>2.	</a:t>
            </a:r>
            <a:r>
              <a:rPr lang="zh-CN" altLang="en-US" dirty="0"/>
              <a:t>活动记录</a:t>
            </a:r>
          </a:p>
          <a:p>
            <a:r>
              <a:rPr lang="en-US" altLang="zh-CN" dirty="0"/>
              <a:t>3.	</a:t>
            </a:r>
            <a:r>
              <a:rPr lang="zh-CN" altLang="en-US" dirty="0"/>
              <a:t>参数传递</a:t>
            </a:r>
          </a:p>
          <a:p>
            <a:r>
              <a:rPr lang="en-US" altLang="zh-CN" dirty="0"/>
              <a:t>4.	</a:t>
            </a:r>
            <a:r>
              <a:rPr lang="zh-CN" altLang="en-US" dirty="0"/>
              <a:t>非局部变量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6B7A8BF-E20D-4B98-BDAC-C60E75C81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存储空间分配</a:t>
            </a:r>
          </a:p>
        </p:txBody>
      </p:sp>
    </p:spTree>
    <p:extLst>
      <p:ext uri="{BB962C8B-B14F-4D97-AF65-F5344CB8AC3E}">
        <p14:creationId xmlns:p14="http://schemas.microsoft.com/office/powerpoint/2010/main" val="1290322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程序要投入运行，必须在内存中分配一定的存储空间，并将程序装入其中。存储空间包含两个部分，分别是</a:t>
            </a:r>
          </a:p>
          <a:p>
            <a:r>
              <a:rPr lang="en-US" altLang="zh-CN">
                <a:solidFill>
                  <a:srgbClr val="EE853E"/>
                </a:solidFill>
              </a:rPr>
              <a:t>1.	</a:t>
            </a:r>
            <a:r>
              <a:rPr lang="zh-CN" altLang="en-US">
                <a:solidFill>
                  <a:srgbClr val="EE853E"/>
                </a:solidFill>
              </a:rPr>
              <a:t>代码空间</a:t>
            </a:r>
            <a:endParaRPr lang="en-US" altLang="zh-CN"/>
          </a:p>
          <a:p>
            <a:pPr lvl="1"/>
            <a:r>
              <a:rPr lang="zh-CN" altLang="en-US"/>
              <a:t>存放</a:t>
            </a:r>
            <a:r>
              <a:rPr lang="zh-CN" altLang="en-US" dirty="0"/>
              <a:t>可运行的代码。内容为线性存放的目标指令序列，在编译时即</a:t>
            </a:r>
            <a:r>
              <a:rPr lang="zh-CN" altLang="en-US"/>
              <a:t>可确定。</a:t>
            </a:r>
            <a:endParaRPr lang="zh-CN" altLang="en-US" dirty="0"/>
          </a:p>
          <a:p>
            <a:r>
              <a:rPr lang="en-US" altLang="zh-CN">
                <a:solidFill>
                  <a:srgbClr val="EE853E"/>
                </a:solidFill>
              </a:rPr>
              <a:t>2.	</a:t>
            </a:r>
            <a:r>
              <a:rPr lang="zh-CN" altLang="en-US">
                <a:solidFill>
                  <a:srgbClr val="EE853E"/>
                </a:solidFill>
              </a:rPr>
              <a:t>数据空间</a:t>
            </a:r>
            <a:endParaRPr lang="en-US" altLang="zh-CN"/>
          </a:p>
          <a:p>
            <a:pPr lvl="1"/>
            <a:r>
              <a:rPr lang="zh-CN" altLang="en-US"/>
              <a:t>存放可访问的数据。在编译时（运行前）就能确定的数据称为静态数据，存放到</a:t>
            </a:r>
            <a:r>
              <a:rPr lang="zh-CN" altLang="en-US">
                <a:solidFill>
                  <a:srgbClr val="EE853E"/>
                </a:solidFill>
              </a:rPr>
              <a:t>静态数据空间；</a:t>
            </a:r>
            <a:r>
              <a:rPr lang="zh-CN" altLang="en-US"/>
              <a:t>在运行时才能确定的数据称为动态数据，存放到</a:t>
            </a:r>
            <a:r>
              <a:rPr lang="zh-CN" altLang="en-US">
                <a:solidFill>
                  <a:srgbClr val="EE853E"/>
                </a:solidFill>
              </a:rPr>
              <a:t>动态数据空间</a:t>
            </a:r>
            <a:r>
              <a:rPr lang="zh-CN" altLang="en-US"/>
              <a:t>。</a:t>
            </a:r>
          </a:p>
          <a:p>
            <a:endParaRPr lang="zh-CN" altLang="en-US" dirty="0"/>
          </a:p>
          <a:p>
            <a:endParaRPr lang="en-US" altLang="zh-CN" dirty="0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程序</a:t>
            </a:r>
            <a:r>
              <a:rPr lang="zh-CN" altLang="en-US" dirty="0"/>
              <a:t>的存储空间</a:t>
            </a:r>
          </a:p>
        </p:txBody>
      </p:sp>
    </p:spTree>
    <p:extLst>
      <p:ext uri="{BB962C8B-B14F-4D97-AF65-F5344CB8AC3E}">
        <p14:creationId xmlns:p14="http://schemas.microsoft.com/office/powerpoint/2010/main" val="1779474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68547D8-7124-4DA5-8356-167867074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动态数据空间分为</a:t>
            </a:r>
            <a:r>
              <a:rPr lang="zh-CN" altLang="en-US" dirty="0">
                <a:solidFill>
                  <a:srgbClr val="EE853E"/>
                </a:solidFill>
              </a:rPr>
              <a:t>堆空间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EE853E"/>
                </a:solidFill>
              </a:rPr>
              <a:t>栈空间</a:t>
            </a:r>
            <a:r>
              <a:rPr lang="zh-CN" altLang="en-US" dirty="0"/>
              <a:t>两种类型。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</a:rPr>
              <a:t>堆空间：</a:t>
            </a:r>
            <a:r>
              <a:rPr lang="zh-CN" altLang="en-US" dirty="0"/>
              <a:t>某些数据的首地址、偏移量、长度或类型等信息在编译时无法确定，只能在程序运行过程中才能确定，可将这些数据分配到堆中。例如：</a:t>
            </a:r>
            <a:r>
              <a:rPr lang="en-US" altLang="zh-CN" dirty="0"/>
              <a:t>C</a:t>
            </a:r>
            <a:r>
              <a:rPr lang="zh-CN" altLang="en-US" dirty="0"/>
              <a:t>语言中的</a:t>
            </a:r>
            <a:r>
              <a:rPr lang="en-US" altLang="zh-CN" dirty="0"/>
              <a:t>malloc</a:t>
            </a:r>
            <a:r>
              <a:rPr lang="zh-CN" altLang="en-US" dirty="0"/>
              <a:t>函数、</a:t>
            </a:r>
            <a:r>
              <a:rPr lang="en-US" altLang="zh-CN" dirty="0"/>
              <a:t>C++</a:t>
            </a:r>
            <a:r>
              <a:rPr lang="zh-CN" altLang="en-US" dirty="0"/>
              <a:t>中的</a:t>
            </a:r>
            <a:r>
              <a:rPr lang="en-US" altLang="zh-CN" dirty="0"/>
              <a:t>new</a:t>
            </a:r>
            <a:r>
              <a:rPr lang="zh-CN" altLang="en-US" dirty="0"/>
              <a:t>操作、某些语言中的动态变量。</a:t>
            </a:r>
          </a:p>
          <a:p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</a:rPr>
              <a:t>栈空间：</a:t>
            </a:r>
            <a:r>
              <a:rPr lang="zh-CN" altLang="en-US" dirty="0"/>
              <a:t>某些数据的首地址在编译时无法确定，但它在</a:t>
            </a:r>
            <a:r>
              <a:rPr lang="zh-CN" altLang="en-US" dirty="0">
                <a:solidFill>
                  <a:srgbClr val="EE853E"/>
                </a:solidFill>
              </a:rPr>
              <a:t>函数的局部数据空间</a:t>
            </a:r>
            <a:r>
              <a:rPr lang="zh-CN" altLang="en-US" dirty="0"/>
              <a:t>中的相对地址（偏移量）、长度和类型等信息在编译时可以确定，可将这些数据分配到栈中。例如：</a:t>
            </a:r>
            <a:r>
              <a:rPr lang="en-US" altLang="zh-CN" dirty="0"/>
              <a:t>C/C++</a:t>
            </a:r>
            <a:r>
              <a:rPr lang="zh-CN" altLang="en-US" dirty="0"/>
              <a:t>语言中函数的局部变量、形式参数。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F9138A1-32BC-412A-BADF-9BFFCFB8B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动态数据空间</a:t>
            </a:r>
          </a:p>
        </p:txBody>
      </p:sp>
    </p:spTree>
    <p:extLst>
      <p:ext uri="{BB962C8B-B14F-4D97-AF65-F5344CB8AC3E}">
        <p14:creationId xmlns:p14="http://schemas.microsoft.com/office/powerpoint/2010/main" val="2838155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00000"/>
          </a:xfrm>
        </p:spPr>
        <p:txBody>
          <a:bodyPr/>
          <a:lstStyle/>
          <a:p>
            <a:r>
              <a:rPr lang="zh-CN" altLang="en-US"/>
              <a:t>程序的存储空间</a:t>
            </a:r>
            <a:endParaRPr lang="zh-CN" altLang="en-US" dirty="0"/>
          </a:p>
        </p:txBody>
      </p:sp>
      <p:sp>
        <p:nvSpPr>
          <p:cNvPr id="4" name="右大括号 3">
            <a:extLst>
              <a:ext uri="{FF2B5EF4-FFF2-40B4-BE49-F238E27FC236}">
                <a16:creationId xmlns:a16="http://schemas.microsoft.com/office/drawing/2014/main" id="{55580F92-B40B-433B-9045-3D9823BD9D1C}"/>
              </a:ext>
            </a:extLst>
          </p:cNvPr>
          <p:cNvSpPr/>
          <p:nvPr/>
        </p:nvSpPr>
        <p:spPr>
          <a:xfrm>
            <a:off x="7924800" y="2956487"/>
            <a:ext cx="358292" cy="2682298"/>
          </a:xfrm>
          <a:prstGeom prst="rightBrac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Text Box 10">
            <a:extLst>
              <a:ext uri="{FF2B5EF4-FFF2-40B4-BE49-F238E27FC236}">
                <a16:creationId xmlns:a16="http://schemas.microsoft.com/office/drawing/2014/main" id="{7B454D05-D6CA-494D-A0BE-B9AC92418C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800" y="4070404"/>
            <a:ext cx="2031325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动态数据空间</a:t>
            </a: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7D5D49EB-7994-4353-A109-502D1259AFE7}"/>
              </a:ext>
            </a:extLst>
          </p:cNvPr>
          <p:cNvGrpSpPr/>
          <p:nvPr/>
        </p:nvGrpSpPr>
        <p:grpSpPr>
          <a:xfrm>
            <a:off x="2895600" y="1371600"/>
            <a:ext cx="4821641" cy="4381620"/>
            <a:chOff x="3657600" y="1600200"/>
            <a:chExt cx="4821641" cy="4381620"/>
          </a:xfrm>
        </p:grpSpPr>
        <p:sp>
          <p:nvSpPr>
            <p:cNvPr id="41" name="Rectangle 4">
              <a:extLst>
                <a:ext uri="{FF2B5EF4-FFF2-40B4-BE49-F238E27FC236}">
                  <a16:creationId xmlns:a16="http://schemas.microsoft.com/office/drawing/2014/main" id="{BFF49EE3-30FC-4EFF-9766-60C214EA4F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2641" y="1638785"/>
              <a:ext cx="3276600" cy="4267200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 b="1">
                <a:solidFill>
                  <a:schemeClr val="bg1"/>
                </a:solidFill>
              </a:endParaRPr>
            </a:p>
          </p:txBody>
        </p:sp>
        <p:sp>
          <p:nvSpPr>
            <p:cNvPr id="42" name="Line 5">
              <a:extLst>
                <a:ext uri="{FF2B5EF4-FFF2-40B4-BE49-F238E27FC236}">
                  <a16:creationId xmlns:a16="http://schemas.microsoft.com/office/drawing/2014/main" id="{A4126624-D053-42F8-91A2-F3047D43F4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2641" y="3772385"/>
              <a:ext cx="327660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400" b="1">
                <a:solidFill>
                  <a:schemeClr val="bg1"/>
                </a:solidFill>
              </a:endParaRPr>
            </a:p>
          </p:txBody>
        </p:sp>
        <p:sp>
          <p:nvSpPr>
            <p:cNvPr id="43" name="Line 6">
              <a:extLst>
                <a:ext uri="{FF2B5EF4-FFF2-40B4-BE49-F238E27FC236}">
                  <a16:creationId xmlns:a16="http://schemas.microsoft.com/office/drawing/2014/main" id="{7987C6A2-FB1E-4F6B-A1BA-4919DE96A6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2641" y="2385917"/>
              <a:ext cx="327660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400" b="1">
                <a:solidFill>
                  <a:schemeClr val="bg1"/>
                </a:solidFill>
              </a:endParaRPr>
            </a:p>
          </p:txBody>
        </p:sp>
        <p:sp>
          <p:nvSpPr>
            <p:cNvPr id="44" name="Line 7">
              <a:extLst>
                <a:ext uri="{FF2B5EF4-FFF2-40B4-BE49-F238E27FC236}">
                  <a16:creationId xmlns:a16="http://schemas.microsoft.com/office/drawing/2014/main" id="{63DC9916-33B0-4D88-8B56-3D83CB4517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2641" y="3086585"/>
              <a:ext cx="327660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400" b="1">
                <a:solidFill>
                  <a:schemeClr val="bg1"/>
                </a:solidFill>
              </a:endParaRPr>
            </a:p>
          </p:txBody>
        </p:sp>
        <p:sp>
          <p:nvSpPr>
            <p:cNvPr id="45" name="Line 8">
              <a:extLst>
                <a:ext uri="{FF2B5EF4-FFF2-40B4-BE49-F238E27FC236}">
                  <a16:creationId xmlns:a16="http://schemas.microsoft.com/office/drawing/2014/main" id="{E265BF04-B714-478B-92AB-4152FFA5E1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2641" y="5248869"/>
              <a:ext cx="327660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400" b="1">
                <a:solidFill>
                  <a:schemeClr val="bg1"/>
                </a:solidFill>
              </a:endParaRPr>
            </a:p>
          </p:txBody>
        </p:sp>
        <p:sp>
          <p:nvSpPr>
            <p:cNvPr id="46" name="Text Box 9">
              <a:extLst>
                <a:ext uri="{FF2B5EF4-FFF2-40B4-BE49-F238E27FC236}">
                  <a16:creationId xmlns:a16="http://schemas.microsoft.com/office/drawing/2014/main" id="{2F508FC6-68A4-4C89-B648-6D2CBF4713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62918" y="1786720"/>
              <a:ext cx="800219" cy="46166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 sz="2400" b="1" dirty="0">
                  <a:solidFill>
                    <a:schemeClr val="bg1"/>
                  </a:solidFill>
                  <a:latin typeface="+mj-ea"/>
                  <a:ea typeface="+mj-ea"/>
                </a:rPr>
                <a:t>代码</a:t>
              </a:r>
            </a:p>
          </p:txBody>
        </p:sp>
        <p:sp>
          <p:nvSpPr>
            <p:cNvPr id="47" name="Text Box 10">
              <a:extLst>
                <a:ext uri="{FF2B5EF4-FFF2-40B4-BE49-F238E27FC236}">
                  <a16:creationId xmlns:a16="http://schemas.microsoft.com/office/drawing/2014/main" id="{844CE720-E325-4116-BE93-A5F74353B3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55141" y="2518984"/>
              <a:ext cx="1415772" cy="46166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 sz="2400" b="1" dirty="0">
                  <a:solidFill>
                    <a:schemeClr val="bg1"/>
                  </a:solidFill>
                  <a:latin typeface="+mj-ea"/>
                  <a:ea typeface="+mj-ea"/>
                </a:rPr>
                <a:t>静态数据</a:t>
              </a:r>
            </a:p>
          </p:txBody>
        </p:sp>
        <p:sp>
          <p:nvSpPr>
            <p:cNvPr id="48" name="Text Box 11">
              <a:extLst>
                <a:ext uri="{FF2B5EF4-FFF2-40B4-BE49-F238E27FC236}">
                  <a16:creationId xmlns:a16="http://schemas.microsoft.com/office/drawing/2014/main" id="{1625F06F-B532-433F-8B4C-A8AF3AF27F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16806" y="3185087"/>
              <a:ext cx="492443" cy="46166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 sz="2400" b="1" dirty="0">
                  <a:solidFill>
                    <a:schemeClr val="bg1"/>
                  </a:solidFill>
                  <a:latin typeface="+mj-ea"/>
                  <a:ea typeface="+mj-ea"/>
                </a:rPr>
                <a:t>栈</a:t>
              </a:r>
            </a:p>
          </p:txBody>
        </p:sp>
        <p:sp>
          <p:nvSpPr>
            <p:cNvPr id="49" name="Text Box 12">
              <a:extLst>
                <a:ext uri="{FF2B5EF4-FFF2-40B4-BE49-F238E27FC236}">
                  <a16:creationId xmlns:a16="http://schemas.microsoft.com/office/drawing/2014/main" id="{D8D16978-97A9-4209-A763-B0CEFA8758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16806" y="5353252"/>
              <a:ext cx="492443" cy="46166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 sz="2400" b="1" dirty="0">
                  <a:solidFill>
                    <a:schemeClr val="bg1"/>
                  </a:solidFill>
                  <a:latin typeface="+mj-ea"/>
                  <a:ea typeface="+mj-ea"/>
                </a:rPr>
                <a:t>堆</a:t>
              </a:r>
            </a:p>
          </p:txBody>
        </p:sp>
        <p:sp>
          <p:nvSpPr>
            <p:cNvPr id="50" name="Line 13">
              <a:extLst>
                <a:ext uri="{FF2B5EF4-FFF2-40B4-BE49-F238E27FC236}">
                  <a16:creationId xmlns:a16="http://schemas.microsoft.com/office/drawing/2014/main" id="{C9DBFB8E-3E58-4C73-82A6-8EA078C0E9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63027" y="3772386"/>
              <a:ext cx="0" cy="457199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400" b="1">
                <a:solidFill>
                  <a:schemeClr val="bg1"/>
                </a:solidFill>
              </a:endParaRPr>
            </a:p>
          </p:txBody>
        </p:sp>
        <p:sp>
          <p:nvSpPr>
            <p:cNvPr id="51" name="Line 14">
              <a:extLst>
                <a:ext uri="{FF2B5EF4-FFF2-40B4-BE49-F238E27FC236}">
                  <a16:creationId xmlns:a16="http://schemas.microsoft.com/office/drawing/2014/main" id="{1608110E-DFCD-4169-8C5A-83AB4AA3B6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63027" y="4839185"/>
              <a:ext cx="0" cy="409684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400" b="1">
                <a:solidFill>
                  <a:schemeClr val="bg1"/>
                </a:solidFill>
              </a:endParaRPr>
            </a:p>
          </p:txBody>
        </p:sp>
        <p:sp>
          <p:nvSpPr>
            <p:cNvPr id="52" name="Oval 15">
              <a:extLst>
                <a:ext uri="{FF2B5EF4-FFF2-40B4-BE49-F238E27FC236}">
                  <a16:creationId xmlns:a16="http://schemas.microsoft.com/office/drawing/2014/main" id="{108ECE3A-FADD-40A0-9D06-D70842060B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5793" y="4353082"/>
              <a:ext cx="74468" cy="73572"/>
            </a:xfrm>
            <a:prstGeom prst="ellipse">
              <a:avLst/>
            </a:prstGeom>
            <a:solidFill>
              <a:schemeClr val="tx2"/>
            </a:solidFill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1600" b="1">
                <a:solidFill>
                  <a:schemeClr val="bg1"/>
                </a:solidFill>
              </a:endParaRPr>
            </a:p>
          </p:txBody>
        </p:sp>
        <p:sp>
          <p:nvSpPr>
            <p:cNvPr id="53" name="Oval 16">
              <a:extLst>
                <a:ext uri="{FF2B5EF4-FFF2-40B4-BE49-F238E27FC236}">
                  <a16:creationId xmlns:a16="http://schemas.microsoft.com/office/drawing/2014/main" id="{9A39C080-BF36-427F-A45F-A0C9C77F13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5793" y="4513364"/>
              <a:ext cx="74468" cy="73572"/>
            </a:xfrm>
            <a:prstGeom prst="ellipse">
              <a:avLst/>
            </a:prstGeom>
            <a:solidFill>
              <a:schemeClr val="tx2"/>
            </a:solidFill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1600" b="1">
                <a:solidFill>
                  <a:schemeClr val="bg1"/>
                </a:solidFill>
              </a:endParaRPr>
            </a:p>
          </p:txBody>
        </p:sp>
        <p:sp>
          <p:nvSpPr>
            <p:cNvPr id="54" name="Oval 17">
              <a:extLst>
                <a:ext uri="{FF2B5EF4-FFF2-40B4-BE49-F238E27FC236}">
                  <a16:creationId xmlns:a16="http://schemas.microsoft.com/office/drawing/2014/main" id="{D95AB222-2B68-4A8E-80E8-8E2231E194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5793" y="4665764"/>
              <a:ext cx="74468" cy="73572"/>
            </a:xfrm>
            <a:prstGeom prst="ellipse">
              <a:avLst/>
            </a:prstGeom>
            <a:solidFill>
              <a:schemeClr val="tx2"/>
            </a:solidFill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1600" b="1">
                <a:solidFill>
                  <a:schemeClr val="bg1"/>
                </a:solidFill>
              </a:endParaRPr>
            </a:p>
          </p:txBody>
        </p:sp>
        <p:sp>
          <p:nvSpPr>
            <p:cNvPr id="55" name="Line 32">
              <a:extLst>
                <a:ext uri="{FF2B5EF4-FFF2-40B4-BE49-F238E27FC236}">
                  <a16:creationId xmlns:a16="http://schemas.microsoft.com/office/drawing/2014/main" id="{0B6A129A-6301-45F2-B5A4-129E26A73E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2020" y="2047744"/>
              <a:ext cx="0" cy="3487502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zh-CN" altLang="en-US" sz="20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E81D6BCB-CBD8-48EA-8F27-2A6B9437A242}"/>
                </a:ext>
              </a:extLst>
            </p:cNvPr>
            <p:cNvSpPr txBox="1"/>
            <p:nvPr/>
          </p:nvSpPr>
          <p:spPr>
            <a:xfrm>
              <a:off x="3657600" y="1600200"/>
              <a:ext cx="14688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00000000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3B07F5D6-2E8C-4449-A00E-CD497B86FF0D}"/>
                </a:ext>
              </a:extLst>
            </p:cNvPr>
            <p:cNvSpPr txBox="1"/>
            <p:nvPr/>
          </p:nvSpPr>
          <p:spPr>
            <a:xfrm>
              <a:off x="3657600" y="5581710"/>
              <a:ext cx="14688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FFFFFFFF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7857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0037797-9464-4AF1-BAE9-A8CD307F0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1</a:t>
            </a:r>
            <a:r>
              <a:rPr lang="en-US" altLang="zh-CN" dirty="0"/>
              <a:t>.	</a:t>
            </a:r>
            <a:r>
              <a:rPr lang="zh-CN" altLang="en-US" dirty="0"/>
              <a:t>程序的存储空间</a:t>
            </a:r>
          </a:p>
          <a:p>
            <a:r>
              <a:rPr lang="en-US" altLang="zh-CN" dirty="0">
                <a:solidFill>
                  <a:srgbClr val="EE853E"/>
                </a:solidFill>
              </a:rPr>
              <a:t>2.	</a:t>
            </a:r>
            <a:r>
              <a:rPr lang="zh-CN" altLang="en-US" dirty="0">
                <a:solidFill>
                  <a:srgbClr val="EE853E"/>
                </a:solidFill>
              </a:rPr>
              <a:t>活动记录</a:t>
            </a:r>
          </a:p>
          <a:p>
            <a:r>
              <a:rPr lang="en-US" altLang="zh-CN" dirty="0"/>
              <a:t>3.	</a:t>
            </a:r>
            <a:r>
              <a:rPr lang="zh-CN" altLang="en-US" dirty="0"/>
              <a:t>参数传递</a:t>
            </a:r>
          </a:p>
          <a:p>
            <a:r>
              <a:rPr lang="en-US" altLang="zh-CN" dirty="0"/>
              <a:t>4.	</a:t>
            </a:r>
            <a:r>
              <a:rPr lang="zh-CN" altLang="en-US" dirty="0"/>
              <a:t>非局部变量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6B7A8BF-E20D-4B98-BDAC-C60E75C81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存储空间分配</a:t>
            </a:r>
          </a:p>
        </p:txBody>
      </p:sp>
    </p:spTree>
    <p:extLst>
      <p:ext uri="{BB962C8B-B14F-4D97-AF65-F5344CB8AC3E}">
        <p14:creationId xmlns:p14="http://schemas.microsoft.com/office/powerpoint/2010/main" val="1953816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程序由函数（过程、子程序、程序单元）组成，每个函数拥有自己的局部数据空间。一个函数的局部数据空间也叫做该函数的</a:t>
            </a:r>
            <a:r>
              <a:rPr lang="zh-CN" altLang="en-US" dirty="0">
                <a:solidFill>
                  <a:srgbClr val="EE853E"/>
                </a:solidFill>
              </a:rPr>
              <a:t>活动记录（</a:t>
            </a:r>
            <a:r>
              <a:rPr lang="en-US" altLang="zh-CN" dirty="0">
                <a:solidFill>
                  <a:srgbClr val="EE853E"/>
                </a:solidFill>
              </a:rPr>
              <a:t>Active Record</a:t>
            </a:r>
            <a:r>
              <a:rPr lang="zh-CN" altLang="en-US" dirty="0">
                <a:solidFill>
                  <a:srgbClr val="EE853E"/>
                </a:solidFill>
              </a:rPr>
              <a:t>）</a:t>
            </a:r>
            <a:r>
              <a:rPr lang="zh-CN" altLang="en-US" dirty="0"/>
              <a:t>，或者栈帧（</a:t>
            </a:r>
            <a:r>
              <a:rPr lang="en-US" altLang="zh-CN" dirty="0"/>
              <a:t>Stack Frame</a:t>
            </a:r>
            <a:r>
              <a:rPr lang="zh-CN" altLang="en-US" dirty="0"/>
              <a:t>）。一个函数在执行过程中所需要的数据信息、管理信息都是通过它的活动记录来存放的。 </a:t>
            </a: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活动记录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2993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函数之间的调用遵循“后进先出”模式，相应活动记录的分配也满足“后进先出”模式，这种分配方式叫做栈式分配。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</a:rPr>
              <a:t>栈式分配</a:t>
            </a:r>
            <a:r>
              <a:rPr lang="zh-CN" altLang="en-US" dirty="0"/>
              <a:t>：栈式分配是在栈空间中进行的。当一个函数被调用时，在栈顶分配其活动记录；当函数退出时，在栈顶将其活动记录撤销。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栈式分配</a:t>
            </a:r>
          </a:p>
        </p:txBody>
      </p:sp>
    </p:spTree>
    <p:extLst>
      <p:ext uri="{BB962C8B-B14F-4D97-AF65-F5344CB8AC3E}">
        <p14:creationId xmlns:p14="http://schemas.microsoft.com/office/powerpoint/2010/main" val="3741155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P</a:t>
            </a:r>
            <a:r>
              <a:rPr lang="zh-CN" altLang="en-US"/>
              <a:t>被调用</a:t>
            </a:r>
            <a:endParaRPr lang="en-US" altLang="zh-CN"/>
          </a:p>
          <a:p>
            <a:r>
              <a:rPr lang="en-US" altLang="zh-CN"/>
              <a:t>P</a:t>
            </a:r>
            <a:r>
              <a:rPr lang="zh-CN" altLang="en-US"/>
              <a:t>开始运行</a:t>
            </a:r>
            <a:endParaRPr lang="zh-CN" altLang="en-US" dirty="0"/>
          </a:p>
          <a:p>
            <a:endParaRPr lang="en-US" altLang="zh-CN"/>
          </a:p>
          <a:p>
            <a:r>
              <a:rPr lang="en-US" altLang="zh-CN"/>
              <a:t>P</a:t>
            </a:r>
            <a:r>
              <a:rPr lang="zh-CN" altLang="en-US"/>
              <a:t>调用</a:t>
            </a:r>
            <a:r>
              <a:rPr lang="en-US" altLang="zh-CN"/>
              <a:t>Q</a:t>
            </a:r>
          </a:p>
          <a:p>
            <a:r>
              <a:rPr lang="en-US" altLang="zh-CN"/>
              <a:t>Q</a:t>
            </a:r>
            <a:r>
              <a:rPr lang="zh-CN" altLang="en-US"/>
              <a:t>开始运行</a:t>
            </a:r>
            <a:endParaRPr lang="en-US" altLang="zh-CN" dirty="0"/>
          </a:p>
          <a:p>
            <a:endParaRPr lang="en-US" altLang="zh-CN"/>
          </a:p>
          <a:p>
            <a:r>
              <a:rPr lang="en-US" altLang="zh-CN"/>
              <a:t>Q</a:t>
            </a:r>
            <a:r>
              <a:rPr lang="zh-CN" altLang="en-US" dirty="0"/>
              <a:t>调用</a:t>
            </a:r>
            <a:r>
              <a:rPr lang="en-US" altLang="zh-CN" dirty="0"/>
              <a:t>R</a:t>
            </a:r>
          </a:p>
          <a:p>
            <a:r>
              <a:rPr lang="en-US" altLang="zh-CN"/>
              <a:t>R</a:t>
            </a:r>
            <a:r>
              <a:rPr lang="zh-CN" altLang="en-US"/>
              <a:t>开始运行</a:t>
            </a:r>
            <a:endParaRPr lang="en-US" altLang="zh-CN"/>
          </a:p>
          <a:p>
            <a:endParaRPr lang="en-US" altLang="zh-CN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栈式分配实例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00ABF62-65B8-4C4B-BDC6-DB1E315D70BA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CN"/>
              <a:t>R</a:t>
            </a:r>
            <a:r>
              <a:rPr lang="zh-CN" altLang="en-US"/>
              <a:t>退出</a:t>
            </a:r>
            <a:endParaRPr lang="en-US" altLang="zh-CN"/>
          </a:p>
          <a:p>
            <a:r>
              <a:rPr lang="en-US" altLang="zh-CN"/>
              <a:t>Q</a:t>
            </a:r>
            <a:r>
              <a:rPr lang="zh-CN" altLang="en-US"/>
              <a:t>恢复运行</a:t>
            </a:r>
            <a:endParaRPr lang="en-US" altLang="zh-CN"/>
          </a:p>
          <a:p>
            <a:endParaRPr lang="zh-CN" altLang="en-US"/>
          </a:p>
          <a:p>
            <a:r>
              <a:rPr lang="en-US" altLang="zh-CN"/>
              <a:t>Q</a:t>
            </a:r>
            <a:r>
              <a:rPr lang="zh-CN" altLang="en-US"/>
              <a:t>退出</a:t>
            </a:r>
          </a:p>
          <a:p>
            <a:r>
              <a:rPr lang="en-US" altLang="zh-CN"/>
              <a:t>P</a:t>
            </a:r>
            <a:r>
              <a:rPr lang="zh-CN" altLang="en-US"/>
              <a:t>恢复运行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P</a:t>
            </a:r>
            <a:r>
              <a:rPr lang="zh-CN" altLang="en-US"/>
              <a:t>退出</a:t>
            </a:r>
          </a:p>
          <a:p>
            <a:r>
              <a:rPr lang="en-US" altLang="zh-CN"/>
              <a:t>……</a:t>
            </a:r>
            <a:endParaRPr lang="zh-CN" altLang="en-US"/>
          </a:p>
        </p:txBody>
      </p:sp>
      <p:sp>
        <p:nvSpPr>
          <p:cNvPr id="37" name="Rectangle 4"/>
          <p:cNvSpPr>
            <a:spLocks noChangeArrowheads="1"/>
          </p:cNvSpPr>
          <p:nvPr/>
        </p:nvSpPr>
        <p:spPr bwMode="auto">
          <a:xfrm>
            <a:off x="6731225" y="1295400"/>
            <a:ext cx="2385261" cy="4343400"/>
          </a:xfrm>
          <a:prstGeom prst="rect">
            <a:avLst/>
          </a:prstGeom>
          <a:noFill/>
          <a:ln w="38100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8" name="Line 5"/>
          <p:cNvSpPr>
            <a:spLocks noChangeShapeType="1"/>
          </p:cNvSpPr>
          <p:nvPr/>
        </p:nvSpPr>
        <p:spPr bwMode="auto">
          <a:xfrm>
            <a:off x="6731225" y="2970711"/>
            <a:ext cx="2385261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9" name="Line 6"/>
          <p:cNvSpPr>
            <a:spLocks noChangeShapeType="1"/>
          </p:cNvSpPr>
          <p:nvPr/>
        </p:nvSpPr>
        <p:spPr bwMode="auto">
          <a:xfrm>
            <a:off x="6731225" y="4708071"/>
            <a:ext cx="2385261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0" name="Line 7"/>
          <p:cNvSpPr>
            <a:spLocks noChangeShapeType="1"/>
          </p:cNvSpPr>
          <p:nvPr/>
        </p:nvSpPr>
        <p:spPr bwMode="auto">
          <a:xfrm>
            <a:off x="6731225" y="3839391"/>
            <a:ext cx="2385261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1" name="Oval 8"/>
          <p:cNvSpPr>
            <a:spLocks noChangeArrowheads="1"/>
          </p:cNvSpPr>
          <p:nvPr/>
        </p:nvSpPr>
        <p:spPr bwMode="auto">
          <a:xfrm>
            <a:off x="7893275" y="1676400"/>
            <a:ext cx="61161" cy="62049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2" name="Oval 9"/>
          <p:cNvSpPr>
            <a:spLocks noChangeArrowheads="1"/>
          </p:cNvSpPr>
          <p:nvPr/>
        </p:nvSpPr>
        <p:spPr bwMode="auto">
          <a:xfrm>
            <a:off x="7893275" y="1862545"/>
            <a:ext cx="61161" cy="62049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3" name="Oval 10"/>
          <p:cNvSpPr>
            <a:spLocks noChangeArrowheads="1"/>
          </p:cNvSpPr>
          <p:nvPr/>
        </p:nvSpPr>
        <p:spPr bwMode="auto">
          <a:xfrm>
            <a:off x="7893275" y="2048691"/>
            <a:ext cx="61161" cy="62049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4" name="Oval 11"/>
          <p:cNvSpPr>
            <a:spLocks noChangeArrowheads="1"/>
          </p:cNvSpPr>
          <p:nvPr/>
        </p:nvSpPr>
        <p:spPr bwMode="auto">
          <a:xfrm>
            <a:off x="7893275" y="2234837"/>
            <a:ext cx="61161" cy="62049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5" name="Oval 12"/>
          <p:cNvSpPr>
            <a:spLocks noChangeArrowheads="1"/>
          </p:cNvSpPr>
          <p:nvPr/>
        </p:nvSpPr>
        <p:spPr bwMode="auto">
          <a:xfrm>
            <a:off x="7893275" y="2420982"/>
            <a:ext cx="61161" cy="62049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6" name="Oval 13"/>
          <p:cNvSpPr>
            <a:spLocks noChangeArrowheads="1"/>
          </p:cNvSpPr>
          <p:nvPr/>
        </p:nvSpPr>
        <p:spPr bwMode="auto">
          <a:xfrm>
            <a:off x="7893275" y="2607128"/>
            <a:ext cx="61161" cy="62049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9" name="AutoShape 16"/>
          <p:cNvSpPr>
            <a:spLocks/>
          </p:cNvSpPr>
          <p:nvPr/>
        </p:nvSpPr>
        <p:spPr bwMode="auto">
          <a:xfrm>
            <a:off x="9307786" y="4846322"/>
            <a:ext cx="122321" cy="729340"/>
          </a:xfrm>
          <a:prstGeom prst="rightBrace">
            <a:avLst>
              <a:gd name="adj1" fmla="val 58333"/>
              <a:gd name="adj2" fmla="val 50000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0" name="Text Box 17"/>
          <p:cNvSpPr txBox="1">
            <a:spLocks noChangeArrowheads="1"/>
          </p:cNvSpPr>
          <p:nvPr/>
        </p:nvSpPr>
        <p:spPr bwMode="auto">
          <a:xfrm>
            <a:off x="9451344" y="3219386"/>
            <a:ext cx="1632178" cy="40011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P</a:t>
            </a:r>
            <a:r>
              <a:rPr kumimoji="1"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的活动记录</a:t>
            </a:r>
          </a:p>
        </p:txBody>
      </p:sp>
      <p:sp>
        <p:nvSpPr>
          <p:cNvPr id="51" name="Text Box 18"/>
          <p:cNvSpPr txBox="1">
            <a:spLocks noChangeArrowheads="1"/>
          </p:cNvSpPr>
          <p:nvPr/>
        </p:nvSpPr>
        <p:spPr bwMode="auto">
          <a:xfrm>
            <a:off x="9451344" y="4087586"/>
            <a:ext cx="1673856" cy="40011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000" b="1">
                <a:solidFill>
                  <a:schemeClr val="bg1"/>
                </a:solidFill>
                <a:latin typeface="+mj-ea"/>
                <a:ea typeface="+mj-ea"/>
              </a:rPr>
              <a:t>Q</a:t>
            </a:r>
            <a:r>
              <a:rPr kumimoji="1" lang="zh-CN" altLang="en-US" sz="2000" b="1">
                <a:solidFill>
                  <a:schemeClr val="bg1"/>
                </a:solidFill>
                <a:latin typeface="+mj-ea"/>
                <a:ea typeface="+mj-ea"/>
              </a:rPr>
              <a:t>的活动记录</a:t>
            </a:r>
          </a:p>
        </p:txBody>
      </p:sp>
      <p:sp>
        <p:nvSpPr>
          <p:cNvPr id="52" name="Text Box 19"/>
          <p:cNvSpPr txBox="1">
            <a:spLocks noChangeArrowheads="1"/>
          </p:cNvSpPr>
          <p:nvPr/>
        </p:nvSpPr>
        <p:spPr bwMode="auto">
          <a:xfrm>
            <a:off x="9451344" y="5018185"/>
            <a:ext cx="1661032" cy="40011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R</a:t>
            </a:r>
            <a:r>
              <a:rPr kumimoji="1"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的活动记录</a:t>
            </a:r>
          </a:p>
        </p:txBody>
      </p:sp>
      <p:sp>
        <p:nvSpPr>
          <p:cNvPr id="53" name="Line 20"/>
          <p:cNvSpPr>
            <a:spLocks noChangeShapeType="1"/>
          </p:cNvSpPr>
          <p:nvPr/>
        </p:nvSpPr>
        <p:spPr bwMode="auto">
          <a:xfrm>
            <a:off x="6731225" y="5410200"/>
            <a:ext cx="2385261" cy="0"/>
          </a:xfrm>
          <a:prstGeom prst="line">
            <a:avLst/>
          </a:prstGeom>
          <a:noFill/>
          <a:ln w="38100" cap="rnd">
            <a:solidFill>
              <a:schemeClr val="bg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4" name="Line 21"/>
          <p:cNvSpPr>
            <a:spLocks noChangeShapeType="1"/>
          </p:cNvSpPr>
          <p:nvPr/>
        </p:nvSpPr>
        <p:spPr bwMode="auto">
          <a:xfrm>
            <a:off x="6731225" y="5266509"/>
            <a:ext cx="2385261" cy="0"/>
          </a:xfrm>
          <a:prstGeom prst="line">
            <a:avLst/>
          </a:prstGeom>
          <a:noFill/>
          <a:ln w="38100" cap="rnd">
            <a:solidFill>
              <a:schemeClr val="bg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5" name="Line 22"/>
          <p:cNvSpPr>
            <a:spLocks noChangeShapeType="1"/>
          </p:cNvSpPr>
          <p:nvPr/>
        </p:nvSpPr>
        <p:spPr bwMode="auto">
          <a:xfrm>
            <a:off x="6731225" y="5142411"/>
            <a:ext cx="2385261" cy="0"/>
          </a:xfrm>
          <a:prstGeom prst="line">
            <a:avLst/>
          </a:prstGeom>
          <a:noFill/>
          <a:ln w="38100" cap="rnd">
            <a:solidFill>
              <a:schemeClr val="bg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6" name="Line 23"/>
          <p:cNvSpPr>
            <a:spLocks noChangeShapeType="1"/>
          </p:cNvSpPr>
          <p:nvPr/>
        </p:nvSpPr>
        <p:spPr bwMode="auto">
          <a:xfrm>
            <a:off x="6731225" y="4521926"/>
            <a:ext cx="2385261" cy="0"/>
          </a:xfrm>
          <a:prstGeom prst="line">
            <a:avLst/>
          </a:prstGeom>
          <a:noFill/>
          <a:ln w="38100" cap="rnd">
            <a:solidFill>
              <a:schemeClr val="bg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7" name="Line 24"/>
          <p:cNvSpPr>
            <a:spLocks noChangeShapeType="1"/>
          </p:cNvSpPr>
          <p:nvPr/>
        </p:nvSpPr>
        <p:spPr bwMode="auto">
          <a:xfrm>
            <a:off x="6731225" y="4397829"/>
            <a:ext cx="2385261" cy="0"/>
          </a:xfrm>
          <a:prstGeom prst="line">
            <a:avLst/>
          </a:prstGeom>
          <a:noFill/>
          <a:ln w="38100" cap="rnd">
            <a:solidFill>
              <a:schemeClr val="bg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8" name="Line 25"/>
          <p:cNvSpPr>
            <a:spLocks noChangeShapeType="1"/>
          </p:cNvSpPr>
          <p:nvPr/>
        </p:nvSpPr>
        <p:spPr bwMode="auto">
          <a:xfrm>
            <a:off x="6731225" y="4273731"/>
            <a:ext cx="2385261" cy="0"/>
          </a:xfrm>
          <a:prstGeom prst="line">
            <a:avLst/>
          </a:prstGeom>
          <a:noFill/>
          <a:ln w="38100" cap="rnd">
            <a:solidFill>
              <a:schemeClr val="bg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9" name="Line 26"/>
          <p:cNvSpPr>
            <a:spLocks noChangeShapeType="1"/>
          </p:cNvSpPr>
          <p:nvPr/>
        </p:nvSpPr>
        <p:spPr bwMode="auto">
          <a:xfrm>
            <a:off x="6731225" y="3653246"/>
            <a:ext cx="2385261" cy="0"/>
          </a:xfrm>
          <a:prstGeom prst="line">
            <a:avLst/>
          </a:prstGeom>
          <a:noFill/>
          <a:ln w="38100" cap="rnd">
            <a:solidFill>
              <a:schemeClr val="bg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0" name="Line 27"/>
          <p:cNvSpPr>
            <a:spLocks noChangeShapeType="1"/>
          </p:cNvSpPr>
          <p:nvPr/>
        </p:nvSpPr>
        <p:spPr bwMode="auto">
          <a:xfrm>
            <a:off x="6731225" y="3529149"/>
            <a:ext cx="2385261" cy="0"/>
          </a:xfrm>
          <a:prstGeom prst="line">
            <a:avLst/>
          </a:prstGeom>
          <a:noFill/>
          <a:ln w="38100" cap="rnd">
            <a:solidFill>
              <a:schemeClr val="bg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1" name="Line 28"/>
          <p:cNvSpPr>
            <a:spLocks noChangeShapeType="1"/>
          </p:cNvSpPr>
          <p:nvPr/>
        </p:nvSpPr>
        <p:spPr bwMode="auto">
          <a:xfrm>
            <a:off x="6731225" y="3405051"/>
            <a:ext cx="2385261" cy="0"/>
          </a:xfrm>
          <a:prstGeom prst="line">
            <a:avLst/>
          </a:prstGeom>
          <a:noFill/>
          <a:ln w="38100" cap="rnd">
            <a:solidFill>
              <a:schemeClr val="bg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2" name="Text Box 29"/>
          <p:cNvSpPr txBox="1">
            <a:spLocks noChangeArrowheads="1"/>
          </p:cNvSpPr>
          <p:nvPr/>
        </p:nvSpPr>
        <p:spPr bwMode="auto">
          <a:xfrm>
            <a:off x="7748543" y="3057321"/>
            <a:ext cx="492443" cy="31354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000" b="1">
                <a:solidFill>
                  <a:schemeClr val="bg1"/>
                </a:solidFill>
                <a:latin typeface="+mj-ea"/>
                <a:ea typeface="+mj-ea"/>
              </a:rPr>
              <a:t>...</a:t>
            </a:r>
          </a:p>
        </p:txBody>
      </p:sp>
      <p:sp>
        <p:nvSpPr>
          <p:cNvPr id="63" name="Text Box 30"/>
          <p:cNvSpPr txBox="1">
            <a:spLocks noChangeArrowheads="1"/>
          </p:cNvSpPr>
          <p:nvPr/>
        </p:nvSpPr>
        <p:spPr bwMode="auto">
          <a:xfrm>
            <a:off x="7748543" y="3901440"/>
            <a:ext cx="492443" cy="31354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000" b="1">
                <a:solidFill>
                  <a:schemeClr val="bg1"/>
                </a:solidFill>
                <a:latin typeface="+mj-ea"/>
                <a:ea typeface="+mj-ea"/>
              </a:rPr>
              <a:t>...</a:t>
            </a:r>
          </a:p>
        </p:txBody>
      </p:sp>
      <p:sp>
        <p:nvSpPr>
          <p:cNvPr id="64" name="Text Box 31"/>
          <p:cNvSpPr txBox="1">
            <a:spLocks noChangeArrowheads="1"/>
          </p:cNvSpPr>
          <p:nvPr/>
        </p:nvSpPr>
        <p:spPr bwMode="auto">
          <a:xfrm>
            <a:off x="7748543" y="4770120"/>
            <a:ext cx="492443" cy="31354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000" b="1">
                <a:solidFill>
                  <a:schemeClr val="bg1"/>
                </a:solidFill>
                <a:latin typeface="+mj-ea"/>
                <a:ea typeface="+mj-ea"/>
              </a:rPr>
              <a:t>...</a:t>
            </a:r>
          </a:p>
        </p:txBody>
      </p:sp>
      <p:sp>
        <p:nvSpPr>
          <p:cNvPr id="65" name="Line 32"/>
          <p:cNvSpPr>
            <a:spLocks noChangeShapeType="1"/>
          </p:cNvSpPr>
          <p:nvPr/>
        </p:nvSpPr>
        <p:spPr bwMode="auto">
          <a:xfrm>
            <a:off x="6285263" y="1295400"/>
            <a:ext cx="0" cy="43434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AutoShape 16">
            <a:extLst>
              <a:ext uri="{FF2B5EF4-FFF2-40B4-BE49-F238E27FC236}">
                <a16:creationId xmlns:a16="http://schemas.microsoft.com/office/drawing/2014/main" id="{1EB2D760-8817-4E28-B5BE-77763016FADB}"/>
              </a:ext>
            </a:extLst>
          </p:cNvPr>
          <p:cNvSpPr>
            <a:spLocks/>
          </p:cNvSpPr>
          <p:nvPr/>
        </p:nvSpPr>
        <p:spPr bwMode="auto">
          <a:xfrm>
            <a:off x="9307786" y="3919316"/>
            <a:ext cx="122321" cy="729340"/>
          </a:xfrm>
          <a:prstGeom prst="rightBrace">
            <a:avLst>
              <a:gd name="adj1" fmla="val 58333"/>
              <a:gd name="adj2" fmla="val 50000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4" name="AutoShape 16">
            <a:extLst>
              <a:ext uri="{FF2B5EF4-FFF2-40B4-BE49-F238E27FC236}">
                <a16:creationId xmlns:a16="http://schemas.microsoft.com/office/drawing/2014/main" id="{4D1EF2F2-9C34-489F-9836-039A4CDDFD6C}"/>
              </a:ext>
            </a:extLst>
          </p:cNvPr>
          <p:cNvSpPr>
            <a:spLocks/>
          </p:cNvSpPr>
          <p:nvPr/>
        </p:nvSpPr>
        <p:spPr bwMode="auto">
          <a:xfrm>
            <a:off x="9310058" y="3040381"/>
            <a:ext cx="122321" cy="729340"/>
          </a:xfrm>
          <a:prstGeom prst="rightBrace">
            <a:avLst>
              <a:gd name="adj1" fmla="val 58333"/>
              <a:gd name="adj2" fmla="val 50000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13104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1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31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31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31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31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31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779" grpId="0" uiExpand="1" build="p"/>
      <p:bldP spid="4" grpId="0" uiExpand="1" build="p"/>
      <p:bldP spid="39" grpId="0" uiExpand="1" animBg="1"/>
      <p:bldP spid="39" grpId="1" uiExpand="1" animBg="1"/>
      <p:bldP spid="40" grpId="0" uiExpand="1" animBg="1"/>
      <p:bldP spid="40" grpId="1" uiExpand="1" animBg="1"/>
      <p:bldP spid="49" grpId="0" uiExpand="1" animBg="1"/>
      <p:bldP spid="49" grpId="1" uiExpand="1" animBg="1"/>
      <p:bldP spid="50" grpId="0" uiExpand="1"/>
      <p:bldP spid="50" grpId="1" uiExpand="1"/>
      <p:bldP spid="51" grpId="0" uiExpand="1"/>
      <p:bldP spid="51" grpId="1" uiExpand="1"/>
      <p:bldP spid="52" grpId="0" uiExpand="1"/>
      <p:bldP spid="52" grpId="1" uiExpand="1"/>
      <p:bldP spid="53" grpId="0" uiExpand="1" animBg="1"/>
      <p:bldP spid="53" grpId="1" uiExpand="1" animBg="1"/>
      <p:bldP spid="54" grpId="0" uiExpand="1" animBg="1"/>
      <p:bldP spid="54" grpId="1" uiExpand="1" animBg="1"/>
      <p:bldP spid="55" grpId="0" uiExpand="1" animBg="1"/>
      <p:bldP spid="55" grpId="1" uiExpand="1" animBg="1"/>
      <p:bldP spid="56" grpId="0" uiExpand="1" animBg="1"/>
      <p:bldP spid="56" grpId="1" uiExpand="1" animBg="1"/>
      <p:bldP spid="57" grpId="0" uiExpand="1" animBg="1"/>
      <p:bldP spid="57" grpId="1" uiExpand="1" animBg="1"/>
      <p:bldP spid="58" grpId="0" uiExpand="1" animBg="1"/>
      <p:bldP spid="58" grpId="1" uiExpand="1" animBg="1"/>
      <p:bldP spid="59" grpId="0" uiExpand="1" animBg="1"/>
      <p:bldP spid="59" grpId="1" uiExpand="1" animBg="1"/>
      <p:bldP spid="60" grpId="0" uiExpand="1" animBg="1"/>
      <p:bldP spid="60" grpId="1" uiExpand="1" animBg="1"/>
      <p:bldP spid="61" grpId="0" uiExpand="1" animBg="1"/>
      <p:bldP spid="61" grpId="1" uiExpand="1" animBg="1"/>
      <p:bldP spid="62" grpId="0" uiExpand="1"/>
      <p:bldP spid="62" grpId="1" uiExpand="1"/>
      <p:bldP spid="63" grpId="0" uiExpand="1"/>
      <p:bldP spid="63" grpId="1" uiExpand="1"/>
      <p:bldP spid="64" grpId="0" uiExpand="1"/>
      <p:bldP spid="64" grpId="1" uiExpand="1"/>
      <p:bldP spid="33" grpId="0" uiExpand="1" animBg="1"/>
      <p:bldP spid="33" grpId="1" uiExpand="1" animBg="1"/>
      <p:bldP spid="34" grpId="0" uiExpand="1" animBg="1"/>
      <p:bldP spid="34" grpId="1" uiExpan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活动记录的内容</a:t>
            </a:r>
          </a:p>
        </p:txBody>
      </p:sp>
      <p:grpSp>
        <p:nvGrpSpPr>
          <p:cNvPr id="7172" name="Group 36"/>
          <p:cNvGrpSpPr>
            <a:grpSpLocks/>
          </p:cNvGrpSpPr>
          <p:nvPr/>
        </p:nvGrpSpPr>
        <p:grpSpPr bwMode="auto">
          <a:xfrm>
            <a:off x="4876800" y="1371600"/>
            <a:ext cx="2438400" cy="4198844"/>
            <a:chOff x="3456" y="1344"/>
            <a:chExt cx="1440" cy="2498"/>
          </a:xfrm>
        </p:grpSpPr>
        <p:sp>
          <p:nvSpPr>
            <p:cNvPr id="7173" name="Rectangle 32"/>
            <p:cNvSpPr>
              <a:spLocks noChangeArrowheads="1"/>
            </p:cNvSpPr>
            <p:nvPr/>
          </p:nvSpPr>
          <p:spPr bwMode="auto">
            <a:xfrm>
              <a:off x="3456" y="3434"/>
              <a:ext cx="1440" cy="40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</a:rPr>
                <a:t>变量区</a:t>
              </a:r>
            </a:p>
          </p:txBody>
        </p:sp>
        <p:sp>
          <p:nvSpPr>
            <p:cNvPr id="7174" name="Rectangle 19"/>
            <p:cNvSpPr>
              <a:spLocks noChangeArrowheads="1"/>
            </p:cNvSpPr>
            <p:nvPr/>
          </p:nvSpPr>
          <p:spPr bwMode="auto">
            <a:xfrm>
              <a:off x="3456" y="3036"/>
              <a:ext cx="1440" cy="40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</a:rPr>
                <a:t>参数区</a:t>
              </a:r>
            </a:p>
          </p:txBody>
        </p:sp>
        <p:sp>
          <p:nvSpPr>
            <p:cNvPr id="7175" name="Rectangle 18"/>
            <p:cNvSpPr>
              <a:spLocks noChangeArrowheads="1"/>
            </p:cNvSpPr>
            <p:nvPr/>
          </p:nvSpPr>
          <p:spPr bwMode="auto">
            <a:xfrm>
              <a:off x="3456" y="2628"/>
              <a:ext cx="1440" cy="40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</a:rPr>
                <a:t>现场保护</a:t>
              </a:r>
            </a:p>
          </p:txBody>
        </p:sp>
        <p:sp>
          <p:nvSpPr>
            <p:cNvPr id="7176" name="Rectangle 17"/>
            <p:cNvSpPr>
              <a:spLocks noChangeArrowheads="1"/>
            </p:cNvSpPr>
            <p:nvPr/>
          </p:nvSpPr>
          <p:spPr bwMode="auto">
            <a:xfrm>
              <a:off x="3456" y="2220"/>
              <a:ext cx="1440" cy="40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</a:rPr>
                <a:t>静态连接</a:t>
              </a:r>
            </a:p>
          </p:txBody>
        </p:sp>
        <p:sp>
          <p:nvSpPr>
            <p:cNvPr id="7177" name="Rectangle 16"/>
            <p:cNvSpPr>
              <a:spLocks noChangeArrowheads="1"/>
            </p:cNvSpPr>
            <p:nvPr/>
          </p:nvSpPr>
          <p:spPr bwMode="auto">
            <a:xfrm>
              <a:off x="3456" y="1812"/>
              <a:ext cx="1440" cy="40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</a:rPr>
                <a:t>动态连接</a:t>
              </a:r>
            </a:p>
          </p:txBody>
        </p:sp>
        <p:sp>
          <p:nvSpPr>
            <p:cNvPr id="7178" name="Rectangle 15"/>
            <p:cNvSpPr>
              <a:spLocks noChangeArrowheads="1"/>
            </p:cNvSpPr>
            <p:nvPr/>
          </p:nvSpPr>
          <p:spPr bwMode="auto">
            <a:xfrm>
              <a:off x="3456" y="1404"/>
              <a:ext cx="1440" cy="40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</a:rPr>
                <a:t>返回地址</a:t>
              </a:r>
            </a:p>
          </p:txBody>
        </p:sp>
        <p:sp>
          <p:nvSpPr>
            <p:cNvPr id="7179" name="Line 21"/>
            <p:cNvSpPr>
              <a:spLocks noChangeShapeType="1"/>
            </p:cNvSpPr>
            <p:nvPr/>
          </p:nvSpPr>
          <p:spPr bwMode="auto">
            <a:xfrm>
              <a:off x="3456" y="1344"/>
              <a:ext cx="1440" cy="0"/>
            </a:xfrm>
            <a:prstGeom prst="line">
              <a:avLst/>
            </a:prstGeom>
            <a:noFill/>
            <a:ln w="38100" cap="sq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7180" name="Line 22"/>
            <p:cNvSpPr>
              <a:spLocks noChangeShapeType="1"/>
            </p:cNvSpPr>
            <p:nvPr/>
          </p:nvSpPr>
          <p:spPr bwMode="auto">
            <a:xfrm>
              <a:off x="3456" y="1752"/>
              <a:ext cx="144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7181" name="Line 23"/>
            <p:cNvSpPr>
              <a:spLocks noChangeShapeType="1"/>
            </p:cNvSpPr>
            <p:nvPr/>
          </p:nvSpPr>
          <p:spPr bwMode="auto">
            <a:xfrm>
              <a:off x="3456" y="2160"/>
              <a:ext cx="144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7182" name="Line 24"/>
            <p:cNvSpPr>
              <a:spLocks noChangeShapeType="1"/>
            </p:cNvSpPr>
            <p:nvPr/>
          </p:nvSpPr>
          <p:spPr bwMode="auto">
            <a:xfrm>
              <a:off x="3456" y="2568"/>
              <a:ext cx="144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7183" name="Line 25"/>
            <p:cNvSpPr>
              <a:spLocks noChangeShapeType="1"/>
            </p:cNvSpPr>
            <p:nvPr/>
          </p:nvSpPr>
          <p:spPr bwMode="auto">
            <a:xfrm>
              <a:off x="3456" y="2976"/>
              <a:ext cx="144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7184" name="Line 26"/>
            <p:cNvSpPr>
              <a:spLocks noChangeShapeType="1"/>
            </p:cNvSpPr>
            <p:nvPr/>
          </p:nvSpPr>
          <p:spPr bwMode="auto">
            <a:xfrm>
              <a:off x="3456" y="3384"/>
              <a:ext cx="144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7185" name="Line 27"/>
            <p:cNvSpPr>
              <a:spLocks noChangeShapeType="1"/>
            </p:cNvSpPr>
            <p:nvPr/>
          </p:nvSpPr>
          <p:spPr bwMode="auto">
            <a:xfrm>
              <a:off x="3456" y="3768"/>
              <a:ext cx="1440" cy="0"/>
            </a:xfrm>
            <a:prstGeom prst="line">
              <a:avLst/>
            </a:prstGeom>
            <a:noFill/>
            <a:ln w="38100" cap="sq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7186" name="Line 28"/>
            <p:cNvSpPr>
              <a:spLocks noChangeShapeType="1"/>
            </p:cNvSpPr>
            <p:nvPr/>
          </p:nvSpPr>
          <p:spPr bwMode="auto">
            <a:xfrm>
              <a:off x="3456" y="1368"/>
              <a:ext cx="0" cy="2400"/>
            </a:xfrm>
            <a:prstGeom prst="line">
              <a:avLst/>
            </a:prstGeom>
            <a:noFill/>
            <a:ln w="38100" cap="sq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7187" name="Line 29"/>
            <p:cNvSpPr>
              <a:spLocks noChangeShapeType="1"/>
            </p:cNvSpPr>
            <p:nvPr/>
          </p:nvSpPr>
          <p:spPr bwMode="auto">
            <a:xfrm>
              <a:off x="4896" y="1368"/>
              <a:ext cx="0" cy="2400"/>
            </a:xfrm>
            <a:prstGeom prst="line">
              <a:avLst/>
            </a:prstGeom>
            <a:noFill/>
            <a:ln w="38100" cap="sq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1089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活动记录是在函数调用时</a:t>
            </a:r>
            <a:r>
              <a:rPr lang="zh-CN" altLang="en-US" dirty="0">
                <a:solidFill>
                  <a:srgbClr val="EE853E"/>
                </a:solidFill>
              </a:rPr>
              <a:t>动态建立</a:t>
            </a:r>
            <a:r>
              <a:rPr lang="zh-CN" altLang="en-US" dirty="0"/>
              <a:t>，在函数退出时</a:t>
            </a:r>
            <a:r>
              <a:rPr lang="zh-CN" altLang="en-US" dirty="0">
                <a:solidFill>
                  <a:srgbClr val="EE853E"/>
                </a:solidFill>
              </a:rPr>
              <a:t>动态撤销</a:t>
            </a:r>
            <a:r>
              <a:rPr lang="zh-CN" altLang="en-US" dirty="0"/>
              <a:t>的。</a:t>
            </a:r>
            <a:endParaRPr lang="en-US" altLang="zh-CN" dirty="0"/>
          </a:p>
          <a:p>
            <a:endParaRPr lang="en-US" altLang="zh-CN" dirty="0">
              <a:solidFill>
                <a:srgbClr val="EE853E"/>
              </a:solidFill>
            </a:endParaRPr>
          </a:p>
          <a:p>
            <a:r>
              <a:rPr lang="zh-CN" altLang="en-US" dirty="0">
                <a:solidFill>
                  <a:srgbClr val="EE853E"/>
                </a:solidFill>
              </a:rPr>
              <a:t>动态连接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zh-CN" altLang="en-US" dirty="0"/>
              <a:t>主调函数调用被调函数时，在被调函数的活动记录中保存主调函数的活动记录的首地址；被调函数退出时，使用该地址，恢复主调函数的活动记录。</a:t>
            </a:r>
            <a:endParaRPr lang="en-US" altLang="zh-CN" dirty="0"/>
          </a:p>
          <a:p>
            <a:endParaRPr lang="en-US" altLang="zh-CN" dirty="0">
              <a:solidFill>
                <a:srgbClr val="EE853E"/>
              </a:solidFill>
            </a:endParaRPr>
          </a:p>
          <a:p>
            <a:r>
              <a:rPr lang="zh-CN" altLang="en-US" dirty="0">
                <a:solidFill>
                  <a:srgbClr val="EE853E"/>
                </a:solidFill>
              </a:rPr>
              <a:t>动态链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zh-CN" altLang="en-US" dirty="0"/>
              <a:t>由动态连接组成的一个调用链。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动态连接与动态链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63435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A5144516-5707-4788-9C75-2C6C8ADAA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A:	call E</a:t>
            </a:r>
          </a:p>
          <a:p>
            <a:r>
              <a:rPr lang="en-US" altLang="zh-CN" dirty="0"/>
              <a:t>E:	call F</a:t>
            </a:r>
          </a:p>
          <a:p>
            <a:r>
              <a:rPr lang="en-US" altLang="zh-CN" dirty="0"/>
              <a:t>F:	call G</a:t>
            </a:r>
          </a:p>
          <a:p>
            <a:r>
              <a:rPr lang="en-US" altLang="zh-CN" dirty="0"/>
              <a:t>G:	call F</a:t>
            </a:r>
          </a:p>
          <a:p>
            <a:endParaRPr lang="en-US" altLang="zh-CN" dirty="0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0C888629-B8AD-414F-B9BA-569FAD21E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动态连接实例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7A99C7D-A4C6-41D3-AB57-A0845CEEC38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CN" dirty="0"/>
              <a:t>F:	end</a:t>
            </a:r>
          </a:p>
          <a:p>
            <a:r>
              <a:rPr lang="en-US" altLang="zh-CN" dirty="0"/>
              <a:t>G:	end</a:t>
            </a:r>
          </a:p>
          <a:p>
            <a:r>
              <a:rPr lang="en-US" altLang="zh-CN" dirty="0"/>
              <a:t>F:	end</a:t>
            </a:r>
          </a:p>
          <a:p>
            <a:r>
              <a:rPr lang="en-US" altLang="zh-CN" dirty="0"/>
              <a:t>E:	end</a:t>
            </a:r>
          </a:p>
          <a:p>
            <a:r>
              <a:rPr lang="en-US" altLang="zh-CN" dirty="0"/>
              <a:t> </a:t>
            </a:r>
          </a:p>
        </p:txBody>
      </p:sp>
      <p:sp>
        <p:nvSpPr>
          <p:cNvPr id="337991" name="Rectangle 71"/>
          <p:cNvSpPr>
            <a:spLocks noChangeArrowheads="1"/>
          </p:cNvSpPr>
          <p:nvPr/>
        </p:nvSpPr>
        <p:spPr bwMode="auto">
          <a:xfrm>
            <a:off x="6476077" y="1219200"/>
            <a:ext cx="3276600" cy="4267200"/>
          </a:xfrm>
          <a:prstGeom prst="rect">
            <a:avLst/>
          </a:prstGeom>
          <a:noFill/>
          <a:ln w="38100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7992" name="Line 72"/>
          <p:cNvSpPr>
            <a:spLocks noChangeShapeType="1"/>
          </p:cNvSpPr>
          <p:nvPr/>
        </p:nvSpPr>
        <p:spPr bwMode="auto">
          <a:xfrm>
            <a:off x="6476077" y="2895600"/>
            <a:ext cx="32766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7993" name="Line 73"/>
          <p:cNvSpPr>
            <a:spLocks noChangeShapeType="1"/>
          </p:cNvSpPr>
          <p:nvPr/>
        </p:nvSpPr>
        <p:spPr bwMode="auto">
          <a:xfrm>
            <a:off x="6476077" y="1447800"/>
            <a:ext cx="3276600" cy="0"/>
          </a:xfrm>
          <a:prstGeom prst="line">
            <a:avLst/>
          </a:prstGeom>
          <a:noFill/>
          <a:ln w="38100" cap="rnd">
            <a:solidFill>
              <a:schemeClr val="bg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7994" name="Line 74"/>
          <p:cNvSpPr>
            <a:spLocks noChangeShapeType="1"/>
          </p:cNvSpPr>
          <p:nvPr/>
        </p:nvSpPr>
        <p:spPr bwMode="auto">
          <a:xfrm>
            <a:off x="6476077" y="1676400"/>
            <a:ext cx="3276600" cy="0"/>
          </a:xfrm>
          <a:prstGeom prst="line">
            <a:avLst/>
          </a:prstGeom>
          <a:noFill/>
          <a:ln w="38100" cap="rnd">
            <a:solidFill>
              <a:schemeClr val="bg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7995" name="Line 75"/>
          <p:cNvSpPr>
            <a:spLocks noChangeShapeType="1"/>
          </p:cNvSpPr>
          <p:nvPr/>
        </p:nvSpPr>
        <p:spPr bwMode="auto">
          <a:xfrm>
            <a:off x="6476077" y="2057400"/>
            <a:ext cx="32766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7996" name="Line 76"/>
          <p:cNvSpPr>
            <a:spLocks noChangeShapeType="1"/>
          </p:cNvSpPr>
          <p:nvPr/>
        </p:nvSpPr>
        <p:spPr bwMode="auto">
          <a:xfrm>
            <a:off x="6476077" y="2286000"/>
            <a:ext cx="3276600" cy="0"/>
          </a:xfrm>
          <a:prstGeom prst="line">
            <a:avLst/>
          </a:prstGeom>
          <a:noFill/>
          <a:ln w="38100" cap="rnd">
            <a:solidFill>
              <a:schemeClr val="bg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7997" name="Line 77"/>
          <p:cNvSpPr>
            <a:spLocks noChangeShapeType="1"/>
          </p:cNvSpPr>
          <p:nvPr/>
        </p:nvSpPr>
        <p:spPr bwMode="auto">
          <a:xfrm>
            <a:off x="6476077" y="2514600"/>
            <a:ext cx="3276600" cy="0"/>
          </a:xfrm>
          <a:prstGeom prst="line">
            <a:avLst/>
          </a:prstGeom>
          <a:noFill/>
          <a:ln w="38100" cap="rnd">
            <a:solidFill>
              <a:schemeClr val="bg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7998" name="Line 78"/>
          <p:cNvSpPr>
            <a:spLocks noChangeShapeType="1"/>
          </p:cNvSpPr>
          <p:nvPr/>
        </p:nvSpPr>
        <p:spPr bwMode="auto">
          <a:xfrm>
            <a:off x="6476077" y="3124200"/>
            <a:ext cx="3276600" cy="0"/>
          </a:xfrm>
          <a:prstGeom prst="line">
            <a:avLst/>
          </a:prstGeom>
          <a:noFill/>
          <a:ln w="38100" cap="rnd">
            <a:solidFill>
              <a:schemeClr val="bg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7999" name="Line 79"/>
          <p:cNvSpPr>
            <a:spLocks noChangeShapeType="1"/>
          </p:cNvSpPr>
          <p:nvPr/>
        </p:nvSpPr>
        <p:spPr bwMode="auto">
          <a:xfrm>
            <a:off x="6476077" y="3352800"/>
            <a:ext cx="3276600" cy="0"/>
          </a:xfrm>
          <a:prstGeom prst="line">
            <a:avLst/>
          </a:prstGeom>
          <a:noFill/>
          <a:ln w="38100" cap="rnd">
            <a:solidFill>
              <a:schemeClr val="bg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8000" name="Line 80"/>
          <p:cNvSpPr>
            <a:spLocks noChangeShapeType="1"/>
          </p:cNvSpPr>
          <p:nvPr/>
        </p:nvSpPr>
        <p:spPr bwMode="auto">
          <a:xfrm>
            <a:off x="6476077" y="3733800"/>
            <a:ext cx="32766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8001" name="Line 81"/>
          <p:cNvSpPr>
            <a:spLocks noChangeShapeType="1"/>
          </p:cNvSpPr>
          <p:nvPr/>
        </p:nvSpPr>
        <p:spPr bwMode="auto">
          <a:xfrm>
            <a:off x="6476077" y="3962400"/>
            <a:ext cx="3276600" cy="0"/>
          </a:xfrm>
          <a:prstGeom prst="line">
            <a:avLst/>
          </a:prstGeom>
          <a:noFill/>
          <a:ln w="38100" cap="rnd">
            <a:solidFill>
              <a:schemeClr val="bg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8002" name="Line 82"/>
          <p:cNvSpPr>
            <a:spLocks noChangeShapeType="1"/>
          </p:cNvSpPr>
          <p:nvPr/>
        </p:nvSpPr>
        <p:spPr bwMode="auto">
          <a:xfrm>
            <a:off x="6476077" y="4191000"/>
            <a:ext cx="3276600" cy="0"/>
          </a:xfrm>
          <a:prstGeom prst="line">
            <a:avLst/>
          </a:prstGeom>
          <a:noFill/>
          <a:ln w="38100" cap="rnd">
            <a:solidFill>
              <a:schemeClr val="bg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8003" name="Line 83"/>
          <p:cNvSpPr>
            <a:spLocks noChangeShapeType="1"/>
          </p:cNvSpPr>
          <p:nvPr/>
        </p:nvSpPr>
        <p:spPr bwMode="auto">
          <a:xfrm>
            <a:off x="6476077" y="4572000"/>
            <a:ext cx="32766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8004" name="Line 84"/>
          <p:cNvSpPr>
            <a:spLocks noChangeShapeType="1"/>
          </p:cNvSpPr>
          <p:nvPr/>
        </p:nvSpPr>
        <p:spPr bwMode="auto">
          <a:xfrm>
            <a:off x="6476077" y="4800600"/>
            <a:ext cx="3276600" cy="0"/>
          </a:xfrm>
          <a:prstGeom prst="line">
            <a:avLst/>
          </a:prstGeom>
          <a:noFill/>
          <a:ln w="38100" cap="rnd">
            <a:solidFill>
              <a:schemeClr val="bg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8005" name="Line 85"/>
          <p:cNvSpPr>
            <a:spLocks noChangeShapeType="1"/>
          </p:cNvSpPr>
          <p:nvPr/>
        </p:nvSpPr>
        <p:spPr bwMode="auto">
          <a:xfrm>
            <a:off x="6476077" y="5029200"/>
            <a:ext cx="3276600" cy="0"/>
          </a:xfrm>
          <a:prstGeom prst="line">
            <a:avLst/>
          </a:prstGeom>
          <a:noFill/>
          <a:ln w="38100" cap="rnd">
            <a:solidFill>
              <a:schemeClr val="bg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8006" name="AutoShape 86"/>
          <p:cNvSpPr>
            <a:spLocks/>
          </p:cNvSpPr>
          <p:nvPr/>
        </p:nvSpPr>
        <p:spPr bwMode="auto">
          <a:xfrm>
            <a:off x="6079202" y="1219200"/>
            <a:ext cx="228600" cy="762000"/>
          </a:xfrm>
          <a:prstGeom prst="leftBrace">
            <a:avLst>
              <a:gd name="adj1" fmla="val 27778"/>
              <a:gd name="adj2" fmla="val 50000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8007" name="AutoShape 87"/>
          <p:cNvSpPr>
            <a:spLocks/>
          </p:cNvSpPr>
          <p:nvPr/>
        </p:nvSpPr>
        <p:spPr bwMode="auto">
          <a:xfrm>
            <a:off x="6079202" y="2110155"/>
            <a:ext cx="228600" cy="762000"/>
          </a:xfrm>
          <a:prstGeom prst="leftBrace">
            <a:avLst>
              <a:gd name="adj1" fmla="val 27778"/>
              <a:gd name="adj2" fmla="val 50000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8008" name="AutoShape 88"/>
          <p:cNvSpPr>
            <a:spLocks/>
          </p:cNvSpPr>
          <p:nvPr/>
        </p:nvSpPr>
        <p:spPr bwMode="auto">
          <a:xfrm>
            <a:off x="6079202" y="2940540"/>
            <a:ext cx="228600" cy="762000"/>
          </a:xfrm>
          <a:prstGeom prst="leftBrace">
            <a:avLst>
              <a:gd name="adj1" fmla="val 27778"/>
              <a:gd name="adj2" fmla="val 50000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8009" name="AutoShape 89"/>
          <p:cNvSpPr>
            <a:spLocks/>
          </p:cNvSpPr>
          <p:nvPr/>
        </p:nvSpPr>
        <p:spPr bwMode="auto">
          <a:xfrm>
            <a:off x="6079202" y="3794370"/>
            <a:ext cx="228600" cy="762000"/>
          </a:xfrm>
          <a:prstGeom prst="leftBrace">
            <a:avLst>
              <a:gd name="adj1" fmla="val 27778"/>
              <a:gd name="adj2" fmla="val 50000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8010" name="AutoShape 90"/>
          <p:cNvSpPr>
            <a:spLocks/>
          </p:cNvSpPr>
          <p:nvPr/>
        </p:nvSpPr>
        <p:spPr bwMode="auto">
          <a:xfrm>
            <a:off x="6079202" y="4656015"/>
            <a:ext cx="228600" cy="762000"/>
          </a:xfrm>
          <a:prstGeom prst="leftBrace">
            <a:avLst>
              <a:gd name="adj1" fmla="val 27778"/>
              <a:gd name="adj2" fmla="val 50000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8011" name="Text Box 91"/>
          <p:cNvSpPr txBox="1">
            <a:spLocks noChangeArrowheads="1"/>
          </p:cNvSpPr>
          <p:nvPr/>
        </p:nvSpPr>
        <p:spPr bwMode="auto">
          <a:xfrm>
            <a:off x="5715001" y="1412875"/>
            <a:ext cx="357790" cy="36933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b="1">
                <a:solidFill>
                  <a:schemeClr val="bg1"/>
                </a:solidFill>
                <a:latin typeface="+mj-ea"/>
                <a:ea typeface="+mj-ea"/>
              </a:rPr>
              <a:t>A</a:t>
            </a:r>
          </a:p>
        </p:txBody>
      </p:sp>
      <p:sp>
        <p:nvSpPr>
          <p:cNvPr id="338012" name="Text Box 92"/>
          <p:cNvSpPr txBox="1">
            <a:spLocks noChangeArrowheads="1"/>
          </p:cNvSpPr>
          <p:nvPr/>
        </p:nvSpPr>
        <p:spPr bwMode="auto">
          <a:xfrm>
            <a:off x="5715000" y="2332890"/>
            <a:ext cx="316112" cy="36933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b="1">
                <a:solidFill>
                  <a:schemeClr val="bg1"/>
                </a:solidFill>
                <a:latin typeface="+mj-ea"/>
                <a:ea typeface="+mj-ea"/>
              </a:rPr>
              <a:t>E</a:t>
            </a:r>
          </a:p>
        </p:txBody>
      </p:sp>
      <p:sp>
        <p:nvSpPr>
          <p:cNvPr id="338013" name="Text Box 93"/>
          <p:cNvSpPr txBox="1">
            <a:spLocks noChangeArrowheads="1"/>
          </p:cNvSpPr>
          <p:nvPr/>
        </p:nvSpPr>
        <p:spPr bwMode="auto">
          <a:xfrm>
            <a:off x="5715000" y="3147645"/>
            <a:ext cx="312906" cy="36933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b="1">
                <a:solidFill>
                  <a:schemeClr val="bg1"/>
                </a:solidFill>
                <a:latin typeface="+mj-ea"/>
                <a:ea typeface="+mj-ea"/>
              </a:rPr>
              <a:t>F</a:t>
            </a:r>
          </a:p>
        </p:txBody>
      </p:sp>
      <p:sp>
        <p:nvSpPr>
          <p:cNvPr id="338014" name="Text Box 94"/>
          <p:cNvSpPr txBox="1">
            <a:spLocks noChangeArrowheads="1"/>
          </p:cNvSpPr>
          <p:nvPr/>
        </p:nvSpPr>
        <p:spPr bwMode="auto">
          <a:xfrm>
            <a:off x="5715000" y="4001475"/>
            <a:ext cx="364202" cy="36933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b="1">
                <a:solidFill>
                  <a:schemeClr val="bg1"/>
                </a:solidFill>
                <a:latin typeface="+mj-ea"/>
                <a:ea typeface="+mj-ea"/>
              </a:rPr>
              <a:t>G</a:t>
            </a:r>
          </a:p>
        </p:txBody>
      </p:sp>
      <p:sp>
        <p:nvSpPr>
          <p:cNvPr id="338015" name="Text Box 95"/>
          <p:cNvSpPr txBox="1">
            <a:spLocks noChangeArrowheads="1"/>
          </p:cNvSpPr>
          <p:nvPr/>
        </p:nvSpPr>
        <p:spPr bwMode="auto">
          <a:xfrm>
            <a:off x="5730875" y="4857208"/>
            <a:ext cx="312906" cy="36933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b="1">
                <a:solidFill>
                  <a:schemeClr val="bg1"/>
                </a:solidFill>
                <a:latin typeface="+mj-ea"/>
                <a:ea typeface="+mj-ea"/>
              </a:rPr>
              <a:t>F</a:t>
            </a:r>
          </a:p>
        </p:txBody>
      </p:sp>
      <p:sp>
        <p:nvSpPr>
          <p:cNvPr id="338017" name="Text Box 97"/>
          <p:cNvSpPr txBox="1">
            <a:spLocks noChangeArrowheads="1"/>
          </p:cNvSpPr>
          <p:nvPr/>
        </p:nvSpPr>
        <p:spPr bwMode="auto">
          <a:xfrm>
            <a:off x="7924175" y="1706564"/>
            <a:ext cx="461665" cy="28950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b="1">
                <a:solidFill>
                  <a:schemeClr val="bg1"/>
                </a:solidFill>
                <a:latin typeface="+mj-ea"/>
                <a:ea typeface="+mj-ea"/>
              </a:rPr>
              <a:t>...</a:t>
            </a:r>
          </a:p>
        </p:txBody>
      </p:sp>
      <p:sp>
        <p:nvSpPr>
          <p:cNvPr id="338018" name="Text Box 98"/>
          <p:cNvSpPr txBox="1">
            <a:spLocks noChangeArrowheads="1"/>
          </p:cNvSpPr>
          <p:nvPr/>
        </p:nvSpPr>
        <p:spPr bwMode="auto">
          <a:xfrm>
            <a:off x="7935287" y="2590801"/>
            <a:ext cx="461665" cy="28950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b="1">
                <a:solidFill>
                  <a:schemeClr val="bg1"/>
                </a:solidFill>
                <a:latin typeface="+mj-ea"/>
                <a:ea typeface="+mj-ea"/>
              </a:rPr>
              <a:t>...</a:t>
            </a:r>
          </a:p>
        </p:txBody>
      </p:sp>
      <p:sp>
        <p:nvSpPr>
          <p:cNvPr id="338019" name="Text Box 99"/>
          <p:cNvSpPr txBox="1">
            <a:spLocks noChangeArrowheads="1"/>
          </p:cNvSpPr>
          <p:nvPr/>
        </p:nvSpPr>
        <p:spPr bwMode="auto">
          <a:xfrm>
            <a:off x="7935287" y="3429001"/>
            <a:ext cx="461665" cy="28950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b="1">
                <a:solidFill>
                  <a:schemeClr val="bg1"/>
                </a:solidFill>
                <a:latin typeface="+mj-ea"/>
                <a:ea typeface="+mj-ea"/>
              </a:rPr>
              <a:t>...</a:t>
            </a:r>
          </a:p>
        </p:txBody>
      </p:sp>
      <p:sp>
        <p:nvSpPr>
          <p:cNvPr id="338020" name="Text Box 100"/>
          <p:cNvSpPr txBox="1">
            <a:spLocks noChangeArrowheads="1"/>
          </p:cNvSpPr>
          <p:nvPr/>
        </p:nvSpPr>
        <p:spPr bwMode="auto">
          <a:xfrm>
            <a:off x="7935287" y="4267201"/>
            <a:ext cx="461665" cy="28950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b="1">
                <a:solidFill>
                  <a:schemeClr val="bg1"/>
                </a:solidFill>
                <a:latin typeface="+mj-ea"/>
                <a:ea typeface="+mj-ea"/>
              </a:rPr>
              <a:t>...</a:t>
            </a:r>
          </a:p>
        </p:txBody>
      </p:sp>
      <p:sp>
        <p:nvSpPr>
          <p:cNvPr id="338021" name="Text Box 101"/>
          <p:cNvSpPr txBox="1">
            <a:spLocks noChangeArrowheads="1"/>
          </p:cNvSpPr>
          <p:nvPr/>
        </p:nvSpPr>
        <p:spPr bwMode="auto">
          <a:xfrm>
            <a:off x="7935287" y="5105401"/>
            <a:ext cx="461665" cy="28950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b="1">
                <a:solidFill>
                  <a:schemeClr val="bg1"/>
                </a:solidFill>
                <a:latin typeface="+mj-ea"/>
                <a:ea typeface="+mj-ea"/>
              </a:rPr>
              <a:t>...</a:t>
            </a:r>
          </a:p>
        </p:txBody>
      </p:sp>
      <p:sp>
        <p:nvSpPr>
          <p:cNvPr id="338022" name="Oval 102"/>
          <p:cNvSpPr>
            <a:spLocks noChangeArrowheads="1"/>
          </p:cNvSpPr>
          <p:nvPr/>
        </p:nvSpPr>
        <p:spPr bwMode="auto">
          <a:xfrm>
            <a:off x="9447877" y="2362200"/>
            <a:ext cx="76200" cy="762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8023" name="Oval 103"/>
          <p:cNvSpPr>
            <a:spLocks noChangeArrowheads="1"/>
          </p:cNvSpPr>
          <p:nvPr/>
        </p:nvSpPr>
        <p:spPr bwMode="auto">
          <a:xfrm>
            <a:off x="9447877" y="3200400"/>
            <a:ext cx="76200" cy="762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8024" name="Oval 104"/>
          <p:cNvSpPr>
            <a:spLocks noChangeArrowheads="1"/>
          </p:cNvSpPr>
          <p:nvPr/>
        </p:nvSpPr>
        <p:spPr bwMode="auto">
          <a:xfrm>
            <a:off x="9447877" y="4038600"/>
            <a:ext cx="76200" cy="762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8025" name="Oval 105"/>
          <p:cNvSpPr>
            <a:spLocks noChangeArrowheads="1"/>
          </p:cNvSpPr>
          <p:nvPr/>
        </p:nvSpPr>
        <p:spPr bwMode="auto">
          <a:xfrm>
            <a:off x="9447877" y="4876800"/>
            <a:ext cx="76200" cy="762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8029" name="Line 109"/>
          <p:cNvSpPr>
            <a:spLocks noChangeShapeType="1"/>
          </p:cNvSpPr>
          <p:nvPr/>
        </p:nvSpPr>
        <p:spPr bwMode="auto">
          <a:xfrm>
            <a:off x="11201400" y="1219201"/>
            <a:ext cx="0" cy="4343400"/>
          </a:xfrm>
          <a:prstGeom prst="line">
            <a:avLst/>
          </a:prstGeom>
          <a:noFill/>
          <a:ln w="5080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38030" name="Freeform 110"/>
          <p:cNvSpPr>
            <a:spLocks/>
          </p:cNvSpPr>
          <p:nvPr/>
        </p:nvSpPr>
        <p:spPr bwMode="auto">
          <a:xfrm>
            <a:off x="9524077" y="1219201"/>
            <a:ext cx="825500" cy="1154113"/>
          </a:xfrm>
          <a:custGeom>
            <a:avLst/>
            <a:gdLst>
              <a:gd name="T0" fmla="*/ 0 w 520"/>
              <a:gd name="T1" fmla="*/ 1154113 h 727"/>
              <a:gd name="T2" fmla="*/ 779463 w 520"/>
              <a:gd name="T3" fmla="*/ 620713 h 727"/>
              <a:gd name="T4" fmla="*/ 280988 w 520"/>
              <a:gd name="T5" fmla="*/ 0 h 72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20" h="727">
                <a:moveTo>
                  <a:pt x="0" y="727"/>
                </a:moveTo>
                <a:cubicBezTo>
                  <a:pt x="82" y="671"/>
                  <a:pt x="462" y="512"/>
                  <a:pt x="491" y="391"/>
                </a:cubicBezTo>
                <a:cubicBezTo>
                  <a:pt x="520" y="270"/>
                  <a:pt x="242" y="81"/>
                  <a:pt x="177" y="0"/>
                </a:cubicBezTo>
              </a:path>
            </a:pathLst>
          </a:cu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8031" name="Freeform 111"/>
          <p:cNvSpPr>
            <a:spLocks/>
          </p:cNvSpPr>
          <p:nvPr/>
        </p:nvSpPr>
        <p:spPr bwMode="auto">
          <a:xfrm>
            <a:off x="9536777" y="2057401"/>
            <a:ext cx="825500" cy="1154113"/>
          </a:xfrm>
          <a:custGeom>
            <a:avLst/>
            <a:gdLst>
              <a:gd name="T0" fmla="*/ 0 w 520"/>
              <a:gd name="T1" fmla="*/ 1154113 h 727"/>
              <a:gd name="T2" fmla="*/ 779463 w 520"/>
              <a:gd name="T3" fmla="*/ 620713 h 727"/>
              <a:gd name="T4" fmla="*/ 280988 w 520"/>
              <a:gd name="T5" fmla="*/ 0 h 72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20" h="727">
                <a:moveTo>
                  <a:pt x="0" y="727"/>
                </a:moveTo>
                <a:cubicBezTo>
                  <a:pt x="82" y="671"/>
                  <a:pt x="462" y="512"/>
                  <a:pt x="491" y="391"/>
                </a:cubicBezTo>
                <a:cubicBezTo>
                  <a:pt x="520" y="270"/>
                  <a:pt x="242" y="81"/>
                  <a:pt x="177" y="0"/>
                </a:cubicBezTo>
              </a:path>
            </a:pathLst>
          </a:cu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8032" name="Freeform 112"/>
          <p:cNvSpPr>
            <a:spLocks/>
          </p:cNvSpPr>
          <p:nvPr/>
        </p:nvSpPr>
        <p:spPr bwMode="auto">
          <a:xfrm>
            <a:off x="9536777" y="2895601"/>
            <a:ext cx="825500" cy="1154113"/>
          </a:xfrm>
          <a:custGeom>
            <a:avLst/>
            <a:gdLst>
              <a:gd name="T0" fmla="*/ 0 w 520"/>
              <a:gd name="T1" fmla="*/ 1154113 h 727"/>
              <a:gd name="T2" fmla="*/ 779463 w 520"/>
              <a:gd name="T3" fmla="*/ 620713 h 727"/>
              <a:gd name="T4" fmla="*/ 280988 w 520"/>
              <a:gd name="T5" fmla="*/ 0 h 72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20" h="727">
                <a:moveTo>
                  <a:pt x="0" y="727"/>
                </a:moveTo>
                <a:cubicBezTo>
                  <a:pt x="82" y="671"/>
                  <a:pt x="462" y="512"/>
                  <a:pt x="491" y="391"/>
                </a:cubicBezTo>
                <a:cubicBezTo>
                  <a:pt x="520" y="270"/>
                  <a:pt x="242" y="81"/>
                  <a:pt x="177" y="0"/>
                </a:cubicBezTo>
              </a:path>
            </a:pathLst>
          </a:cu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8033" name="Freeform 113"/>
          <p:cNvSpPr>
            <a:spLocks/>
          </p:cNvSpPr>
          <p:nvPr/>
        </p:nvSpPr>
        <p:spPr bwMode="auto">
          <a:xfrm>
            <a:off x="9536777" y="3733801"/>
            <a:ext cx="825500" cy="1154113"/>
          </a:xfrm>
          <a:custGeom>
            <a:avLst/>
            <a:gdLst>
              <a:gd name="T0" fmla="*/ 0 w 520"/>
              <a:gd name="T1" fmla="*/ 1154113 h 727"/>
              <a:gd name="T2" fmla="*/ 779463 w 520"/>
              <a:gd name="T3" fmla="*/ 620713 h 727"/>
              <a:gd name="T4" fmla="*/ 280988 w 520"/>
              <a:gd name="T5" fmla="*/ 0 h 72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20" h="727">
                <a:moveTo>
                  <a:pt x="0" y="727"/>
                </a:moveTo>
                <a:cubicBezTo>
                  <a:pt x="82" y="671"/>
                  <a:pt x="462" y="512"/>
                  <a:pt x="491" y="391"/>
                </a:cubicBezTo>
                <a:cubicBezTo>
                  <a:pt x="520" y="270"/>
                  <a:pt x="242" y="81"/>
                  <a:pt x="177" y="0"/>
                </a:cubicBezTo>
              </a:path>
            </a:pathLst>
          </a:cu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2DA3E49-0BD4-4CEC-83CF-8BF98C9A84AF}"/>
              </a:ext>
            </a:extLst>
          </p:cNvPr>
          <p:cNvGrpSpPr/>
          <p:nvPr/>
        </p:nvGrpSpPr>
        <p:grpSpPr>
          <a:xfrm>
            <a:off x="10215997" y="1150979"/>
            <a:ext cx="943778" cy="369332"/>
            <a:chOff x="10215997" y="1150979"/>
            <a:chExt cx="943778" cy="369332"/>
          </a:xfrm>
        </p:grpSpPr>
        <p:sp>
          <p:nvSpPr>
            <p:cNvPr id="10" name="箭头: 左 9">
              <a:extLst>
                <a:ext uri="{FF2B5EF4-FFF2-40B4-BE49-F238E27FC236}">
                  <a16:creationId xmlns:a16="http://schemas.microsoft.com/office/drawing/2014/main" id="{4BD467B6-485D-49BA-ADAA-4EAE0125FDD3}"/>
                </a:ext>
              </a:extLst>
            </p:cNvPr>
            <p:cNvSpPr/>
            <p:nvPr/>
          </p:nvSpPr>
          <p:spPr>
            <a:xfrm>
              <a:off x="10215997" y="1166214"/>
              <a:ext cx="419560" cy="338863"/>
            </a:xfrm>
            <a:prstGeom prst="leftArrow">
              <a:avLst/>
            </a:prstGeom>
            <a:solidFill>
              <a:srgbClr val="EE853E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>
                <a:latin typeface="+mj-ea"/>
                <a:ea typeface="+mj-ea"/>
              </a:endParaRPr>
            </a:p>
          </p:txBody>
        </p:sp>
        <p:sp>
          <p:nvSpPr>
            <p:cNvPr id="52" name="Text Box 91">
              <a:extLst>
                <a:ext uri="{FF2B5EF4-FFF2-40B4-BE49-F238E27FC236}">
                  <a16:creationId xmlns:a16="http://schemas.microsoft.com/office/drawing/2014/main" id="{63F531A8-B992-4D4D-AF4D-E1B46E99B4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5729" y="1150979"/>
              <a:ext cx="494046" cy="36933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b="1">
                  <a:solidFill>
                    <a:schemeClr val="bg1"/>
                  </a:solidFill>
                  <a:latin typeface="+mj-ea"/>
                  <a:ea typeface="+mj-ea"/>
                </a:rPr>
                <a:t>BP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17240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37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37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38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337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338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38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38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38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4.07407E-6 L -2.5E-6 0.12754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3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337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337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338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338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500"/>
                                        <p:tgtEl>
                                          <p:spTgt spid="338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6" dur="500"/>
                                        <p:tgtEl>
                                          <p:spTgt spid="338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1" dur="500"/>
                                        <p:tgtEl>
                                          <p:spTgt spid="338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6" dur="500"/>
                                        <p:tgtEl>
                                          <p:spTgt spid="338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0.12754 L -2.5E-6 0.24976 " pathEditMode="relative" rAng="0" ptsTypes="AA">
                                      <p:cBhvr>
                                        <p:cTn id="8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0" dur="500"/>
                                        <p:tgtEl>
                                          <p:spTgt spid="338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3" dur="500"/>
                                        <p:tgtEl>
                                          <p:spTgt spid="338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6" dur="500"/>
                                        <p:tgtEl>
                                          <p:spTgt spid="338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9" dur="500"/>
                                        <p:tgtEl>
                                          <p:spTgt spid="338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2" dur="500"/>
                                        <p:tgtEl>
                                          <p:spTgt spid="338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5" dur="500"/>
                                        <p:tgtEl>
                                          <p:spTgt spid="338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0" dur="500"/>
                                        <p:tgtEl>
                                          <p:spTgt spid="338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5" dur="500"/>
                                        <p:tgtEl>
                                          <p:spTgt spid="338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0.24976 L -2.5E-6 0.37199 " pathEditMode="relative" rAng="0" ptsTypes="AA">
                                      <p:cBhvr>
                                        <p:cTn id="119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9" dur="500"/>
                                        <p:tgtEl>
                                          <p:spTgt spid="338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2" dur="500"/>
                                        <p:tgtEl>
                                          <p:spTgt spid="338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5" dur="500"/>
                                        <p:tgtEl>
                                          <p:spTgt spid="338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8" dur="500"/>
                                        <p:tgtEl>
                                          <p:spTgt spid="338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1" dur="500"/>
                                        <p:tgtEl>
                                          <p:spTgt spid="338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6" dur="500"/>
                                        <p:tgtEl>
                                          <p:spTgt spid="338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1" dur="500"/>
                                        <p:tgtEl>
                                          <p:spTgt spid="338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0.37199 L -2.5E-6 0.49421 " pathEditMode="relative" rAng="0" ptsTypes="AA">
                                      <p:cBhvr>
                                        <p:cTn id="155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0.49421 L -2.5E-6 0.37199 " pathEditMode="relative" rAng="0" ptsTypes="AA">
                                      <p:cBhvr>
                                        <p:cTn id="16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111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3380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3380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2" dur="500"/>
                                        <p:tgtEl>
                                          <p:spTgt spid="3380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5" dur="500"/>
                                        <p:tgtEl>
                                          <p:spTgt spid="3380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8" dur="500"/>
                                        <p:tgtEl>
                                          <p:spTgt spid="3380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1" dur="500"/>
                                        <p:tgtEl>
                                          <p:spTgt spid="3380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4" dur="500"/>
                                        <p:tgtEl>
                                          <p:spTgt spid="3380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0.37199 L -2.5E-6 0.24976 " pathEditMode="relative" rAng="0" ptsTypes="AA">
                                      <p:cBhvr>
                                        <p:cTn id="19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898"/>
                                    </p:animMotion>
                                  </p:childTnLst>
                                </p:cTn>
                              </p:par>
                              <p:par>
                                <p:cTn id="19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6" dur="500"/>
                                        <p:tgtEl>
                                          <p:spTgt spid="3380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9" dur="500"/>
                                        <p:tgtEl>
                                          <p:spTgt spid="3380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2" dur="500"/>
                                        <p:tgtEl>
                                          <p:spTgt spid="3380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3380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500"/>
                                        <p:tgtEl>
                                          <p:spTgt spid="3380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1" dur="500"/>
                                        <p:tgtEl>
                                          <p:spTgt spid="3380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4" dur="500"/>
                                        <p:tgtEl>
                                          <p:spTgt spid="3380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7" dur="500"/>
                                        <p:tgtEl>
                                          <p:spTgt spid="3380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67869E-17 0.24976 L -2.5E-6 0.12754 " pathEditMode="relative" rAng="0" ptsTypes="AA">
                                      <p:cBhvr>
                                        <p:cTn id="227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4" y="-6111"/>
                                    </p:animMotion>
                                  </p:childTnLst>
                                </p:cTn>
                              </p:par>
                              <p:par>
                                <p:cTn id="2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9" dur="500"/>
                                        <p:tgtEl>
                                          <p:spTgt spid="3379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2" dur="500"/>
                                        <p:tgtEl>
                                          <p:spTgt spid="3379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5" dur="500"/>
                                        <p:tgtEl>
                                          <p:spTgt spid="3380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8" dur="500"/>
                                        <p:tgtEl>
                                          <p:spTgt spid="3380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1" dur="500"/>
                                        <p:tgtEl>
                                          <p:spTgt spid="3380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500"/>
                                        <p:tgtEl>
                                          <p:spTgt spid="3380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500"/>
                                        <p:tgtEl>
                                          <p:spTgt spid="3380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0" dur="500"/>
                                        <p:tgtEl>
                                          <p:spTgt spid="3380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0.12754 L -2.5E-6 1.11111E-6 " pathEditMode="relative" rAng="0" ptsTypes="AA">
                                      <p:cBhvr>
                                        <p:cTn id="26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667"/>
                                    </p:animMotion>
                                  </p:childTnLst>
                                </p:cTn>
                              </p:par>
                              <p:par>
                                <p:cTn id="26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2" dur="500"/>
                                        <p:tgtEl>
                                          <p:spTgt spid="3379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5" dur="500"/>
                                        <p:tgtEl>
                                          <p:spTgt spid="3379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8" dur="500"/>
                                        <p:tgtEl>
                                          <p:spTgt spid="3380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1" dur="500"/>
                                        <p:tgtEl>
                                          <p:spTgt spid="3379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4" dur="500"/>
                                        <p:tgtEl>
                                          <p:spTgt spid="3380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7" dur="500"/>
                                        <p:tgtEl>
                                          <p:spTgt spid="3380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0" dur="500"/>
                                        <p:tgtEl>
                                          <p:spTgt spid="3380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500"/>
                                        <p:tgtEl>
                                          <p:spTgt spid="3380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2" grpId="0" uiExpand="1" build="p"/>
      <p:bldP spid="337992" grpId="0" animBg="1"/>
      <p:bldP spid="337996" grpId="0" animBg="1"/>
      <p:bldP spid="337997" grpId="0" animBg="1"/>
      <p:bldP spid="337998" grpId="0" animBg="1"/>
      <p:bldP spid="337999" grpId="0" animBg="1"/>
      <p:bldP spid="338000" grpId="0" animBg="1"/>
      <p:bldP spid="338001" grpId="0" animBg="1"/>
      <p:bldP spid="338002" grpId="0" animBg="1"/>
      <p:bldP spid="338003" grpId="0" animBg="1"/>
      <p:bldP spid="338004" grpId="0" animBg="1"/>
      <p:bldP spid="338005" grpId="0" animBg="1"/>
      <p:bldP spid="338007" grpId="0" animBg="1"/>
      <p:bldP spid="338007" grpId="1" animBg="1"/>
      <p:bldP spid="338008" grpId="0" animBg="1"/>
      <p:bldP spid="338008" grpId="1" animBg="1"/>
      <p:bldP spid="338009" grpId="0" animBg="1"/>
      <p:bldP spid="338009" grpId="1" animBg="1"/>
      <p:bldP spid="338010" grpId="0" animBg="1"/>
      <p:bldP spid="338010" grpId="1" animBg="1"/>
      <p:bldP spid="338012" grpId="0"/>
      <p:bldP spid="338012" grpId="1"/>
      <p:bldP spid="338013" grpId="0"/>
      <p:bldP spid="338013" grpId="2"/>
      <p:bldP spid="338014" grpId="0"/>
      <p:bldP spid="338014" grpId="1"/>
      <p:bldP spid="338015" grpId="0"/>
      <p:bldP spid="338015" grpId="2"/>
      <p:bldP spid="338018" grpId="0"/>
      <p:bldP spid="338018" grpId="1"/>
      <p:bldP spid="338019" grpId="0"/>
      <p:bldP spid="338019" grpId="1"/>
      <p:bldP spid="338020" grpId="0"/>
      <p:bldP spid="338020" grpId="1"/>
      <p:bldP spid="338021" grpId="0"/>
      <p:bldP spid="338021" grpId="1"/>
      <p:bldP spid="338022" grpId="0" animBg="1"/>
      <p:bldP spid="338022" grpId="1" animBg="1"/>
      <p:bldP spid="338023" grpId="0" animBg="1"/>
      <p:bldP spid="338023" grpId="1" animBg="1"/>
      <p:bldP spid="338024" grpId="0" animBg="1"/>
      <p:bldP spid="338024" grpId="1" animBg="1"/>
      <p:bldP spid="338025" grpId="0" animBg="1"/>
      <p:bldP spid="338025" grpId="1" animBg="1"/>
      <p:bldP spid="338030" grpId="0" animBg="1"/>
      <p:bldP spid="338031" grpId="0" animBg="1"/>
      <p:bldP spid="338032" grpId="0" animBg="1"/>
      <p:bldP spid="33803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LOD	TP , </a:t>
            </a:r>
            <a:r>
              <a:rPr lang="en-US" altLang="zh-CN" dirty="0" err="1"/>
              <a:t>IP+40</a:t>
            </a:r>
            <a:r>
              <a:rPr lang="en-US" altLang="zh-CN" dirty="0"/>
              <a:t> 				# </a:t>
            </a:r>
            <a:r>
              <a:rPr lang="zh-CN" altLang="en-US" dirty="0"/>
              <a:t>计算返回地址（</a:t>
            </a:r>
            <a:r>
              <a:rPr lang="en-US" altLang="zh-CN" dirty="0"/>
              <a:t>5</a:t>
            </a:r>
            <a:r>
              <a:rPr lang="zh-CN" altLang="en-US" dirty="0"/>
              <a:t>*</a:t>
            </a:r>
            <a:r>
              <a:rPr lang="en-US" altLang="zh-CN" dirty="0"/>
              <a:t>8=40</a:t>
            </a:r>
            <a:r>
              <a:rPr lang="zh-CN" altLang="en-US" dirty="0"/>
              <a:t>）</a:t>
            </a:r>
          </a:p>
          <a:p>
            <a:r>
              <a:rPr lang="en-US" altLang="zh-CN" dirty="0" err="1"/>
              <a:t>STO</a:t>
            </a:r>
            <a:r>
              <a:rPr lang="en-US" altLang="zh-CN" dirty="0"/>
              <a:t>	(</a:t>
            </a:r>
            <a:r>
              <a:rPr lang="en-US" altLang="zh-CN" dirty="0" err="1"/>
              <a:t>BP+len</a:t>
            </a:r>
            <a:r>
              <a:rPr lang="en-US" altLang="zh-CN" dirty="0"/>
              <a:t>) , TP  			# </a:t>
            </a:r>
            <a:r>
              <a:rPr lang="zh-CN" altLang="en-US" dirty="0"/>
              <a:t>保存返回地址（</a:t>
            </a:r>
            <a:r>
              <a:rPr lang="en-US" altLang="zh-CN" dirty="0" err="1"/>
              <a:t>len</a:t>
            </a:r>
            <a:r>
              <a:rPr lang="zh-CN" altLang="en-US" dirty="0"/>
              <a:t>为当前活动记录的长度）</a:t>
            </a:r>
          </a:p>
          <a:p>
            <a:r>
              <a:rPr lang="en-US" altLang="zh-CN" dirty="0" err="1"/>
              <a:t>STO</a:t>
            </a:r>
            <a:r>
              <a:rPr lang="en-US" altLang="zh-CN" dirty="0"/>
              <a:t>	(</a:t>
            </a:r>
            <a:r>
              <a:rPr lang="en-US" altLang="zh-CN" dirty="0" err="1"/>
              <a:t>BP+len+4</a:t>
            </a:r>
            <a:r>
              <a:rPr lang="en-US" altLang="zh-CN" dirty="0"/>
              <a:t>) , BP		# </a:t>
            </a:r>
            <a:r>
              <a:rPr lang="zh-CN" altLang="en-US" dirty="0"/>
              <a:t>保存动态连接</a:t>
            </a:r>
          </a:p>
          <a:p>
            <a:r>
              <a:rPr lang="en-US" altLang="zh-CN" dirty="0"/>
              <a:t>ADD	BP , </a:t>
            </a:r>
            <a:r>
              <a:rPr lang="en-US" altLang="zh-CN" dirty="0" err="1"/>
              <a:t>len</a:t>
            </a:r>
            <a:r>
              <a:rPr lang="en-US" altLang="zh-CN" dirty="0"/>
              <a:t>					# </a:t>
            </a:r>
            <a:r>
              <a:rPr lang="zh-CN" altLang="en-US" dirty="0"/>
              <a:t>切换到被调函数的活动记录</a:t>
            </a:r>
          </a:p>
          <a:p>
            <a:r>
              <a:rPr lang="en-US" altLang="zh-CN" dirty="0" err="1"/>
              <a:t>JMP</a:t>
            </a:r>
            <a:r>
              <a:rPr lang="en-US" altLang="zh-CN" dirty="0"/>
              <a:t>	L							# </a:t>
            </a:r>
            <a:r>
              <a:rPr lang="zh-CN" altLang="en-US" dirty="0"/>
              <a:t>转移到被调函数</a:t>
            </a:r>
          </a:p>
          <a:p>
            <a:endParaRPr lang="en-US" altLang="zh-CN" dirty="0"/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call L </a:t>
            </a:r>
            <a:r>
              <a:rPr lang="zh-CN" altLang="en-US"/>
              <a:t>语句的翻译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3934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LOD	JP ,  (BP)				# </a:t>
            </a:r>
            <a:r>
              <a:rPr lang="zh-CN" altLang="en-US" dirty="0"/>
              <a:t>获取返回地址</a:t>
            </a:r>
          </a:p>
          <a:p>
            <a:r>
              <a:rPr lang="en-US" altLang="zh-CN" dirty="0"/>
              <a:t>LOD	BP , (</a:t>
            </a:r>
            <a:r>
              <a:rPr lang="en-US" altLang="zh-CN" dirty="0" err="1"/>
              <a:t>BP+4</a:t>
            </a:r>
            <a:r>
              <a:rPr lang="en-US" altLang="zh-CN" dirty="0"/>
              <a:t>)			# </a:t>
            </a:r>
            <a:r>
              <a:rPr lang="zh-CN" altLang="en-US" dirty="0"/>
              <a:t>切换到主调函数的活动记录</a:t>
            </a:r>
          </a:p>
          <a:p>
            <a:r>
              <a:rPr lang="en-US" altLang="zh-CN" dirty="0" err="1"/>
              <a:t>JMP</a:t>
            </a:r>
            <a:r>
              <a:rPr lang="en-US" altLang="zh-CN" dirty="0"/>
              <a:t>	JP 						# </a:t>
            </a:r>
            <a:r>
              <a:rPr lang="zh-CN" altLang="en-US" dirty="0"/>
              <a:t>转移到主调函数</a:t>
            </a:r>
            <a:endParaRPr lang="en-US" altLang="zh-CN" dirty="0"/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end </a:t>
            </a:r>
            <a:r>
              <a:rPr lang="zh-CN" altLang="en-US" dirty="0"/>
              <a:t>语句的翻译</a:t>
            </a:r>
          </a:p>
        </p:txBody>
      </p:sp>
    </p:spTree>
    <p:extLst>
      <p:ext uri="{BB962C8B-B14F-4D97-AF65-F5344CB8AC3E}">
        <p14:creationId xmlns:p14="http://schemas.microsoft.com/office/powerpoint/2010/main" val="909420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0037797-9464-4AF1-BAE9-A8CD307F0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1</a:t>
            </a:r>
            <a:r>
              <a:rPr lang="en-US" altLang="zh-CN" dirty="0"/>
              <a:t>.	</a:t>
            </a:r>
            <a:r>
              <a:rPr lang="zh-CN" altLang="en-US" dirty="0"/>
              <a:t>程序的存储空间</a:t>
            </a:r>
          </a:p>
          <a:p>
            <a:r>
              <a:rPr lang="en-US" altLang="zh-CN" dirty="0"/>
              <a:t>2.	</a:t>
            </a:r>
            <a:r>
              <a:rPr lang="zh-CN" altLang="en-US" dirty="0"/>
              <a:t>活动记录</a:t>
            </a:r>
          </a:p>
          <a:p>
            <a:r>
              <a:rPr lang="en-US" altLang="zh-CN" dirty="0">
                <a:solidFill>
                  <a:srgbClr val="EE853E"/>
                </a:solidFill>
              </a:rPr>
              <a:t>3.	</a:t>
            </a:r>
            <a:r>
              <a:rPr lang="zh-CN" altLang="en-US" dirty="0">
                <a:solidFill>
                  <a:srgbClr val="EE853E"/>
                </a:solidFill>
              </a:rPr>
              <a:t>参数传递</a:t>
            </a:r>
          </a:p>
          <a:p>
            <a:r>
              <a:rPr lang="en-US" altLang="zh-CN" dirty="0"/>
              <a:t>4.	</a:t>
            </a:r>
            <a:r>
              <a:rPr lang="zh-CN" altLang="en-US" dirty="0"/>
              <a:t>非局部变量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6B7A8BF-E20D-4B98-BDAC-C60E75C81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存储空间分配</a:t>
            </a:r>
          </a:p>
        </p:txBody>
      </p:sp>
    </p:spTree>
    <p:extLst>
      <p:ext uri="{BB962C8B-B14F-4D97-AF65-F5344CB8AC3E}">
        <p14:creationId xmlns:p14="http://schemas.microsoft.com/office/powerpoint/2010/main" val="2007802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C92273A-342E-4C73-AB23-A2CC84782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一个函数（过程、子程序、程序单元）可访问的数据除了该函数自身定义的局部变量之外，还包括主调函数传递给它的参数。参数传递就是将主调函数的参数（</a:t>
            </a:r>
            <a:r>
              <a:rPr lang="zh-CN" altLang="en-US" dirty="0">
                <a:solidFill>
                  <a:srgbClr val="EE853E"/>
                </a:solidFill>
              </a:rPr>
              <a:t>实参</a:t>
            </a:r>
            <a:r>
              <a:rPr lang="zh-CN" altLang="en-US" dirty="0"/>
              <a:t>）传递给被调函数的参数（</a:t>
            </a:r>
            <a:r>
              <a:rPr lang="zh-CN" altLang="en-US" dirty="0">
                <a:solidFill>
                  <a:srgbClr val="EE853E"/>
                </a:solidFill>
              </a:rPr>
              <a:t>形参</a:t>
            </a:r>
            <a:r>
              <a:rPr lang="zh-CN" altLang="en-US" dirty="0"/>
              <a:t>）。</a:t>
            </a:r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5F3BD25-21C5-4844-8C81-D6AC564E8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参数传递</a:t>
            </a:r>
          </a:p>
        </p:txBody>
      </p:sp>
    </p:spTree>
    <p:extLst>
      <p:ext uri="{BB962C8B-B14F-4D97-AF65-F5344CB8AC3E}">
        <p14:creationId xmlns:p14="http://schemas.microsoft.com/office/powerpoint/2010/main" val="4109244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主调方三地址码：</a:t>
            </a:r>
            <a:endParaRPr lang="en-US" altLang="zh-CN" dirty="0"/>
          </a:p>
          <a:p>
            <a:r>
              <a:rPr lang="en-US" altLang="zh-CN"/>
              <a:t>……</a:t>
            </a:r>
          </a:p>
          <a:p>
            <a:r>
              <a:rPr lang="en-US" altLang="zh-CN"/>
              <a:t>actual a</a:t>
            </a:r>
            <a:endParaRPr lang="en-US" altLang="zh-CN" dirty="0"/>
          </a:p>
          <a:p>
            <a:r>
              <a:rPr lang="en-US" altLang="zh-CN"/>
              <a:t>actual </a:t>
            </a:r>
            <a:r>
              <a:rPr lang="en-US" altLang="zh-CN" dirty="0"/>
              <a:t>b</a:t>
            </a:r>
          </a:p>
          <a:p>
            <a:r>
              <a:rPr lang="en-US" altLang="zh-CN"/>
              <a:t>call swap</a:t>
            </a:r>
          </a:p>
          <a:p>
            <a:r>
              <a:rPr lang="en-US" altLang="zh-CN"/>
              <a:t>……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参数</a:t>
            </a:r>
            <a:r>
              <a:rPr lang="zh-CN" altLang="en-US" dirty="0"/>
              <a:t>传递</a:t>
            </a:r>
          </a:p>
        </p:txBody>
      </p:sp>
      <p:sp>
        <p:nvSpPr>
          <p:cNvPr id="23" name="内容占位符 22">
            <a:extLst>
              <a:ext uri="{FF2B5EF4-FFF2-40B4-BE49-F238E27FC236}">
                <a16:creationId xmlns:a16="http://schemas.microsoft.com/office/drawing/2014/main" id="{9D0578A0-BD1E-402F-ABD4-1C44CA85D57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/>
              <a:t>被调方三地址码：</a:t>
            </a:r>
            <a:endParaRPr lang="en-US" altLang="zh-CN" dirty="0"/>
          </a:p>
          <a:p>
            <a:r>
              <a:rPr lang="en-US" altLang="zh-CN" dirty="0"/>
              <a:t>……</a:t>
            </a:r>
            <a:endParaRPr lang="pt-BR" altLang="zh-CN" dirty="0"/>
          </a:p>
          <a:p>
            <a:r>
              <a:rPr lang="pt-BR" altLang="zh-CN" dirty="0"/>
              <a:t>label swap</a:t>
            </a:r>
          </a:p>
          <a:p>
            <a:r>
              <a:rPr lang="pt-BR" altLang="zh-CN" dirty="0"/>
              <a:t>begin</a:t>
            </a:r>
          </a:p>
          <a:p>
            <a:r>
              <a:rPr lang="pt-BR" altLang="zh-CN" dirty="0"/>
              <a:t>formal x</a:t>
            </a:r>
          </a:p>
          <a:p>
            <a:r>
              <a:rPr lang="pt-BR" altLang="zh-CN" dirty="0"/>
              <a:t>formal y</a:t>
            </a:r>
          </a:p>
          <a:p>
            <a:r>
              <a:rPr lang="en-US" altLang="zh-CN" dirty="0"/>
              <a:t>……</a:t>
            </a:r>
            <a:endParaRPr lang="pt-BR" altLang="zh-CN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E65496-CC08-4E0E-88DC-072C0700184F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zh-CN" altLang="en-US">
                <a:latin typeface="+mj-ea"/>
              </a:rPr>
              <a:t>函数</a:t>
            </a:r>
            <a:r>
              <a:rPr lang="en-US" altLang="zh-CN">
                <a:latin typeface="+mj-ea"/>
              </a:rPr>
              <a:t>swap</a:t>
            </a:r>
            <a:r>
              <a:rPr lang="zh-CN" altLang="en-US">
                <a:latin typeface="+mj-ea"/>
              </a:rPr>
              <a:t>的活动记录</a:t>
            </a:r>
          </a:p>
          <a:p>
            <a:endParaRPr lang="zh-CN" altLang="en-US"/>
          </a:p>
        </p:txBody>
      </p:sp>
      <p:sp>
        <p:nvSpPr>
          <p:cNvPr id="5" name="Rectangle 32"/>
          <p:cNvSpPr>
            <a:spLocks noChangeArrowheads="1"/>
          </p:cNvSpPr>
          <p:nvPr/>
        </p:nvSpPr>
        <p:spPr bwMode="auto">
          <a:xfrm>
            <a:off x="8343899" y="5022849"/>
            <a:ext cx="2133598" cy="6540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变量区</a:t>
            </a:r>
          </a:p>
        </p:txBody>
      </p:sp>
      <p:sp>
        <p:nvSpPr>
          <p:cNvPr id="6" name="Rectangle 19"/>
          <p:cNvSpPr>
            <a:spLocks noChangeArrowheads="1"/>
          </p:cNvSpPr>
          <p:nvPr/>
        </p:nvSpPr>
        <p:spPr bwMode="auto">
          <a:xfrm>
            <a:off x="8343899" y="4368799"/>
            <a:ext cx="2133598" cy="6540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参数区</a:t>
            </a:r>
          </a:p>
        </p:txBody>
      </p:sp>
      <p:sp>
        <p:nvSpPr>
          <p:cNvPr id="7" name="Rectangle 18"/>
          <p:cNvSpPr>
            <a:spLocks noChangeArrowheads="1"/>
          </p:cNvSpPr>
          <p:nvPr/>
        </p:nvSpPr>
        <p:spPr bwMode="auto">
          <a:xfrm>
            <a:off x="8343899" y="3714750"/>
            <a:ext cx="2133598" cy="6540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chemeClr val="bg1"/>
                </a:solidFill>
                <a:latin typeface="+mj-ea"/>
                <a:ea typeface="+mj-ea"/>
              </a:rPr>
              <a:t>现场保护</a:t>
            </a:r>
          </a:p>
        </p:txBody>
      </p:sp>
      <p:sp>
        <p:nvSpPr>
          <p:cNvPr id="8" name="Rectangle 17"/>
          <p:cNvSpPr>
            <a:spLocks noChangeArrowheads="1"/>
          </p:cNvSpPr>
          <p:nvPr/>
        </p:nvSpPr>
        <p:spPr bwMode="auto">
          <a:xfrm>
            <a:off x="8343899" y="3060700"/>
            <a:ext cx="2133598" cy="6540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静态连接</a:t>
            </a:r>
          </a:p>
        </p:txBody>
      </p:sp>
      <p:sp>
        <p:nvSpPr>
          <p:cNvPr id="9" name="Rectangle 16"/>
          <p:cNvSpPr>
            <a:spLocks noChangeArrowheads="1"/>
          </p:cNvSpPr>
          <p:nvPr/>
        </p:nvSpPr>
        <p:spPr bwMode="auto">
          <a:xfrm>
            <a:off x="8343899" y="2406650"/>
            <a:ext cx="2133598" cy="6540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chemeClr val="bg1"/>
                </a:solidFill>
                <a:latin typeface="+mj-ea"/>
                <a:ea typeface="+mj-ea"/>
              </a:rPr>
              <a:t>动态连接</a:t>
            </a:r>
          </a:p>
        </p:txBody>
      </p:sp>
      <p:sp>
        <p:nvSpPr>
          <p:cNvPr id="10" name="Rectangle 15"/>
          <p:cNvSpPr>
            <a:spLocks noChangeArrowheads="1"/>
          </p:cNvSpPr>
          <p:nvPr/>
        </p:nvSpPr>
        <p:spPr bwMode="auto">
          <a:xfrm>
            <a:off x="8343899" y="1752600"/>
            <a:ext cx="2133598" cy="6540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返回地址</a:t>
            </a:r>
          </a:p>
        </p:txBody>
      </p:sp>
      <p:sp>
        <p:nvSpPr>
          <p:cNvPr id="11" name="Line 21"/>
          <p:cNvSpPr>
            <a:spLocks noChangeShapeType="1"/>
          </p:cNvSpPr>
          <p:nvPr/>
        </p:nvSpPr>
        <p:spPr bwMode="auto">
          <a:xfrm>
            <a:off x="8343899" y="1752600"/>
            <a:ext cx="2133598" cy="0"/>
          </a:xfrm>
          <a:prstGeom prst="line">
            <a:avLst/>
          </a:prstGeom>
          <a:noFill/>
          <a:ln w="38100" cap="sq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Line 22"/>
          <p:cNvSpPr>
            <a:spLocks noChangeShapeType="1"/>
          </p:cNvSpPr>
          <p:nvPr/>
        </p:nvSpPr>
        <p:spPr bwMode="auto">
          <a:xfrm>
            <a:off x="8343899" y="2406650"/>
            <a:ext cx="2133598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" name="Line 23"/>
          <p:cNvSpPr>
            <a:spLocks noChangeShapeType="1"/>
          </p:cNvSpPr>
          <p:nvPr/>
        </p:nvSpPr>
        <p:spPr bwMode="auto">
          <a:xfrm>
            <a:off x="8343899" y="3060700"/>
            <a:ext cx="2133598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Line 24"/>
          <p:cNvSpPr>
            <a:spLocks noChangeShapeType="1"/>
          </p:cNvSpPr>
          <p:nvPr/>
        </p:nvSpPr>
        <p:spPr bwMode="auto">
          <a:xfrm>
            <a:off x="8343899" y="3714750"/>
            <a:ext cx="2133598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Line 25"/>
          <p:cNvSpPr>
            <a:spLocks noChangeShapeType="1"/>
          </p:cNvSpPr>
          <p:nvPr/>
        </p:nvSpPr>
        <p:spPr bwMode="auto">
          <a:xfrm>
            <a:off x="8343899" y="4368799"/>
            <a:ext cx="2133598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Line 26"/>
          <p:cNvSpPr>
            <a:spLocks noChangeShapeType="1"/>
          </p:cNvSpPr>
          <p:nvPr/>
        </p:nvSpPr>
        <p:spPr bwMode="auto">
          <a:xfrm>
            <a:off x="8343899" y="5022849"/>
            <a:ext cx="2133598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Line 27"/>
          <p:cNvSpPr>
            <a:spLocks noChangeShapeType="1"/>
          </p:cNvSpPr>
          <p:nvPr/>
        </p:nvSpPr>
        <p:spPr bwMode="auto">
          <a:xfrm>
            <a:off x="8343899" y="5638425"/>
            <a:ext cx="2133598" cy="0"/>
          </a:xfrm>
          <a:prstGeom prst="line">
            <a:avLst/>
          </a:prstGeom>
          <a:noFill/>
          <a:ln w="38100" cap="sq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Line 28"/>
          <p:cNvSpPr>
            <a:spLocks noChangeShapeType="1"/>
          </p:cNvSpPr>
          <p:nvPr/>
        </p:nvSpPr>
        <p:spPr bwMode="auto">
          <a:xfrm>
            <a:off x="8343899" y="1791074"/>
            <a:ext cx="0" cy="3847352"/>
          </a:xfrm>
          <a:prstGeom prst="line">
            <a:avLst/>
          </a:prstGeom>
          <a:noFill/>
          <a:ln w="38100" cap="sq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Line 29"/>
          <p:cNvSpPr>
            <a:spLocks noChangeShapeType="1"/>
          </p:cNvSpPr>
          <p:nvPr/>
        </p:nvSpPr>
        <p:spPr bwMode="auto">
          <a:xfrm>
            <a:off x="10477497" y="1791074"/>
            <a:ext cx="0" cy="3847352"/>
          </a:xfrm>
          <a:prstGeom prst="line">
            <a:avLst/>
          </a:prstGeom>
          <a:noFill/>
          <a:ln w="38100" cap="sq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3D24B088-7332-4347-9866-3E2B30CA50CA}"/>
              </a:ext>
            </a:extLst>
          </p:cNvPr>
          <p:cNvGrpSpPr/>
          <p:nvPr/>
        </p:nvGrpSpPr>
        <p:grpSpPr>
          <a:xfrm>
            <a:off x="6210302" y="4265142"/>
            <a:ext cx="1901436" cy="830997"/>
            <a:chOff x="6210302" y="4265142"/>
            <a:chExt cx="1901436" cy="830997"/>
          </a:xfrm>
        </p:grpSpPr>
        <p:sp>
          <p:nvSpPr>
            <p:cNvPr id="21" name="文本框 20"/>
            <p:cNvSpPr txBox="1"/>
            <p:nvPr/>
          </p:nvSpPr>
          <p:spPr>
            <a:xfrm>
              <a:off x="6210302" y="4265142"/>
              <a:ext cx="1257297" cy="830997"/>
            </a:xfrm>
            <a:prstGeom prst="rect">
              <a:avLst/>
            </a:prstGeom>
            <a:noFill/>
          </p:spPr>
          <p:txBody>
            <a:bodyPr vert="horz" wrap="square" rtlCol="0" anchor="ctr">
              <a:spAutoFit/>
            </a:bodyPr>
            <a:lstStyle/>
            <a:p>
              <a:pPr algn="ctr" defTabSz="457200" fontAlgn="auto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115000"/>
              </a:pPr>
              <a:r>
                <a:rPr lang="en-US" altLang="zh-CN" sz="2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 </a:t>
              </a:r>
              <a:r>
                <a:rPr lang="en-US" altLang="zh-CN" sz="2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 </a:t>
              </a:r>
              <a:r>
                <a:rPr lang="en-US" altLang="zh-CN" sz="2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</a:p>
            <a:p>
              <a:pPr algn="ctr" defTabSz="457200" fontAlgn="auto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115000"/>
              </a:pPr>
              <a:r>
                <a:rPr lang="en-US" altLang="zh-CN" sz="2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 </a:t>
              </a:r>
              <a:r>
                <a:rPr lang="en-US" altLang="zh-CN" sz="2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 </a:t>
              </a:r>
              <a:r>
                <a:rPr lang="en-US" altLang="zh-CN" sz="2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右箭头 24"/>
            <p:cNvSpPr/>
            <p:nvPr/>
          </p:nvSpPr>
          <p:spPr>
            <a:xfrm>
              <a:off x="7467600" y="4409989"/>
              <a:ext cx="644138" cy="584201"/>
            </a:xfrm>
            <a:prstGeom prst="rightArrow">
              <a:avLst/>
            </a:prstGeom>
            <a:solidFill>
              <a:srgbClr val="EE853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0309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>
            <a:extLst>
              <a:ext uri="{FF2B5EF4-FFF2-40B4-BE49-F238E27FC236}">
                <a16:creationId xmlns:a16="http://schemas.microsoft.com/office/drawing/2014/main" id="{09199D29-2388-4929-ADB5-85F62F4A1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参数</a:t>
            </a:r>
            <a:r>
              <a:rPr lang="zh-CN" altLang="en-US"/>
              <a:t>传递的常见类型有：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en-US" altLang="zh-CN"/>
              <a:t>	</a:t>
            </a:r>
            <a:r>
              <a:rPr lang="zh-CN" altLang="en-US"/>
              <a:t>传值</a:t>
            </a:r>
            <a:endParaRPr lang="en-US" altLang="zh-CN" dirty="0"/>
          </a:p>
          <a:p>
            <a:r>
              <a:rPr lang="en-US" altLang="zh-CN" dirty="0"/>
              <a:t>2.	</a:t>
            </a:r>
            <a:r>
              <a:rPr lang="zh-CN" altLang="en-US" dirty="0"/>
              <a:t>传地址</a:t>
            </a:r>
          </a:p>
          <a:p>
            <a:endParaRPr lang="zh-CN" altLang="en-US" dirty="0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3C443BF6-0266-424E-B399-677670E03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参数传递的类型</a:t>
            </a:r>
          </a:p>
        </p:txBody>
      </p:sp>
    </p:spTree>
    <p:extLst>
      <p:ext uri="{BB962C8B-B14F-4D97-AF65-F5344CB8AC3E}">
        <p14:creationId xmlns:p14="http://schemas.microsoft.com/office/powerpoint/2010/main" val="411971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3" name="Rectangle 3"/>
          <p:cNvSpPr>
            <a:spLocks noGrp="1" noChangeArrowheads="1"/>
          </p:cNvSpPr>
          <p:nvPr>
            <p:ph idx="1"/>
          </p:nvPr>
        </p:nvSpPr>
        <p:spPr>
          <a:xfrm>
            <a:off x="720001" y="900000"/>
            <a:ext cx="4309199" cy="5237998"/>
          </a:xfrm>
        </p:spPr>
        <p:txBody>
          <a:bodyPr/>
          <a:lstStyle/>
          <a:p>
            <a:r>
              <a:rPr lang="en-US" altLang="zh-CN" dirty="0"/>
              <a:t>int main()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	int a=1, b=2;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printf</a:t>
            </a:r>
            <a:r>
              <a:rPr lang="en-US" altLang="zh-CN" dirty="0"/>
              <a:t>("%d %d\n", a, b);</a:t>
            </a:r>
          </a:p>
          <a:p>
            <a:r>
              <a:rPr lang="en-US" altLang="zh-CN" dirty="0"/>
              <a:t>	swap(a, b);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printf</a:t>
            </a:r>
            <a:r>
              <a:rPr lang="en-US" altLang="zh-CN" dirty="0"/>
              <a:t>("%d %d\n", a, b);</a:t>
            </a:r>
          </a:p>
          <a:p>
            <a:r>
              <a:rPr lang="en-US" altLang="zh-CN" dirty="0"/>
              <a:t>	return 0;</a:t>
            </a:r>
          </a:p>
          <a:p>
            <a:r>
              <a:rPr lang="en-US" altLang="zh-CN" dirty="0"/>
              <a:t>}</a:t>
            </a:r>
          </a:p>
        </p:txBody>
      </p:sp>
      <p:sp>
        <p:nvSpPr>
          <p:cNvPr id="4301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传值</a:t>
            </a:r>
          </a:p>
        </p:txBody>
      </p:sp>
      <p:sp>
        <p:nvSpPr>
          <p:cNvPr id="378885" name="Rectangle 5"/>
          <p:cNvSpPr>
            <a:spLocks noGrp="1" noChangeArrowheads="1"/>
          </p:cNvSpPr>
          <p:nvPr>
            <p:ph idx="10"/>
          </p:nvPr>
        </p:nvSpPr>
        <p:spPr>
          <a:xfrm>
            <a:off x="5181600" y="900000"/>
            <a:ext cx="2286000" cy="5237998"/>
          </a:xfrm>
          <a:ln>
            <a:noFill/>
          </a:ln>
        </p:spPr>
        <p:txBody>
          <a:bodyPr/>
          <a:lstStyle/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/* 1 2 */</a:t>
            </a:r>
          </a:p>
          <a:p>
            <a:endParaRPr lang="en-US" altLang="zh-CN"/>
          </a:p>
          <a:p>
            <a:r>
              <a:rPr lang="en-US" altLang="zh-CN"/>
              <a:t>/* 1 2 */</a:t>
            </a:r>
          </a:p>
          <a:p>
            <a:endParaRPr lang="en-US" altLang="zh-CN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6E043D-0726-467C-ABCC-2B49BA32215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7391400" y="899999"/>
            <a:ext cx="4072981" cy="5237998"/>
          </a:xfrm>
        </p:spPr>
        <p:txBody>
          <a:bodyPr/>
          <a:lstStyle/>
          <a:p>
            <a:r>
              <a:rPr lang="es-ES" altLang="zh-CN"/>
              <a:t>void swap(int x, int y)</a:t>
            </a:r>
          </a:p>
          <a:p>
            <a:r>
              <a:rPr lang="es-ES" altLang="zh-CN"/>
              <a:t>{</a:t>
            </a:r>
          </a:p>
          <a:p>
            <a:r>
              <a:rPr lang="es-ES" altLang="zh-CN"/>
              <a:t>	x = x+y ;</a:t>
            </a:r>
          </a:p>
          <a:p>
            <a:r>
              <a:rPr lang="es-ES" altLang="zh-CN"/>
              <a:t>	y = x-y ;</a:t>
            </a:r>
          </a:p>
          <a:p>
            <a:r>
              <a:rPr lang="es-ES" altLang="zh-CN"/>
              <a:t>	x = x-y; </a:t>
            </a:r>
          </a:p>
          <a:p>
            <a:r>
              <a:rPr lang="es-ES" altLang="zh-CN"/>
              <a:t>}</a:t>
            </a:r>
            <a:endParaRPr lang="en-US" altLang="zh-CN"/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248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885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3" name="Rectangle 3"/>
          <p:cNvSpPr>
            <a:spLocks noGrp="1" noChangeArrowheads="1"/>
          </p:cNvSpPr>
          <p:nvPr>
            <p:ph idx="1"/>
          </p:nvPr>
        </p:nvSpPr>
        <p:spPr>
          <a:xfrm>
            <a:off x="720001" y="900000"/>
            <a:ext cx="4309199" cy="5237998"/>
          </a:xfrm>
        </p:spPr>
        <p:txBody>
          <a:bodyPr/>
          <a:lstStyle/>
          <a:p>
            <a:r>
              <a:rPr lang="en-US" altLang="zh-CN" dirty="0"/>
              <a:t>int main()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	int a=1, b=2;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printf</a:t>
            </a:r>
            <a:r>
              <a:rPr lang="en-US" altLang="zh-CN" dirty="0"/>
              <a:t>("%d %d\n", a, b);</a:t>
            </a:r>
          </a:p>
          <a:p>
            <a:r>
              <a:rPr lang="en-US" altLang="zh-CN" dirty="0"/>
              <a:t>	swap(a, b);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printf</a:t>
            </a:r>
            <a:r>
              <a:rPr lang="en-US" altLang="zh-CN" dirty="0"/>
              <a:t>("%d %d\n", a, b);</a:t>
            </a:r>
          </a:p>
          <a:p>
            <a:r>
              <a:rPr lang="en-US" altLang="zh-CN" dirty="0"/>
              <a:t>	return 0;</a:t>
            </a:r>
          </a:p>
          <a:p>
            <a:r>
              <a:rPr lang="en-US" altLang="zh-CN" dirty="0"/>
              <a:t>}</a:t>
            </a:r>
          </a:p>
        </p:txBody>
      </p:sp>
      <p:sp>
        <p:nvSpPr>
          <p:cNvPr id="4301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传地址</a:t>
            </a:r>
          </a:p>
        </p:txBody>
      </p:sp>
      <p:sp>
        <p:nvSpPr>
          <p:cNvPr id="378885" name="Rectangle 5"/>
          <p:cNvSpPr>
            <a:spLocks noGrp="1" noChangeArrowheads="1"/>
          </p:cNvSpPr>
          <p:nvPr>
            <p:ph idx="10"/>
          </p:nvPr>
        </p:nvSpPr>
        <p:spPr>
          <a:xfrm>
            <a:off x="5181600" y="900000"/>
            <a:ext cx="2286000" cy="5237998"/>
          </a:xfrm>
          <a:ln>
            <a:noFill/>
          </a:ln>
        </p:spPr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/* 1 2 */</a:t>
            </a:r>
          </a:p>
          <a:p>
            <a:endParaRPr lang="en-US" altLang="zh-CN" dirty="0"/>
          </a:p>
          <a:p>
            <a:r>
              <a:rPr lang="en-US" altLang="zh-CN" dirty="0"/>
              <a:t>/* 2 1 */</a:t>
            </a:r>
          </a:p>
          <a:p>
            <a:endParaRPr lang="en-US" altLang="zh-CN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6E043D-0726-467C-ABCC-2B49BA32215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7391400" y="899999"/>
            <a:ext cx="4072981" cy="5237998"/>
          </a:xfrm>
        </p:spPr>
        <p:txBody>
          <a:bodyPr/>
          <a:lstStyle/>
          <a:p>
            <a:r>
              <a:rPr lang="es-ES" altLang="zh-CN" dirty="0"/>
              <a:t>void swap(int &amp;x, int &amp;y)</a:t>
            </a:r>
          </a:p>
          <a:p>
            <a:r>
              <a:rPr lang="es-ES" altLang="zh-CN" dirty="0"/>
              <a:t>{</a:t>
            </a:r>
          </a:p>
          <a:p>
            <a:r>
              <a:rPr lang="es-ES" altLang="zh-CN" dirty="0"/>
              <a:t>	x = x+y ;</a:t>
            </a:r>
          </a:p>
          <a:p>
            <a:r>
              <a:rPr lang="es-ES" altLang="zh-CN" dirty="0"/>
              <a:t>	y = x-y ;</a:t>
            </a:r>
          </a:p>
          <a:p>
            <a:r>
              <a:rPr lang="es-ES" altLang="zh-CN" dirty="0"/>
              <a:t>	x = x-y; </a:t>
            </a:r>
          </a:p>
          <a:p>
            <a:r>
              <a:rPr lang="es-ES" altLang="zh-CN" dirty="0"/>
              <a:t>}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85208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788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885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0037797-9464-4AF1-BAE9-A8CD307F0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	</a:t>
            </a:r>
            <a:r>
              <a:rPr lang="zh-CN" altLang="en-US" dirty="0"/>
              <a:t>程序的存储空间</a:t>
            </a:r>
          </a:p>
          <a:p>
            <a:r>
              <a:rPr lang="en-US" altLang="zh-CN" dirty="0"/>
              <a:t>2.	</a:t>
            </a:r>
            <a:r>
              <a:rPr lang="zh-CN" altLang="en-US" dirty="0"/>
              <a:t>活动记录</a:t>
            </a:r>
          </a:p>
          <a:p>
            <a:r>
              <a:rPr lang="en-US" altLang="zh-CN" dirty="0"/>
              <a:t>3.	</a:t>
            </a:r>
            <a:r>
              <a:rPr lang="zh-CN" altLang="en-US" dirty="0"/>
              <a:t>参数传递</a:t>
            </a:r>
          </a:p>
          <a:p>
            <a:r>
              <a:rPr lang="en-US" altLang="zh-CN" dirty="0">
                <a:solidFill>
                  <a:srgbClr val="EE853E"/>
                </a:solidFill>
              </a:rPr>
              <a:t>4.	</a:t>
            </a:r>
            <a:r>
              <a:rPr lang="zh-CN" altLang="en-US" dirty="0">
                <a:solidFill>
                  <a:srgbClr val="EE853E"/>
                </a:solidFill>
              </a:rPr>
              <a:t>非局部变量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6B7A8BF-E20D-4B98-BDAC-C60E75C81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存储空间分配</a:t>
            </a:r>
          </a:p>
        </p:txBody>
      </p:sp>
    </p:spTree>
    <p:extLst>
      <p:ext uri="{BB962C8B-B14F-4D97-AF65-F5344CB8AC3E}">
        <p14:creationId xmlns:p14="http://schemas.microsoft.com/office/powerpoint/2010/main" val="3503869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一个函数可以访问该函数中定义的变量（</a:t>
            </a:r>
            <a:r>
              <a:rPr lang="zh-CN" altLang="en-US" dirty="0">
                <a:solidFill>
                  <a:srgbClr val="EE853E"/>
                </a:solidFill>
              </a:rPr>
              <a:t>局部变量</a:t>
            </a:r>
            <a:r>
              <a:rPr lang="zh-CN" altLang="en-US" dirty="0"/>
              <a:t>），还可以访问全局变量和部分其它函数中定义的变量（</a:t>
            </a:r>
            <a:r>
              <a:rPr lang="zh-CN" altLang="en-US" dirty="0">
                <a:solidFill>
                  <a:srgbClr val="EE853E"/>
                </a:solidFill>
              </a:rPr>
              <a:t>非局部变量</a:t>
            </a:r>
            <a:r>
              <a:rPr lang="zh-CN" altLang="en-US" dirty="0"/>
              <a:t>）。对非局部变量的访问方式取决于</a:t>
            </a:r>
            <a:r>
              <a:rPr lang="zh-CN" altLang="en-US" dirty="0">
                <a:solidFill>
                  <a:srgbClr val="EE853E"/>
                </a:solidFill>
              </a:rPr>
              <a:t>变量的作用域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>
              <a:solidFill>
                <a:srgbClr val="EE853E"/>
              </a:solidFill>
            </a:endParaRPr>
          </a:p>
          <a:p>
            <a:r>
              <a:rPr lang="zh-CN" altLang="en-US" dirty="0">
                <a:solidFill>
                  <a:srgbClr val="EE853E"/>
                </a:solidFill>
              </a:rPr>
              <a:t>变量的作用域</a:t>
            </a:r>
            <a:r>
              <a:rPr lang="zh-CN" altLang="en-US" dirty="0"/>
              <a:t>：能够访问某个变量的代码空间。如果一段代码处于某个变量的作用域内，则可以</a:t>
            </a:r>
            <a:r>
              <a:rPr lang="zh-CN" altLang="en-US" dirty="0">
                <a:solidFill>
                  <a:srgbClr val="EE853E"/>
                </a:solidFill>
              </a:rPr>
              <a:t>访问（读</a:t>
            </a:r>
            <a:r>
              <a:rPr lang="en-US" altLang="zh-CN" dirty="0">
                <a:solidFill>
                  <a:srgbClr val="EE853E"/>
                </a:solidFill>
              </a:rPr>
              <a:t>/</a:t>
            </a:r>
            <a:r>
              <a:rPr lang="zh-CN" altLang="en-US" dirty="0">
                <a:solidFill>
                  <a:srgbClr val="EE853E"/>
                </a:solidFill>
              </a:rPr>
              <a:t>写）</a:t>
            </a:r>
            <a:r>
              <a:rPr lang="zh-CN" altLang="en-US" dirty="0"/>
              <a:t>该变量；否则，不能访问该变量。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非局部变量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06368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5A46530-376F-4545-9AEC-9350503EC3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EE853E"/>
                </a:solidFill>
              </a:rPr>
              <a:t>动态作用域规则</a:t>
            </a:r>
          </a:p>
          <a:p>
            <a:r>
              <a:rPr lang="zh-CN" altLang="en-US" dirty="0"/>
              <a:t>这是一种最近活动规则，对非局部变量，访问的应是</a:t>
            </a:r>
            <a:r>
              <a:rPr lang="zh-CN" altLang="en-US" dirty="0">
                <a:solidFill>
                  <a:srgbClr val="EE853E"/>
                </a:solidFill>
              </a:rPr>
              <a:t>最近的调用外层</a:t>
            </a:r>
            <a:r>
              <a:rPr lang="zh-CN" altLang="en-US" dirty="0"/>
              <a:t>中定义的变量。</a:t>
            </a:r>
          </a:p>
          <a:p>
            <a:endParaRPr lang="en-US" altLang="zh-CN" dirty="0">
              <a:solidFill>
                <a:srgbClr val="EE853E"/>
              </a:solidFill>
            </a:endParaRPr>
          </a:p>
          <a:p>
            <a:r>
              <a:rPr lang="zh-CN" altLang="en-US" dirty="0">
                <a:solidFill>
                  <a:srgbClr val="EE853E"/>
                </a:solidFill>
              </a:rPr>
              <a:t>访问方法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zh-CN" altLang="en-US" dirty="0"/>
              <a:t>动态连接：指向直接调用外层的最新活动记录的指针。</a:t>
            </a:r>
          </a:p>
          <a:p>
            <a:r>
              <a:rPr lang="zh-CN" altLang="en-US" dirty="0"/>
              <a:t>动态链：由动态连接组成的一个链。</a:t>
            </a:r>
          </a:p>
          <a:p>
            <a:r>
              <a:rPr lang="zh-CN" altLang="en-US" dirty="0"/>
              <a:t>通过</a:t>
            </a:r>
            <a:r>
              <a:rPr lang="zh-CN" altLang="en-US" dirty="0">
                <a:solidFill>
                  <a:srgbClr val="EE853E"/>
                </a:solidFill>
              </a:rPr>
              <a:t>动态链</a:t>
            </a:r>
            <a:r>
              <a:rPr lang="zh-CN" altLang="en-US" dirty="0"/>
              <a:t>找到最近的</a:t>
            </a:r>
            <a:r>
              <a:rPr lang="zh-CN" altLang="en-US" dirty="0">
                <a:solidFill>
                  <a:srgbClr val="EE853E"/>
                </a:solidFill>
              </a:rPr>
              <a:t>调用外层</a:t>
            </a:r>
            <a:r>
              <a:rPr lang="zh-CN" altLang="en-US" dirty="0"/>
              <a:t>中定义的变量。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>
              <a:solidFill>
                <a:srgbClr val="EE853E"/>
              </a:solidFill>
            </a:endParaRP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BEAAFDD-D7B1-4D85-9D7F-9903A97C2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变量的作用域规则</a:t>
            </a:r>
          </a:p>
        </p:txBody>
      </p:sp>
    </p:spTree>
    <p:extLst>
      <p:ext uri="{BB962C8B-B14F-4D97-AF65-F5344CB8AC3E}">
        <p14:creationId xmlns:p14="http://schemas.microsoft.com/office/powerpoint/2010/main" val="1378320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EE853E"/>
                </a:solidFill>
              </a:rPr>
              <a:t>静态作用域规则</a:t>
            </a:r>
          </a:p>
          <a:p>
            <a:r>
              <a:rPr lang="zh-CN" altLang="en-US" dirty="0"/>
              <a:t>这是一种最近嵌套规则，对非局部变量，访问的应是</a:t>
            </a:r>
            <a:r>
              <a:rPr lang="zh-CN" altLang="en-US" dirty="0">
                <a:solidFill>
                  <a:srgbClr val="EE853E"/>
                </a:solidFill>
              </a:rPr>
              <a:t>最近的嵌套外层</a:t>
            </a:r>
            <a:r>
              <a:rPr lang="zh-CN" altLang="en-US" dirty="0"/>
              <a:t>中定义的变量。</a:t>
            </a:r>
          </a:p>
          <a:p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</a:rPr>
              <a:t>访问方法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zh-CN" altLang="en-US" dirty="0"/>
              <a:t>静态连接：指向直接嵌套外层的最新活动记录的指针。</a:t>
            </a:r>
          </a:p>
          <a:p>
            <a:r>
              <a:rPr lang="zh-CN" altLang="en-US" dirty="0"/>
              <a:t>静态链：由静态连接组成的一个链。</a:t>
            </a:r>
          </a:p>
          <a:p>
            <a:r>
              <a:rPr lang="zh-CN" altLang="en-US" dirty="0"/>
              <a:t>通过</a:t>
            </a:r>
            <a:r>
              <a:rPr lang="zh-CN" altLang="en-US" dirty="0">
                <a:solidFill>
                  <a:srgbClr val="EE853E"/>
                </a:solidFill>
              </a:rPr>
              <a:t>静态链</a:t>
            </a:r>
            <a:r>
              <a:rPr lang="zh-CN" altLang="en-US" dirty="0"/>
              <a:t>找到最近的</a:t>
            </a:r>
            <a:r>
              <a:rPr lang="zh-CN" altLang="en-US" dirty="0">
                <a:solidFill>
                  <a:srgbClr val="EE853E"/>
                </a:solidFill>
              </a:rPr>
              <a:t>嵌套外层</a:t>
            </a:r>
            <a:r>
              <a:rPr lang="zh-CN" altLang="en-US" dirty="0"/>
              <a:t>中定义的变量。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变量的作用域规则</a:t>
            </a:r>
          </a:p>
        </p:txBody>
      </p:sp>
    </p:spTree>
    <p:extLst>
      <p:ext uri="{BB962C8B-B14F-4D97-AF65-F5344CB8AC3E}">
        <p14:creationId xmlns:p14="http://schemas.microsoft.com/office/powerpoint/2010/main" val="354624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145" name="Rectangle 49"/>
          <p:cNvSpPr>
            <a:spLocks noChangeArrowheads="1"/>
          </p:cNvSpPr>
          <p:nvPr/>
        </p:nvSpPr>
        <p:spPr bwMode="auto">
          <a:xfrm>
            <a:off x="6705600" y="1668162"/>
            <a:ext cx="3276600" cy="4267200"/>
          </a:xfrm>
          <a:prstGeom prst="rect">
            <a:avLst/>
          </a:prstGeom>
          <a:noFill/>
          <a:ln w="38100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88146" name="Line 50"/>
          <p:cNvSpPr>
            <a:spLocks noChangeShapeType="1"/>
          </p:cNvSpPr>
          <p:nvPr/>
        </p:nvSpPr>
        <p:spPr bwMode="auto">
          <a:xfrm>
            <a:off x="6705600" y="3344562"/>
            <a:ext cx="32766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88147" name="Line 51"/>
          <p:cNvSpPr>
            <a:spLocks noChangeShapeType="1"/>
          </p:cNvSpPr>
          <p:nvPr/>
        </p:nvSpPr>
        <p:spPr bwMode="auto">
          <a:xfrm>
            <a:off x="6705600" y="1896762"/>
            <a:ext cx="3276600" cy="0"/>
          </a:xfrm>
          <a:prstGeom prst="line">
            <a:avLst/>
          </a:prstGeom>
          <a:noFill/>
          <a:ln w="38100" cap="rnd">
            <a:solidFill>
              <a:schemeClr val="bg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88148" name="Line 52"/>
          <p:cNvSpPr>
            <a:spLocks noChangeShapeType="1"/>
          </p:cNvSpPr>
          <p:nvPr/>
        </p:nvSpPr>
        <p:spPr bwMode="auto">
          <a:xfrm>
            <a:off x="6705600" y="2125362"/>
            <a:ext cx="3276600" cy="0"/>
          </a:xfrm>
          <a:prstGeom prst="line">
            <a:avLst/>
          </a:prstGeom>
          <a:noFill/>
          <a:ln w="38100" cap="rnd">
            <a:solidFill>
              <a:schemeClr val="bg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88149" name="Line 53"/>
          <p:cNvSpPr>
            <a:spLocks noChangeShapeType="1"/>
          </p:cNvSpPr>
          <p:nvPr/>
        </p:nvSpPr>
        <p:spPr bwMode="auto">
          <a:xfrm>
            <a:off x="6705600" y="2506362"/>
            <a:ext cx="32766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88150" name="Line 54"/>
          <p:cNvSpPr>
            <a:spLocks noChangeShapeType="1"/>
          </p:cNvSpPr>
          <p:nvPr/>
        </p:nvSpPr>
        <p:spPr bwMode="auto">
          <a:xfrm>
            <a:off x="6705600" y="2734962"/>
            <a:ext cx="3276600" cy="0"/>
          </a:xfrm>
          <a:prstGeom prst="line">
            <a:avLst/>
          </a:prstGeom>
          <a:noFill/>
          <a:ln w="38100" cap="rnd">
            <a:solidFill>
              <a:schemeClr val="bg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88151" name="Line 55"/>
          <p:cNvSpPr>
            <a:spLocks noChangeShapeType="1"/>
          </p:cNvSpPr>
          <p:nvPr/>
        </p:nvSpPr>
        <p:spPr bwMode="auto">
          <a:xfrm>
            <a:off x="6705600" y="2963562"/>
            <a:ext cx="3276600" cy="0"/>
          </a:xfrm>
          <a:prstGeom prst="line">
            <a:avLst/>
          </a:prstGeom>
          <a:noFill/>
          <a:ln w="38100" cap="rnd">
            <a:solidFill>
              <a:schemeClr val="bg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88152" name="Line 56"/>
          <p:cNvSpPr>
            <a:spLocks noChangeShapeType="1"/>
          </p:cNvSpPr>
          <p:nvPr/>
        </p:nvSpPr>
        <p:spPr bwMode="auto">
          <a:xfrm>
            <a:off x="6705600" y="3573162"/>
            <a:ext cx="3276600" cy="0"/>
          </a:xfrm>
          <a:prstGeom prst="line">
            <a:avLst/>
          </a:prstGeom>
          <a:noFill/>
          <a:ln w="38100" cap="rnd">
            <a:solidFill>
              <a:schemeClr val="bg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88153" name="Line 57"/>
          <p:cNvSpPr>
            <a:spLocks noChangeShapeType="1"/>
          </p:cNvSpPr>
          <p:nvPr/>
        </p:nvSpPr>
        <p:spPr bwMode="auto">
          <a:xfrm>
            <a:off x="6705600" y="3801762"/>
            <a:ext cx="3276600" cy="0"/>
          </a:xfrm>
          <a:prstGeom prst="line">
            <a:avLst/>
          </a:prstGeom>
          <a:noFill/>
          <a:ln w="38100" cap="rnd">
            <a:solidFill>
              <a:schemeClr val="bg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88154" name="Line 58"/>
          <p:cNvSpPr>
            <a:spLocks noChangeShapeType="1"/>
          </p:cNvSpPr>
          <p:nvPr/>
        </p:nvSpPr>
        <p:spPr bwMode="auto">
          <a:xfrm>
            <a:off x="6705600" y="4182762"/>
            <a:ext cx="32766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88155" name="Line 59"/>
          <p:cNvSpPr>
            <a:spLocks noChangeShapeType="1"/>
          </p:cNvSpPr>
          <p:nvPr/>
        </p:nvSpPr>
        <p:spPr bwMode="auto">
          <a:xfrm>
            <a:off x="6705600" y="4411362"/>
            <a:ext cx="3276600" cy="0"/>
          </a:xfrm>
          <a:prstGeom prst="line">
            <a:avLst/>
          </a:prstGeom>
          <a:noFill/>
          <a:ln w="38100" cap="rnd">
            <a:solidFill>
              <a:schemeClr val="bg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88156" name="Line 60"/>
          <p:cNvSpPr>
            <a:spLocks noChangeShapeType="1"/>
          </p:cNvSpPr>
          <p:nvPr/>
        </p:nvSpPr>
        <p:spPr bwMode="auto">
          <a:xfrm>
            <a:off x="6705600" y="4639962"/>
            <a:ext cx="3276600" cy="0"/>
          </a:xfrm>
          <a:prstGeom prst="line">
            <a:avLst/>
          </a:prstGeom>
          <a:noFill/>
          <a:ln w="38100" cap="rnd">
            <a:solidFill>
              <a:schemeClr val="bg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88157" name="Line 61"/>
          <p:cNvSpPr>
            <a:spLocks noChangeShapeType="1"/>
          </p:cNvSpPr>
          <p:nvPr/>
        </p:nvSpPr>
        <p:spPr bwMode="auto">
          <a:xfrm>
            <a:off x="6705600" y="5020962"/>
            <a:ext cx="32766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88158" name="Line 62"/>
          <p:cNvSpPr>
            <a:spLocks noChangeShapeType="1"/>
          </p:cNvSpPr>
          <p:nvPr/>
        </p:nvSpPr>
        <p:spPr bwMode="auto">
          <a:xfrm>
            <a:off x="6705600" y="5249562"/>
            <a:ext cx="3276600" cy="0"/>
          </a:xfrm>
          <a:prstGeom prst="line">
            <a:avLst/>
          </a:prstGeom>
          <a:noFill/>
          <a:ln w="38100" cap="rnd">
            <a:solidFill>
              <a:schemeClr val="bg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88159" name="Line 63"/>
          <p:cNvSpPr>
            <a:spLocks noChangeShapeType="1"/>
          </p:cNvSpPr>
          <p:nvPr/>
        </p:nvSpPr>
        <p:spPr bwMode="auto">
          <a:xfrm>
            <a:off x="6705600" y="5478162"/>
            <a:ext cx="3276600" cy="0"/>
          </a:xfrm>
          <a:prstGeom prst="line">
            <a:avLst/>
          </a:prstGeom>
          <a:noFill/>
          <a:ln w="38100" cap="rnd">
            <a:solidFill>
              <a:schemeClr val="bg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88160" name="AutoShape 64"/>
          <p:cNvSpPr>
            <a:spLocks/>
          </p:cNvSpPr>
          <p:nvPr/>
        </p:nvSpPr>
        <p:spPr bwMode="auto">
          <a:xfrm>
            <a:off x="6172200" y="1744362"/>
            <a:ext cx="228600" cy="762000"/>
          </a:xfrm>
          <a:prstGeom prst="leftBrace">
            <a:avLst>
              <a:gd name="adj1" fmla="val 27778"/>
              <a:gd name="adj2" fmla="val 50000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88161" name="AutoShape 65"/>
          <p:cNvSpPr>
            <a:spLocks/>
          </p:cNvSpPr>
          <p:nvPr/>
        </p:nvSpPr>
        <p:spPr bwMode="auto">
          <a:xfrm>
            <a:off x="6172200" y="2582562"/>
            <a:ext cx="228600" cy="762000"/>
          </a:xfrm>
          <a:prstGeom prst="leftBrace">
            <a:avLst>
              <a:gd name="adj1" fmla="val 27778"/>
              <a:gd name="adj2" fmla="val 50000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88162" name="AutoShape 66"/>
          <p:cNvSpPr>
            <a:spLocks/>
          </p:cNvSpPr>
          <p:nvPr/>
        </p:nvSpPr>
        <p:spPr bwMode="auto">
          <a:xfrm>
            <a:off x="6172200" y="3420762"/>
            <a:ext cx="228600" cy="762000"/>
          </a:xfrm>
          <a:prstGeom prst="leftBrace">
            <a:avLst>
              <a:gd name="adj1" fmla="val 27778"/>
              <a:gd name="adj2" fmla="val 50000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88163" name="AutoShape 67"/>
          <p:cNvSpPr>
            <a:spLocks/>
          </p:cNvSpPr>
          <p:nvPr/>
        </p:nvSpPr>
        <p:spPr bwMode="auto">
          <a:xfrm>
            <a:off x="6172200" y="4258962"/>
            <a:ext cx="228600" cy="762000"/>
          </a:xfrm>
          <a:prstGeom prst="leftBrace">
            <a:avLst>
              <a:gd name="adj1" fmla="val 27778"/>
              <a:gd name="adj2" fmla="val 50000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88164" name="AutoShape 68"/>
          <p:cNvSpPr>
            <a:spLocks/>
          </p:cNvSpPr>
          <p:nvPr/>
        </p:nvSpPr>
        <p:spPr bwMode="auto">
          <a:xfrm>
            <a:off x="6172200" y="5097162"/>
            <a:ext cx="228600" cy="762000"/>
          </a:xfrm>
          <a:prstGeom prst="leftBrace">
            <a:avLst>
              <a:gd name="adj1" fmla="val 27778"/>
              <a:gd name="adj2" fmla="val 50000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88165" name="Text Box 69"/>
          <p:cNvSpPr txBox="1">
            <a:spLocks noChangeArrowheads="1"/>
          </p:cNvSpPr>
          <p:nvPr/>
        </p:nvSpPr>
        <p:spPr bwMode="auto">
          <a:xfrm>
            <a:off x="5775326" y="1861837"/>
            <a:ext cx="415498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A</a:t>
            </a:r>
          </a:p>
        </p:txBody>
      </p:sp>
      <p:sp>
        <p:nvSpPr>
          <p:cNvPr id="388166" name="Text Box 70"/>
          <p:cNvSpPr txBox="1">
            <a:spLocks noChangeArrowheads="1"/>
          </p:cNvSpPr>
          <p:nvPr/>
        </p:nvSpPr>
        <p:spPr bwMode="auto">
          <a:xfrm>
            <a:off x="5775325" y="2700037"/>
            <a:ext cx="360996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E</a:t>
            </a:r>
          </a:p>
        </p:txBody>
      </p:sp>
      <p:sp>
        <p:nvSpPr>
          <p:cNvPr id="388167" name="Text Box 71"/>
          <p:cNvSpPr txBox="1">
            <a:spLocks noChangeArrowheads="1"/>
          </p:cNvSpPr>
          <p:nvPr/>
        </p:nvSpPr>
        <p:spPr bwMode="auto">
          <a:xfrm>
            <a:off x="5775325" y="3538237"/>
            <a:ext cx="356188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F</a:t>
            </a:r>
          </a:p>
        </p:txBody>
      </p:sp>
      <p:sp>
        <p:nvSpPr>
          <p:cNvPr id="388168" name="Text Box 72"/>
          <p:cNvSpPr txBox="1">
            <a:spLocks noChangeArrowheads="1"/>
          </p:cNvSpPr>
          <p:nvPr/>
        </p:nvSpPr>
        <p:spPr bwMode="auto">
          <a:xfrm>
            <a:off x="5775325" y="4376437"/>
            <a:ext cx="420688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G</a:t>
            </a:r>
          </a:p>
        </p:txBody>
      </p:sp>
      <p:sp>
        <p:nvSpPr>
          <p:cNvPr id="388169" name="Text Box 73"/>
          <p:cNvSpPr txBox="1">
            <a:spLocks noChangeArrowheads="1"/>
          </p:cNvSpPr>
          <p:nvPr/>
        </p:nvSpPr>
        <p:spPr bwMode="auto">
          <a:xfrm>
            <a:off x="5791200" y="5249562"/>
            <a:ext cx="356188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F</a:t>
            </a:r>
          </a:p>
        </p:txBody>
      </p:sp>
      <p:sp>
        <p:nvSpPr>
          <p:cNvPr id="388171" name="Text Box 75"/>
          <p:cNvSpPr txBox="1">
            <a:spLocks noChangeArrowheads="1"/>
          </p:cNvSpPr>
          <p:nvPr/>
        </p:nvSpPr>
        <p:spPr bwMode="auto">
          <a:xfrm>
            <a:off x="8153400" y="2155526"/>
            <a:ext cx="553998" cy="356829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...</a:t>
            </a:r>
          </a:p>
        </p:txBody>
      </p:sp>
      <p:sp>
        <p:nvSpPr>
          <p:cNvPr id="388172" name="Text Box 76"/>
          <p:cNvSpPr txBox="1">
            <a:spLocks noChangeArrowheads="1"/>
          </p:cNvSpPr>
          <p:nvPr/>
        </p:nvSpPr>
        <p:spPr bwMode="auto">
          <a:xfrm>
            <a:off x="8153400" y="3039763"/>
            <a:ext cx="553998" cy="356829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...</a:t>
            </a:r>
          </a:p>
        </p:txBody>
      </p:sp>
      <p:sp>
        <p:nvSpPr>
          <p:cNvPr id="388173" name="Text Box 77"/>
          <p:cNvSpPr txBox="1">
            <a:spLocks noChangeArrowheads="1"/>
          </p:cNvSpPr>
          <p:nvPr/>
        </p:nvSpPr>
        <p:spPr bwMode="auto">
          <a:xfrm>
            <a:off x="8153400" y="3877963"/>
            <a:ext cx="553998" cy="356829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...</a:t>
            </a:r>
          </a:p>
        </p:txBody>
      </p:sp>
      <p:sp>
        <p:nvSpPr>
          <p:cNvPr id="388174" name="Text Box 78"/>
          <p:cNvSpPr txBox="1">
            <a:spLocks noChangeArrowheads="1"/>
          </p:cNvSpPr>
          <p:nvPr/>
        </p:nvSpPr>
        <p:spPr bwMode="auto">
          <a:xfrm>
            <a:off x="8153400" y="4716163"/>
            <a:ext cx="553998" cy="356829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...</a:t>
            </a:r>
          </a:p>
        </p:txBody>
      </p:sp>
      <p:sp>
        <p:nvSpPr>
          <p:cNvPr id="388175" name="Text Box 79"/>
          <p:cNvSpPr txBox="1">
            <a:spLocks noChangeArrowheads="1"/>
          </p:cNvSpPr>
          <p:nvPr/>
        </p:nvSpPr>
        <p:spPr bwMode="auto">
          <a:xfrm>
            <a:off x="8153400" y="5554363"/>
            <a:ext cx="553998" cy="356829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...</a:t>
            </a:r>
          </a:p>
        </p:txBody>
      </p:sp>
      <p:sp>
        <p:nvSpPr>
          <p:cNvPr id="388176" name="Oval 80"/>
          <p:cNvSpPr>
            <a:spLocks noChangeArrowheads="1"/>
          </p:cNvSpPr>
          <p:nvPr/>
        </p:nvSpPr>
        <p:spPr bwMode="auto">
          <a:xfrm>
            <a:off x="9677400" y="2811162"/>
            <a:ext cx="76200" cy="762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88177" name="Oval 81"/>
          <p:cNvSpPr>
            <a:spLocks noChangeArrowheads="1"/>
          </p:cNvSpPr>
          <p:nvPr/>
        </p:nvSpPr>
        <p:spPr bwMode="auto">
          <a:xfrm>
            <a:off x="9677400" y="3649362"/>
            <a:ext cx="76200" cy="762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88178" name="Oval 82"/>
          <p:cNvSpPr>
            <a:spLocks noChangeArrowheads="1"/>
          </p:cNvSpPr>
          <p:nvPr/>
        </p:nvSpPr>
        <p:spPr bwMode="auto">
          <a:xfrm>
            <a:off x="9677400" y="4487562"/>
            <a:ext cx="76200" cy="762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88179" name="Oval 83"/>
          <p:cNvSpPr>
            <a:spLocks noChangeArrowheads="1"/>
          </p:cNvSpPr>
          <p:nvPr/>
        </p:nvSpPr>
        <p:spPr bwMode="auto">
          <a:xfrm>
            <a:off x="9677400" y="5325762"/>
            <a:ext cx="76200" cy="762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88184" name="Freeform 88"/>
          <p:cNvSpPr>
            <a:spLocks/>
          </p:cNvSpPr>
          <p:nvPr/>
        </p:nvSpPr>
        <p:spPr bwMode="auto">
          <a:xfrm>
            <a:off x="5715001" y="1668162"/>
            <a:ext cx="1103313" cy="1447800"/>
          </a:xfrm>
          <a:custGeom>
            <a:avLst/>
            <a:gdLst>
              <a:gd name="T0" fmla="*/ 1103313 w 695"/>
              <a:gd name="T1" fmla="*/ 1447800 h 817"/>
              <a:gd name="T2" fmla="*/ 23813 w 695"/>
              <a:gd name="T3" fmla="*/ 965791 h 817"/>
              <a:gd name="T4" fmla="*/ 958850 w 695"/>
              <a:gd name="T5" fmla="*/ 0 h 81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95" h="817">
                <a:moveTo>
                  <a:pt x="695" y="817"/>
                </a:moveTo>
                <a:cubicBezTo>
                  <a:pt x="362" y="749"/>
                  <a:pt x="30" y="681"/>
                  <a:pt x="15" y="545"/>
                </a:cubicBezTo>
                <a:cubicBezTo>
                  <a:pt x="0" y="409"/>
                  <a:pt x="302" y="204"/>
                  <a:pt x="604" y="0"/>
                </a:cubicBezTo>
              </a:path>
            </a:pathLst>
          </a:cu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88185" name="Freeform 89"/>
          <p:cNvSpPr>
            <a:spLocks/>
          </p:cNvSpPr>
          <p:nvPr/>
        </p:nvSpPr>
        <p:spPr bwMode="auto">
          <a:xfrm>
            <a:off x="5964198" y="2582561"/>
            <a:ext cx="817602" cy="1300165"/>
          </a:xfrm>
          <a:custGeom>
            <a:avLst/>
            <a:gdLst>
              <a:gd name="T0" fmla="*/ 762000 w 468"/>
              <a:gd name="T1" fmla="*/ 1376363 h 771"/>
              <a:gd name="T2" fmla="*/ 24423 w 468"/>
              <a:gd name="T3" fmla="*/ 971130 h 771"/>
              <a:gd name="T4" fmla="*/ 613833 w 468"/>
              <a:gd name="T5" fmla="*/ 0 h 77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68" h="771">
                <a:moveTo>
                  <a:pt x="468" y="771"/>
                </a:moveTo>
                <a:cubicBezTo>
                  <a:pt x="249" y="721"/>
                  <a:pt x="30" y="672"/>
                  <a:pt x="15" y="544"/>
                </a:cubicBezTo>
                <a:cubicBezTo>
                  <a:pt x="0" y="416"/>
                  <a:pt x="188" y="208"/>
                  <a:pt x="377" y="0"/>
                </a:cubicBezTo>
              </a:path>
            </a:pathLst>
          </a:cu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88187" name="Freeform 91"/>
          <p:cNvSpPr>
            <a:spLocks/>
          </p:cNvSpPr>
          <p:nvPr/>
        </p:nvSpPr>
        <p:spPr bwMode="auto">
          <a:xfrm>
            <a:off x="5426074" y="2623836"/>
            <a:ext cx="1381125" cy="3019425"/>
          </a:xfrm>
          <a:custGeom>
            <a:avLst/>
            <a:gdLst>
              <a:gd name="T0" fmla="*/ 2463800 w 1248"/>
              <a:gd name="T1" fmla="*/ 3124200 h 1815"/>
              <a:gd name="T2" fmla="*/ 45407 w 1248"/>
              <a:gd name="T3" fmla="*/ 2420179 h 1815"/>
              <a:gd name="T4" fmla="*/ 2195309 w 1248"/>
              <a:gd name="T5" fmla="*/ 0 h 181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248" h="1815">
                <a:moveTo>
                  <a:pt x="1248" y="1815"/>
                </a:moveTo>
                <a:cubicBezTo>
                  <a:pt x="647" y="1761"/>
                  <a:pt x="46" y="1708"/>
                  <a:pt x="23" y="1406"/>
                </a:cubicBezTo>
                <a:cubicBezTo>
                  <a:pt x="0" y="1104"/>
                  <a:pt x="556" y="552"/>
                  <a:pt x="1112" y="0"/>
                </a:cubicBezTo>
              </a:path>
            </a:pathLst>
          </a:cu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88189" name="Line 93"/>
          <p:cNvSpPr>
            <a:spLocks noChangeShapeType="1"/>
          </p:cNvSpPr>
          <p:nvPr/>
        </p:nvSpPr>
        <p:spPr bwMode="auto">
          <a:xfrm>
            <a:off x="10972800" y="1676400"/>
            <a:ext cx="0" cy="4267200"/>
          </a:xfrm>
          <a:prstGeom prst="line">
            <a:avLst/>
          </a:prstGeom>
          <a:noFill/>
          <a:ln w="5080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88192" name="Freeform 96"/>
          <p:cNvSpPr>
            <a:spLocks/>
          </p:cNvSpPr>
          <p:nvPr/>
        </p:nvSpPr>
        <p:spPr bwMode="auto">
          <a:xfrm>
            <a:off x="9753600" y="1668163"/>
            <a:ext cx="825500" cy="1154113"/>
          </a:xfrm>
          <a:custGeom>
            <a:avLst/>
            <a:gdLst>
              <a:gd name="T0" fmla="*/ 0 w 520"/>
              <a:gd name="T1" fmla="*/ 1154113 h 727"/>
              <a:gd name="T2" fmla="*/ 779463 w 520"/>
              <a:gd name="T3" fmla="*/ 620713 h 727"/>
              <a:gd name="T4" fmla="*/ 280988 w 520"/>
              <a:gd name="T5" fmla="*/ 0 h 72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20" h="727">
                <a:moveTo>
                  <a:pt x="0" y="727"/>
                </a:moveTo>
                <a:cubicBezTo>
                  <a:pt x="82" y="671"/>
                  <a:pt x="462" y="512"/>
                  <a:pt x="491" y="391"/>
                </a:cubicBezTo>
                <a:cubicBezTo>
                  <a:pt x="520" y="270"/>
                  <a:pt x="242" y="81"/>
                  <a:pt x="177" y="0"/>
                </a:cubicBezTo>
              </a:path>
            </a:pathLst>
          </a:cu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88193" name="Freeform 97"/>
          <p:cNvSpPr>
            <a:spLocks/>
          </p:cNvSpPr>
          <p:nvPr/>
        </p:nvSpPr>
        <p:spPr bwMode="auto">
          <a:xfrm>
            <a:off x="9766300" y="2506363"/>
            <a:ext cx="825500" cy="1154113"/>
          </a:xfrm>
          <a:custGeom>
            <a:avLst/>
            <a:gdLst>
              <a:gd name="T0" fmla="*/ 0 w 520"/>
              <a:gd name="T1" fmla="*/ 1154113 h 727"/>
              <a:gd name="T2" fmla="*/ 779463 w 520"/>
              <a:gd name="T3" fmla="*/ 620713 h 727"/>
              <a:gd name="T4" fmla="*/ 280988 w 520"/>
              <a:gd name="T5" fmla="*/ 0 h 72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20" h="727">
                <a:moveTo>
                  <a:pt x="0" y="727"/>
                </a:moveTo>
                <a:cubicBezTo>
                  <a:pt x="82" y="671"/>
                  <a:pt x="462" y="512"/>
                  <a:pt x="491" y="391"/>
                </a:cubicBezTo>
                <a:cubicBezTo>
                  <a:pt x="520" y="270"/>
                  <a:pt x="242" y="81"/>
                  <a:pt x="177" y="0"/>
                </a:cubicBezTo>
              </a:path>
            </a:pathLst>
          </a:cu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88194" name="Freeform 98"/>
          <p:cNvSpPr>
            <a:spLocks/>
          </p:cNvSpPr>
          <p:nvPr/>
        </p:nvSpPr>
        <p:spPr bwMode="auto">
          <a:xfrm>
            <a:off x="9766300" y="3344563"/>
            <a:ext cx="825500" cy="1154113"/>
          </a:xfrm>
          <a:custGeom>
            <a:avLst/>
            <a:gdLst>
              <a:gd name="T0" fmla="*/ 0 w 520"/>
              <a:gd name="T1" fmla="*/ 1154113 h 727"/>
              <a:gd name="T2" fmla="*/ 779463 w 520"/>
              <a:gd name="T3" fmla="*/ 620713 h 727"/>
              <a:gd name="T4" fmla="*/ 280988 w 520"/>
              <a:gd name="T5" fmla="*/ 0 h 72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20" h="727">
                <a:moveTo>
                  <a:pt x="0" y="727"/>
                </a:moveTo>
                <a:cubicBezTo>
                  <a:pt x="82" y="671"/>
                  <a:pt x="462" y="512"/>
                  <a:pt x="491" y="391"/>
                </a:cubicBezTo>
                <a:cubicBezTo>
                  <a:pt x="520" y="270"/>
                  <a:pt x="242" y="81"/>
                  <a:pt x="177" y="0"/>
                </a:cubicBezTo>
              </a:path>
            </a:pathLst>
          </a:cu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88195" name="Freeform 99"/>
          <p:cNvSpPr>
            <a:spLocks/>
          </p:cNvSpPr>
          <p:nvPr/>
        </p:nvSpPr>
        <p:spPr bwMode="auto">
          <a:xfrm>
            <a:off x="9766300" y="4182763"/>
            <a:ext cx="825500" cy="1154113"/>
          </a:xfrm>
          <a:custGeom>
            <a:avLst/>
            <a:gdLst>
              <a:gd name="T0" fmla="*/ 0 w 520"/>
              <a:gd name="T1" fmla="*/ 1154113 h 727"/>
              <a:gd name="T2" fmla="*/ 779463 w 520"/>
              <a:gd name="T3" fmla="*/ 620713 h 727"/>
              <a:gd name="T4" fmla="*/ 280988 w 520"/>
              <a:gd name="T5" fmla="*/ 0 h 72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20" h="727">
                <a:moveTo>
                  <a:pt x="0" y="727"/>
                </a:moveTo>
                <a:cubicBezTo>
                  <a:pt x="82" y="671"/>
                  <a:pt x="462" y="512"/>
                  <a:pt x="491" y="391"/>
                </a:cubicBezTo>
                <a:cubicBezTo>
                  <a:pt x="520" y="270"/>
                  <a:pt x="242" y="81"/>
                  <a:pt x="177" y="0"/>
                </a:cubicBezTo>
              </a:path>
            </a:pathLst>
          </a:cu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88196" name="Oval 100"/>
          <p:cNvSpPr>
            <a:spLocks noChangeArrowheads="1"/>
          </p:cNvSpPr>
          <p:nvPr/>
        </p:nvSpPr>
        <p:spPr bwMode="auto">
          <a:xfrm>
            <a:off x="6781800" y="3039762"/>
            <a:ext cx="76200" cy="762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88197" name="Oval 101"/>
          <p:cNvSpPr>
            <a:spLocks noChangeArrowheads="1"/>
          </p:cNvSpPr>
          <p:nvPr/>
        </p:nvSpPr>
        <p:spPr bwMode="auto">
          <a:xfrm>
            <a:off x="6781800" y="3877962"/>
            <a:ext cx="76200" cy="762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88198" name="Oval 102"/>
          <p:cNvSpPr>
            <a:spLocks noChangeArrowheads="1"/>
          </p:cNvSpPr>
          <p:nvPr/>
        </p:nvSpPr>
        <p:spPr bwMode="auto">
          <a:xfrm>
            <a:off x="6781800" y="4716162"/>
            <a:ext cx="76200" cy="762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88199" name="Oval 103"/>
          <p:cNvSpPr>
            <a:spLocks noChangeArrowheads="1"/>
          </p:cNvSpPr>
          <p:nvPr/>
        </p:nvSpPr>
        <p:spPr bwMode="auto">
          <a:xfrm>
            <a:off x="6781800" y="5630562"/>
            <a:ext cx="76200" cy="762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88209" name="Freeform 113"/>
          <p:cNvSpPr>
            <a:spLocks/>
          </p:cNvSpPr>
          <p:nvPr/>
        </p:nvSpPr>
        <p:spPr bwMode="auto">
          <a:xfrm>
            <a:off x="5410200" y="2531762"/>
            <a:ext cx="1409700" cy="2209800"/>
          </a:xfrm>
          <a:custGeom>
            <a:avLst/>
            <a:gdLst>
              <a:gd name="T0" fmla="*/ 1409700 w 468"/>
              <a:gd name="T1" fmla="*/ 2209800 h 771"/>
              <a:gd name="T2" fmla="*/ 45183 w 468"/>
              <a:gd name="T3" fmla="*/ 1559184 h 771"/>
              <a:gd name="T4" fmla="*/ 1135592 w 468"/>
              <a:gd name="T5" fmla="*/ 0 h 77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68" h="771">
                <a:moveTo>
                  <a:pt x="468" y="771"/>
                </a:moveTo>
                <a:cubicBezTo>
                  <a:pt x="249" y="721"/>
                  <a:pt x="30" y="672"/>
                  <a:pt x="15" y="544"/>
                </a:cubicBezTo>
                <a:cubicBezTo>
                  <a:pt x="0" y="416"/>
                  <a:pt x="188" y="208"/>
                  <a:pt x="377" y="0"/>
                </a:cubicBezTo>
              </a:path>
            </a:pathLst>
          </a:cu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5487DD0-510E-47F0-9A8C-E022D7BA8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1" y="900000"/>
            <a:ext cx="2543900" cy="5237998"/>
          </a:xfrm>
        </p:spPr>
        <p:txBody>
          <a:bodyPr/>
          <a:lstStyle/>
          <a:p>
            <a:r>
              <a:rPr lang="zh-CN" altLang="en-US" dirty="0"/>
              <a:t>   嵌套关系</a:t>
            </a:r>
          </a:p>
          <a:p>
            <a:pPr algn="ctr"/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动态链与静态链实例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E6E796-6DBE-4B81-AB2A-636BCC5A560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848101" y="899160"/>
            <a:ext cx="1501774" cy="5237998"/>
          </a:xfrm>
        </p:spPr>
        <p:txBody>
          <a:bodyPr/>
          <a:lstStyle/>
          <a:p>
            <a:pPr algn="ctr"/>
            <a:r>
              <a:rPr lang="zh-CN" altLang="en-US" dirty="0"/>
              <a:t>调用关系</a:t>
            </a:r>
            <a:endParaRPr lang="en-US" altLang="zh-CN" dirty="0"/>
          </a:p>
          <a:p>
            <a:pPr algn="ctr"/>
            <a:r>
              <a:rPr lang="en-US" altLang="zh-CN" dirty="0"/>
              <a:t>A call E</a:t>
            </a:r>
          </a:p>
          <a:p>
            <a:pPr algn="ctr"/>
            <a:r>
              <a:rPr lang="en-US" altLang="zh-CN" dirty="0"/>
              <a:t>E call F</a:t>
            </a:r>
          </a:p>
          <a:p>
            <a:pPr algn="ctr"/>
            <a:r>
              <a:rPr lang="en-US" altLang="zh-CN" dirty="0"/>
              <a:t>F call G</a:t>
            </a:r>
          </a:p>
          <a:p>
            <a:pPr algn="ctr"/>
            <a:r>
              <a:rPr lang="en-US" altLang="zh-CN" dirty="0"/>
              <a:t>G call F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6586152" y="1016522"/>
            <a:ext cx="1219200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rtlCol="0">
            <a:spAutoFit/>
          </a:bodyPr>
          <a:lstStyle/>
          <a:p>
            <a:r>
              <a:rPr lang="zh-CN" altLang="en-US" sz="2400" b="1">
                <a:solidFill>
                  <a:srgbClr val="EE853E"/>
                </a:solidFill>
                <a:latin typeface="+mj-ea"/>
                <a:ea typeface="+mj-ea"/>
              </a:rPr>
              <a:t>静态链</a:t>
            </a:r>
            <a:endParaRPr lang="zh-CN" altLang="en-US" sz="2400" b="1" dirty="0">
              <a:solidFill>
                <a:srgbClr val="EE853E"/>
              </a:solidFill>
              <a:latin typeface="+mj-ea"/>
              <a:ea typeface="+mj-ea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8907162" y="1009830"/>
            <a:ext cx="1250950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rtlCol="0">
            <a:spAutoFit/>
          </a:bodyPr>
          <a:lstStyle/>
          <a:p>
            <a:r>
              <a:rPr lang="zh-CN" altLang="en-US" sz="2400" b="1" dirty="0">
                <a:solidFill>
                  <a:srgbClr val="EE853E"/>
                </a:solidFill>
                <a:latin typeface="+mj-ea"/>
                <a:ea typeface="+mj-ea"/>
              </a:rPr>
              <a:t>动态链</a:t>
            </a:r>
          </a:p>
        </p:txBody>
      </p:sp>
      <p:sp>
        <p:nvSpPr>
          <p:cNvPr id="54" name="Text Box 36">
            <a:extLst>
              <a:ext uri="{FF2B5EF4-FFF2-40B4-BE49-F238E27FC236}">
                <a16:creationId xmlns:a16="http://schemas.microsoft.com/office/drawing/2014/main" id="{30A41D87-FE92-4D99-8DB0-B760F4BEF5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1595735"/>
            <a:ext cx="415498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A</a:t>
            </a:r>
          </a:p>
        </p:txBody>
      </p:sp>
      <p:sp>
        <p:nvSpPr>
          <p:cNvPr id="55" name="Line 37">
            <a:extLst>
              <a:ext uri="{FF2B5EF4-FFF2-40B4-BE49-F238E27FC236}">
                <a16:creationId xmlns:a16="http://schemas.microsoft.com/office/drawing/2014/main" id="{0365710B-0BAC-4EB5-AF4D-BBD246D861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6800" y="2109640"/>
            <a:ext cx="401871" cy="433806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7" name="Line 38">
            <a:extLst>
              <a:ext uri="{FF2B5EF4-FFF2-40B4-BE49-F238E27FC236}">
                <a16:creationId xmlns:a16="http://schemas.microsoft.com/office/drawing/2014/main" id="{B0E1B0C6-0192-4119-ADB7-66DE0438A97B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7929" y="2109640"/>
            <a:ext cx="401871" cy="433806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8" name="Text Box 39">
            <a:extLst>
              <a:ext uri="{FF2B5EF4-FFF2-40B4-BE49-F238E27FC236}">
                <a16:creationId xmlns:a16="http://schemas.microsoft.com/office/drawing/2014/main" id="{29675B7A-A56E-420A-8EF3-596757E117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505670"/>
            <a:ext cx="394660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B</a:t>
            </a:r>
          </a:p>
        </p:txBody>
      </p:sp>
      <p:sp>
        <p:nvSpPr>
          <p:cNvPr id="59" name="Line 40">
            <a:extLst>
              <a:ext uri="{FF2B5EF4-FFF2-40B4-BE49-F238E27FC236}">
                <a16:creationId xmlns:a16="http://schemas.microsoft.com/office/drawing/2014/main" id="{C3C362DA-5E82-4DE5-8616-581209C6A8FF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2967335"/>
            <a:ext cx="0" cy="433806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0" name="Text Box 41">
            <a:extLst>
              <a:ext uri="{FF2B5EF4-FFF2-40B4-BE49-F238E27FC236}">
                <a16:creationId xmlns:a16="http://schemas.microsoft.com/office/drawing/2014/main" id="{064B065D-88DF-47F2-AB92-2232678252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546" y="3420070"/>
            <a:ext cx="391454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C</a:t>
            </a:r>
          </a:p>
        </p:txBody>
      </p:sp>
      <p:sp>
        <p:nvSpPr>
          <p:cNvPr id="61" name="Line 42">
            <a:extLst>
              <a:ext uri="{FF2B5EF4-FFF2-40B4-BE49-F238E27FC236}">
                <a16:creationId xmlns:a16="http://schemas.microsoft.com/office/drawing/2014/main" id="{043517F0-A3F7-45E8-89B2-E821F731D6BD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3905129"/>
            <a:ext cx="0" cy="433806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2" name="Text Box 43">
            <a:extLst>
              <a:ext uri="{FF2B5EF4-FFF2-40B4-BE49-F238E27FC236}">
                <a16:creationId xmlns:a16="http://schemas.microsoft.com/office/drawing/2014/main" id="{84A9E7D9-81DF-42B7-830F-2DB8DBB09B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415135"/>
            <a:ext cx="428322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D</a:t>
            </a:r>
          </a:p>
        </p:txBody>
      </p:sp>
      <p:sp>
        <p:nvSpPr>
          <p:cNvPr id="63" name="Text Box 44">
            <a:extLst>
              <a:ext uri="{FF2B5EF4-FFF2-40B4-BE49-F238E27FC236}">
                <a16:creationId xmlns:a16="http://schemas.microsoft.com/office/drawing/2014/main" id="{E03E903C-9BCE-4F56-9CA9-8D905D0F4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3604" y="2510309"/>
            <a:ext cx="360996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E</a:t>
            </a:r>
          </a:p>
        </p:txBody>
      </p:sp>
      <p:sp>
        <p:nvSpPr>
          <p:cNvPr id="64" name="Line 45">
            <a:extLst>
              <a:ext uri="{FF2B5EF4-FFF2-40B4-BE49-F238E27FC236}">
                <a16:creationId xmlns:a16="http://schemas.microsoft.com/office/drawing/2014/main" id="{84A37C91-066E-4D20-BEEF-E234AE3D05C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69604" y="2914529"/>
            <a:ext cx="394661" cy="48661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5" name="Line 46">
            <a:extLst>
              <a:ext uri="{FF2B5EF4-FFF2-40B4-BE49-F238E27FC236}">
                <a16:creationId xmlns:a16="http://schemas.microsoft.com/office/drawing/2014/main" id="{28D633AA-69E9-4BF6-815E-91EF19435B0E}"/>
              </a:ext>
            </a:extLst>
          </p:cNvPr>
          <p:cNvSpPr>
            <a:spLocks noChangeShapeType="1"/>
          </p:cNvSpPr>
          <p:nvPr/>
        </p:nvSpPr>
        <p:spPr bwMode="auto">
          <a:xfrm>
            <a:off x="2458405" y="2914528"/>
            <a:ext cx="360996" cy="48661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6" name="Text Box 47">
            <a:extLst>
              <a:ext uri="{FF2B5EF4-FFF2-40B4-BE49-F238E27FC236}">
                <a16:creationId xmlns:a16="http://schemas.microsoft.com/office/drawing/2014/main" id="{0181EBD7-1CDC-4082-89E5-DFAB5B87BD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8812" y="3424535"/>
            <a:ext cx="356188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F</a:t>
            </a:r>
          </a:p>
        </p:txBody>
      </p:sp>
      <p:sp>
        <p:nvSpPr>
          <p:cNvPr id="67" name="Text Box 48">
            <a:extLst>
              <a:ext uri="{FF2B5EF4-FFF2-40B4-BE49-F238E27FC236}">
                <a16:creationId xmlns:a16="http://schemas.microsoft.com/office/drawing/2014/main" id="{E6393F7D-E5C8-443E-94AB-37C26D554E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7077" y="3420070"/>
            <a:ext cx="453323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G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960982A6-BD32-45BC-8B83-C037AEFC1250}"/>
              </a:ext>
            </a:extLst>
          </p:cNvPr>
          <p:cNvSpPr txBox="1"/>
          <p:nvPr/>
        </p:nvSpPr>
        <p:spPr>
          <a:xfrm>
            <a:off x="8102943" y="1023552"/>
            <a:ext cx="507657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  <a:latin typeface="+mj-ea"/>
                <a:ea typeface="+mj-ea"/>
              </a:rPr>
              <a:t>栈</a:t>
            </a:r>
            <a:endParaRPr lang="zh-CN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227172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88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88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88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388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88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88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88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388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388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388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388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388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388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388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38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388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388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0" dur="500"/>
                                        <p:tgtEl>
                                          <p:spTgt spid="388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3" dur="500"/>
                                        <p:tgtEl>
                                          <p:spTgt spid="388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6" dur="500"/>
                                        <p:tgtEl>
                                          <p:spTgt spid="388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9" dur="500"/>
                                        <p:tgtEl>
                                          <p:spTgt spid="388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500"/>
                                        <p:tgtEl>
                                          <p:spTgt spid="388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7" dur="500"/>
                                        <p:tgtEl>
                                          <p:spTgt spid="388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2" dur="500"/>
                                        <p:tgtEl>
                                          <p:spTgt spid="388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7" dur="500"/>
                                        <p:tgtEl>
                                          <p:spTgt spid="38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2" dur="500"/>
                                        <p:tgtEl>
                                          <p:spTgt spid="388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7" dur="500"/>
                                        <p:tgtEl>
                                          <p:spTgt spid="388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0" dur="500"/>
                                        <p:tgtEl>
                                          <p:spTgt spid="388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3" dur="500"/>
                                        <p:tgtEl>
                                          <p:spTgt spid="388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6" dur="500"/>
                                        <p:tgtEl>
                                          <p:spTgt spid="388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9" dur="500"/>
                                        <p:tgtEl>
                                          <p:spTgt spid="388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2" dur="500"/>
                                        <p:tgtEl>
                                          <p:spTgt spid="388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7" dur="500"/>
                                        <p:tgtEl>
                                          <p:spTgt spid="38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0" dur="500"/>
                                        <p:tgtEl>
                                          <p:spTgt spid="388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5" dur="500"/>
                                        <p:tgtEl>
                                          <p:spTgt spid="38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0" dur="500"/>
                                        <p:tgtEl>
                                          <p:spTgt spid="388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5" dur="500"/>
                                        <p:tgtEl>
                                          <p:spTgt spid="388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8" dur="500"/>
                                        <p:tgtEl>
                                          <p:spTgt spid="388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1" dur="500"/>
                                        <p:tgtEl>
                                          <p:spTgt spid="388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4" dur="500"/>
                                        <p:tgtEl>
                                          <p:spTgt spid="388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7" dur="500"/>
                                        <p:tgtEl>
                                          <p:spTgt spid="388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2" dur="500"/>
                                        <p:tgtEl>
                                          <p:spTgt spid="38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5" dur="500"/>
                                        <p:tgtEl>
                                          <p:spTgt spid="388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0" dur="500"/>
                                        <p:tgtEl>
                                          <p:spTgt spid="38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5" dur="500"/>
                                        <p:tgtEl>
                                          <p:spTgt spid="388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8160" grpId="0" animBg="1"/>
      <p:bldP spid="388161" grpId="0" animBg="1"/>
      <p:bldP spid="388162" grpId="0" animBg="1"/>
      <p:bldP spid="388163" grpId="0" animBg="1"/>
      <p:bldP spid="388164" grpId="0" animBg="1"/>
      <p:bldP spid="388165" grpId="0"/>
      <p:bldP spid="388166" grpId="0"/>
      <p:bldP spid="388167" grpId="0"/>
      <p:bldP spid="388168" grpId="0"/>
      <p:bldP spid="388169" grpId="0"/>
      <p:bldP spid="388171" grpId="0"/>
      <p:bldP spid="388172" grpId="0"/>
      <p:bldP spid="388173" grpId="0"/>
      <p:bldP spid="388174" grpId="0"/>
      <p:bldP spid="388175" grpId="0"/>
      <p:bldP spid="388176" grpId="0" animBg="1"/>
      <p:bldP spid="388177" grpId="0" animBg="1"/>
      <p:bldP spid="388178" grpId="0" animBg="1"/>
      <p:bldP spid="388179" grpId="0" animBg="1"/>
      <p:bldP spid="388196" grpId="0" animBg="1"/>
      <p:bldP spid="388197" grpId="0" animBg="1"/>
      <p:bldP spid="388198" grpId="0" animBg="1"/>
      <p:bldP spid="38819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定义函数 </a:t>
            </a:r>
            <a:r>
              <a:rPr lang="en-US" altLang="zh-CN" dirty="0"/>
              <a:t>find(x)</a:t>
            </a:r>
            <a:r>
              <a:rPr lang="zh-CN" altLang="en-US" dirty="0"/>
              <a:t>，表示从当前栈顶的活动记录出发，沿静态链向前搜索</a:t>
            </a:r>
            <a:r>
              <a:rPr lang="en-US" altLang="zh-CN" dirty="0"/>
              <a:t>x</a:t>
            </a:r>
            <a:r>
              <a:rPr lang="zh-CN" altLang="en-US" dirty="0"/>
              <a:t>步，找到第</a:t>
            </a:r>
            <a:r>
              <a:rPr lang="en-US" altLang="zh-CN" dirty="0"/>
              <a:t>x</a:t>
            </a:r>
            <a:r>
              <a:rPr lang="zh-CN" altLang="en-US" dirty="0"/>
              <a:t>个嵌套外层的活动记录：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find(x) 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	if(x=0)  return  BP ;  						/* </a:t>
            </a:r>
            <a:r>
              <a:rPr lang="zh-CN" altLang="en-US" dirty="0"/>
              <a:t>当前栈顶的活动记录 </a:t>
            </a:r>
            <a:r>
              <a:rPr lang="en-US" altLang="zh-CN" dirty="0"/>
              <a:t>*/</a:t>
            </a:r>
          </a:p>
          <a:p>
            <a:r>
              <a:rPr lang="en-US" altLang="zh-CN" dirty="0"/>
              <a:t>	else  return  *( find(x-1) + 8 ) ;  		/* </a:t>
            </a:r>
            <a:r>
              <a:rPr lang="zh-CN" altLang="en-US" dirty="0"/>
              <a:t>递归：（</a:t>
            </a:r>
            <a:r>
              <a:rPr lang="en-US" altLang="zh-CN" dirty="0"/>
              <a:t>x-1</a:t>
            </a:r>
            <a:r>
              <a:rPr lang="zh-CN" altLang="en-US" dirty="0"/>
              <a:t>）</a:t>
            </a:r>
            <a:r>
              <a:rPr lang="en-US" altLang="zh-CN" dirty="0"/>
              <a:t>+1</a:t>
            </a:r>
            <a:r>
              <a:rPr lang="zh-CN" altLang="en-US" dirty="0"/>
              <a:t> </a:t>
            </a:r>
            <a:r>
              <a:rPr lang="en-US" altLang="zh-CN" dirty="0"/>
              <a:t>*/</a:t>
            </a:r>
          </a:p>
          <a:p>
            <a:r>
              <a:rPr lang="en-US" altLang="zh-CN" dirty="0"/>
              <a:t>}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9D7ABE51-85C3-4EA0-AEAF-04C43853B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静态链的建立</a:t>
            </a:r>
          </a:p>
        </p:txBody>
      </p:sp>
    </p:spTree>
    <p:extLst>
      <p:ext uri="{BB962C8B-B14F-4D97-AF65-F5344CB8AC3E}">
        <p14:creationId xmlns:p14="http://schemas.microsoft.com/office/powerpoint/2010/main" val="100615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当</a:t>
            </a:r>
            <a:r>
              <a:rPr lang="en-US" altLang="zh-CN" dirty="0"/>
              <a:t>A</a:t>
            </a:r>
            <a:r>
              <a:rPr lang="zh-CN" altLang="en-US" dirty="0"/>
              <a:t>调用</a:t>
            </a:r>
            <a:r>
              <a:rPr lang="en-US" altLang="zh-CN" dirty="0"/>
              <a:t>B</a:t>
            </a:r>
            <a:r>
              <a:rPr lang="zh-CN" altLang="en-US" dirty="0"/>
              <a:t>时，须要在</a:t>
            </a:r>
            <a:r>
              <a:rPr lang="en-US" altLang="zh-CN" dirty="0"/>
              <a:t>A</a:t>
            </a:r>
            <a:r>
              <a:rPr lang="zh-CN" altLang="en-US" dirty="0"/>
              <a:t>的活动记录之上建立</a:t>
            </a:r>
            <a:r>
              <a:rPr lang="en-US" altLang="zh-CN" dirty="0"/>
              <a:t>B</a:t>
            </a:r>
            <a:r>
              <a:rPr lang="zh-CN" altLang="en-US" dirty="0"/>
              <a:t>的活动记录，考虑以下</a:t>
            </a:r>
            <a:r>
              <a:rPr lang="en-US" altLang="zh-CN" dirty="0"/>
              <a:t>4</a:t>
            </a:r>
            <a:r>
              <a:rPr lang="zh-CN" altLang="en-US" dirty="0"/>
              <a:t>种情况：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静态链的建立</a:t>
            </a:r>
            <a:endParaRPr lang="zh-CN" altLang="en-US" dirty="0"/>
          </a:p>
        </p:txBody>
      </p:sp>
      <p:sp>
        <p:nvSpPr>
          <p:cNvPr id="363594" name="AutoShape 74"/>
          <p:cNvSpPr>
            <a:spLocks/>
          </p:cNvSpPr>
          <p:nvPr/>
        </p:nvSpPr>
        <p:spPr bwMode="auto">
          <a:xfrm>
            <a:off x="6728102" y="1865462"/>
            <a:ext cx="457200" cy="3200400"/>
          </a:xfrm>
          <a:prstGeom prst="leftBracket">
            <a:avLst>
              <a:gd name="adj" fmla="val 58333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63595" name="AutoShape 75"/>
          <p:cNvSpPr>
            <a:spLocks/>
          </p:cNvSpPr>
          <p:nvPr/>
        </p:nvSpPr>
        <p:spPr bwMode="auto">
          <a:xfrm>
            <a:off x="6936064" y="2245022"/>
            <a:ext cx="304800" cy="2286000"/>
          </a:xfrm>
          <a:prstGeom prst="leftBracket">
            <a:avLst>
              <a:gd name="adj" fmla="val 62500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63596" name="AutoShape 76"/>
          <p:cNvSpPr>
            <a:spLocks/>
          </p:cNvSpPr>
          <p:nvPr/>
        </p:nvSpPr>
        <p:spPr bwMode="auto">
          <a:xfrm>
            <a:off x="7126564" y="2706687"/>
            <a:ext cx="228600" cy="1377338"/>
          </a:xfrm>
          <a:prstGeom prst="leftBracket">
            <a:avLst>
              <a:gd name="adj" fmla="val 33333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63597" name="AutoShape 77"/>
          <p:cNvSpPr>
            <a:spLocks/>
          </p:cNvSpPr>
          <p:nvPr/>
        </p:nvSpPr>
        <p:spPr bwMode="auto">
          <a:xfrm>
            <a:off x="9137134" y="1881377"/>
            <a:ext cx="420688" cy="3276600"/>
          </a:xfrm>
          <a:prstGeom prst="leftBracket">
            <a:avLst>
              <a:gd name="adj" fmla="val 71667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63598" name="AutoShape 78"/>
          <p:cNvSpPr>
            <a:spLocks/>
          </p:cNvSpPr>
          <p:nvPr/>
        </p:nvSpPr>
        <p:spPr bwMode="auto">
          <a:xfrm>
            <a:off x="9814996" y="2981622"/>
            <a:ext cx="228600" cy="914400"/>
          </a:xfrm>
          <a:prstGeom prst="leftBracket">
            <a:avLst>
              <a:gd name="adj" fmla="val 33333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63599" name="Text Box 79"/>
          <p:cNvSpPr txBox="1">
            <a:spLocks noChangeArrowheads="1"/>
          </p:cNvSpPr>
          <p:nvPr/>
        </p:nvSpPr>
        <p:spPr bwMode="auto">
          <a:xfrm>
            <a:off x="6385996" y="5329535"/>
            <a:ext cx="14253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n</a:t>
            </a:r>
            <a:r>
              <a:rPr kumimoji="1" lang="en-US" altLang="zh-CN" sz="2400" b="1" baseline="-25000">
                <a:solidFill>
                  <a:schemeClr val="bg1"/>
                </a:solidFill>
                <a:latin typeface="+mj-ea"/>
                <a:ea typeface="+mj-ea"/>
              </a:rPr>
              <a:t>A</a:t>
            </a:r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-n</a:t>
            </a:r>
            <a:r>
              <a:rPr kumimoji="1" lang="en-US" altLang="zh-CN" sz="2400" b="1" baseline="-25000">
                <a:solidFill>
                  <a:schemeClr val="bg1"/>
                </a:solidFill>
                <a:latin typeface="+mj-ea"/>
                <a:ea typeface="+mj-ea"/>
              </a:rPr>
              <a:t>B</a:t>
            </a:r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=1</a:t>
            </a:r>
          </a:p>
        </p:txBody>
      </p:sp>
      <p:sp>
        <p:nvSpPr>
          <p:cNvPr id="363600" name="Text Box 80"/>
          <p:cNvSpPr txBox="1">
            <a:spLocks noChangeArrowheads="1"/>
          </p:cNvSpPr>
          <p:nvPr/>
        </p:nvSpPr>
        <p:spPr bwMode="auto">
          <a:xfrm>
            <a:off x="8650587" y="5329535"/>
            <a:ext cx="23984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 dirty="0" err="1">
                <a:solidFill>
                  <a:schemeClr val="bg1"/>
                </a:solidFill>
                <a:latin typeface="+mj-ea"/>
                <a:ea typeface="+mj-ea"/>
              </a:rPr>
              <a:t>n</a:t>
            </a:r>
            <a:r>
              <a:rPr kumimoji="1" lang="en-US" altLang="zh-CN" sz="2400" b="1" baseline="-25000" dirty="0" err="1">
                <a:solidFill>
                  <a:schemeClr val="bg1"/>
                </a:solidFill>
                <a:latin typeface="+mj-ea"/>
                <a:ea typeface="+mj-ea"/>
              </a:rPr>
              <a:t>A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+mj-ea"/>
                <a:ea typeface="+mj-ea"/>
              </a:rPr>
              <a:t>-n</a:t>
            </a:r>
            <a:r>
              <a:rPr kumimoji="1" lang="en-US" altLang="zh-CN" sz="2400" b="1" baseline="-25000" dirty="0" err="1">
                <a:solidFill>
                  <a:schemeClr val="bg1"/>
                </a:solidFill>
                <a:latin typeface="+mj-ea"/>
                <a:ea typeface="+mj-ea"/>
              </a:rPr>
              <a:t>B</a:t>
            </a:r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=n (n</a:t>
            </a:r>
            <a:r>
              <a:rPr kumimoji="1" lang="en-US" altLang="zh-CN" sz="2400" b="1" dirty="0">
                <a:solidFill>
                  <a:schemeClr val="bg1"/>
                </a:solidFill>
                <a:latin typeface="+mj-ea"/>
              </a:rPr>
              <a:t>&gt;</a:t>
            </a:r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1)</a:t>
            </a:r>
          </a:p>
        </p:txBody>
      </p:sp>
      <p:sp>
        <p:nvSpPr>
          <p:cNvPr id="363604" name="AutoShape 84"/>
          <p:cNvSpPr>
            <a:spLocks/>
          </p:cNvSpPr>
          <p:nvPr/>
        </p:nvSpPr>
        <p:spPr bwMode="auto">
          <a:xfrm>
            <a:off x="1668378" y="2255225"/>
            <a:ext cx="228600" cy="2514600"/>
          </a:xfrm>
          <a:prstGeom prst="leftBracket">
            <a:avLst>
              <a:gd name="adj" fmla="val 91667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63605" name="AutoShape 85"/>
          <p:cNvSpPr>
            <a:spLocks/>
          </p:cNvSpPr>
          <p:nvPr/>
        </p:nvSpPr>
        <p:spPr bwMode="auto">
          <a:xfrm>
            <a:off x="1895390" y="2560025"/>
            <a:ext cx="228600" cy="1371600"/>
          </a:xfrm>
          <a:prstGeom prst="leftBracket">
            <a:avLst>
              <a:gd name="adj" fmla="val 50000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63606" name="Text Box 86"/>
          <p:cNvSpPr txBox="1">
            <a:spLocks noChangeArrowheads="1"/>
          </p:cNvSpPr>
          <p:nvPr/>
        </p:nvSpPr>
        <p:spPr bwMode="auto">
          <a:xfrm>
            <a:off x="1280596" y="5329535"/>
            <a:ext cx="15696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 dirty="0" err="1">
                <a:solidFill>
                  <a:schemeClr val="bg1"/>
                </a:solidFill>
                <a:latin typeface="+mj-ea"/>
                <a:ea typeface="+mj-ea"/>
              </a:rPr>
              <a:t>n</a:t>
            </a:r>
            <a:r>
              <a:rPr kumimoji="1" lang="en-US" altLang="zh-CN" sz="2400" b="1" baseline="-25000" dirty="0" err="1">
                <a:solidFill>
                  <a:schemeClr val="bg1"/>
                </a:solidFill>
                <a:latin typeface="+mj-ea"/>
                <a:ea typeface="+mj-ea"/>
              </a:rPr>
              <a:t>A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+mj-ea"/>
                <a:ea typeface="+mj-ea"/>
              </a:rPr>
              <a:t>-n</a:t>
            </a:r>
            <a:r>
              <a:rPr kumimoji="1" lang="en-US" altLang="zh-CN" sz="2400" b="1" baseline="-25000" dirty="0" err="1">
                <a:solidFill>
                  <a:schemeClr val="bg1"/>
                </a:solidFill>
                <a:latin typeface="+mj-ea"/>
                <a:ea typeface="+mj-ea"/>
              </a:rPr>
              <a:t>B</a:t>
            </a:r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=-1</a:t>
            </a:r>
          </a:p>
        </p:txBody>
      </p:sp>
      <p:sp>
        <p:nvSpPr>
          <p:cNvPr id="363608" name="Text Box 88"/>
          <p:cNvSpPr txBox="1">
            <a:spLocks noChangeArrowheads="1"/>
          </p:cNvSpPr>
          <p:nvPr/>
        </p:nvSpPr>
        <p:spPr bwMode="auto">
          <a:xfrm>
            <a:off x="1896978" y="1950425"/>
            <a:ext cx="41549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A</a:t>
            </a:r>
          </a:p>
        </p:txBody>
      </p:sp>
      <p:sp>
        <p:nvSpPr>
          <p:cNvPr id="363609" name="Text Box 89"/>
          <p:cNvSpPr txBox="1">
            <a:spLocks noChangeArrowheads="1"/>
          </p:cNvSpPr>
          <p:nvPr/>
        </p:nvSpPr>
        <p:spPr bwMode="auto">
          <a:xfrm>
            <a:off x="2123990" y="2331425"/>
            <a:ext cx="3946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B</a:t>
            </a:r>
          </a:p>
        </p:txBody>
      </p:sp>
      <p:sp>
        <p:nvSpPr>
          <p:cNvPr id="363610" name="Text Box 90"/>
          <p:cNvSpPr txBox="1">
            <a:spLocks noChangeArrowheads="1"/>
          </p:cNvSpPr>
          <p:nvPr/>
        </p:nvSpPr>
        <p:spPr bwMode="auto">
          <a:xfrm>
            <a:off x="1744578" y="4084025"/>
            <a:ext cx="100540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call B</a:t>
            </a:r>
          </a:p>
        </p:txBody>
      </p:sp>
      <p:sp>
        <p:nvSpPr>
          <p:cNvPr id="363611" name="Text Box 91"/>
          <p:cNvSpPr txBox="1">
            <a:spLocks noChangeArrowheads="1"/>
          </p:cNvSpPr>
          <p:nvPr/>
        </p:nvSpPr>
        <p:spPr bwMode="auto">
          <a:xfrm>
            <a:off x="7240864" y="1940222"/>
            <a:ext cx="3946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B</a:t>
            </a:r>
          </a:p>
        </p:txBody>
      </p:sp>
      <p:sp>
        <p:nvSpPr>
          <p:cNvPr id="363612" name="Text Box 92"/>
          <p:cNvSpPr txBox="1">
            <a:spLocks noChangeArrowheads="1"/>
          </p:cNvSpPr>
          <p:nvPr/>
        </p:nvSpPr>
        <p:spPr bwMode="auto">
          <a:xfrm>
            <a:off x="7326589" y="2438400"/>
            <a:ext cx="41549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A</a:t>
            </a:r>
          </a:p>
        </p:txBody>
      </p:sp>
      <p:sp>
        <p:nvSpPr>
          <p:cNvPr id="363613" name="Text Box 93"/>
          <p:cNvSpPr txBox="1">
            <a:spLocks noChangeArrowheads="1"/>
          </p:cNvSpPr>
          <p:nvPr/>
        </p:nvSpPr>
        <p:spPr bwMode="auto">
          <a:xfrm>
            <a:off x="7121802" y="3124200"/>
            <a:ext cx="100540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call B</a:t>
            </a:r>
          </a:p>
        </p:txBody>
      </p:sp>
      <p:sp>
        <p:nvSpPr>
          <p:cNvPr id="363614" name="Text Box 94"/>
          <p:cNvSpPr txBox="1">
            <a:spLocks noChangeArrowheads="1"/>
          </p:cNvSpPr>
          <p:nvPr/>
        </p:nvSpPr>
        <p:spPr bwMode="auto">
          <a:xfrm>
            <a:off x="9738796" y="1930697"/>
            <a:ext cx="3946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B</a:t>
            </a:r>
          </a:p>
        </p:txBody>
      </p:sp>
      <p:sp>
        <p:nvSpPr>
          <p:cNvPr id="363615" name="Text Box 95"/>
          <p:cNvSpPr txBox="1">
            <a:spLocks noChangeArrowheads="1"/>
          </p:cNvSpPr>
          <p:nvPr/>
        </p:nvSpPr>
        <p:spPr bwMode="auto">
          <a:xfrm>
            <a:off x="9814997" y="3210222"/>
            <a:ext cx="100540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call B</a:t>
            </a:r>
          </a:p>
        </p:txBody>
      </p:sp>
      <p:sp>
        <p:nvSpPr>
          <p:cNvPr id="363616" name="Text Box 96"/>
          <p:cNvSpPr txBox="1">
            <a:spLocks noChangeArrowheads="1"/>
          </p:cNvSpPr>
          <p:nvPr/>
        </p:nvSpPr>
        <p:spPr bwMode="auto">
          <a:xfrm>
            <a:off x="10043597" y="2676822"/>
            <a:ext cx="41549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A</a:t>
            </a:r>
          </a:p>
        </p:txBody>
      </p:sp>
      <p:sp>
        <p:nvSpPr>
          <p:cNvPr id="363617" name="AutoShape 97"/>
          <p:cNvSpPr>
            <a:spLocks/>
          </p:cNvSpPr>
          <p:nvPr/>
        </p:nvSpPr>
        <p:spPr bwMode="auto">
          <a:xfrm>
            <a:off x="4264308" y="1867197"/>
            <a:ext cx="405174" cy="3276600"/>
          </a:xfrm>
          <a:prstGeom prst="leftBracket">
            <a:avLst>
              <a:gd name="adj" fmla="val 89583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63618" name="AutoShape 98"/>
          <p:cNvSpPr>
            <a:spLocks/>
          </p:cNvSpPr>
          <p:nvPr/>
        </p:nvSpPr>
        <p:spPr bwMode="auto">
          <a:xfrm>
            <a:off x="4547670" y="2159297"/>
            <a:ext cx="228600" cy="1295400"/>
          </a:xfrm>
          <a:prstGeom prst="leftBracket">
            <a:avLst>
              <a:gd name="adj" fmla="val 47222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63619" name="AutoShape 99"/>
          <p:cNvSpPr>
            <a:spLocks/>
          </p:cNvSpPr>
          <p:nvPr/>
        </p:nvSpPr>
        <p:spPr bwMode="auto">
          <a:xfrm>
            <a:off x="4547670" y="3759497"/>
            <a:ext cx="152400" cy="914400"/>
          </a:xfrm>
          <a:prstGeom prst="leftBracket">
            <a:avLst>
              <a:gd name="adj" fmla="val 50000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63620" name="Text Box 100"/>
          <p:cNvSpPr txBox="1">
            <a:spLocks noChangeArrowheads="1"/>
          </p:cNvSpPr>
          <p:nvPr/>
        </p:nvSpPr>
        <p:spPr bwMode="auto">
          <a:xfrm>
            <a:off x="4046206" y="5329535"/>
            <a:ext cx="143500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n</a:t>
            </a:r>
            <a:r>
              <a:rPr kumimoji="1" lang="en-US" altLang="zh-CN" sz="2400" b="1" baseline="-25000">
                <a:solidFill>
                  <a:schemeClr val="bg1"/>
                </a:solidFill>
                <a:latin typeface="+mj-ea"/>
                <a:ea typeface="+mj-ea"/>
              </a:rPr>
              <a:t>A</a:t>
            </a:r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-n</a:t>
            </a:r>
            <a:r>
              <a:rPr kumimoji="1" lang="en-US" altLang="zh-CN" sz="2400" b="1" baseline="-25000">
                <a:solidFill>
                  <a:schemeClr val="bg1"/>
                </a:solidFill>
                <a:latin typeface="+mj-ea"/>
                <a:ea typeface="+mj-ea"/>
              </a:rPr>
              <a:t>B</a:t>
            </a:r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=0</a:t>
            </a:r>
          </a:p>
        </p:txBody>
      </p:sp>
      <p:sp>
        <p:nvSpPr>
          <p:cNvPr id="363622" name="Text Box 102"/>
          <p:cNvSpPr txBox="1">
            <a:spLocks noChangeArrowheads="1"/>
          </p:cNvSpPr>
          <p:nvPr/>
        </p:nvSpPr>
        <p:spPr bwMode="auto">
          <a:xfrm>
            <a:off x="4760395" y="1895772"/>
            <a:ext cx="3946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B</a:t>
            </a:r>
          </a:p>
        </p:txBody>
      </p:sp>
      <p:sp>
        <p:nvSpPr>
          <p:cNvPr id="363623" name="Text Box 103"/>
          <p:cNvSpPr txBox="1">
            <a:spLocks noChangeArrowheads="1"/>
          </p:cNvSpPr>
          <p:nvPr/>
        </p:nvSpPr>
        <p:spPr bwMode="auto">
          <a:xfrm>
            <a:off x="4684195" y="3495972"/>
            <a:ext cx="41549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A</a:t>
            </a:r>
          </a:p>
        </p:txBody>
      </p:sp>
      <p:sp>
        <p:nvSpPr>
          <p:cNvPr id="363624" name="Text Box 104"/>
          <p:cNvSpPr txBox="1">
            <a:spLocks noChangeArrowheads="1"/>
          </p:cNvSpPr>
          <p:nvPr/>
        </p:nvSpPr>
        <p:spPr bwMode="auto">
          <a:xfrm>
            <a:off x="4623870" y="3988097"/>
            <a:ext cx="100540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call B</a:t>
            </a:r>
          </a:p>
        </p:txBody>
      </p:sp>
      <p:sp>
        <p:nvSpPr>
          <p:cNvPr id="363628" name="AutoShape 108"/>
          <p:cNvSpPr>
            <a:spLocks noChangeAspect="1"/>
          </p:cNvSpPr>
          <p:nvPr/>
        </p:nvSpPr>
        <p:spPr bwMode="auto">
          <a:xfrm>
            <a:off x="9422884" y="2137073"/>
            <a:ext cx="252412" cy="2784475"/>
          </a:xfrm>
          <a:prstGeom prst="leftBracket">
            <a:avLst>
              <a:gd name="adj" fmla="val 91929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63630" name="Rectangle 110"/>
          <p:cNvSpPr>
            <a:spLocks noChangeArrowheads="1"/>
          </p:cNvSpPr>
          <p:nvPr/>
        </p:nvSpPr>
        <p:spPr bwMode="auto">
          <a:xfrm>
            <a:off x="9219684" y="3145135"/>
            <a:ext cx="792162" cy="36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en-GB" altLang="zh-CN" sz="2400" b="1">
                <a:solidFill>
                  <a:schemeClr val="bg1"/>
                </a:solidFill>
                <a:latin typeface="+mj-ea"/>
                <a:ea typeface="+mj-ea"/>
              </a:rPr>
              <a:t>…</a:t>
            </a:r>
            <a:endParaRPr kumimoji="1" lang="en-US" altLang="zh-CN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601601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当</a:t>
            </a:r>
            <a:r>
              <a:rPr lang="en-US" altLang="zh-CN" dirty="0"/>
              <a:t>A</a:t>
            </a:r>
            <a:r>
              <a:rPr lang="zh-CN" altLang="en-US" dirty="0"/>
              <a:t>调用</a:t>
            </a:r>
            <a:r>
              <a:rPr lang="en-US" altLang="zh-CN" dirty="0"/>
              <a:t>B</a:t>
            </a:r>
            <a:r>
              <a:rPr lang="zh-CN" altLang="en-US" dirty="0"/>
              <a:t>时，</a:t>
            </a:r>
            <a:r>
              <a:rPr lang="en-US" altLang="zh-CN" dirty="0"/>
              <a:t>B</a:t>
            </a:r>
            <a:r>
              <a:rPr lang="zh-CN" altLang="en-US" dirty="0"/>
              <a:t>的活动记录中静态连接的计算方法：</a:t>
            </a:r>
            <a:endParaRPr kumimoji="1" lang="en-US" altLang="zh-CN" dirty="0">
              <a:latin typeface="+mj-ea"/>
            </a:endParaRPr>
          </a:p>
          <a:p>
            <a:r>
              <a:rPr kumimoji="1" lang="en-US" altLang="zh-CN" dirty="0" err="1">
                <a:latin typeface="+mj-ea"/>
              </a:rPr>
              <a:t>n</a:t>
            </a:r>
            <a:r>
              <a:rPr kumimoji="1" lang="en-US" altLang="zh-CN" baseline="-25000" dirty="0" err="1">
                <a:latin typeface="+mj-ea"/>
              </a:rPr>
              <a:t>A</a:t>
            </a:r>
            <a:r>
              <a:rPr kumimoji="1" lang="en-US" altLang="zh-CN" dirty="0" err="1">
                <a:latin typeface="+mj-ea"/>
              </a:rPr>
              <a:t>-n</a:t>
            </a:r>
            <a:r>
              <a:rPr kumimoji="1" lang="en-US" altLang="zh-CN" baseline="-25000" dirty="0" err="1">
                <a:latin typeface="+mj-ea"/>
              </a:rPr>
              <a:t>B</a:t>
            </a:r>
            <a:r>
              <a:rPr kumimoji="1" lang="en-US" altLang="zh-CN" baseline="-25000" dirty="0">
                <a:latin typeface="+mj-ea"/>
              </a:rPr>
              <a:t>	</a:t>
            </a:r>
            <a:r>
              <a:rPr kumimoji="1" lang="en-US" altLang="zh-CN" dirty="0">
                <a:latin typeface="+mj-ea"/>
              </a:rPr>
              <a:t>= -1</a:t>
            </a:r>
            <a:r>
              <a:rPr lang="en-US" altLang="zh-CN" dirty="0"/>
              <a:t>, 	B</a:t>
            </a:r>
            <a:r>
              <a:rPr lang="zh-CN" altLang="en-US" dirty="0"/>
              <a:t>的静态连接＝</a:t>
            </a:r>
            <a:r>
              <a:rPr lang="en-US" altLang="zh-CN" dirty="0"/>
              <a:t>find(0)</a:t>
            </a:r>
          </a:p>
          <a:p>
            <a:r>
              <a:rPr kumimoji="1" lang="en-US" altLang="zh-CN" dirty="0" err="1">
                <a:latin typeface="+mj-ea"/>
              </a:rPr>
              <a:t>n</a:t>
            </a:r>
            <a:r>
              <a:rPr kumimoji="1" lang="en-US" altLang="zh-CN" baseline="-25000" dirty="0" err="1">
                <a:latin typeface="+mj-ea"/>
              </a:rPr>
              <a:t>A</a:t>
            </a:r>
            <a:r>
              <a:rPr kumimoji="1" lang="en-US" altLang="zh-CN" dirty="0" err="1">
                <a:latin typeface="+mj-ea"/>
              </a:rPr>
              <a:t>-n</a:t>
            </a:r>
            <a:r>
              <a:rPr kumimoji="1" lang="en-US" altLang="zh-CN" baseline="-25000" dirty="0" err="1">
                <a:latin typeface="+mj-ea"/>
              </a:rPr>
              <a:t>B</a:t>
            </a:r>
            <a:r>
              <a:rPr kumimoji="1" lang="en-US" altLang="zh-CN" baseline="-25000" dirty="0">
                <a:latin typeface="+mj-ea"/>
              </a:rPr>
              <a:t>	</a:t>
            </a:r>
            <a:r>
              <a:rPr kumimoji="1" lang="en-US" altLang="zh-CN" dirty="0">
                <a:latin typeface="+mj-ea"/>
              </a:rPr>
              <a:t>= 0</a:t>
            </a:r>
            <a:r>
              <a:rPr lang="en-US" altLang="zh-CN" dirty="0"/>
              <a:t>,  	B</a:t>
            </a:r>
            <a:r>
              <a:rPr lang="zh-CN" altLang="en-US" dirty="0"/>
              <a:t>的静态连接＝</a:t>
            </a:r>
            <a:r>
              <a:rPr lang="en-US" altLang="zh-CN" dirty="0"/>
              <a:t>find(1)</a:t>
            </a:r>
          </a:p>
          <a:p>
            <a:r>
              <a:rPr kumimoji="1" lang="en-US" altLang="zh-CN" dirty="0" err="1">
                <a:latin typeface="+mj-ea"/>
              </a:rPr>
              <a:t>n</a:t>
            </a:r>
            <a:r>
              <a:rPr kumimoji="1" lang="en-US" altLang="zh-CN" baseline="-25000" dirty="0" err="1">
                <a:latin typeface="+mj-ea"/>
              </a:rPr>
              <a:t>A</a:t>
            </a:r>
            <a:r>
              <a:rPr kumimoji="1" lang="en-US" altLang="zh-CN" dirty="0" err="1">
                <a:latin typeface="+mj-ea"/>
              </a:rPr>
              <a:t>-n</a:t>
            </a:r>
            <a:r>
              <a:rPr kumimoji="1" lang="en-US" altLang="zh-CN" baseline="-25000" dirty="0" err="1">
                <a:latin typeface="+mj-ea"/>
              </a:rPr>
              <a:t>B</a:t>
            </a:r>
            <a:r>
              <a:rPr kumimoji="1" lang="en-US" altLang="zh-CN" baseline="-25000" dirty="0">
                <a:latin typeface="+mj-ea"/>
              </a:rPr>
              <a:t>	</a:t>
            </a:r>
            <a:r>
              <a:rPr kumimoji="1" lang="en-US" altLang="zh-CN" dirty="0">
                <a:latin typeface="+mj-ea"/>
              </a:rPr>
              <a:t>= 1</a:t>
            </a:r>
            <a:r>
              <a:rPr kumimoji="1" lang="zh-CN" altLang="en-US" dirty="0">
                <a:latin typeface="+mj-ea"/>
              </a:rPr>
              <a:t>，</a:t>
            </a:r>
            <a:r>
              <a:rPr kumimoji="1" lang="en-US" altLang="zh-CN" dirty="0">
                <a:latin typeface="+mj-ea"/>
              </a:rPr>
              <a:t>	</a:t>
            </a:r>
            <a:r>
              <a:rPr lang="en-US" altLang="zh-CN" dirty="0"/>
              <a:t>B</a:t>
            </a:r>
            <a:r>
              <a:rPr lang="zh-CN" altLang="en-US" dirty="0"/>
              <a:t>的静态连接＝</a:t>
            </a:r>
            <a:r>
              <a:rPr lang="en-US" altLang="zh-CN" dirty="0"/>
              <a:t>find(2)</a:t>
            </a:r>
          </a:p>
          <a:p>
            <a:r>
              <a:rPr lang="en-US" altLang="zh-CN" dirty="0"/>
              <a:t>……</a:t>
            </a:r>
          </a:p>
          <a:p>
            <a:r>
              <a:rPr kumimoji="1" lang="en-US" altLang="zh-CN" dirty="0" err="1">
                <a:latin typeface="+mj-ea"/>
              </a:rPr>
              <a:t>n</a:t>
            </a:r>
            <a:r>
              <a:rPr kumimoji="1" lang="en-US" altLang="zh-CN" baseline="-25000" dirty="0" err="1">
                <a:latin typeface="+mj-ea"/>
              </a:rPr>
              <a:t>A</a:t>
            </a:r>
            <a:r>
              <a:rPr kumimoji="1" lang="en-US" altLang="zh-CN" dirty="0" err="1">
                <a:latin typeface="+mj-ea"/>
              </a:rPr>
              <a:t>-n</a:t>
            </a:r>
            <a:r>
              <a:rPr kumimoji="1" lang="en-US" altLang="zh-CN" baseline="-25000" dirty="0" err="1">
                <a:latin typeface="+mj-ea"/>
              </a:rPr>
              <a:t>B</a:t>
            </a:r>
            <a:r>
              <a:rPr kumimoji="1" lang="en-US" altLang="zh-CN" baseline="-25000" dirty="0">
                <a:latin typeface="+mj-ea"/>
              </a:rPr>
              <a:t>	</a:t>
            </a:r>
            <a:r>
              <a:rPr lang="en-US" altLang="zh-CN" dirty="0"/>
              <a:t>= n, 	B</a:t>
            </a:r>
            <a:r>
              <a:rPr lang="zh-CN" altLang="en-US" dirty="0"/>
              <a:t>的静态连接</a:t>
            </a:r>
            <a:r>
              <a:rPr lang="en-US" altLang="zh-CN" dirty="0"/>
              <a:t>=find(</a:t>
            </a:r>
            <a:r>
              <a:rPr lang="en-US" altLang="zh-CN" dirty="0" err="1"/>
              <a:t>n+1</a:t>
            </a:r>
            <a:r>
              <a:rPr lang="en-US" altLang="zh-CN" dirty="0"/>
              <a:t>)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992AC75E-DD8D-4FD1-806E-DFE62F3F0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静态链的建立</a:t>
            </a:r>
          </a:p>
        </p:txBody>
      </p:sp>
    </p:spTree>
    <p:extLst>
      <p:ext uri="{BB962C8B-B14F-4D97-AF65-F5344CB8AC3E}">
        <p14:creationId xmlns:p14="http://schemas.microsoft.com/office/powerpoint/2010/main" val="1292629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除了上述</a:t>
            </a:r>
            <a:r>
              <a:rPr lang="en-US" altLang="zh-CN" dirty="0"/>
              <a:t>4</a:t>
            </a:r>
            <a:r>
              <a:rPr lang="zh-CN" altLang="en-US" dirty="0"/>
              <a:t>种情况，其它情况是不合法的（</a:t>
            </a:r>
            <a:r>
              <a:rPr lang="en-US" altLang="zh-CN" dirty="0"/>
              <a:t>A</a:t>
            </a:r>
            <a:r>
              <a:rPr lang="zh-CN" altLang="en-US" dirty="0"/>
              <a:t>不能调用</a:t>
            </a:r>
            <a:r>
              <a:rPr lang="en-US" altLang="zh-CN" dirty="0"/>
              <a:t>B</a:t>
            </a:r>
            <a:r>
              <a:rPr lang="zh-CN" altLang="en-US" dirty="0"/>
              <a:t>），例如：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静态链的建立</a:t>
            </a:r>
            <a:endParaRPr lang="zh-CN" altLang="en-US" dirty="0"/>
          </a:p>
        </p:txBody>
      </p:sp>
      <p:sp>
        <p:nvSpPr>
          <p:cNvPr id="363604" name="AutoShape 84"/>
          <p:cNvSpPr>
            <a:spLocks/>
          </p:cNvSpPr>
          <p:nvPr/>
        </p:nvSpPr>
        <p:spPr bwMode="auto">
          <a:xfrm>
            <a:off x="3291958" y="2235496"/>
            <a:ext cx="415497" cy="2641303"/>
          </a:xfrm>
          <a:prstGeom prst="leftBracket">
            <a:avLst>
              <a:gd name="adj" fmla="val 91667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63605" name="AutoShape 85"/>
          <p:cNvSpPr>
            <a:spLocks/>
          </p:cNvSpPr>
          <p:nvPr/>
        </p:nvSpPr>
        <p:spPr bwMode="auto">
          <a:xfrm>
            <a:off x="4028422" y="2793703"/>
            <a:ext cx="238778" cy="991492"/>
          </a:xfrm>
          <a:prstGeom prst="leftBracket">
            <a:avLst>
              <a:gd name="adj" fmla="val 50000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63606" name="Text Box 86"/>
          <p:cNvSpPr txBox="1">
            <a:spLocks noChangeArrowheads="1"/>
          </p:cNvSpPr>
          <p:nvPr/>
        </p:nvSpPr>
        <p:spPr bwMode="auto">
          <a:xfrm>
            <a:off x="3026255" y="5329535"/>
            <a:ext cx="15696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 dirty="0" err="1">
                <a:solidFill>
                  <a:schemeClr val="bg1"/>
                </a:solidFill>
                <a:latin typeface="+mj-ea"/>
                <a:ea typeface="+mj-ea"/>
              </a:rPr>
              <a:t>n</a:t>
            </a:r>
            <a:r>
              <a:rPr kumimoji="1" lang="en-US" altLang="zh-CN" sz="2400" b="1" baseline="-25000" dirty="0" err="1">
                <a:solidFill>
                  <a:schemeClr val="bg1"/>
                </a:solidFill>
                <a:latin typeface="+mj-ea"/>
                <a:ea typeface="+mj-ea"/>
              </a:rPr>
              <a:t>A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+mj-ea"/>
                <a:ea typeface="+mj-ea"/>
              </a:rPr>
              <a:t>-n</a:t>
            </a:r>
            <a:r>
              <a:rPr kumimoji="1" lang="en-US" altLang="zh-CN" sz="2400" b="1" baseline="-25000" dirty="0" err="1">
                <a:solidFill>
                  <a:schemeClr val="bg1"/>
                </a:solidFill>
                <a:latin typeface="+mj-ea"/>
                <a:ea typeface="+mj-ea"/>
              </a:rPr>
              <a:t>B</a:t>
            </a:r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&lt;-1</a:t>
            </a:r>
          </a:p>
        </p:txBody>
      </p:sp>
      <p:sp>
        <p:nvSpPr>
          <p:cNvPr id="363608" name="Text Box 88"/>
          <p:cNvSpPr txBox="1">
            <a:spLocks noChangeArrowheads="1"/>
          </p:cNvSpPr>
          <p:nvPr/>
        </p:nvSpPr>
        <p:spPr bwMode="auto">
          <a:xfrm>
            <a:off x="3657600" y="1930697"/>
            <a:ext cx="41549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A</a:t>
            </a:r>
          </a:p>
        </p:txBody>
      </p:sp>
      <p:sp>
        <p:nvSpPr>
          <p:cNvPr id="363609" name="Text Box 89"/>
          <p:cNvSpPr txBox="1">
            <a:spLocks noChangeArrowheads="1"/>
          </p:cNvSpPr>
          <p:nvPr/>
        </p:nvSpPr>
        <p:spPr bwMode="auto">
          <a:xfrm>
            <a:off x="4253540" y="2590800"/>
            <a:ext cx="3946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B</a:t>
            </a:r>
          </a:p>
        </p:txBody>
      </p:sp>
      <p:sp>
        <p:nvSpPr>
          <p:cNvPr id="363610" name="Text Box 90"/>
          <p:cNvSpPr txBox="1">
            <a:spLocks noChangeArrowheads="1"/>
          </p:cNvSpPr>
          <p:nvPr/>
        </p:nvSpPr>
        <p:spPr bwMode="auto">
          <a:xfrm>
            <a:off x="3450366" y="4186535"/>
            <a:ext cx="234083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call B  // error</a:t>
            </a:r>
          </a:p>
        </p:txBody>
      </p:sp>
      <p:sp>
        <p:nvSpPr>
          <p:cNvPr id="363617" name="AutoShape 97"/>
          <p:cNvSpPr>
            <a:spLocks/>
          </p:cNvSpPr>
          <p:nvPr/>
        </p:nvSpPr>
        <p:spPr bwMode="auto">
          <a:xfrm>
            <a:off x="7129007" y="1767000"/>
            <a:ext cx="415498" cy="1631838"/>
          </a:xfrm>
          <a:prstGeom prst="leftBracket">
            <a:avLst>
              <a:gd name="adj" fmla="val 89583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63618" name="AutoShape 98"/>
          <p:cNvSpPr>
            <a:spLocks/>
          </p:cNvSpPr>
          <p:nvPr/>
        </p:nvSpPr>
        <p:spPr bwMode="auto">
          <a:xfrm>
            <a:off x="7378812" y="2028490"/>
            <a:ext cx="165694" cy="1086843"/>
          </a:xfrm>
          <a:prstGeom prst="leftBracket">
            <a:avLst>
              <a:gd name="adj" fmla="val 47222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63619" name="AutoShape 99"/>
          <p:cNvSpPr>
            <a:spLocks/>
          </p:cNvSpPr>
          <p:nvPr/>
        </p:nvSpPr>
        <p:spPr bwMode="auto">
          <a:xfrm>
            <a:off x="7376596" y="3896022"/>
            <a:ext cx="167909" cy="980778"/>
          </a:xfrm>
          <a:prstGeom prst="leftBracket">
            <a:avLst>
              <a:gd name="adj" fmla="val 50000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63620" name="Text Box 100"/>
          <p:cNvSpPr txBox="1">
            <a:spLocks noChangeArrowheads="1"/>
          </p:cNvSpPr>
          <p:nvPr/>
        </p:nvSpPr>
        <p:spPr bwMode="auto">
          <a:xfrm>
            <a:off x="6752170" y="5329535"/>
            <a:ext cx="15536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 dirty="0" err="1">
                <a:solidFill>
                  <a:schemeClr val="bg1"/>
                </a:solidFill>
                <a:latin typeface="+mj-ea"/>
                <a:ea typeface="+mj-ea"/>
              </a:rPr>
              <a:t>n</a:t>
            </a:r>
            <a:r>
              <a:rPr kumimoji="1" lang="en-US" altLang="zh-CN" sz="2400" b="1" baseline="-25000" dirty="0" err="1">
                <a:solidFill>
                  <a:schemeClr val="bg1"/>
                </a:solidFill>
                <a:latin typeface="+mj-ea"/>
                <a:ea typeface="+mj-ea"/>
              </a:rPr>
              <a:t>A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+mj-ea"/>
                <a:ea typeface="+mj-ea"/>
              </a:rPr>
              <a:t>-n</a:t>
            </a:r>
            <a:r>
              <a:rPr kumimoji="1" lang="en-US" altLang="zh-CN" sz="2400" b="1" baseline="-25000" dirty="0" err="1">
                <a:solidFill>
                  <a:schemeClr val="bg1"/>
                </a:solidFill>
                <a:latin typeface="+mj-ea"/>
                <a:ea typeface="+mj-ea"/>
              </a:rPr>
              <a:t>B</a:t>
            </a:r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=</a:t>
            </a:r>
            <a:r>
              <a:rPr kumimoji="1"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？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63622" name="Text Box 102"/>
          <p:cNvSpPr txBox="1">
            <a:spLocks noChangeArrowheads="1"/>
          </p:cNvSpPr>
          <p:nvPr/>
        </p:nvSpPr>
        <p:spPr bwMode="auto">
          <a:xfrm>
            <a:off x="7497358" y="1828800"/>
            <a:ext cx="3946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B</a:t>
            </a:r>
          </a:p>
        </p:txBody>
      </p:sp>
      <p:sp>
        <p:nvSpPr>
          <p:cNvPr id="363623" name="Text Box 103"/>
          <p:cNvSpPr txBox="1">
            <a:spLocks noChangeArrowheads="1"/>
          </p:cNvSpPr>
          <p:nvPr/>
        </p:nvSpPr>
        <p:spPr bwMode="auto">
          <a:xfrm>
            <a:off x="7494499" y="3698875"/>
            <a:ext cx="41549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A</a:t>
            </a:r>
          </a:p>
        </p:txBody>
      </p:sp>
      <p:sp>
        <p:nvSpPr>
          <p:cNvPr id="363624" name="Text Box 104"/>
          <p:cNvSpPr txBox="1">
            <a:spLocks noChangeArrowheads="1"/>
          </p:cNvSpPr>
          <p:nvPr/>
        </p:nvSpPr>
        <p:spPr bwMode="auto">
          <a:xfrm>
            <a:off x="7452797" y="4191000"/>
            <a:ext cx="25235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call B   //</a:t>
            </a:r>
            <a:r>
              <a:rPr kumimoji="1" lang="en-US" altLang="zh-CN" sz="2400" b="1" dirty="0">
                <a:solidFill>
                  <a:schemeClr val="bg1"/>
                </a:solidFill>
                <a:latin typeface="+mj-ea"/>
              </a:rPr>
              <a:t> error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7" name="Rectangle 106">
            <a:extLst>
              <a:ext uri="{FF2B5EF4-FFF2-40B4-BE49-F238E27FC236}">
                <a16:creationId xmlns:a16="http://schemas.microsoft.com/office/drawing/2014/main" id="{9B8A6E01-1AF6-4F76-851A-1430CE8D24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2805" y="2992438"/>
            <a:ext cx="792163" cy="36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en-GB" altLang="zh-CN" sz="2400" b="1" dirty="0">
                <a:solidFill>
                  <a:schemeClr val="bg1"/>
                </a:solidFill>
                <a:latin typeface="+mj-ea"/>
                <a:ea typeface="+mj-ea"/>
              </a:rPr>
              <a:t>…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1" name="AutoShape 97">
            <a:extLst>
              <a:ext uri="{FF2B5EF4-FFF2-40B4-BE49-F238E27FC236}">
                <a16:creationId xmlns:a16="http://schemas.microsoft.com/office/drawing/2014/main" id="{595879C7-C33E-4A99-AB8B-4993C315EA97}"/>
              </a:ext>
            </a:extLst>
          </p:cNvPr>
          <p:cNvSpPr>
            <a:spLocks/>
          </p:cNvSpPr>
          <p:nvPr/>
        </p:nvSpPr>
        <p:spPr bwMode="auto">
          <a:xfrm>
            <a:off x="7129007" y="3581400"/>
            <a:ext cx="425829" cy="1631838"/>
          </a:xfrm>
          <a:prstGeom prst="leftBracket">
            <a:avLst>
              <a:gd name="adj" fmla="val 89583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3" name="AutoShape 85">
            <a:extLst>
              <a:ext uri="{FF2B5EF4-FFF2-40B4-BE49-F238E27FC236}">
                <a16:creationId xmlns:a16="http://schemas.microsoft.com/office/drawing/2014/main" id="{DBBF5156-A53F-434F-9CC0-2D3CF025C93F}"/>
              </a:ext>
            </a:extLst>
          </p:cNvPr>
          <p:cNvSpPr>
            <a:spLocks/>
          </p:cNvSpPr>
          <p:nvPr/>
        </p:nvSpPr>
        <p:spPr bwMode="auto">
          <a:xfrm>
            <a:off x="3797609" y="2518057"/>
            <a:ext cx="340634" cy="1485334"/>
          </a:xfrm>
          <a:prstGeom prst="leftBracket">
            <a:avLst>
              <a:gd name="adj" fmla="val 50000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768470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5" name="Rectangle 3"/>
          <p:cNvSpPr>
            <a:spLocks noGrp="1" noChangeArrowheads="1"/>
          </p:cNvSpPr>
          <p:nvPr>
            <p:ph idx="1"/>
          </p:nvPr>
        </p:nvSpPr>
        <p:spPr>
          <a:xfrm>
            <a:off x="720000" y="900000"/>
            <a:ext cx="11167200" cy="5237998"/>
          </a:xfrm>
        </p:spPr>
        <p:txBody>
          <a:bodyPr/>
          <a:lstStyle/>
          <a:p>
            <a:r>
              <a:rPr lang="en-US" altLang="zh-CN" dirty="0"/>
              <a:t>LOD	TP , </a:t>
            </a:r>
            <a:r>
              <a:rPr lang="en-US" altLang="zh-CN" dirty="0" err="1"/>
              <a:t>IP+48</a:t>
            </a:r>
            <a:r>
              <a:rPr lang="en-US" altLang="zh-CN" dirty="0"/>
              <a:t> 					# </a:t>
            </a:r>
            <a:r>
              <a:rPr lang="zh-CN" altLang="en-US" dirty="0"/>
              <a:t>计算返回地址（</a:t>
            </a:r>
            <a:r>
              <a:rPr lang="en-US" altLang="zh-CN" dirty="0"/>
              <a:t>6</a:t>
            </a:r>
            <a:r>
              <a:rPr lang="zh-CN" altLang="en-US" dirty="0"/>
              <a:t>*</a:t>
            </a:r>
            <a:r>
              <a:rPr lang="en-US" altLang="zh-CN" dirty="0"/>
              <a:t>8=48</a:t>
            </a:r>
            <a:r>
              <a:rPr lang="zh-CN" altLang="en-US" dirty="0"/>
              <a:t>）</a:t>
            </a:r>
          </a:p>
          <a:p>
            <a:r>
              <a:rPr lang="en-US" altLang="zh-CN" dirty="0" err="1"/>
              <a:t>STO</a:t>
            </a:r>
            <a:r>
              <a:rPr lang="en-US" altLang="zh-CN" dirty="0"/>
              <a:t>	(</a:t>
            </a:r>
            <a:r>
              <a:rPr lang="en-US" altLang="zh-CN" dirty="0" err="1"/>
              <a:t>BP+len</a:t>
            </a:r>
            <a:r>
              <a:rPr lang="en-US" altLang="zh-CN" dirty="0"/>
              <a:t>) , TP  				# </a:t>
            </a:r>
            <a:r>
              <a:rPr lang="zh-CN" altLang="en-US" dirty="0"/>
              <a:t>保存返回地址（</a:t>
            </a:r>
            <a:r>
              <a:rPr lang="en-US" altLang="zh-CN" dirty="0" err="1"/>
              <a:t>len</a:t>
            </a:r>
            <a:r>
              <a:rPr lang="zh-CN" altLang="en-US" dirty="0"/>
              <a:t>为当前活动记录的长度）</a:t>
            </a:r>
          </a:p>
          <a:p>
            <a:r>
              <a:rPr lang="en-US" altLang="zh-CN" dirty="0" err="1"/>
              <a:t>STO</a:t>
            </a:r>
            <a:r>
              <a:rPr lang="en-US" altLang="zh-CN" dirty="0"/>
              <a:t>	(</a:t>
            </a:r>
            <a:r>
              <a:rPr lang="en-US" altLang="zh-CN" dirty="0" err="1"/>
              <a:t>BP+len+4</a:t>
            </a:r>
            <a:r>
              <a:rPr lang="en-US" altLang="zh-CN" dirty="0"/>
              <a:t>) , BP			# </a:t>
            </a:r>
            <a:r>
              <a:rPr lang="zh-CN" altLang="en-US" dirty="0"/>
              <a:t>保存动态连接</a:t>
            </a:r>
            <a:endParaRPr lang="en-US" altLang="zh-CN" dirty="0"/>
          </a:p>
          <a:p>
            <a:r>
              <a:rPr lang="en-US" altLang="zh-CN" dirty="0" err="1"/>
              <a:t>STO</a:t>
            </a:r>
            <a:r>
              <a:rPr lang="en-US" altLang="zh-CN" dirty="0"/>
              <a:t>	(</a:t>
            </a:r>
            <a:r>
              <a:rPr lang="en-US" altLang="zh-CN" dirty="0" err="1"/>
              <a:t>BP+len+8</a:t>
            </a:r>
            <a:r>
              <a:rPr lang="en-US" altLang="zh-CN" dirty="0"/>
              <a:t>) , find(</a:t>
            </a:r>
            <a:r>
              <a:rPr lang="en-US" altLang="zh-CN" dirty="0" err="1"/>
              <a:t>n+1</a:t>
            </a:r>
            <a:r>
              <a:rPr lang="en-US" altLang="zh-CN" dirty="0"/>
              <a:t>)	# </a:t>
            </a:r>
            <a:r>
              <a:rPr lang="zh-CN" altLang="en-US" dirty="0"/>
              <a:t>保存静态连接</a:t>
            </a:r>
            <a:endParaRPr lang="en-US" altLang="zh-CN" dirty="0"/>
          </a:p>
          <a:p>
            <a:r>
              <a:rPr lang="en-US" altLang="zh-CN" dirty="0"/>
              <a:t>ADD	BP , </a:t>
            </a:r>
            <a:r>
              <a:rPr lang="en-US" altLang="zh-CN" dirty="0" err="1"/>
              <a:t>len</a:t>
            </a:r>
            <a:r>
              <a:rPr lang="en-US" altLang="zh-CN" dirty="0"/>
              <a:t>						# </a:t>
            </a:r>
            <a:r>
              <a:rPr lang="zh-CN" altLang="en-US" dirty="0"/>
              <a:t>切换到被调函数的活动记录</a:t>
            </a:r>
          </a:p>
          <a:p>
            <a:r>
              <a:rPr lang="en-US" altLang="zh-CN" dirty="0" err="1"/>
              <a:t>JMP</a:t>
            </a:r>
            <a:r>
              <a:rPr lang="en-US" altLang="zh-CN" dirty="0"/>
              <a:t>	L								# </a:t>
            </a:r>
            <a:r>
              <a:rPr lang="zh-CN" altLang="en-US" dirty="0"/>
              <a:t>转移到被调函数</a:t>
            </a:r>
          </a:p>
          <a:p>
            <a:endParaRPr lang="en-US" altLang="zh-CN" dirty="0"/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call L </a:t>
            </a:r>
            <a:r>
              <a:rPr lang="zh-CN" altLang="en-US" dirty="0"/>
              <a:t>语句的翻译</a:t>
            </a:r>
          </a:p>
        </p:txBody>
      </p:sp>
    </p:spTree>
    <p:extLst>
      <p:ext uri="{BB962C8B-B14F-4D97-AF65-F5344CB8AC3E}">
        <p14:creationId xmlns:p14="http://schemas.microsoft.com/office/powerpoint/2010/main" val="2228845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某些语言不支持函数嵌套定义（</a:t>
            </a:r>
            <a:r>
              <a:rPr lang="en-US" altLang="zh-CN" dirty="0"/>
              <a:t> </a:t>
            </a:r>
            <a:r>
              <a:rPr lang="zh-CN" altLang="en-US" dirty="0"/>
              <a:t>如 </a:t>
            </a:r>
            <a:r>
              <a:rPr lang="en-US" altLang="zh-CN" dirty="0"/>
              <a:t>C </a:t>
            </a:r>
            <a:r>
              <a:rPr lang="zh-CN" altLang="en-US" dirty="0"/>
              <a:t>语言</a:t>
            </a:r>
            <a:r>
              <a:rPr lang="en-US" altLang="zh-CN" dirty="0"/>
              <a:t> </a:t>
            </a:r>
            <a:r>
              <a:rPr lang="zh-CN" altLang="en-US" dirty="0"/>
              <a:t>），所有函数都是平级的，这种情况下，不需要维护静态链，只需要区分局部环境和全局环境</a:t>
            </a:r>
            <a:r>
              <a:rPr lang="zh-CN" altLang="en-US" dirty="0">
                <a:sym typeface="Wingdings" panose="05000000000000000000" pitchFamily="2" charset="2"/>
              </a:rPr>
              <a:t>。</a:t>
            </a:r>
            <a:endParaRPr lang="en-US" altLang="zh-CN" dirty="0">
              <a:sym typeface="Wingdings" panose="05000000000000000000" pitchFamily="2" charset="2"/>
            </a:endParaRP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注意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2133600" y="3124912"/>
            <a:ext cx="2057401" cy="2682967"/>
            <a:chOff x="7308850" y="2286000"/>
            <a:chExt cx="2730772" cy="2827649"/>
          </a:xfrm>
        </p:grpSpPr>
        <p:sp>
          <p:nvSpPr>
            <p:cNvPr id="5" name="Text Box 36"/>
            <p:cNvSpPr txBox="1">
              <a:spLocks noChangeArrowheads="1"/>
            </p:cNvSpPr>
            <p:nvPr/>
          </p:nvSpPr>
          <p:spPr bwMode="auto">
            <a:xfrm>
              <a:off x="8129588" y="2286000"/>
              <a:ext cx="474892" cy="389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b="1" dirty="0">
                  <a:solidFill>
                    <a:schemeClr val="bg1"/>
                  </a:solidFill>
                  <a:latin typeface="+mj-ea"/>
                  <a:ea typeface="+mj-ea"/>
                </a:rPr>
                <a:t>A</a:t>
              </a:r>
            </a:p>
          </p:txBody>
        </p:sp>
        <p:sp>
          <p:nvSpPr>
            <p:cNvPr id="6" name="Line 37"/>
            <p:cNvSpPr>
              <a:spLocks noChangeShapeType="1"/>
            </p:cNvSpPr>
            <p:nvPr/>
          </p:nvSpPr>
          <p:spPr bwMode="auto">
            <a:xfrm flipH="1">
              <a:off x="7620000" y="2667000"/>
              <a:ext cx="533400" cy="45720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7" name="Line 38"/>
            <p:cNvSpPr>
              <a:spLocks noChangeShapeType="1"/>
            </p:cNvSpPr>
            <p:nvPr/>
          </p:nvSpPr>
          <p:spPr bwMode="auto">
            <a:xfrm>
              <a:off x="8458200" y="2667000"/>
              <a:ext cx="533400" cy="45720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8" name="Text Box 39"/>
            <p:cNvSpPr txBox="1">
              <a:spLocks noChangeArrowheads="1"/>
            </p:cNvSpPr>
            <p:nvPr/>
          </p:nvSpPr>
          <p:spPr bwMode="auto">
            <a:xfrm>
              <a:off x="7315200" y="3048001"/>
              <a:ext cx="449360" cy="389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b="1">
                  <a:solidFill>
                    <a:schemeClr val="bg1"/>
                  </a:solidFill>
                  <a:latin typeface="+mj-ea"/>
                  <a:ea typeface="+mj-ea"/>
                </a:rPr>
                <a:t>B</a:t>
              </a:r>
            </a:p>
          </p:txBody>
        </p:sp>
        <p:sp>
          <p:nvSpPr>
            <p:cNvPr id="9" name="Line 40"/>
            <p:cNvSpPr>
              <a:spLocks noChangeShapeType="1"/>
            </p:cNvSpPr>
            <p:nvPr/>
          </p:nvSpPr>
          <p:spPr bwMode="auto">
            <a:xfrm>
              <a:off x="7483475" y="3463925"/>
              <a:ext cx="0" cy="45720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10" name="Text Box 41"/>
            <p:cNvSpPr txBox="1">
              <a:spLocks noChangeArrowheads="1"/>
            </p:cNvSpPr>
            <p:nvPr/>
          </p:nvSpPr>
          <p:spPr bwMode="auto">
            <a:xfrm>
              <a:off x="7308850" y="3912247"/>
              <a:ext cx="466381" cy="389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b="1">
                  <a:solidFill>
                    <a:schemeClr val="bg1"/>
                  </a:solidFill>
                  <a:latin typeface="+mj-ea"/>
                  <a:ea typeface="+mj-ea"/>
                </a:rPr>
                <a:t>C</a:t>
              </a:r>
            </a:p>
          </p:txBody>
        </p:sp>
        <p:sp>
          <p:nvSpPr>
            <p:cNvPr id="11" name="Line 42"/>
            <p:cNvSpPr>
              <a:spLocks noChangeShapeType="1"/>
            </p:cNvSpPr>
            <p:nvPr/>
          </p:nvSpPr>
          <p:spPr bwMode="auto">
            <a:xfrm>
              <a:off x="7483475" y="4302125"/>
              <a:ext cx="0" cy="45720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12" name="Text Box 43"/>
            <p:cNvSpPr txBox="1">
              <a:spLocks noChangeArrowheads="1"/>
            </p:cNvSpPr>
            <p:nvPr/>
          </p:nvSpPr>
          <p:spPr bwMode="auto">
            <a:xfrm>
              <a:off x="7315201" y="4724400"/>
              <a:ext cx="487658" cy="389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b="1">
                  <a:solidFill>
                    <a:schemeClr val="bg1"/>
                  </a:solidFill>
                  <a:latin typeface="+mj-ea"/>
                  <a:ea typeface="+mj-ea"/>
                </a:rPr>
                <a:t>D</a:t>
              </a:r>
            </a:p>
          </p:txBody>
        </p:sp>
        <p:sp>
          <p:nvSpPr>
            <p:cNvPr id="13" name="Text Box 44"/>
            <p:cNvSpPr txBox="1">
              <a:spLocks noChangeArrowheads="1"/>
            </p:cNvSpPr>
            <p:nvPr/>
          </p:nvSpPr>
          <p:spPr bwMode="auto">
            <a:xfrm>
              <a:off x="8899524" y="3089275"/>
              <a:ext cx="419573" cy="389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b="1">
                  <a:solidFill>
                    <a:schemeClr val="bg1"/>
                  </a:solidFill>
                  <a:latin typeface="+mj-ea"/>
                  <a:ea typeface="+mj-ea"/>
                </a:rPr>
                <a:t>E</a:t>
              </a:r>
            </a:p>
          </p:txBody>
        </p:sp>
        <p:sp>
          <p:nvSpPr>
            <p:cNvPr id="14" name="Line 45"/>
            <p:cNvSpPr>
              <a:spLocks noChangeShapeType="1"/>
            </p:cNvSpPr>
            <p:nvPr/>
          </p:nvSpPr>
          <p:spPr bwMode="auto">
            <a:xfrm flipH="1">
              <a:off x="8739188" y="3505200"/>
              <a:ext cx="228600" cy="45720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15" name="Line 46"/>
            <p:cNvSpPr>
              <a:spLocks noChangeShapeType="1"/>
            </p:cNvSpPr>
            <p:nvPr/>
          </p:nvSpPr>
          <p:spPr bwMode="auto">
            <a:xfrm>
              <a:off x="9272588" y="3505200"/>
              <a:ext cx="404812" cy="45720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16" name="Text Box 47"/>
            <p:cNvSpPr txBox="1">
              <a:spLocks noChangeArrowheads="1"/>
            </p:cNvSpPr>
            <p:nvPr/>
          </p:nvSpPr>
          <p:spPr bwMode="auto">
            <a:xfrm>
              <a:off x="8533460" y="3917480"/>
              <a:ext cx="415318" cy="389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b="1">
                  <a:solidFill>
                    <a:schemeClr val="bg1"/>
                  </a:solidFill>
                  <a:latin typeface="+mj-ea"/>
                  <a:ea typeface="+mj-ea"/>
                </a:rPr>
                <a:t>F</a:t>
              </a:r>
            </a:p>
          </p:txBody>
        </p:sp>
        <p:sp>
          <p:nvSpPr>
            <p:cNvPr id="17" name="Text Box 48"/>
            <p:cNvSpPr txBox="1">
              <a:spLocks noChangeArrowheads="1"/>
            </p:cNvSpPr>
            <p:nvPr/>
          </p:nvSpPr>
          <p:spPr bwMode="auto">
            <a:xfrm>
              <a:off x="9556220" y="3912412"/>
              <a:ext cx="483402" cy="389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b="1">
                  <a:solidFill>
                    <a:schemeClr val="bg1"/>
                  </a:solidFill>
                  <a:latin typeface="+mj-ea"/>
                  <a:ea typeface="+mj-ea"/>
                </a:rPr>
                <a:t>G</a:t>
              </a: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5429889" y="3620869"/>
            <a:ext cx="970911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3600" b="1" i="1" dirty="0">
                <a:solidFill>
                  <a:schemeClr val="bg1"/>
                </a:solidFill>
                <a:latin typeface="+mj-ea"/>
                <a:ea typeface="+mj-ea"/>
              </a:rPr>
              <a:t>VS</a:t>
            </a:r>
            <a:endParaRPr lang="zh-CN" altLang="en-US" sz="3600" b="1" i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 Box 36"/>
          <p:cNvSpPr txBox="1">
            <a:spLocks noChangeArrowheads="1"/>
          </p:cNvSpPr>
          <p:nvPr/>
        </p:nvSpPr>
        <p:spPr bwMode="auto">
          <a:xfrm>
            <a:off x="8506871" y="3429000"/>
            <a:ext cx="111440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b="1" dirty="0">
                <a:solidFill>
                  <a:schemeClr val="bg1"/>
                </a:solidFill>
                <a:latin typeface="+mj-ea"/>
                <a:ea typeface="+mj-ea"/>
              </a:rPr>
              <a:t>全局环境</a:t>
            </a:r>
            <a:endParaRPr kumimoji="1" lang="en-US" altLang="zh-CN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Line 37"/>
          <p:cNvSpPr>
            <a:spLocks noChangeShapeType="1"/>
          </p:cNvSpPr>
          <p:nvPr/>
        </p:nvSpPr>
        <p:spPr bwMode="auto">
          <a:xfrm flipH="1">
            <a:off x="8520138" y="3790505"/>
            <a:ext cx="401871" cy="433807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Line 38"/>
          <p:cNvSpPr>
            <a:spLocks noChangeShapeType="1"/>
          </p:cNvSpPr>
          <p:nvPr/>
        </p:nvSpPr>
        <p:spPr bwMode="auto">
          <a:xfrm>
            <a:off x="9151649" y="3790505"/>
            <a:ext cx="401871" cy="433807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3" name="Text Box 39"/>
          <p:cNvSpPr txBox="1">
            <a:spLocks noChangeArrowheads="1"/>
          </p:cNvSpPr>
          <p:nvPr/>
        </p:nvSpPr>
        <p:spPr bwMode="auto">
          <a:xfrm>
            <a:off x="8290497" y="4198719"/>
            <a:ext cx="35137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b="1" dirty="0">
                <a:solidFill>
                  <a:schemeClr val="bg1"/>
                </a:solidFill>
                <a:latin typeface="+mj-ea"/>
                <a:ea typeface="+mj-ea"/>
              </a:rPr>
              <a:t>C</a:t>
            </a:r>
          </a:p>
        </p:txBody>
      </p:sp>
      <p:sp>
        <p:nvSpPr>
          <p:cNvPr id="24" name="Line 40"/>
          <p:cNvSpPr>
            <a:spLocks noChangeShapeType="1"/>
          </p:cNvSpPr>
          <p:nvPr/>
        </p:nvSpPr>
        <p:spPr bwMode="auto">
          <a:xfrm flipH="1">
            <a:off x="7973471" y="3742578"/>
            <a:ext cx="680411" cy="439641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5" name="Text Box 41"/>
          <p:cNvSpPr txBox="1">
            <a:spLocks noChangeArrowheads="1"/>
          </p:cNvSpPr>
          <p:nvPr/>
        </p:nvSpPr>
        <p:spPr bwMode="auto">
          <a:xfrm>
            <a:off x="7754785" y="4202959"/>
            <a:ext cx="33855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b="1" dirty="0">
                <a:solidFill>
                  <a:schemeClr val="bg1"/>
                </a:solidFill>
                <a:latin typeface="+mj-ea"/>
                <a:ea typeface="+mj-ea"/>
              </a:rPr>
              <a:t>B</a:t>
            </a:r>
          </a:p>
        </p:txBody>
      </p:sp>
      <p:sp>
        <p:nvSpPr>
          <p:cNvPr id="26" name="Line 42"/>
          <p:cNvSpPr>
            <a:spLocks noChangeShapeType="1"/>
          </p:cNvSpPr>
          <p:nvPr/>
        </p:nvSpPr>
        <p:spPr bwMode="auto">
          <a:xfrm>
            <a:off x="9021185" y="3798332"/>
            <a:ext cx="0" cy="433807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7" name="Text Box 43"/>
          <p:cNvSpPr txBox="1">
            <a:spLocks noChangeArrowheads="1"/>
          </p:cNvSpPr>
          <p:nvPr/>
        </p:nvSpPr>
        <p:spPr bwMode="auto">
          <a:xfrm>
            <a:off x="8891722" y="4191002"/>
            <a:ext cx="36740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b="1" dirty="0">
                <a:solidFill>
                  <a:schemeClr val="bg1"/>
                </a:solidFill>
                <a:latin typeface="+mj-ea"/>
                <a:ea typeface="+mj-ea"/>
              </a:rPr>
              <a:t>D</a:t>
            </a:r>
          </a:p>
        </p:txBody>
      </p:sp>
      <p:sp>
        <p:nvSpPr>
          <p:cNvPr id="28" name="Text Box 44"/>
          <p:cNvSpPr txBox="1">
            <a:spLocks noChangeArrowheads="1"/>
          </p:cNvSpPr>
          <p:nvPr/>
        </p:nvSpPr>
        <p:spPr bwMode="auto">
          <a:xfrm>
            <a:off x="9421271" y="4191002"/>
            <a:ext cx="3161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b="1">
                <a:solidFill>
                  <a:schemeClr val="bg1"/>
                </a:solidFill>
                <a:latin typeface="+mj-ea"/>
                <a:ea typeface="+mj-ea"/>
              </a:rPr>
              <a:t>E</a:t>
            </a:r>
          </a:p>
        </p:txBody>
      </p:sp>
      <p:sp>
        <p:nvSpPr>
          <p:cNvPr id="29" name="Line 45"/>
          <p:cNvSpPr>
            <a:spLocks noChangeShapeType="1"/>
          </p:cNvSpPr>
          <p:nvPr/>
        </p:nvSpPr>
        <p:spPr bwMode="auto">
          <a:xfrm>
            <a:off x="9368047" y="3787030"/>
            <a:ext cx="569991" cy="372807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0" name="Line 46"/>
          <p:cNvSpPr>
            <a:spLocks noChangeShapeType="1"/>
          </p:cNvSpPr>
          <p:nvPr/>
        </p:nvSpPr>
        <p:spPr bwMode="auto">
          <a:xfrm>
            <a:off x="9536167" y="3736236"/>
            <a:ext cx="946444" cy="44598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1" name="Text Box 47"/>
          <p:cNvSpPr txBox="1">
            <a:spLocks noChangeArrowheads="1"/>
          </p:cNvSpPr>
          <p:nvPr/>
        </p:nvSpPr>
        <p:spPr bwMode="auto">
          <a:xfrm>
            <a:off x="9909120" y="4191001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b="1" dirty="0">
                <a:solidFill>
                  <a:schemeClr val="bg1"/>
                </a:solidFill>
                <a:latin typeface="+mj-ea"/>
                <a:ea typeface="+mj-ea"/>
              </a:rPr>
              <a:t>F</a:t>
            </a:r>
          </a:p>
        </p:txBody>
      </p:sp>
      <p:sp>
        <p:nvSpPr>
          <p:cNvPr id="32" name="Text Box 48"/>
          <p:cNvSpPr txBox="1">
            <a:spLocks noChangeArrowheads="1"/>
          </p:cNvSpPr>
          <p:nvPr/>
        </p:nvSpPr>
        <p:spPr bwMode="auto">
          <a:xfrm>
            <a:off x="10411871" y="4191000"/>
            <a:ext cx="36420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b="1" dirty="0">
                <a:solidFill>
                  <a:schemeClr val="bg1"/>
                </a:solidFill>
                <a:latin typeface="+mj-ea"/>
                <a:ea typeface="+mj-ea"/>
              </a:rPr>
              <a:t>G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7315269" y="2514600"/>
            <a:ext cx="3428999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不支持函数嵌套定义</a:t>
            </a:r>
          </a:p>
        </p:txBody>
      </p:sp>
      <p:sp>
        <p:nvSpPr>
          <p:cNvPr id="34" name="Line 37"/>
          <p:cNvSpPr>
            <a:spLocks noChangeShapeType="1"/>
          </p:cNvSpPr>
          <p:nvPr/>
        </p:nvSpPr>
        <p:spPr bwMode="auto">
          <a:xfrm flipH="1">
            <a:off x="7456779" y="3703414"/>
            <a:ext cx="960497" cy="478806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Text Box 39"/>
          <p:cNvSpPr txBox="1">
            <a:spLocks noChangeArrowheads="1"/>
          </p:cNvSpPr>
          <p:nvPr/>
        </p:nvSpPr>
        <p:spPr bwMode="auto">
          <a:xfrm>
            <a:off x="7239000" y="4202959"/>
            <a:ext cx="36338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b="1" dirty="0">
                <a:solidFill>
                  <a:schemeClr val="bg1"/>
                </a:solidFill>
                <a:latin typeface="+mj-ea"/>
                <a:ea typeface="+mj-ea"/>
              </a:rPr>
              <a:t>A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1219200" y="2514600"/>
            <a:ext cx="3428999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支持函数嵌套定义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7391400" y="4964160"/>
            <a:ext cx="3563785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2400" b="1" i="1" dirty="0">
                <a:solidFill>
                  <a:schemeClr val="bg1"/>
                </a:solidFill>
                <a:latin typeface="+mj-ea"/>
                <a:ea typeface="+mj-ea"/>
              </a:rPr>
              <a:t>不需要维护静态链</a:t>
            </a:r>
          </a:p>
        </p:txBody>
      </p:sp>
    </p:spTree>
    <p:extLst>
      <p:ext uri="{BB962C8B-B14F-4D97-AF65-F5344CB8AC3E}">
        <p14:creationId xmlns:p14="http://schemas.microsoft.com/office/powerpoint/2010/main" val="145117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9802</TotalTime>
  <Words>1959</Words>
  <Application>Microsoft Office PowerPoint</Application>
  <PresentationFormat>宽屏</PresentationFormat>
  <Paragraphs>319</Paragraphs>
  <Slides>32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36" baseType="lpstr">
      <vt:lpstr>微软雅黑</vt:lpstr>
      <vt:lpstr>Arial</vt:lpstr>
      <vt:lpstr>Wingdings</vt:lpstr>
      <vt:lpstr>环保</vt:lpstr>
      <vt:lpstr>第十章 目标代码生成</vt:lpstr>
      <vt:lpstr>存储空间分配</vt:lpstr>
      <vt:lpstr>存储空间分配</vt:lpstr>
      <vt:lpstr>程序的存储空间</vt:lpstr>
      <vt:lpstr>动态数据空间</vt:lpstr>
      <vt:lpstr>程序的存储空间</vt:lpstr>
      <vt:lpstr>存储空间分配</vt:lpstr>
      <vt:lpstr>活动记录</vt:lpstr>
      <vt:lpstr>栈式分配</vt:lpstr>
      <vt:lpstr>栈式分配实例</vt:lpstr>
      <vt:lpstr>活动记录的内容</vt:lpstr>
      <vt:lpstr>动态连接与动态链</vt:lpstr>
      <vt:lpstr>动态连接实例</vt:lpstr>
      <vt:lpstr>call L 语句的翻译</vt:lpstr>
      <vt:lpstr>end 语句的翻译</vt:lpstr>
      <vt:lpstr>存储空间分配</vt:lpstr>
      <vt:lpstr>参数传递</vt:lpstr>
      <vt:lpstr>参数传递</vt:lpstr>
      <vt:lpstr>参数传递的类型</vt:lpstr>
      <vt:lpstr>传值</vt:lpstr>
      <vt:lpstr>传地址</vt:lpstr>
      <vt:lpstr>存储空间分配</vt:lpstr>
      <vt:lpstr>非局部变量</vt:lpstr>
      <vt:lpstr>变量的作用域规则</vt:lpstr>
      <vt:lpstr>变量的作用域规则</vt:lpstr>
      <vt:lpstr>动态链与静态链实例</vt:lpstr>
      <vt:lpstr>静态链的建立</vt:lpstr>
      <vt:lpstr>静态链的建立</vt:lpstr>
      <vt:lpstr>静态链的建立</vt:lpstr>
      <vt:lpstr>静态链的建立</vt:lpstr>
      <vt:lpstr>call L 语句的翻译</vt:lpstr>
      <vt:lpstr>注意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TEST</dc:creator>
  <cp:lastModifiedBy>TEST</cp:lastModifiedBy>
  <cp:revision>1502</cp:revision>
  <cp:lastPrinted>1601-01-01T00:00:00Z</cp:lastPrinted>
  <dcterms:created xsi:type="dcterms:W3CDTF">1601-01-01T00:00:00Z</dcterms:created>
  <dcterms:modified xsi:type="dcterms:W3CDTF">2020-06-03T05:16:10Z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