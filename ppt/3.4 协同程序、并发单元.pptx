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11"/>
  </p:notesMasterIdLst>
  <p:handoutMasterIdLst>
    <p:handoutMasterId r:id="rId12"/>
  </p:handoutMasterIdLst>
  <p:sldIdLst>
    <p:sldId id="385" r:id="rId2"/>
    <p:sldId id="309" r:id="rId3"/>
    <p:sldId id="312" r:id="rId4"/>
    <p:sldId id="314" r:id="rId5"/>
    <p:sldId id="386" r:id="rId6"/>
    <p:sldId id="315" r:id="rId7"/>
    <p:sldId id="316" r:id="rId8"/>
    <p:sldId id="318" r:id="rId9"/>
    <p:sldId id="319" r:id="rId10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89127" autoAdjust="0"/>
  </p:normalViewPr>
  <p:slideViewPr>
    <p:cSldViewPr>
      <p:cViewPr varScale="1">
        <p:scale>
          <a:sx n="85" d="100"/>
          <a:sy n="85" d="100"/>
        </p:scale>
        <p:origin x="60" y="1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dirty="0"/>
              <a:t>并行”是指无论从微观还是宏观，二者都是一起执行的，就好像两个人各拿一把铁锨在挖坑，一小时后，每人一个大坑。 </a:t>
            </a:r>
            <a:br>
              <a:rPr lang="zh-CN" altLang="en-US" dirty="0"/>
            </a:br>
            <a:r>
              <a:rPr lang="zh-CN" altLang="en-US" dirty="0"/>
              <a:t>而“并发”在微观上不是同时执行的，只是把时间分成若干段，使多个进程快速交替的执行，从宏观外来看，好像是这些进程都在执行，这就好像两个人用同一把铁锨，轮流挖坑，一小时后，两个人各挖一个小一点的坑，要想挖两个大一点得坑，一定会用两个小时。 </a:t>
            </a:r>
            <a:br>
              <a:rPr lang="zh-CN" altLang="en-US" dirty="0"/>
            </a:br>
            <a:r>
              <a:rPr lang="zh-CN" altLang="en-US" dirty="0"/>
              <a:t>从以上本质不难看出，“并发”执行，在多个进程存在资源冲突时，并没有从根本提高执行效率。</a:t>
            </a:r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A66CD3-148C-457F-8E84-B0F21077D47D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 hasCustomPrompt="1"/>
          </p:nvPr>
        </p:nvSpPr>
        <p:spPr>
          <a:xfrm>
            <a:off x="1295402" y="1474304"/>
            <a:ext cx="4754880" cy="4774096"/>
          </a:xfrm>
        </p:spPr>
        <p:txBody>
          <a:bodyPr/>
          <a:lstStyle/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0" hasCustomPrompt="1"/>
          </p:nvPr>
        </p:nvSpPr>
        <p:spPr>
          <a:xfrm>
            <a:off x="6141720" y="1474304"/>
            <a:ext cx="4754878" cy="4774096"/>
          </a:xfrm>
        </p:spPr>
        <p:txBody>
          <a:bodyPr/>
          <a:lstStyle/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95402" y="609600"/>
            <a:ext cx="9601196" cy="71230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396169" y="1394792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016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  <p:sldLayoutId id="2147484309" r:id="rId4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控制结构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711767" cy="2711612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语句级控制结构</a:t>
              </a:r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第二节 单元级控制结构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937078" y="1434884"/>
            <a:ext cx="2711610" cy="3988234"/>
          </a:xfrm>
          <a:prstGeom prst="wedgeRoundRectCallout">
            <a:avLst>
              <a:gd name="adj1" fmla="val -14656"/>
              <a:gd name="adj2" fmla="val 60284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显式调用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异常处理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协同程序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并发单元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290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73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多个程序单元</a:t>
            </a:r>
            <a:r>
              <a:rPr lang="zh-CN" altLang="en-US" dirty="0">
                <a:solidFill>
                  <a:srgbClr val="EE853E"/>
                </a:solidFill>
              </a:rPr>
              <a:t>交错</a:t>
            </a:r>
            <a:r>
              <a:rPr lang="zh-CN" altLang="en-US" dirty="0"/>
              <a:t>地执行</a:t>
            </a:r>
            <a:r>
              <a:rPr lang="en-US" altLang="zh-CN" dirty="0"/>
              <a:t> —— </a:t>
            </a:r>
            <a:r>
              <a:rPr lang="zh-CN" altLang="en-US" dirty="0">
                <a:solidFill>
                  <a:srgbClr val="EE853E"/>
                </a:solidFill>
              </a:rPr>
              <a:t>协同程序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设有单元 </a:t>
            </a:r>
            <a:r>
              <a:rPr lang="en-US" altLang="zh-CN" dirty="0"/>
              <a:t>C1 </a:t>
            </a:r>
            <a:r>
              <a:rPr lang="zh-CN" altLang="en-US" dirty="0"/>
              <a:t>和 </a:t>
            </a:r>
            <a:r>
              <a:rPr lang="en-US" altLang="zh-CN" dirty="0"/>
              <a:t>C2 </a:t>
            </a:r>
            <a:r>
              <a:rPr lang="zh-CN" altLang="en-US" dirty="0"/>
              <a:t>，由 </a:t>
            </a:r>
            <a:r>
              <a:rPr lang="en-US" altLang="zh-CN" dirty="0"/>
              <a:t>C1 </a:t>
            </a:r>
            <a:r>
              <a:rPr lang="zh-CN" altLang="en-US" dirty="0"/>
              <a:t>先开始执行，当执行到 </a:t>
            </a:r>
            <a:r>
              <a:rPr lang="en-US" altLang="zh-CN" dirty="0"/>
              <a:t>C1</a:t>
            </a:r>
            <a:r>
              <a:rPr lang="zh-CN" altLang="en-US" dirty="0"/>
              <a:t>的“ </a:t>
            </a:r>
            <a:r>
              <a:rPr lang="en-US" altLang="zh-CN" dirty="0">
                <a:solidFill>
                  <a:srgbClr val="EE853E"/>
                </a:solidFill>
              </a:rPr>
              <a:t>resume C2 </a:t>
            </a:r>
            <a:r>
              <a:rPr lang="en-US" altLang="zh-CN" dirty="0"/>
              <a:t>”</a:t>
            </a:r>
            <a:r>
              <a:rPr lang="zh-CN" altLang="en-US" dirty="0"/>
              <a:t>命令时，</a:t>
            </a:r>
          </a:p>
          <a:p>
            <a:r>
              <a:rPr lang="zh-CN" altLang="en-US" dirty="0"/>
              <a:t>显式激活 </a:t>
            </a:r>
            <a:r>
              <a:rPr lang="en-US" altLang="zh-CN" dirty="0"/>
              <a:t>C2</a:t>
            </a:r>
            <a:r>
              <a:rPr lang="zh-CN" altLang="en-US" dirty="0"/>
              <a:t>，暂停</a:t>
            </a:r>
            <a:r>
              <a:rPr lang="en-US" altLang="zh-CN" dirty="0"/>
              <a:t>C1</a:t>
            </a:r>
            <a:r>
              <a:rPr lang="zh-CN" altLang="en-US" dirty="0"/>
              <a:t>的执行，将控制转向 </a:t>
            </a:r>
            <a:r>
              <a:rPr lang="en-US" altLang="zh-CN" dirty="0"/>
              <a:t>C2</a:t>
            </a:r>
            <a:r>
              <a:rPr lang="zh-CN" altLang="en-US" dirty="0"/>
              <a:t>的执行点；</a:t>
            </a:r>
            <a:endParaRPr lang="en-US" altLang="zh-CN" dirty="0"/>
          </a:p>
          <a:p>
            <a:r>
              <a:rPr lang="zh-CN" altLang="en-US" dirty="0"/>
              <a:t>若 </a:t>
            </a:r>
            <a:r>
              <a:rPr lang="en-US" altLang="zh-CN" dirty="0"/>
              <a:t>C2</a:t>
            </a:r>
            <a:r>
              <a:rPr lang="zh-CN" altLang="en-US" dirty="0"/>
              <a:t>执行到某个“ </a:t>
            </a:r>
            <a:r>
              <a:rPr lang="en-US" altLang="zh-CN" dirty="0"/>
              <a:t>resume C1 ”</a:t>
            </a:r>
            <a:r>
              <a:rPr lang="zh-CN" altLang="en-US" dirty="0"/>
              <a:t>命令时，暂停</a:t>
            </a:r>
            <a:r>
              <a:rPr lang="en-US" altLang="zh-CN" dirty="0"/>
              <a:t>C2</a:t>
            </a:r>
            <a:r>
              <a:rPr lang="zh-CN" altLang="en-US" dirty="0"/>
              <a:t>的执行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恢复</a:t>
            </a:r>
            <a:r>
              <a:rPr lang="zh-CN" altLang="en-US" dirty="0"/>
              <a:t> </a:t>
            </a:r>
            <a:r>
              <a:rPr lang="en-US" altLang="zh-CN" dirty="0"/>
              <a:t>C1 </a:t>
            </a:r>
            <a:r>
              <a:rPr lang="zh-CN" altLang="en-US" dirty="0"/>
              <a:t>的执行（将控制转移到 </a:t>
            </a:r>
            <a:r>
              <a:rPr lang="en-US" altLang="zh-CN" dirty="0"/>
              <a:t>C1</a:t>
            </a:r>
            <a:r>
              <a:rPr lang="zh-CN" altLang="en-US" dirty="0"/>
              <a:t>的执行点，继续执行下去）</a:t>
            </a:r>
          </a:p>
          <a:p>
            <a:r>
              <a:rPr lang="en-US" altLang="zh-CN" dirty="0"/>
              <a:t>……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协同程序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301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7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C1</a:t>
            </a:r>
            <a:r>
              <a:rPr lang="zh-CN" altLang="en-US" dirty="0"/>
              <a:t>和 </a:t>
            </a:r>
            <a:r>
              <a:rPr lang="en-US" altLang="zh-CN" dirty="0"/>
              <a:t>C2</a:t>
            </a:r>
            <a:r>
              <a:rPr lang="zh-CN" altLang="en-US" dirty="0"/>
              <a:t>似乎在并行地执行</a:t>
            </a:r>
            <a:r>
              <a:rPr lang="en-US" altLang="zh-CN" dirty="0"/>
              <a:t> —— </a:t>
            </a:r>
            <a:r>
              <a:rPr lang="zh-CN" altLang="en-US" dirty="0">
                <a:solidFill>
                  <a:srgbClr val="EE853E"/>
                </a:solidFill>
              </a:rPr>
              <a:t>伪并行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实际上， </a:t>
            </a:r>
            <a:r>
              <a:rPr lang="en-US" altLang="zh-CN" dirty="0"/>
              <a:t>C1 </a:t>
            </a:r>
            <a:r>
              <a:rPr lang="zh-CN" altLang="en-US" dirty="0"/>
              <a:t>和 </a:t>
            </a:r>
            <a:r>
              <a:rPr lang="en-US" altLang="zh-CN" dirty="0"/>
              <a:t>C1</a:t>
            </a:r>
            <a:r>
              <a:rPr lang="zh-CN" altLang="en-US" dirty="0"/>
              <a:t>是在</a:t>
            </a:r>
            <a:r>
              <a:rPr lang="zh-CN" altLang="en-US" dirty="0">
                <a:solidFill>
                  <a:srgbClr val="EE853E"/>
                </a:solidFill>
              </a:rPr>
              <a:t>交错</a:t>
            </a:r>
            <a:r>
              <a:rPr lang="zh-CN" altLang="en-US" dirty="0"/>
              <a:t>地执行，它是并行的一种低级形式。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常规的子程序</a:t>
            </a:r>
            <a:r>
              <a:rPr lang="zh-CN" altLang="en-US" dirty="0"/>
              <a:t>机制不能描述并行执行的程序单元。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CLU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>
                <a:solidFill>
                  <a:srgbClr val="EE853E"/>
                </a:solidFill>
              </a:rPr>
              <a:t>SIMULA67</a:t>
            </a:r>
            <a:r>
              <a:rPr lang="en-US" altLang="zh-CN" dirty="0"/>
              <a:t> </a:t>
            </a:r>
            <a:r>
              <a:rPr lang="zh-CN" altLang="en-US" dirty="0"/>
              <a:t>等语言设置了描述这种交错执行过程的机制。</a:t>
            </a:r>
          </a:p>
          <a:p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181AA4D3-177A-4941-BB1D-8C54573A8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协同程序</a:t>
            </a:r>
          </a:p>
        </p:txBody>
      </p:sp>
    </p:spTree>
    <p:extLst>
      <p:ext uri="{BB962C8B-B14F-4D97-AF65-F5344CB8AC3E}">
        <p14:creationId xmlns:p14="http://schemas.microsoft.com/office/powerpoint/2010/main" val="354381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协同程序</a:t>
            </a: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3810000" y="1752600"/>
            <a:ext cx="1547813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GB" sz="2800" b="1" dirty="0">
                <a:solidFill>
                  <a:schemeClr val="bg1"/>
                </a:solidFill>
                <a:latin typeface="+mj-ea"/>
                <a:ea typeface="+mj-ea"/>
              </a:rPr>
              <a:t>协同程序 </a:t>
            </a:r>
            <a:r>
              <a:rPr lang="en-GB" altLang="zh-CN" sz="2800" b="1" dirty="0">
                <a:solidFill>
                  <a:schemeClr val="bg1"/>
                </a:solidFill>
                <a:latin typeface="+mj-ea"/>
                <a:ea typeface="+mj-ea"/>
              </a:rPr>
              <a:t>C1</a:t>
            </a:r>
            <a:endParaRPr lang="en-US" altLang="zh-CN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Line 5"/>
          <p:cNvSpPr>
            <a:spLocks noChangeShapeType="1"/>
          </p:cNvSpPr>
          <p:nvPr/>
        </p:nvSpPr>
        <p:spPr bwMode="auto">
          <a:xfrm>
            <a:off x="4583906" y="2260600"/>
            <a:ext cx="0" cy="64928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Rectangle 6"/>
          <p:cNvSpPr>
            <a:spLocks noChangeArrowheads="1"/>
          </p:cNvSpPr>
          <p:nvPr/>
        </p:nvSpPr>
        <p:spPr bwMode="auto">
          <a:xfrm>
            <a:off x="3863975" y="2836863"/>
            <a:ext cx="1439863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resume C2</a:t>
            </a:r>
          </a:p>
        </p:txBody>
      </p:sp>
      <p:sp>
        <p:nvSpPr>
          <p:cNvPr id="25" name="Line 7"/>
          <p:cNvSpPr>
            <a:spLocks noChangeShapeType="1"/>
          </p:cNvSpPr>
          <p:nvPr/>
        </p:nvSpPr>
        <p:spPr bwMode="auto">
          <a:xfrm>
            <a:off x="7443787" y="2403475"/>
            <a:ext cx="0" cy="108108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Line 8"/>
          <p:cNvSpPr>
            <a:spLocks noChangeShapeType="1"/>
          </p:cNvSpPr>
          <p:nvPr/>
        </p:nvSpPr>
        <p:spPr bwMode="auto">
          <a:xfrm flipV="1">
            <a:off x="5321300" y="2332038"/>
            <a:ext cx="2016125" cy="7207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7" name="Rectangle 9"/>
          <p:cNvSpPr>
            <a:spLocks noChangeArrowheads="1"/>
          </p:cNvSpPr>
          <p:nvPr/>
        </p:nvSpPr>
        <p:spPr bwMode="auto">
          <a:xfrm>
            <a:off x="6723856" y="3340100"/>
            <a:ext cx="1439862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resume C1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 flipH="1" flipV="1">
            <a:off x="4673598" y="3260837"/>
            <a:ext cx="2016126" cy="295162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Line 11"/>
          <p:cNvSpPr>
            <a:spLocks noChangeShapeType="1"/>
          </p:cNvSpPr>
          <p:nvPr/>
        </p:nvSpPr>
        <p:spPr bwMode="auto">
          <a:xfrm>
            <a:off x="4581720" y="3390900"/>
            <a:ext cx="4372" cy="812006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Rectangle 12"/>
          <p:cNvSpPr>
            <a:spLocks noChangeArrowheads="1"/>
          </p:cNvSpPr>
          <p:nvPr/>
        </p:nvSpPr>
        <p:spPr bwMode="auto">
          <a:xfrm>
            <a:off x="3863975" y="4132263"/>
            <a:ext cx="1439862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resume C2</a:t>
            </a:r>
          </a:p>
        </p:txBody>
      </p:sp>
      <p:sp>
        <p:nvSpPr>
          <p:cNvPr id="31" name="Line 13"/>
          <p:cNvSpPr>
            <a:spLocks noChangeShapeType="1"/>
          </p:cNvSpPr>
          <p:nvPr/>
        </p:nvSpPr>
        <p:spPr bwMode="auto">
          <a:xfrm flipV="1">
            <a:off x="5249863" y="3700463"/>
            <a:ext cx="2087562" cy="6477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7443787" y="3771900"/>
            <a:ext cx="0" cy="11525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Rectangle 15"/>
          <p:cNvSpPr>
            <a:spLocks noChangeArrowheads="1"/>
          </p:cNvSpPr>
          <p:nvPr/>
        </p:nvSpPr>
        <p:spPr bwMode="auto">
          <a:xfrm>
            <a:off x="6723856" y="4818063"/>
            <a:ext cx="1439862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resume C1</a:t>
            </a:r>
          </a:p>
        </p:txBody>
      </p:sp>
      <p:sp>
        <p:nvSpPr>
          <p:cNvPr id="34" name="Line 16"/>
          <p:cNvSpPr>
            <a:spLocks noChangeShapeType="1"/>
          </p:cNvSpPr>
          <p:nvPr/>
        </p:nvSpPr>
        <p:spPr bwMode="auto">
          <a:xfrm flipH="1" flipV="1">
            <a:off x="4648199" y="4527549"/>
            <a:ext cx="2041525" cy="54133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4583906" y="4686300"/>
            <a:ext cx="0" cy="6477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" name="Rectangle 18"/>
          <p:cNvSpPr>
            <a:spLocks noChangeArrowheads="1"/>
          </p:cNvSpPr>
          <p:nvPr/>
        </p:nvSpPr>
        <p:spPr bwMode="auto">
          <a:xfrm>
            <a:off x="3863975" y="5321300"/>
            <a:ext cx="1439863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GB" altLang="zh-CN" sz="2000" b="1">
                <a:solidFill>
                  <a:schemeClr val="bg1"/>
                </a:solidFill>
                <a:latin typeface="+mj-ea"/>
                <a:ea typeface="+mj-ea"/>
              </a:rPr>
              <a:t>…</a:t>
            </a:r>
            <a:endParaRPr kumimoji="1" lang="en-US" altLang="zh-CN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7" name="Rectangle 19"/>
          <p:cNvSpPr>
            <a:spLocks noChangeArrowheads="1"/>
          </p:cNvSpPr>
          <p:nvPr/>
        </p:nvSpPr>
        <p:spPr bwMode="auto">
          <a:xfrm>
            <a:off x="6723856" y="5334000"/>
            <a:ext cx="1439862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…</a:t>
            </a:r>
          </a:p>
        </p:txBody>
      </p:sp>
      <p:sp>
        <p:nvSpPr>
          <p:cNvPr id="38" name="Rectangle 20"/>
          <p:cNvSpPr>
            <a:spLocks noChangeArrowheads="1"/>
          </p:cNvSpPr>
          <p:nvPr/>
        </p:nvSpPr>
        <p:spPr bwMode="auto">
          <a:xfrm>
            <a:off x="6669881" y="1752600"/>
            <a:ext cx="1547812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GB" sz="2800" b="1" dirty="0">
                <a:solidFill>
                  <a:schemeClr val="bg1"/>
                </a:solidFill>
                <a:latin typeface="+mj-ea"/>
                <a:ea typeface="+mj-ea"/>
              </a:rPr>
              <a:t>协同程序 </a:t>
            </a:r>
            <a:r>
              <a:rPr lang="en-GB" altLang="zh-CN" sz="2800" b="1" dirty="0">
                <a:solidFill>
                  <a:schemeClr val="bg1"/>
                </a:solidFill>
                <a:latin typeface="+mj-ea"/>
                <a:ea typeface="+mj-ea"/>
              </a:rPr>
              <a:t>C2</a:t>
            </a:r>
            <a:endParaRPr lang="en-US" altLang="zh-CN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85885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7" grpId="0"/>
      <p:bldP spid="30" grpId="0"/>
      <p:bldP spid="33" grpId="0"/>
      <p:bldP spid="36" grpId="0"/>
      <p:bldP spid="37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控制结构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711767" cy="2711612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语句级控制结构</a:t>
              </a:r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第二节 单元级控制结构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6937078" y="1434884"/>
            <a:ext cx="2711610" cy="3988234"/>
          </a:xfrm>
          <a:prstGeom prst="wedgeRoundRectCallout">
            <a:avLst>
              <a:gd name="adj1" fmla="val -14656"/>
              <a:gd name="adj2" fmla="val 60284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显式调用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异常处理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协同程序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并发单元</a:t>
            </a:r>
          </a:p>
        </p:txBody>
      </p:sp>
    </p:spTree>
    <p:extLst>
      <p:ext uri="{BB962C8B-B14F-4D97-AF65-F5344CB8AC3E}">
        <p14:creationId xmlns:p14="http://schemas.microsoft.com/office/powerpoint/2010/main" val="244799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89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诸进程的执行概念上是</a:t>
            </a:r>
            <a:r>
              <a:rPr lang="zh-CN" altLang="en-US" dirty="0">
                <a:solidFill>
                  <a:srgbClr val="EE853E"/>
                </a:solidFill>
              </a:rPr>
              <a:t>可重叠</a:t>
            </a:r>
            <a:r>
              <a:rPr lang="zh-CN" altLang="en-US" dirty="0"/>
              <a:t>的，即正在执行的进程尚未终止，另一个进程可能开始执行，诸程序单元“并行”活动。例如“</a:t>
            </a:r>
            <a:r>
              <a:rPr lang="zh-CN" altLang="en-US" dirty="0">
                <a:solidFill>
                  <a:srgbClr val="EE853E"/>
                </a:solidFill>
              </a:rPr>
              <a:t>生产者</a:t>
            </a:r>
            <a:r>
              <a:rPr lang="en-US" altLang="zh-CN" dirty="0">
                <a:solidFill>
                  <a:srgbClr val="EE853E"/>
                </a:solidFill>
              </a:rPr>
              <a:t>-</a:t>
            </a:r>
            <a:r>
              <a:rPr lang="zh-CN" altLang="en-US" dirty="0">
                <a:solidFill>
                  <a:srgbClr val="EE853E"/>
                </a:solidFill>
              </a:rPr>
              <a:t>消费者</a:t>
            </a:r>
            <a:r>
              <a:rPr lang="zh-CN" altLang="en-US" dirty="0"/>
              <a:t>”问题：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单元</a:t>
            </a:r>
            <a:r>
              <a:rPr lang="en-US" altLang="zh-CN" dirty="0">
                <a:solidFill>
                  <a:srgbClr val="EE853E"/>
                </a:solidFill>
              </a:rPr>
              <a:t>producer</a:t>
            </a:r>
          </a:p>
          <a:p>
            <a:r>
              <a:rPr lang="en-US" altLang="zh-CN" dirty="0"/>
              <a:t>repeat  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生产一个元素；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存放该元素到缓冲区；</a:t>
            </a:r>
            <a:endParaRPr lang="en-US" altLang="zh-CN" dirty="0"/>
          </a:p>
          <a:p>
            <a:r>
              <a:rPr lang="en-US" altLang="zh-CN" dirty="0"/>
              <a:t>forever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并发单元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4294967295"/>
          </p:nvPr>
        </p:nvSpPr>
        <p:spPr>
          <a:xfrm>
            <a:off x="5334000" y="2514600"/>
            <a:ext cx="4191000" cy="294481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单元</a:t>
            </a: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consumer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repeat 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从缓冲区移出一项；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对该项执行某个运算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forever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58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正确访问缓冲区：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不</a:t>
            </a:r>
            <a:r>
              <a:rPr lang="zh-CN" altLang="en-US" dirty="0"/>
              <a:t>会向已</a:t>
            </a:r>
            <a:r>
              <a:rPr lang="zh-CN" altLang="en-US" dirty="0">
                <a:solidFill>
                  <a:srgbClr val="EE853E"/>
                </a:solidFill>
              </a:rPr>
              <a:t>满</a:t>
            </a:r>
            <a:r>
              <a:rPr lang="zh-CN" altLang="en-US" dirty="0"/>
              <a:t>的缓冲区</a:t>
            </a:r>
            <a:r>
              <a:rPr lang="zh-CN" altLang="en-US" dirty="0">
                <a:solidFill>
                  <a:srgbClr val="EE853E"/>
                </a:solidFill>
              </a:rPr>
              <a:t>写</a:t>
            </a:r>
            <a:r>
              <a:rPr lang="zh-CN" altLang="en-US" dirty="0"/>
              <a:t>数据；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不</a:t>
            </a:r>
            <a:r>
              <a:rPr lang="zh-CN" altLang="en-US" dirty="0"/>
              <a:t>会从</a:t>
            </a:r>
            <a:r>
              <a:rPr lang="zh-CN" altLang="en-US" dirty="0">
                <a:solidFill>
                  <a:srgbClr val="EE853E"/>
                </a:solidFill>
              </a:rPr>
              <a:t>空</a:t>
            </a:r>
            <a:r>
              <a:rPr lang="zh-CN" altLang="en-US" dirty="0"/>
              <a:t>缓冲区</a:t>
            </a:r>
            <a:r>
              <a:rPr lang="zh-CN" altLang="en-US" dirty="0">
                <a:solidFill>
                  <a:srgbClr val="EE853E"/>
                </a:solidFill>
              </a:rPr>
              <a:t>读</a:t>
            </a:r>
            <a:r>
              <a:rPr lang="zh-CN" altLang="en-US" dirty="0"/>
              <a:t>数据。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090CE45-C2F8-4716-BA09-C973E1E00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同步问题</a:t>
            </a:r>
          </a:p>
        </p:txBody>
      </p:sp>
    </p:spTree>
    <p:extLst>
      <p:ext uri="{BB962C8B-B14F-4D97-AF65-F5344CB8AC3E}">
        <p14:creationId xmlns:p14="http://schemas.microsoft.com/office/powerpoint/2010/main" val="232067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94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EE853E"/>
                </a:solidFill>
              </a:rPr>
              <a:t>append</a:t>
            </a:r>
            <a:r>
              <a:rPr lang="zh-CN" altLang="en-US" dirty="0"/>
              <a:t>是生产者向缓冲区存数的操作，</a:t>
            </a:r>
            <a:r>
              <a:rPr lang="en-US" altLang="zh-CN" dirty="0">
                <a:solidFill>
                  <a:srgbClr val="EE853E"/>
                </a:solidFill>
              </a:rPr>
              <a:t>remove</a:t>
            </a:r>
            <a:r>
              <a:rPr lang="zh-CN" altLang="en-US" dirty="0"/>
              <a:t>是消费者从缓冲区取数的操作，设 </a:t>
            </a:r>
            <a:r>
              <a:rPr lang="en-US" altLang="zh-CN" dirty="0">
                <a:solidFill>
                  <a:srgbClr val="EE853E"/>
                </a:solidFill>
              </a:rPr>
              <a:t>t </a:t>
            </a:r>
            <a:r>
              <a:rPr lang="zh-CN" altLang="en-US" dirty="0"/>
              <a:t>表示所存项目总数，这两个操作都要修改</a:t>
            </a:r>
            <a:r>
              <a:rPr lang="en-US" altLang="zh-CN" dirty="0"/>
              <a:t>t</a:t>
            </a:r>
            <a:r>
              <a:rPr lang="zh-CN" altLang="en-US" dirty="0"/>
              <a:t>的值，相应执行下列两个操作来实现：</a:t>
            </a:r>
            <a:endParaRPr lang="en-US" altLang="zh-CN" dirty="0"/>
          </a:p>
          <a:p>
            <a:r>
              <a:rPr lang="en-US" altLang="zh-CN" dirty="0"/>
              <a:t>(1) </a:t>
            </a:r>
            <a:r>
              <a:rPr lang="en-US" altLang="zh-CN" dirty="0">
                <a:solidFill>
                  <a:srgbClr val="EE853E"/>
                </a:solidFill>
              </a:rPr>
              <a:t>t:=t+1</a:t>
            </a:r>
          </a:p>
          <a:p>
            <a:r>
              <a:rPr lang="en-US" altLang="zh-CN" dirty="0"/>
              <a:t>(2) </a:t>
            </a:r>
            <a:r>
              <a:rPr lang="en-US" altLang="zh-CN" dirty="0">
                <a:solidFill>
                  <a:srgbClr val="EE853E"/>
                </a:solidFill>
              </a:rPr>
              <a:t>t:=t-1</a:t>
            </a:r>
          </a:p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互斥问题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710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假定</a:t>
            </a:r>
            <a:r>
              <a:rPr lang="en-US" altLang="zh-CN" dirty="0"/>
              <a:t>(1)</a:t>
            </a:r>
            <a:r>
              <a:rPr lang="zh-CN" altLang="en-US" dirty="0"/>
              <a:t>和</a:t>
            </a:r>
            <a:r>
              <a:rPr lang="en-US" altLang="zh-CN" dirty="0"/>
              <a:t>(2)</a:t>
            </a:r>
            <a:r>
              <a:rPr lang="zh-CN" altLang="en-US" dirty="0"/>
              <a:t>是这样实现的：</a:t>
            </a:r>
            <a:endParaRPr lang="en-US" altLang="zh-CN" dirty="0"/>
          </a:p>
          <a:p>
            <a:r>
              <a:rPr lang="zh-CN" altLang="en-US" dirty="0"/>
              <a:t>读</a:t>
            </a:r>
            <a:r>
              <a:rPr lang="en-US" altLang="zh-CN" dirty="0"/>
              <a:t>t</a:t>
            </a:r>
            <a:r>
              <a:rPr lang="zh-CN" altLang="en-US" dirty="0"/>
              <a:t>到一个专用寄存器；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更新</a:t>
            </a:r>
            <a:r>
              <a:rPr lang="zh-CN" altLang="en-US" dirty="0"/>
              <a:t>专用寄存器的值；</a:t>
            </a:r>
            <a:endParaRPr lang="en-US" altLang="zh-CN" dirty="0"/>
          </a:p>
          <a:p>
            <a:r>
              <a:rPr lang="zh-CN" altLang="en-US" dirty="0"/>
              <a:t>将专用寄存器的值写到</a:t>
            </a:r>
            <a:r>
              <a:rPr lang="en-US" altLang="zh-CN" dirty="0"/>
              <a:t>t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执行</a:t>
            </a:r>
            <a:r>
              <a:rPr lang="en-US" altLang="zh-CN" dirty="0"/>
              <a:t>(1)</a:t>
            </a:r>
            <a:r>
              <a:rPr lang="zh-CN" altLang="en-US" dirty="0"/>
              <a:t>时不能执行</a:t>
            </a:r>
            <a:r>
              <a:rPr lang="en-US" altLang="zh-CN" dirty="0"/>
              <a:t>(2)</a:t>
            </a:r>
            <a:r>
              <a:rPr lang="zh-CN" altLang="en-US" dirty="0"/>
              <a:t>，反之亦然。</a:t>
            </a:r>
          </a:p>
          <a:p>
            <a:r>
              <a:rPr lang="zh-CN" altLang="en-US" dirty="0"/>
              <a:t>即</a:t>
            </a:r>
            <a:r>
              <a:rPr lang="en-US" altLang="zh-CN" dirty="0"/>
              <a:t>(1)</a:t>
            </a:r>
            <a:r>
              <a:rPr lang="zh-CN" altLang="en-US" dirty="0"/>
              <a:t>和</a:t>
            </a:r>
            <a:r>
              <a:rPr lang="en-US" altLang="zh-CN" dirty="0"/>
              <a:t>(2)</a:t>
            </a:r>
            <a:r>
              <a:rPr lang="zh-CN" altLang="en-US" dirty="0"/>
              <a:t>必须以</a:t>
            </a:r>
            <a:r>
              <a:rPr lang="zh-CN" altLang="en-US" dirty="0">
                <a:solidFill>
                  <a:srgbClr val="EE853E"/>
                </a:solidFill>
              </a:rPr>
              <a:t>互斥</a:t>
            </a:r>
            <a:r>
              <a:rPr lang="zh-CN" altLang="en-US" dirty="0"/>
              <a:t>的方式执行，</a:t>
            </a:r>
            <a:r>
              <a:rPr lang="en-US" altLang="zh-CN" dirty="0"/>
              <a:t>(1)</a:t>
            </a:r>
            <a:r>
              <a:rPr lang="zh-CN" altLang="en-US" dirty="0"/>
              <a:t>或</a:t>
            </a:r>
            <a:r>
              <a:rPr lang="en-US" altLang="zh-CN" dirty="0"/>
              <a:t>(2)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EE853E"/>
                </a:solidFill>
              </a:rPr>
              <a:t>不可分</a:t>
            </a:r>
            <a:r>
              <a:rPr lang="zh-CN" altLang="en-US" dirty="0"/>
              <a:t>的操作。   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互斥问题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761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5694</TotalTime>
  <Words>471</Words>
  <Application>Microsoft Office PowerPoint</Application>
  <PresentationFormat>宽屏</PresentationFormat>
  <Paragraphs>66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微软雅黑</vt:lpstr>
      <vt:lpstr>Arial</vt:lpstr>
      <vt:lpstr>Arial Black</vt:lpstr>
      <vt:lpstr>Wingdings</vt:lpstr>
      <vt:lpstr>环保</vt:lpstr>
      <vt:lpstr>第三章 控制结构</vt:lpstr>
      <vt:lpstr>协同程序</vt:lpstr>
      <vt:lpstr>协同程序</vt:lpstr>
      <vt:lpstr>协同程序</vt:lpstr>
      <vt:lpstr>第三章 控制结构</vt:lpstr>
      <vt:lpstr>并发单元</vt:lpstr>
      <vt:lpstr>同步问题</vt:lpstr>
      <vt:lpstr>互斥问题</vt:lpstr>
      <vt:lpstr>互斥问题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Shengji Yu</cp:lastModifiedBy>
  <cp:revision>1038</cp:revision>
  <cp:lastPrinted>1601-01-01T00:00:00Z</cp:lastPrinted>
  <dcterms:created xsi:type="dcterms:W3CDTF">1601-01-01T00:00:00Z</dcterms:created>
  <dcterms:modified xsi:type="dcterms:W3CDTF">2018-12-05T11:43:16Z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