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11"/>
  </p:notesMasterIdLst>
  <p:handoutMasterIdLst>
    <p:handoutMasterId r:id="rId12"/>
  </p:handoutMasterIdLst>
  <p:sldIdLst>
    <p:sldId id="371" r:id="rId2"/>
    <p:sldId id="257" r:id="rId3"/>
    <p:sldId id="259" r:id="rId4"/>
    <p:sldId id="260" r:id="rId5"/>
    <p:sldId id="261" r:id="rId6"/>
    <p:sldId id="262" r:id="rId7"/>
    <p:sldId id="258" r:id="rId8"/>
    <p:sldId id="372" r:id="rId9"/>
    <p:sldId id="269" r:id="rId10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3" autoAdjust="0"/>
    <p:restoredTop sz="89127" autoAdjust="0"/>
  </p:normalViewPr>
  <p:slideViewPr>
    <p:cSldViewPr>
      <p:cViewPr varScale="1">
        <p:scale>
          <a:sx n="57" d="100"/>
          <a:sy n="57" d="100"/>
        </p:scale>
        <p:origin x="294" y="3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070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91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第七章 语法分析</a:t>
            </a:r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</a:rPr>
                <a:t>第一节 语法分析概述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回溯分析法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</a:t>
              </a:r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节 递归下降分析法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</a:t>
              </a:r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节 预测分析法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B6323BE9-57D8-467F-9A2D-90902E82A543}"/>
              </a:ext>
            </a:extLst>
          </p:cNvPr>
          <p:cNvSpPr/>
          <p:nvPr/>
        </p:nvSpPr>
        <p:spPr>
          <a:xfrm>
            <a:off x="2983159" y="1981200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628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语法分析的任务</a:t>
            </a:r>
          </a:p>
          <a:p>
            <a:r>
              <a:rPr lang="zh-CN" altLang="en-US" dirty="0"/>
              <a:t>对源程序经过词法分析后转换成的符号串（即单词符号的序列）进行分析，根据语法规则，判断它是否是一个正确的句子。如果是，可以构造出一个体现句子结构的语法树；如果不是，可以输出相应的错误提示。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语法分析概述</a:t>
            </a:r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95D5A69-B259-4B1D-8DFC-DD0FE341E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3657600"/>
            <a:ext cx="7049560" cy="127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402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	</a:t>
            </a:r>
            <a:r>
              <a:rPr lang="zh-CN" altLang="en-US" dirty="0"/>
              <a:t>自上而下的语法分析</a:t>
            </a:r>
          </a:p>
          <a:p>
            <a:r>
              <a:rPr lang="zh-CN" altLang="en-US" dirty="0"/>
              <a:t>对给定的上下文无关文法</a:t>
            </a:r>
            <a:r>
              <a:rPr lang="en-US" altLang="zh-CN" dirty="0"/>
              <a:t>G(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T</a:t>
            </a:r>
            <a:r>
              <a:rPr lang="en-US" altLang="zh-CN" dirty="0" err="1"/>
              <a:t>,V</a:t>
            </a:r>
            <a:r>
              <a:rPr lang="en-US" altLang="zh-CN" baseline="-25000" dirty="0" err="1"/>
              <a:t>N</a:t>
            </a:r>
            <a:r>
              <a:rPr lang="en-US" altLang="zh-CN" dirty="0" err="1"/>
              <a:t>,S,P</a:t>
            </a:r>
            <a:r>
              <a:rPr lang="en-US" altLang="zh-CN" dirty="0"/>
              <a:t>)</a:t>
            </a:r>
            <a:r>
              <a:rPr lang="zh-CN" altLang="en-US" dirty="0"/>
              <a:t>及符号串</a:t>
            </a:r>
            <a:r>
              <a:rPr lang="en-US" altLang="zh-CN" dirty="0"/>
              <a:t>ω</a:t>
            </a:r>
            <a:r>
              <a:rPr lang="zh-CN" altLang="en-US" dirty="0"/>
              <a:t>（</a:t>
            </a:r>
            <a:r>
              <a:rPr lang="en-US" altLang="zh-CN" dirty="0" err="1"/>
              <a:t>ω</a:t>
            </a:r>
            <a:r>
              <a:rPr lang="en-US" altLang="en-US" dirty="0" err="1"/>
              <a:t>∈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T</a:t>
            </a:r>
            <a:r>
              <a:rPr lang="en-US" altLang="zh-CN" dirty="0"/>
              <a:t>*</a:t>
            </a:r>
            <a:r>
              <a:rPr lang="zh-CN" altLang="en-US" dirty="0"/>
              <a:t>），按照以下方法判断</a:t>
            </a:r>
            <a:r>
              <a:rPr lang="en-US" altLang="zh-CN" dirty="0"/>
              <a:t>ω</a:t>
            </a:r>
            <a:r>
              <a:rPr lang="zh-CN" altLang="en-US" dirty="0"/>
              <a:t>是否是文法</a:t>
            </a:r>
            <a:r>
              <a:rPr lang="en-US" altLang="zh-CN" dirty="0"/>
              <a:t>G</a:t>
            </a:r>
            <a:r>
              <a:rPr lang="zh-CN" altLang="en-US" dirty="0"/>
              <a:t>的一个合法句子：</a:t>
            </a:r>
          </a:p>
          <a:p>
            <a:r>
              <a:rPr lang="zh-CN" altLang="en-US" dirty="0"/>
              <a:t>从根结点</a:t>
            </a:r>
            <a:r>
              <a:rPr lang="en-US" altLang="zh-CN" dirty="0"/>
              <a:t>S</a:t>
            </a:r>
            <a:r>
              <a:rPr lang="zh-CN" altLang="en-US" dirty="0"/>
              <a:t>开始，根据最左推导，看能否向下构造一棵语法树，使得该语法树的边缘正好是</a:t>
            </a:r>
            <a:r>
              <a:rPr lang="en-US" altLang="zh-CN" dirty="0"/>
              <a:t>ω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语法分析的分类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2073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Grp="1" noChangeArrowheads="1"/>
          </p:cNvSpPr>
          <p:nvPr>
            <p:ph idx="1"/>
          </p:nvPr>
        </p:nvSpPr>
        <p:spPr>
          <a:xfrm>
            <a:off x="720000" y="900000"/>
            <a:ext cx="10751844" cy="5237998"/>
          </a:xfrm>
        </p:spPr>
        <p:txBody>
          <a:bodyPr/>
          <a:lstStyle/>
          <a:p>
            <a:r>
              <a:rPr lang="zh-CN" altLang="en-US" dirty="0"/>
              <a:t>文法</a:t>
            </a:r>
            <a:r>
              <a:rPr lang="en-US" altLang="zh-CN" dirty="0"/>
              <a:t>G(S)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		S → </a:t>
            </a:r>
            <a:r>
              <a:rPr lang="en-US" altLang="zh-CN" dirty="0" err="1"/>
              <a:t>xAy</a:t>
            </a:r>
            <a:endParaRPr lang="en-US" altLang="zh-CN" dirty="0"/>
          </a:p>
          <a:p>
            <a:r>
              <a:rPr lang="en-US" altLang="zh-CN" dirty="0"/>
              <a:t>		A → ab</a:t>
            </a:r>
          </a:p>
          <a:p>
            <a:r>
              <a:rPr lang="en-US" altLang="zh-CN" dirty="0"/>
              <a:t>		A → a</a:t>
            </a:r>
          </a:p>
          <a:p>
            <a:r>
              <a:rPr lang="zh-CN" altLang="en-US" dirty="0"/>
              <a:t>输入串 </a:t>
            </a:r>
            <a:r>
              <a:rPr lang="en-US" altLang="zh-CN" dirty="0" err="1"/>
              <a:t>xay</a:t>
            </a:r>
            <a:r>
              <a:rPr lang="en-US" altLang="zh-CN" dirty="0"/>
              <a:t> </a:t>
            </a:r>
            <a:r>
              <a:rPr lang="zh-CN" altLang="en-US" dirty="0"/>
              <a:t>的分析过程：</a:t>
            </a:r>
          </a:p>
          <a:p>
            <a:endParaRPr lang="zh-CN" altLang="en-US" dirty="0"/>
          </a:p>
        </p:txBody>
      </p:sp>
      <p:sp>
        <p:nvSpPr>
          <p:cNvPr id="54681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自上而下的语法分析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7956395" y="2286000"/>
            <a:ext cx="3706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S</a:t>
            </a:r>
          </a:p>
        </p:txBody>
      </p:sp>
      <p:sp>
        <p:nvSpPr>
          <p:cNvPr id="7" name="Text Box 19"/>
          <p:cNvSpPr txBox="1">
            <a:spLocks noChangeArrowheads="1"/>
          </p:cNvSpPr>
          <p:nvPr/>
        </p:nvSpPr>
        <p:spPr bwMode="auto">
          <a:xfrm>
            <a:off x="7010400" y="3521839"/>
            <a:ext cx="2233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x        A        y</a:t>
            </a:r>
          </a:p>
        </p:txBody>
      </p:sp>
      <p:sp>
        <p:nvSpPr>
          <p:cNvPr id="8" name="Line 20"/>
          <p:cNvSpPr>
            <a:spLocks noChangeShapeType="1"/>
          </p:cNvSpPr>
          <p:nvPr/>
        </p:nvSpPr>
        <p:spPr bwMode="auto">
          <a:xfrm flipH="1">
            <a:off x="7362670" y="2681754"/>
            <a:ext cx="609600" cy="838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Line 21"/>
          <p:cNvSpPr>
            <a:spLocks noChangeShapeType="1"/>
          </p:cNvSpPr>
          <p:nvPr/>
        </p:nvSpPr>
        <p:spPr bwMode="auto">
          <a:xfrm>
            <a:off x="8124670" y="2757954"/>
            <a:ext cx="0" cy="7620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Line 22"/>
          <p:cNvSpPr>
            <a:spLocks noChangeShapeType="1"/>
          </p:cNvSpPr>
          <p:nvPr/>
        </p:nvSpPr>
        <p:spPr bwMode="auto">
          <a:xfrm>
            <a:off x="8277070" y="2681754"/>
            <a:ext cx="609600" cy="838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 Box 23"/>
          <p:cNvSpPr txBox="1">
            <a:spLocks noChangeArrowheads="1"/>
          </p:cNvSpPr>
          <p:nvPr/>
        </p:nvSpPr>
        <p:spPr bwMode="auto">
          <a:xfrm>
            <a:off x="7945700" y="4360039"/>
            <a:ext cx="36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a</a:t>
            </a:r>
          </a:p>
        </p:txBody>
      </p:sp>
      <p:sp>
        <p:nvSpPr>
          <p:cNvPr id="12" name="Line 24"/>
          <p:cNvSpPr>
            <a:spLocks noChangeShapeType="1"/>
          </p:cNvSpPr>
          <p:nvPr/>
        </p:nvSpPr>
        <p:spPr bwMode="auto">
          <a:xfrm>
            <a:off x="8124670" y="4013964"/>
            <a:ext cx="0" cy="3810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1479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  <p:bldP spid="10" grpId="0" animBg="1"/>
      <p:bldP spid="11" grpId="0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文法</a:t>
            </a:r>
            <a:r>
              <a:rPr lang="en-US" altLang="zh-CN" dirty="0"/>
              <a:t>G(S)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		</a:t>
            </a:r>
            <a:r>
              <a:rPr lang="en-US" altLang="zh-CN" dirty="0" err="1"/>
              <a:t>S→Sa</a:t>
            </a:r>
            <a:endParaRPr lang="en-US" altLang="zh-CN" dirty="0"/>
          </a:p>
          <a:p>
            <a:r>
              <a:rPr lang="en-US" altLang="zh-CN" dirty="0"/>
              <a:t>		</a:t>
            </a:r>
            <a:r>
              <a:rPr lang="en-US" altLang="zh-CN" dirty="0" err="1"/>
              <a:t>S→b</a:t>
            </a:r>
            <a:r>
              <a:rPr lang="en-US" altLang="zh-CN" dirty="0"/>
              <a:t> </a:t>
            </a:r>
          </a:p>
          <a:p>
            <a:r>
              <a:rPr lang="zh-CN" altLang="en-US"/>
              <a:t>输入</a:t>
            </a:r>
            <a:r>
              <a:rPr lang="zh-CN" altLang="en-US" dirty="0"/>
              <a:t>串 </a:t>
            </a:r>
            <a:r>
              <a:rPr lang="en-US" altLang="zh-CN" dirty="0"/>
              <a:t>baa </a:t>
            </a:r>
            <a:r>
              <a:rPr lang="zh-CN" altLang="en-US" dirty="0"/>
              <a:t>的</a:t>
            </a:r>
            <a:r>
              <a:rPr lang="zh-CN" altLang="en-US"/>
              <a:t>分析过程：</a:t>
            </a:r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7A9260A9-C78D-4544-A520-AB8FB8080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自上而下的语法分析</a:t>
            </a:r>
          </a:p>
        </p:txBody>
      </p:sp>
      <p:sp>
        <p:nvSpPr>
          <p:cNvPr id="7" name="Text Box 18"/>
          <p:cNvSpPr txBox="1">
            <a:spLocks noChangeArrowheads="1"/>
          </p:cNvSpPr>
          <p:nvPr/>
        </p:nvSpPr>
        <p:spPr bwMode="auto">
          <a:xfrm>
            <a:off x="8215984" y="1752600"/>
            <a:ext cx="3706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S</a:t>
            </a:r>
          </a:p>
        </p:txBody>
      </p:sp>
      <p:sp>
        <p:nvSpPr>
          <p:cNvPr id="8" name="Text Box 19"/>
          <p:cNvSpPr txBox="1">
            <a:spLocks noChangeArrowheads="1"/>
          </p:cNvSpPr>
          <p:nvPr/>
        </p:nvSpPr>
        <p:spPr bwMode="auto">
          <a:xfrm>
            <a:off x="7241259" y="3027829"/>
            <a:ext cx="23599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S                   a</a:t>
            </a:r>
          </a:p>
        </p:txBody>
      </p:sp>
      <p:sp>
        <p:nvSpPr>
          <p:cNvPr id="9" name="Line 20"/>
          <p:cNvSpPr>
            <a:spLocks noChangeShapeType="1"/>
          </p:cNvSpPr>
          <p:nvPr/>
        </p:nvSpPr>
        <p:spPr bwMode="auto">
          <a:xfrm flipH="1">
            <a:off x="7622259" y="2148354"/>
            <a:ext cx="609600" cy="838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8536659" y="2148354"/>
            <a:ext cx="609600" cy="838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6447303" y="5634335"/>
            <a:ext cx="3168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b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6607077" y="4689508"/>
            <a:ext cx="0" cy="93996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 Box 19"/>
          <p:cNvSpPr txBox="1">
            <a:spLocks noChangeArrowheads="1"/>
          </p:cNvSpPr>
          <p:nvPr/>
        </p:nvSpPr>
        <p:spPr bwMode="auto">
          <a:xfrm>
            <a:off x="6432770" y="4267200"/>
            <a:ext cx="210185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S                 a</a:t>
            </a:r>
          </a:p>
        </p:txBody>
      </p:sp>
      <p:sp>
        <p:nvSpPr>
          <p:cNvPr id="15" name="Line 20"/>
          <p:cNvSpPr>
            <a:spLocks noChangeShapeType="1"/>
          </p:cNvSpPr>
          <p:nvPr/>
        </p:nvSpPr>
        <p:spPr bwMode="auto">
          <a:xfrm flipH="1">
            <a:off x="6677245" y="3443753"/>
            <a:ext cx="609600" cy="838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Line 22"/>
          <p:cNvSpPr>
            <a:spLocks noChangeShapeType="1"/>
          </p:cNvSpPr>
          <p:nvPr/>
        </p:nvSpPr>
        <p:spPr bwMode="auto">
          <a:xfrm>
            <a:off x="7591645" y="3443753"/>
            <a:ext cx="609600" cy="838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97927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1" grpId="0" animBg="1"/>
      <p:bldP spid="12" grpId="0"/>
      <p:bldP spid="13" grpId="0" animBg="1"/>
      <p:bldP spid="14" grpId="0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	</a:t>
            </a:r>
            <a:r>
              <a:rPr lang="zh-CN" altLang="en-US" dirty="0"/>
              <a:t>自下而上的语法分析</a:t>
            </a:r>
          </a:p>
          <a:p>
            <a:r>
              <a:rPr lang="zh-CN" altLang="en-US" dirty="0"/>
              <a:t>对给定的上下文无关文法</a:t>
            </a:r>
            <a:r>
              <a:rPr lang="en-US" altLang="zh-CN" dirty="0"/>
              <a:t>G(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T</a:t>
            </a:r>
            <a:r>
              <a:rPr lang="en-US" altLang="zh-CN" dirty="0" err="1"/>
              <a:t>,V</a:t>
            </a:r>
            <a:r>
              <a:rPr lang="en-US" altLang="zh-CN" baseline="-25000" dirty="0" err="1"/>
              <a:t>N</a:t>
            </a:r>
            <a:r>
              <a:rPr lang="en-US" altLang="zh-CN" dirty="0" err="1"/>
              <a:t>,S,P</a:t>
            </a:r>
            <a:r>
              <a:rPr lang="en-US" altLang="zh-CN" dirty="0"/>
              <a:t>)</a:t>
            </a:r>
            <a:r>
              <a:rPr lang="zh-CN" altLang="en-US" dirty="0"/>
              <a:t>及符号串</a:t>
            </a:r>
            <a:r>
              <a:rPr lang="en-US" altLang="zh-CN" dirty="0"/>
              <a:t>ω</a:t>
            </a:r>
            <a:r>
              <a:rPr lang="zh-CN" altLang="en-US" dirty="0"/>
              <a:t>（</a:t>
            </a:r>
            <a:r>
              <a:rPr lang="en-US" altLang="zh-CN" dirty="0" err="1"/>
              <a:t>ω</a:t>
            </a:r>
            <a:r>
              <a:rPr lang="en-US" altLang="en-US" dirty="0" err="1"/>
              <a:t>∈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T</a:t>
            </a:r>
            <a:r>
              <a:rPr lang="en-US" altLang="zh-CN" dirty="0"/>
              <a:t>*</a:t>
            </a:r>
            <a:r>
              <a:rPr lang="zh-CN" altLang="en-US" dirty="0"/>
              <a:t>），按照以下方法判断</a:t>
            </a:r>
            <a:r>
              <a:rPr lang="en-US" altLang="zh-CN" dirty="0"/>
              <a:t>ω</a:t>
            </a:r>
            <a:r>
              <a:rPr lang="zh-CN" altLang="en-US" dirty="0"/>
              <a:t>是否是文法</a:t>
            </a:r>
            <a:r>
              <a:rPr lang="en-US" altLang="zh-CN" dirty="0"/>
              <a:t>G</a:t>
            </a:r>
            <a:r>
              <a:rPr lang="zh-CN" altLang="en-US" dirty="0"/>
              <a:t>的一个合法句子：</a:t>
            </a:r>
          </a:p>
          <a:p>
            <a:r>
              <a:rPr lang="zh-CN" altLang="en-US" dirty="0"/>
              <a:t>从语法树边缘</a:t>
            </a:r>
            <a:r>
              <a:rPr lang="en-US" altLang="zh-CN" dirty="0"/>
              <a:t>ω</a:t>
            </a:r>
            <a:r>
              <a:rPr lang="zh-CN" altLang="en-US" dirty="0"/>
              <a:t>开始，根据最左规约，看能否向上构造一棵语法树，使得该语法树的根结点正好是</a:t>
            </a:r>
            <a:r>
              <a:rPr lang="en-US" altLang="zh-CN" dirty="0"/>
              <a:t>S</a:t>
            </a:r>
            <a:r>
              <a:rPr lang="zh-CN" altLang="en-US"/>
              <a:t>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955440BA-46D2-450B-B928-D233E0243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语法分析的分类</a:t>
            </a:r>
          </a:p>
        </p:txBody>
      </p:sp>
    </p:spTree>
    <p:extLst>
      <p:ext uri="{BB962C8B-B14F-4D97-AF65-F5344CB8AC3E}">
        <p14:creationId xmlns:p14="http://schemas.microsoft.com/office/powerpoint/2010/main" val="224861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6" name="Rectangle 2"/>
          <p:cNvSpPr>
            <a:spLocks noGrp="1" noChangeArrowheads="1"/>
          </p:cNvSpPr>
          <p:nvPr>
            <p:ph idx="1"/>
          </p:nvPr>
        </p:nvSpPr>
        <p:spPr>
          <a:xfrm>
            <a:off x="720000" y="900000"/>
            <a:ext cx="10751844" cy="5237998"/>
          </a:xfrm>
        </p:spPr>
        <p:txBody>
          <a:bodyPr/>
          <a:lstStyle/>
          <a:p>
            <a:r>
              <a:rPr lang="zh-CN" altLang="en-US" dirty="0"/>
              <a:t>例：文法</a:t>
            </a:r>
            <a:r>
              <a:rPr lang="en-US" altLang="zh-CN" dirty="0"/>
              <a:t>G(S)</a:t>
            </a:r>
          </a:p>
          <a:p>
            <a:r>
              <a:rPr lang="en-US" altLang="zh-CN" dirty="0"/>
              <a:t>		S </a:t>
            </a:r>
            <a:r>
              <a:rPr lang="en-US" altLang="zh-CN" dirty="0">
                <a:sym typeface="Symbol" pitchFamily="18" charset="2"/>
              </a:rPr>
              <a:t> </a:t>
            </a:r>
            <a:r>
              <a:rPr lang="en-US" altLang="zh-CN" dirty="0"/>
              <a:t>SAS</a:t>
            </a:r>
          </a:p>
          <a:p>
            <a:r>
              <a:rPr lang="en-US" altLang="zh-CN" dirty="0"/>
              <a:t>		S </a:t>
            </a:r>
            <a:r>
              <a:rPr lang="en-US" altLang="zh-CN" dirty="0">
                <a:sym typeface="Symbol" pitchFamily="18" charset="2"/>
              </a:rPr>
              <a:t> </a:t>
            </a:r>
            <a:r>
              <a:rPr lang="en-US" altLang="zh-CN" dirty="0"/>
              <a:t>b</a:t>
            </a:r>
          </a:p>
          <a:p>
            <a:r>
              <a:rPr lang="en-US" altLang="zh-CN" dirty="0"/>
              <a:t>		A </a:t>
            </a:r>
            <a:r>
              <a:rPr lang="en-US" altLang="zh-CN" dirty="0">
                <a:sym typeface="Symbol" pitchFamily="18" charset="2"/>
              </a:rPr>
              <a:t> </a:t>
            </a:r>
            <a:r>
              <a:rPr lang="en-US" altLang="zh-CN" dirty="0" err="1"/>
              <a:t>ccA</a:t>
            </a:r>
            <a:endParaRPr lang="en-US" altLang="zh-CN" dirty="0"/>
          </a:p>
          <a:p>
            <a:r>
              <a:rPr lang="en-US" altLang="zh-CN" dirty="0"/>
              <a:t>		A </a:t>
            </a:r>
            <a:r>
              <a:rPr lang="en-US" altLang="zh-CN" dirty="0">
                <a:sym typeface="Symbol" pitchFamily="18" charset="2"/>
              </a:rPr>
              <a:t> </a:t>
            </a:r>
            <a:r>
              <a:rPr lang="en-US" altLang="zh-CN" dirty="0"/>
              <a:t>a</a:t>
            </a:r>
          </a:p>
          <a:p>
            <a:r>
              <a:rPr lang="zh-CN" altLang="en-US" dirty="0"/>
              <a:t>输入串“</a:t>
            </a:r>
            <a:r>
              <a:rPr lang="en-US" altLang="zh-CN" dirty="0"/>
              <a:t>b c </a:t>
            </a:r>
            <a:r>
              <a:rPr lang="en-US" altLang="zh-CN" dirty="0" err="1"/>
              <a:t>c</a:t>
            </a:r>
            <a:r>
              <a:rPr lang="en-US" altLang="zh-CN" dirty="0"/>
              <a:t> a b</a:t>
            </a:r>
            <a:r>
              <a:rPr lang="zh-CN" altLang="en-US" dirty="0"/>
              <a:t>”的分析过程 ：</a:t>
            </a:r>
            <a:endParaRPr lang="en-US" altLang="zh-CN" dirty="0"/>
          </a:p>
          <a:p>
            <a:r>
              <a:rPr lang="zh-CN" altLang="en-US" dirty="0"/>
              <a:t>（语法树“形成”的角度）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自下而上的语法分析</a:t>
            </a:r>
          </a:p>
        </p:txBody>
      </p:sp>
      <p:sp>
        <p:nvSpPr>
          <p:cNvPr id="5" name="Text Box 30">
            <a:extLst>
              <a:ext uri="{FF2B5EF4-FFF2-40B4-BE49-F238E27FC236}">
                <a16:creationId xmlns:a16="http://schemas.microsoft.com/office/drawing/2014/main" id="{2022B085-9687-49CD-B363-FF5EBFF17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0767" y="1905000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>
              <a:defRPr>
                <a:solidFill>
                  <a:schemeClr val="bg1"/>
                </a:solidFill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latin typeface="+mj-ea"/>
                <a:ea typeface="+mj-ea"/>
              </a:rPr>
              <a:t>S</a:t>
            </a:r>
          </a:p>
        </p:txBody>
      </p:sp>
      <p:sp>
        <p:nvSpPr>
          <p:cNvPr id="6" name="Line 31">
            <a:extLst>
              <a:ext uri="{FF2B5EF4-FFF2-40B4-BE49-F238E27FC236}">
                <a16:creationId xmlns:a16="http://schemas.microsoft.com/office/drawing/2014/main" id="{526876F8-DA79-4F1B-9A42-9D07215A89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40613" y="2362200"/>
            <a:ext cx="935739" cy="69287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Text Box 32">
            <a:extLst>
              <a:ext uri="{FF2B5EF4-FFF2-40B4-BE49-F238E27FC236}">
                <a16:creationId xmlns:a16="http://schemas.microsoft.com/office/drawing/2014/main" id="{FA5B02F4-C425-424A-8493-36F25332A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309634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>
              <a:defRPr>
                <a:solidFill>
                  <a:schemeClr val="bg1"/>
                </a:solidFill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latin typeface="+mj-ea"/>
                <a:ea typeface="+mj-ea"/>
              </a:rPr>
              <a:t>S</a:t>
            </a:r>
          </a:p>
        </p:txBody>
      </p:sp>
      <p:sp>
        <p:nvSpPr>
          <p:cNvPr id="8" name="Line 33">
            <a:extLst>
              <a:ext uri="{FF2B5EF4-FFF2-40B4-BE49-F238E27FC236}">
                <a16:creationId xmlns:a16="http://schemas.microsoft.com/office/drawing/2014/main" id="{59524D4D-DF0A-4A31-9B1F-8681DAB6D65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1518" y="3518623"/>
            <a:ext cx="0" cy="56832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Line 34">
            <a:extLst>
              <a:ext uri="{FF2B5EF4-FFF2-40B4-BE49-F238E27FC236}">
                <a16:creationId xmlns:a16="http://schemas.microsoft.com/office/drawing/2014/main" id="{B5BDBEB5-2ACC-47DB-ABB7-921D607B8362}"/>
              </a:ext>
            </a:extLst>
          </p:cNvPr>
          <p:cNvSpPr>
            <a:spLocks noChangeShapeType="1"/>
          </p:cNvSpPr>
          <p:nvPr/>
        </p:nvSpPr>
        <p:spPr bwMode="auto">
          <a:xfrm>
            <a:off x="8639173" y="2362201"/>
            <a:ext cx="935731" cy="6858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Text Box 35">
            <a:extLst>
              <a:ext uri="{FF2B5EF4-FFF2-40B4-BE49-F238E27FC236}">
                <a16:creationId xmlns:a16="http://schemas.microsoft.com/office/drawing/2014/main" id="{0552DCC0-13EA-48F2-8524-A97A5AD68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0" y="309634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>
              <a:defRPr>
                <a:solidFill>
                  <a:schemeClr val="bg1"/>
                </a:solidFill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latin typeface="+mj-ea"/>
                <a:ea typeface="+mj-ea"/>
              </a:rPr>
              <a:t>S</a:t>
            </a:r>
          </a:p>
        </p:txBody>
      </p:sp>
      <p:sp>
        <p:nvSpPr>
          <p:cNvPr id="11" name="Line 36">
            <a:extLst>
              <a:ext uri="{FF2B5EF4-FFF2-40B4-BE49-F238E27FC236}">
                <a16:creationId xmlns:a16="http://schemas.microsoft.com/office/drawing/2014/main" id="{18D0F1B5-739A-4FEA-8CF6-2F4C0BF23E03}"/>
              </a:ext>
            </a:extLst>
          </p:cNvPr>
          <p:cNvSpPr>
            <a:spLocks noChangeShapeType="1"/>
          </p:cNvSpPr>
          <p:nvPr/>
        </p:nvSpPr>
        <p:spPr bwMode="auto">
          <a:xfrm>
            <a:off x="9702006" y="3518623"/>
            <a:ext cx="0" cy="56832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Line 37">
            <a:extLst>
              <a:ext uri="{FF2B5EF4-FFF2-40B4-BE49-F238E27FC236}">
                <a16:creationId xmlns:a16="http://schemas.microsoft.com/office/drawing/2014/main" id="{3DF47BB7-6146-41C1-BFB5-2DE9BD63ED08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7773" y="2410548"/>
            <a:ext cx="0" cy="6858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Text Box 38">
            <a:extLst>
              <a:ext uri="{FF2B5EF4-FFF2-40B4-BE49-F238E27FC236}">
                <a16:creationId xmlns:a16="http://schemas.microsoft.com/office/drawing/2014/main" id="{8D6BB285-79FC-4FD9-B8DE-B06C2E5F7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4374" y="3096348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>
              <a:defRPr>
                <a:solidFill>
                  <a:schemeClr val="bg1"/>
                </a:solidFill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latin typeface="+mj-ea"/>
                <a:ea typeface="+mj-ea"/>
              </a:rPr>
              <a:t>A</a:t>
            </a:r>
          </a:p>
        </p:txBody>
      </p:sp>
      <p:sp>
        <p:nvSpPr>
          <p:cNvPr id="14" name="Line 39">
            <a:extLst>
              <a:ext uri="{FF2B5EF4-FFF2-40B4-BE49-F238E27FC236}">
                <a16:creationId xmlns:a16="http://schemas.microsoft.com/office/drawing/2014/main" id="{B016CF8E-4579-4E6B-9F37-F382E5133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7773" y="3553548"/>
            <a:ext cx="0" cy="5334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Line 40">
            <a:extLst>
              <a:ext uri="{FF2B5EF4-FFF2-40B4-BE49-F238E27FC236}">
                <a16:creationId xmlns:a16="http://schemas.microsoft.com/office/drawing/2014/main" id="{2D9D8B99-DEF1-4F2C-92B0-47B7249FDC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15286" y="3553548"/>
            <a:ext cx="361053" cy="5334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Line 41">
            <a:extLst>
              <a:ext uri="{FF2B5EF4-FFF2-40B4-BE49-F238E27FC236}">
                <a16:creationId xmlns:a16="http://schemas.microsoft.com/office/drawing/2014/main" id="{29537817-3C9B-4B66-8F3E-BC9F0CD848A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31578" y="3553548"/>
            <a:ext cx="374813" cy="5334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 Box 42">
            <a:extLst>
              <a:ext uri="{FF2B5EF4-FFF2-40B4-BE49-F238E27FC236}">
                <a16:creationId xmlns:a16="http://schemas.microsoft.com/office/drawing/2014/main" id="{2F684250-3F51-4BAB-A452-8D76255D2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408694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>
              <a:defRPr>
                <a:solidFill>
                  <a:schemeClr val="bg1"/>
                </a:solidFill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latin typeface="+mj-ea"/>
                <a:ea typeface="+mj-ea"/>
              </a:rPr>
              <a:t>b</a:t>
            </a:r>
          </a:p>
        </p:txBody>
      </p:sp>
      <p:sp>
        <p:nvSpPr>
          <p:cNvPr id="18" name="Text Box 43">
            <a:extLst>
              <a:ext uri="{FF2B5EF4-FFF2-40B4-BE49-F238E27FC236}">
                <a16:creationId xmlns:a16="http://schemas.microsoft.com/office/drawing/2014/main" id="{569CE1AF-8A9D-4221-ABDD-8411885D4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7325" y="4086948"/>
            <a:ext cx="319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>
              <a:defRPr>
                <a:solidFill>
                  <a:schemeClr val="bg1"/>
                </a:solidFill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latin typeface="+mj-ea"/>
                <a:ea typeface="+mj-ea"/>
              </a:rPr>
              <a:t>c</a:t>
            </a:r>
          </a:p>
        </p:txBody>
      </p:sp>
      <p:sp>
        <p:nvSpPr>
          <p:cNvPr id="19" name="Text Box 44">
            <a:extLst>
              <a:ext uri="{FF2B5EF4-FFF2-40B4-BE49-F238E27FC236}">
                <a16:creationId xmlns:a16="http://schemas.microsoft.com/office/drawing/2014/main" id="{DC8B281C-D813-4212-A6A1-442D576F5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8229" y="4086948"/>
            <a:ext cx="319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>
              <a:defRPr>
                <a:solidFill>
                  <a:schemeClr val="bg1"/>
                </a:solidFill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latin typeface="+mj-ea"/>
                <a:ea typeface="+mj-ea"/>
              </a:rPr>
              <a:t>c</a:t>
            </a:r>
          </a:p>
        </p:txBody>
      </p:sp>
      <p:sp>
        <p:nvSpPr>
          <p:cNvPr id="20" name="Text Box 45">
            <a:extLst>
              <a:ext uri="{FF2B5EF4-FFF2-40B4-BE49-F238E27FC236}">
                <a16:creationId xmlns:a16="http://schemas.microsoft.com/office/drawing/2014/main" id="{B07E5A1F-11EF-40F3-A161-AA04372A5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0800" y="4086948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>
              <a:defRPr>
                <a:solidFill>
                  <a:schemeClr val="bg1"/>
                </a:solidFill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latin typeface="+mj-ea"/>
                <a:ea typeface="+mj-ea"/>
              </a:rPr>
              <a:t>A</a:t>
            </a:r>
          </a:p>
        </p:txBody>
      </p:sp>
      <p:sp>
        <p:nvSpPr>
          <p:cNvPr id="21" name="Text Box 46">
            <a:extLst>
              <a:ext uri="{FF2B5EF4-FFF2-40B4-BE49-F238E27FC236}">
                <a16:creationId xmlns:a16="http://schemas.microsoft.com/office/drawing/2014/main" id="{BA223F69-F3E0-4EE2-9E59-709F94239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0" y="408694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>
              <a:defRPr>
                <a:solidFill>
                  <a:schemeClr val="bg1"/>
                </a:solidFill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400" b="1">
                <a:latin typeface="+mj-ea"/>
                <a:ea typeface="+mj-ea"/>
              </a:rPr>
              <a:t>b</a:t>
            </a:r>
          </a:p>
        </p:txBody>
      </p:sp>
      <p:sp>
        <p:nvSpPr>
          <p:cNvPr id="22" name="Line 47">
            <a:extLst>
              <a:ext uri="{FF2B5EF4-FFF2-40B4-BE49-F238E27FC236}">
                <a16:creationId xmlns:a16="http://schemas.microsoft.com/office/drawing/2014/main" id="{EB955E7C-2D4B-4EC3-9E01-024907DA6A41}"/>
              </a:ext>
            </a:extLst>
          </p:cNvPr>
          <p:cNvSpPr>
            <a:spLocks noChangeShapeType="1"/>
          </p:cNvSpPr>
          <p:nvPr/>
        </p:nvSpPr>
        <p:spPr bwMode="auto">
          <a:xfrm>
            <a:off x="9132888" y="4579073"/>
            <a:ext cx="0" cy="6096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 Box 48">
            <a:extLst>
              <a:ext uri="{FF2B5EF4-FFF2-40B4-BE49-F238E27FC236}">
                <a16:creationId xmlns:a16="http://schemas.microsoft.com/office/drawing/2014/main" id="{1938A8CB-10D0-4395-A540-81623F075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613" y="515374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>
              <a:defRPr>
                <a:solidFill>
                  <a:schemeClr val="bg1"/>
                </a:solidFill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latin typeface="+mj-ea"/>
                <a:ea typeface="+mj-ea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238462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 animBg="1"/>
      <p:bldP spid="9" grpId="0" animBg="1"/>
      <p:bldP spid="10" grpId="0"/>
      <p:bldP spid="11" grpId="0" animBg="1"/>
      <p:bldP spid="12" grpId="0" animBg="1"/>
      <p:bldP spid="13" grpId="0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 animBg="1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6" name="Rectangle 2"/>
          <p:cNvSpPr>
            <a:spLocks noGrp="1" noChangeArrowheads="1"/>
          </p:cNvSpPr>
          <p:nvPr>
            <p:ph idx="1"/>
          </p:nvPr>
        </p:nvSpPr>
        <p:spPr>
          <a:xfrm>
            <a:off x="720000" y="900000"/>
            <a:ext cx="10751844" cy="5237998"/>
          </a:xfrm>
        </p:spPr>
        <p:txBody>
          <a:bodyPr/>
          <a:lstStyle/>
          <a:p>
            <a:r>
              <a:rPr lang="zh-CN" altLang="en-US" dirty="0"/>
              <a:t>例：文法</a:t>
            </a:r>
            <a:r>
              <a:rPr lang="en-US" altLang="zh-CN" dirty="0"/>
              <a:t>G (S)</a:t>
            </a:r>
          </a:p>
          <a:p>
            <a:r>
              <a:rPr lang="en-US" altLang="zh-CN" dirty="0"/>
              <a:t>		S </a:t>
            </a:r>
            <a:r>
              <a:rPr lang="en-US" altLang="zh-CN" dirty="0">
                <a:sym typeface="Symbol" pitchFamily="18" charset="2"/>
              </a:rPr>
              <a:t> </a:t>
            </a:r>
            <a:r>
              <a:rPr lang="en-US" altLang="zh-CN" dirty="0"/>
              <a:t>SAS</a:t>
            </a:r>
          </a:p>
          <a:p>
            <a:r>
              <a:rPr lang="en-US" altLang="zh-CN" dirty="0"/>
              <a:t>		S </a:t>
            </a:r>
            <a:r>
              <a:rPr lang="en-US" altLang="zh-CN" dirty="0">
                <a:sym typeface="Symbol" pitchFamily="18" charset="2"/>
              </a:rPr>
              <a:t> </a:t>
            </a:r>
            <a:r>
              <a:rPr lang="en-US" altLang="zh-CN" dirty="0"/>
              <a:t>b</a:t>
            </a:r>
          </a:p>
          <a:p>
            <a:r>
              <a:rPr lang="en-US" altLang="zh-CN" dirty="0"/>
              <a:t>		A </a:t>
            </a:r>
            <a:r>
              <a:rPr lang="en-US" altLang="zh-CN" dirty="0">
                <a:sym typeface="Symbol" pitchFamily="18" charset="2"/>
              </a:rPr>
              <a:t> </a:t>
            </a:r>
            <a:r>
              <a:rPr lang="en-US" altLang="zh-CN" dirty="0" err="1"/>
              <a:t>ccA</a:t>
            </a:r>
            <a:endParaRPr lang="en-US" altLang="zh-CN" dirty="0"/>
          </a:p>
          <a:p>
            <a:r>
              <a:rPr lang="en-US" altLang="zh-CN" dirty="0"/>
              <a:t>		A </a:t>
            </a:r>
            <a:r>
              <a:rPr lang="en-US" altLang="zh-CN" dirty="0">
                <a:sym typeface="Symbol" pitchFamily="18" charset="2"/>
              </a:rPr>
              <a:t> </a:t>
            </a:r>
            <a:r>
              <a:rPr lang="en-US" altLang="zh-CN" dirty="0"/>
              <a:t>a</a:t>
            </a:r>
          </a:p>
          <a:p>
            <a:r>
              <a:rPr lang="zh-CN" altLang="en-US"/>
              <a:t>输入</a:t>
            </a:r>
            <a:r>
              <a:rPr lang="zh-CN" altLang="en-US" dirty="0"/>
              <a:t>串“</a:t>
            </a:r>
            <a:r>
              <a:rPr lang="en-US" altLang="zh-CN" dirty="0"/>
              <a:t>b c </a:t>
            </a:r>
            <a:r>
              <a:rPr lang="en-US" altLang="zh-CN" dirty="0" err="1"/>
              <a:t>c</a:t>
            </a:r>
            <a:r>
              <a:rPr lang="en-US" altLang="zh-CN" dirty="0"/>
              <a:t> a b</a:t>
            </a:r>
            <a:r>
              <a:rPr lang="zh-CN" altLang="en-US" dirty="0"/>
              <a:t>”的分析</a:t>
            </a:r>
            <a:r>
              <a:rPr lang="zh-CN" altLang="en-US"/>
              <a:t>过程 ：</a:t>
            </a:r>
            <a:endParaRPr lang="en-US" altLang="zh-CN"/>
          </a:p>
          <a:p>
            <a:r>
              <a:rPr lang="zh-CN" altLang="en-US"/>
              <a:t>（语法树“剪枝”的角度）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自下而上的语法分析</a:t>
            </a:r>
          </a:p>
        </p:txBody>
      </p:sp>
      <p:sp>
        <p:nvSpPr>
          <p:cNvPr id="5" name="Text Box 30">
            <a:extLst>
              <a:ext uri="{FF2B5EF4-FFF2-40B4-BE49-F238E27FC236}">
                <a16:creationId xmlns:a16="http://schemas.microsoft.com/office/drawing/2014/main" id="{2022B085-9687-49CD-B363-FF5EBFF17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0767" y="1905000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>
              <a:defRPr>
                <a:solidFill>
                  <a:schemeClr val="bg1"/>
                </a:solidFill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latin typeface="+mj-ea"/>
                <a:ea typeface="+mj-ea"/>
              </a:rPr>
              <a:t>S</a:t>
            </a:r>
          </a:p>
        </p:txBody>
      </p:sp>
      <p:sp>
        <p:nvSpPr>
          <p:cNvPr id="6" name="Line 31">
            <a:extLst>
              <a:ext uri="{FF2B5EF4-FFF2-40B4-BE49-F238E27FC236}">
                <a16:creationId xmlns:a16="http://schemas.microsoft.com/office/drawing/2014/main" id="{526876F8-DA79-4F1B-9A42-9D07215A89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40613" y="2362200"/>
            <a:ext cx="935739" cy="69287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Text Box 32">
            <a:extLst>
              <a:ext uri="{FF2B5EF4-FFF2-40B4-BE49-F238E27FC236}">
                <a16:creationId xmlns:a16="http://schemas.microsoft.com/office/drawing/2014/main" id="{FA5B02F4-C425-424A-8493-36F25332A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309634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>
              <a:defRPr>
                <a:solidFill>
                  <a:schemeClr val="bg1"/>
                </a:solidFill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latin typeface="+mj-ea"/>
                <a:ea typeface="+mj-ea"/>
              </a:rPr>
              <a:t>S</a:t>
            </a:r>
          </a:p>
        </p:txBody>
      </p:sp>
      <p:sp>
        <p:nvSpPr>
          <p:cNvPr id="8" name="Line 33">
            <a:extLst>
              <a:ext uri="{FF2B5EF4-FFF2-40B4-BE49-F238E27FC236}">
                <a16:creationId xmlns:a16="http://schemas.microsoft.com/office/drawing/2014/main" id="{59524D4D-DF0A-4A31-9B1F-8681DAB6D65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1518" y="3518623"/>
            <a:ext cx="0" cy="56832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Line 34">
            <a:extLst>
              <a:ext uri="{FF2B5EF4-FFF2-40B4-BE49-F238E27FC236}">
                <a16:creationId xmlns:a16="http://schemas.microsoft.com/office/drawing/2014/main" id="{B5BDBEB5-2ACC-47DB-ABB7-921D607B8362}"/>
              </a:ext>
            </a:extLst>
          </p:cNvPr>
          <p:cNvSpPr>
            <a:spLocks noChangeShapeType="1"/>
          </p:cNvSpPr>
          <p:nvPr/>
        </p:nvSpPr>
        <p:spPr bwMode="auto">
          <a:xfrm>
            <a:off x="8639173" y="2362201"/>
            <a:ext cx="935731" cy="6858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Text Box 35">
            <a:extLst>
              <a:ext uri="{FF2B5EF4-FFF2-40B4-BE49-F238E27FC236}">
                <a16:creationId xmlns:a16="http://schemas.microsoft.com/office/drawing/2014/main" id="{0552DCC0-13EA-48F2-8524-A97A5AD68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0" y="309634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>
              <a:defRPr>
                <a:solidFill>
                  <a:schemeClr val="bg1"/>
                </a:solidFill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latin typeface="+mj-ea"/>
                <a:ea typeface="+mj-ea"/>
              </a:rPr>
              <a:t>S</a:t>
            </a:r>
          </a:p>
        </p:txBody>
      </p:sp>
      <p:sp>
        <p:nvSpPr>
          <p:cNvPr id="11" name="Line 36">
            <a:extLst>
              <a:ext uri="{FF2B5EF4-FFF2-40B4-BE49-F238E27FC236}">
                <a16:creationId xmlns:a16="http://schemas.microsoft.com/office/drawing/2014/main" id="{18D0F1B5-739A-4FEA-8CF6-2F4C0BF23E03}"/>
              </a:ext>
            </a:extLst>
          </p:cNvPr>
          <p:cNvSpPr>
            <a:spLocks noChangeShapeType="1"/>
          </p:cNvSpPr>
          <p:nvPr/>
        </p:nvSpPr>
        <p:spPr bwMode="auto">
          <a:xfrm>
            <a:off x="9702006" y="3518623"/>
            <a:ext cx="0" cy="56832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Line 37">
            <a:extLst>
              <a:ext uri="{FF2B5EF4-FFF2-40B4-BE49-F238E27FC236}">
                <a16:creationId xmlns:a16="http://schemas.microsoft.com/office/drawing/2014/main" id="{3DF47BB7-6146-41C1-BFB5-2DE9BD63ED08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7773" y="2410548"/>
            <a:ext cx="0" cy="6858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Text Box 38">
            <a:extLst>
              <a:ext uri="{FF2B5EF4-FFF2-40B4-BE49-F238E27FC236}">
                <a16:creationId xmlns:a16="http://schemas.microsoft.com/office/drawing/2014/main" id="{8D6BB285-79FC-4FD9-B8DE-B06C2E5F7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4374" y="3096348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>
              <a:defRPr>
                <a:solidFill>
                  <a:schemeClr val="bg1"/>
                </a:solidFill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latin typeface="+mj-ea"/>
                <a:ea typeface="+mj-ea"/>
              </a:rPr>
              <a:t>A</a:t>
            </a:r>
          </a:p>
        </p:txBody>
      </p:sp>
      <p:sp>
        <p:nvSpPr>
          <p:cNvPr id="14" name="Line 39">
            <a:extLst>
              <a:ext uri="{FF2B5EF4-FFF2-40B4-BE49-F238E27FC236}">
                <a16:creationId xmlns:a16="http://schemas.microsoft.com/office/drawing/2014/main" id="{B016CF8E-4579-4E6B-9F37-F382E5133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7773" y="3553548"/>
            <a:ext cx="0" cy="5334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Line 40">
            <a:extLst>
              <a:ext uri="{FF2B5EF4-FFF2-40B4-BE49-F238E27FC236}">
                <a16:creationId xmlns:a16="http://schemas.microsoft.com/office/drawing/2014/main" id="{2D9D8B99-DEF1-4F2C-92B0-47B7249FDC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15286" y="3553548"/>
            <a:ext cx="361053" cy="5334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Line 41">
            <a:extLst>
              <a:ext uri="{FF2B5EF4-FFF2-40B4-BE49-F238E27FC236}">
                <a16:creationId xmlns:a16="http://schemas.microsoft.com/office/drawing/2014/main" id="{29537817-3C9B-4B66-8F3E-BC9F0CD848A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31578" y="3553548"/>
            <a:ext cx="374813" cy="5334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 Box 42">
            <a:extLst>
              <a:ext uri="{FF2B5EF4-FFF2-40B4-BE49-F238E27FC236}">
                <a16:creationId xmlns:a16="http://schemas.microsoft.com/office/drawing/2014/main" id="{2F684250-3F51-4BAB-A452-8D76255D2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408694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>
              <a:defRPr>
                <a:solidFill>
                  <a:schemeClr val="bg1"/>
                </a:solidFill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latin typeface="+mj-ea"/>
                <a:ea typeface="+mj-ea"/>
              </a:rPr>
              <a:t>b</a:t>
            </a:r>
          </a:p>
        </p:txBody>
      </p:sp>
      <p:sp>
        <p:nvSpPr>
          <p:cNvPr id="18" name="Text Box 43">
            <a:extLst>
              <a:ext uri="{FF2B5EF4-FFF2-40B4-BE49-F238E27FC236}">
                <a16:creationId xmlns:a16="http://schemas.microsoft.com/office/drawing/2014/main" id="{569CE1AF-8A9D-4221-ABDD-8411885D4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7325" y="4086948"/>
            <a:ext cx="319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>
              <a:defRPr>
                <a:solidFill>
                  <a:schemeClr val="bg1"/>
                </a:solidFill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latin typeface="+mj-ea"/>
                <a:ea typeface="+mj-ea"/>
              </a:rPr>
              <a:t>c</a:t>
            </a:r>
          </a:p>
        </p:txBody>
      </p:sp>
      <p:sp>
        <p:nvSpPr>
          <p:cNvPr id="19" name="Text Box 44">
            <a:extLst>
              <a:ext uri="{FF2B5EF4-FFF2-40B4-BE49-F238E27FC236}">
                <a16:creationId xmlns:a16="http://schemas.microsoft.com/office/drawing/2014/main" id="{DC8B281C-D813-4212-A6A1-442D576F5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8229" y="4086948"/>
            <a:ext cx="319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>
              <a:defRPr>
                <a:solidFill>
                  <a:schemeClr val="bg1"/>
                </a:solidFill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latin typeface="+mj-ea"/>
                <a:ea typeface="+mj-ea"/>
              </a:rPr>
              <a:t>c</a:t>
            </a:r>
          </a:p>
        </p:txBody>
      </p:sp>
      <p:sp>
        <p:nvSpPr>
          <p:cNvPr id="20" name="Text Box 45">
            <a:extLst>
              <a:ext uri="{FF2B5EF4-FFF2-40B4-BE49-F238E27FC236}">
                <a16:creationId xmlns:a16="http://schemas.microsoft.com/office/drawing/2014/main" id="{B07E5A1F-11EF-40F3-A161-AA04372A5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0800" y="4086948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>
              <a:defRPr>
                <a:solidFill>
                  <a:schemeClr val="bg1"/>
                </a:solidFill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latin typeface="+mj-ea"/>
                <a:ea typeface="+mj-ea"/>
              </a:rPr>
              <a:t>A</a:t>
            </a:r>
          </a:p>
        </p:txBody>
      </p:sp>
      <p:sp>
        <p:nvSpPr>
          <p:cNvPr id="21" name="Text Box 46">
            <a:extLst>
              <a:ext uri="{FF2B5EF4-FFF2-40B4-BE49-F238E27FC236}">
                <a16:creationId xmlns:a16="http://schemas.microsoft.com/office/drawing/2014/main" id="{BA223F69-F3E0-4EE2-9E59-709F94239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0" y="408694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>
              <a:defRPr>
                <a:solidFill>
                  <a:schemeClr val="bg1"/>
                </a:solidFill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400" b="1">
                <a:latin typeface="+mj-ea"/>
                <a:ea typeface="+mj-ea"/>
              </a:rPr>
              <a:t>b</a:t>
            </a:r>
          </a:p>
        </p:txBody>
      </p:sp>
      <p:sp>
        <p:nvSpPr>
          <p:cNvPr id="22" name="Line 47">
            <a:extLst>
              <a:ext uri="{FF2B5EF4-FFF2-40B4-BE49-F238E27FC236}">
                <a16:creationId xmlns:a16="http://schemas.microsoft.com/office/drawing/2014/main" id="{EB955E7C-2D4B-4EC3-9E01-024907DA6A41}"/>
              </a:ext>
            </a:extLst>
          </p:cNvPr>
          <p:cNvSpPr>
            <a:spLocks noChangeShapeType="1"/>
          </p:cNvSpPr>
          <p:nvPr/>
        </p:nvSpPr>
        <p:spPr bwMode="auto">
          <a:xfrm>
            <a:off x="9132888" y="4579073"/>
            <a:ext cx="0" cy="6096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 Box 48">
            <a:extLst>
              <a:ext uri="{FF2B5EF4-FFF2-40B4-BE49-F238E27FC236}">
                <a16:creationId xmlns:a16="http://schemas.microsoft.com/office/drawing/2014/main" id="{1938A8CB-10D0-4395-A540-81623F075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613" y="515374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>
              <a:defRPr>
                <a:solidFill>
                  <a:schemeClr val="bg1"/>
                </a:solidFill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latin typeface="+mj-ea"/>
                <a:ea typeface="+mj-ea"/>
              </a:rPr>
              <a:t>a</a:t>
            </a:r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BCBD2158-0F4C-4473-BF17-961277CE6174}"/>
              </a:ext>
            </a:extLst>
          </p:cNvPr>
          <p:cNvSpPr/>
          <p:nvPr/>
        </p:nvSpPr>
        <p:spPr>
          <a:xfrm rot="16200000">
            <a:off x="7086077" y="4591133"/>
            <a:ext cx="370882" cy="30038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204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7037E-6 L -4.16667E-6 -0.1467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0.14676 L 0.05899 -0.00231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43" y="7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899 -0.00231 L 0.10144 -0.00231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144 -0.00231 L 0.15274 0.15324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65" y="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274 0.15324 L 0.15274 -0.00231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274 -0.00231 L 0.10144 -0.15092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5" y="-7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144 -0.15092 L 0.19935 -0.00648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96" y="7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42" presetClass="path" presetSubtype="0" accel="50000" decel="5000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935 -0.00648 L 0.19935 -0.14676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42" presetClass="pat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935 -0.14676 L 0.10144 -0.31342 " pathEditMode="relative" rAng="0" ptsTypes="AA">
                                      <p:cBhvr>
                                        <p:cTn id="10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96" y="-90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animBg="1"/>
      <p:bldP spid="10" grpId="0"/>
      <p:bldP spid="11" grpId="0" animBg="1"/>
      <p:bldP spid="12" grpId="0" animBg="1"/>
      <p:bldP spid="13" grpId="0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 animBg="1"/>
      <p:bldP spid="23" grpId="0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1.	</a:t>
            </a:r>
            <a:r>
              <a:rPr lang="zh-CN" altLang="en-US"/>
              <a:t>自上而下的语法分析方法</a:t>
            </a:r>
            <a:endParaRPr lang="zh-CN" altLang="en-US" dirty="0"/>
          </a:p>
          <a:p>
            <a:r>
              <a:rPr lang="en-US" altLang="zh-CN"/>
              <a:t>	1.1	</a:t>
            </a:r>
            <a:r>
              <a:rPr lang="zh-CN" altLang="en-US"/>
              <a:t>回溯</a:t>
            </a:r>
            <a:r>
              <a:rPr lang="zh-CN" altLang="en-US" dirty="0"/>
              <a:t>分析法</a:t>
            </a:r>
          </a:p>
          <a:p>
            <a:r>
              <a:rPr lang="en-US" altLang="zh-CN"/>
              <a:t>	1.2	</a:t>
            </a:r>
            <a:r>
              <a:rPr lang="zh-CN" altLang="en-US"/>
              <a:t>递归</a:t>
            </a:r>
            <a:r>
              <a:rPr lang="zh-CN" altLang="en-US" dirty="0"/>
              <a:t>下降分析法</a:t>
            </a:r>
          </a:p>
          <a:p>
            <a:r>
              <a:rPr lang="en-US" altLang="zh-CN"/>
              <a:t>	1.3	</a:t>
            </a:r>
            <a:r>
              <a:rPr lang="zh-CN" altLang="en-US"/>
              <a:t>预测</a:t>
            </a:r>
            <a:r>
              <a:rPr lang="zh-CN" altLang="en-US" dirty="0"/>
              <a:t>分析法</a:t>
            </a:r>
            <a:endParaRPr lang="en-US" altLang="zh-CN" dirty="0"/>
          </a:p>
          <a:p>
            <a:r>
              <a:rPr lang="en-US" altLang="zh-CN"/>
              <a:t>2.	</a:t>
            </a:r>
            <a:r>
              <a:rPr lang="zh-CN" altLang="en-US"/>
              <a:t>自下而上的语法分析方法</a:t>
            </a:r>
            <a:endParaRPr lang="zh-CN" altLang="en-US" dirty="0"/>
          </a:p>
          <a:p>
            <a:r>
              <a:rPr lang="en-US" altLang="zh-CN"/>
              <a:t>	2.1	</a:t>
            </a:r>
            <a:r>
              <a:rPr lang="zh-CN" altLang="en-US"/>
              <a:t>算符</a:t>
            </a:r>
            <a:r>
              <a:rPr lang="zh-CN" altLang="en-US" dirty="0"/>
              <a:t>优先分析法</a:t>
            </a:r>
          </a:p>
          <a:p>
            <a:r>
              <a:rPr lang="en-US" altLang="zh-CN"/>
              <a:t>	2.2	LR</a:t>
            </a:r>
            <a:r>
              <a:rPr lang="zh-CN" altLang="en-US" dirty="0"/>
              <a:t>分析法</a:t>
            </a:r>
          </a:p>
          <a:p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语法分析方法</a:t>
            </a:r>
          </a:p>
        </p:txBody>
      </p:sp>
    </p:spTree>
    <p:extLst>
      <p:ext uri="{BB962C8B-B14F-4D97-AF65-F5344CB8AC3E}">
        <p14:creationId xmlns:p14="http://schemas.microsoft.com/office/powerpoint/2010/main" val="936632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5814</TotalTime>
  <Words>168</Words>
  <Application>Microsoft Office PowerPoint</Application>
  <PresentationFormat>宽屏</PresentationFormat>
  <Paragraphs>78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微软雅黑</vt:lpstr>
      <vt:lpstr>Arial</vt:lpstr>
      <vt:lpstr>Wingdings</vt:lpstr>
      <vt:lpstr>环保</vt:lpstr>
      <vt:lpstr>第七章 语法分析</vt:lpstr>
      <vt:lpstr>语法分析概述</vt:lpstr>
      <vt:lpstr>语法分析的分类</vt:lpstr>
      <vt:lpstr>自上而下的语法分析</vt:lpstr>
      <vt:lpstr>自上而下的语法分析</vt:lpstr>
      <vt:lpstr>语法分析的分类</vt:lpstr>
      <vt:lpstr>自下而上的语法分析</vt:lpstr>
      <vt:lpstr>自下而上的语法分析</vt:lpstr>
      <vt:lpstr>语法分析方法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1045</cp:revision>
  <cp:lastPrinted>1601-01-01T00:00:00Z</cp:lastPrinted>
  <dcterms:created xsi:type="dcterms:W3CDTF">1601-01-01T00:00:00Z</dcterms:created>
  <dcterms:modified xsi:type="dcterms:W3CDTF">2019-06-20T09:11:21Z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