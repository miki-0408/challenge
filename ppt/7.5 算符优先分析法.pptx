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01" r:id="rId1"/>
  </p:sldMasterIdLst>
  <p:notesMasterIdLst>
    <p:notesMasterId r:id="rId21"/>
  </p:notesMasterIdLst>
  <p:handoutMasterIdLst>
    <p:handoutMasterId r:id="rId22"/>
  </p:handoutMasterIdLst>
  <p:sldIdLst>
    <p:sldId id="372" r:id="rId2"/>
    <p:sldId id="373" r:id="rId3"/>
    <p:sldId id="394" r:id="rId4"/>
    <p:sldId id="393" r:id="rId5"/>
    <p:sldId id="374" r:id="rId6"/>
    <p:sldId id="377" r:id="rId7"/>
    <p:sldId id="376" r:id="rId8"/>
    <p:sldId id="381" r:id="rId9"/>
    <p:sldId id="380" r:id="rId10"/>
    <p:sldId id="379" r:id="rId11"/>
    <p:sldId id="386" r:id="rId12"/>
    <p:sldId id="375" r:id="rId13"/>
    <p:sldId id="385" r:id="rId14"/>
    <p:sldId id="382" r:id="rId15"/>
    <p:sldId id="388" r:id="rId16"/>
    <p:sldId id="390" r:id="rId17"/>
    <p:sldId id="391" r:id="rId18"/>
    <p:sldId id="387" r:id="rId19"/>
    <p:sldId id="383" r:id="rId20"/>
  </p:sldIdLst>
  <p:sldSz cx="12192000" cy="6858000"/>
  <p:notesSz cx="2782888" cy="3717925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853E"/>
    <a:srgbClr val="EE8A3E"/>
    <a:srgbClr val="D9B247"/>
    <a:srgbClr val="0B3C4D"/>
    <a:srgbClr val="051012"/>
    <a:srgbClr val="182A48"/>
    <a:srgbClr val="A18D60"/>
    <a:srgbClr val="E98A3E"/>
    <a:srgbClr val="04141B"/>
    <a:srgbClr val="2A99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37" autoAdjust="0"/>
    <p:restoredTop sz="89127" autoAdjust="0"/>
  </p:normalViewPr>
  <p:slideViewPr>
    <p:cSldViewPr>
      <p:cViewPr varScale="1">
        <p:scale>
          <a:sx n="65" d="100"/>
          <a:sy n="65" d="100"/>
        </p:scale>
        <p:origin x="60" y="39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1467"/>
    </p:cViewPr>
  </p:sorterViewPr>
  <p:notesViewPr>
    <p:cSldViewPr>
      <p:cViewPr varScale="1">
        <p:scale>
          <a:sx n="183" d="100"/>
          <a:sy n="183" d="100"/>
        </p:scale>
        <p:origin x="2668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5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1576388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1576388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F22DA3B-951B-42A7-9A91-80A8B753C47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6196182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7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>
            <a:lvl1pPr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47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1576388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>
            <a:lvl1pPr algn="r"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83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53988" y="279400"/>
            <a:ext cx="2474912" cy="13938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747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277813" y="1765300"/>
            <a:ext cx="2227262" cy="1673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747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b" anchorCtr="0" compatLnSpc="1">
            <a:prstTxWarp prst="textNoShape">
              <a:avLst/>
            </a:prstTxWarp>
          </a:bodyPr>
          <a:lstStyle>
            <a:lvl1pPr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47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1576388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b" anchorCtr="0" compatLnSpc="1">
            <a:prstTxWarp prst="textNoShape">
              <a:avLst/>
            </a:prstTxWarp>
          </a:bodyPr>
          <a:lstStyle>
            <a:lvl1pPr algn="r" defTabSz="371475">
              <a:defRPr sz="500"/>
            </a:lvl1pPr>
          </a:lstStyle>
          <a:p>
            <a:fld id="{7C94B347-5D95-4F16-91F2-C12A0B20C48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4277146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91211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70377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97404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91663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33944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847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692398" y="3623737"/>
            <a:ext cx="6815669" cy="94826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单击此处添加副标题</a:t>
            </a:r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692398" y="2057406"/>
            <a:ext cx="6815669" cy="1329259"/>
          </a:xfrm>
          <a:prstGeom prst="rect">
            <a:avLst/>
          </a:prstGeom>
        </p:spPr>
        <p:txBody>
          <a:bodyPr anchor="ctr"/>
          <a:lstStyle>
            <a:lvl1pPr>
              <a:defRPr sz="6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8557376-49C6-4381-B102-72EEC70D751A}"/>
              </a:ext>
            </a:extLst>
          </p:cNvPr>
          <p:cNvCxnSpPr>
            <a:cxnSpLocks/>
          </p:cNvCxnSpPr>
          <p:nvPr userDrawn="1"/>
        </p:nvCxnSpPr>
        <p:spPr>
          <a:xfrm>
            <a:off x="2692398" y="3505200"/>
            <a:ext cx="6815669" cy="0"/>
          </a:xfrm>
          <a:prstGeom prst="line">
            <a:avLst/>
          </a:prstGeom>
          <a:ln w="12700">
            <a:gradFill flip="none" rotWithShape="1">
              <a:gsLst>
                <a:gs pos="59000">
                  <a:schemeClr val="bg1">
                    <a:alpha val="21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6784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4CDCAD84-E465-486F-85C0-B8CA0688ED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900000"/>
            <a:ext cx="10751844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A8E36B22-94F4-4875-8A46-5B092EAFAC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E0F09CF-38EF-40AF-8852-E6AA05DD2C4C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4E725819-6F84-4DA7-A045-AF9FEFD8BDE3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9" name="任意多边形 41">
              <a:extLst>
                <a:ext uri="{FF2B5EF4-FFF2-40B4-BE49-F238E27FC236}">
                  <a16:creationId xmlns:a16="http://schemas.microsoft.com/office/drawing/2014/main" id="{9E81EAE9-575A-411E-ACBB-AB8DB96140AB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C33C9AF3-5E2C-4CED-9B65-BB1F009F74CA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11923961-9316-450E-8E0C-6159462127C6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26317C85-12BB-4EC9-8CD4-FE3D7DB6AB10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4EC1B1CD-714D-4D4C-AA93-7517ADCCDF65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平行四边形 13">
              <a:extLst>
                <a:ext uri="{FF2B5EF4-FFF2-40B4-BE49-F238E27FC236}">
                  <a16:creationId xmlns:a16="http://schemas.microsoft.com/office/drawing/2014/main" id="{4E566B63-83F1-4353-B6DA-291D2A2431AE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2928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5E28B1FC-3605-4CC3-A226-94C02D2641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8A153692-77AD-465A-A07A-1F236B045846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>
            <a:extLst>
              <a:ext uri="{FF2B5EF4-FFF2-40B4-BE49-F238E27FC236}">
                <a16:creationId xmlns:a16="http://schemas.microsoft.com/office/drawing/2014/main" id="{1A30A995-568B-4288-A1AE-69EE8DAF081C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8" name="任意多边形 41">
              <a:extLst>
                <a:ext uri="{FF2B5EF4-FFF2-40B4-BE49-F238E27FC236}">
                  <a16:creationId xmlns:a16="http://schemas.microsoft.com/office/drawing/2014/main" id="{548C9EB0-9642-44C5-B2B7-07F802F76B58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平行四边形 8">
              <a:extLst>
                <a:ext uri="{FF2B5EF4-FFF2-40B4-BE49-F238E27FC236}">
                  <a16:creationId xmlns:a16="http://schemas.microsoft.com/office/drawing/2014/main" id="{19E95DC8-161D-40C4-9683-31996CC1D0AF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1F05C3C9-12CA-416C-9887-3B295CCCFB74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F7FFC115-1EE8-42CC-B656-23881B4B180E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0214CFBE-9CFB-4E8F-ACC6-A52DE709F3F1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898DDCA7-1785-41D9-A6F9-240A9B2251D5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73167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8737600" y="6324600"/>
            <a:ext cx="28448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B2FDBB58-2C80-425D-AF71-964A82DB83B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74799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533400"/>
            <a:ext cx="10972800" cy="12192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752600"/>
            <a:ext cx="5384800" cy="4572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752600"/>
            <a:ext cx="5384800" cy="4572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37600" y="6324600"/>
            <a:ext cx="2844800" cy="3810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1E42F5C2-5D40-40E0-A627-C2C5FC2FD31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06611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5404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02" r:id="rId1"/>
    <p:sldLayoutId id="2147484303" r:id="rId2"/>
    <p:sldLayoutId id="2147484308" r:id="rId3"/>
    <p:sldLayoutId id="2147484309" r:id="rId4"/>
    <p:sldLayoutId id="2147484310" r:id="rId5"/>
  </p:sldLayoutIdLst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3600" kern="1200" cap="none">
          <a:ln w="3175" cmpd="sng">
            <a:noFill/>
          </a:ln>
          <a:solidFill>
            <a:schemeClr val="bg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8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1pPr>
      <a:lvl2pPr marL="4572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4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2pPr>
      <a:lvl3pPr marL="9144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0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18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16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>
            <a:extLst>
              <a:ext uri="{FF2B5EF4-FFF2-40B4-BE49-F238E27FC236}">
                <a16:creationId xmlns:a16="http://schemas.microsoft.com/office/drawing/2014/main" id="{6DBCB7D3-3664-448E-8AFB-2F9803AB283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/>
              <a:t>第七章 语法分析</a:t>
            </a:r>
            <a:endParaRPr lang="zh-CN" altLang="en-US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5A6E4869-161E-4E0A-87C0-52C9CF42DC82}"/>
              </a:ext>
            </a:extLst>
          </p:cNvPr>
          <p:cNvGrpSpPr>
            <a:grpSpLocks noChangeAspect="1"/>
          </p:cNvGrpSpPr>
          <p:nvPr/>
        </p:nvGrpSpPr>
        <p:grpSpPr>
          <a:xfrm>
            <a:off x="2984433" y="1638300"/>
            <a:ext cx="6223134" cy="3581400"/>
            <a:chOff x="1449652" y="2320203"/>
            <a:chExt cx="4724869" cy="2719152"/>
          </a:xfrm>
        </p:grpSpPr>
        <p:grpSp>
          <p:nvGrpSpPr>
            <p:cNvPr id="6" name="Group 78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6B464E78-0213-4258-9BA3-F024CB4694A2}"/>
                </a:ext>
              </a:extLst>
            </p:cNvPr>
            <p:cNvGrpSpPr/>
            <p:nvPr/>
          </p:nvGrpSpPr>
          <p:grpSpPr>
            <a:xfrm>
              <a:off x="1449652" y="2320203"/>
              <a:ext cx="4724869" cy="2719152"/>
              <a:chOff x="8440747" y="4796156"/>
              <a:chExt cx="2786063" cy="1603375"/>
            </a:xfrm>
          </p:grpSpPr>
          <p:sp>
            <p:nvSpPr>
              <p:cNvPr id="11" name="Freeform 45">
                <a:extLst>
                  <a:ext uri="{FF2B5EF4-FFF2-40B4-BE49-F238E27FC236}">
                    <a16:creationId xmlns:a16="http://schemas.microsoft.com/office/drawing/2014/main" id="{0AAF4C99-21B1-4C65-9170-DBB9F406EE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40747" y="6337618"/>
                <a:ext cx="1403350" cy="61913"/>
              </a:xfrm>
              <a:custGeom>
                <a:avLst/>
                <a:gdLst>
                  <a:gd name="T0" fmla="*/ 0 w 885"/>
                  <a:gd name="T1" fmla="*/ 16 h 39"/>
                  <a:gd name="T2" fmla="*/ 78 w 885"/>
                  <a:gd name="T3" fmla="*/ 39 h 39"/>
                  <a:gd name="T4" fmla="*/ 885 w 885"/>
                  <a:gd name="T5" fmla="*/ 39 h 39"/>
                  <a:gd name="T6" fmla="*/ 885 w 885"/>
                  <a:gd name="T7" fmla="*/ 0 h 39"/>
                  <a:gd name="T8" fmla="*/ 0 w 885"/>
                  <a:gd name="T9" fmla="*/ 0 h 39"/>
                  <a:gd name="T10" fmla="*/ 0 w 885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5" h="39">
                    <a:moveTo>
                      <a:pt x="0" y="16"/>
                    </a:moveTo>
                    <a:cubicBezTo>
                      <a:pt x="0" y="23"/>
                      <a:pt x="30" y="39"/>
                      <a:pt x="78" y="39"/>
                    </a:cubicBezTo>
                    <a:cubicBezTo>
                      <a:pt x="126" y="39"/>
                      <a:pt x="885" y="39"/>
                      <a:pt x="885" y="39"/>
                    </a:cubicBezTo>
                    <a:cubicBezTo>
                      <a:pt x="885" y="0"/>
                      <a:pt x="885" y="0"/>
                      <a:pt x="885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2" name="Freeform 46">
                <a:extLst>
                  <a:ext uri="{FF2B5EF4-FFF2-40B4-BE49-F238E27FC236}">
                    <a16:creationId xmlns:a16="http://schemas.microsoft.com/office/drawing/2014/main" id="{42F4E6CE-4F80-41FB-8539-E7049AA88C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23459" y="6337618"/>
                <a:ext cx="1403350" cy="61913"/>
              </a:xfrm>
              <a:custGeom>
                <a:avLst/>
                <a:gdLst>
                  <a:gd name="T0" fmla="*/ 884 w 884"/>
                  <a:gd name="T1" fmla="*/ 16 h 39"/>
                  <a:gd name="T2" fmla="*/ 806 w 884"/>
                  <a:gd name="T3" fmla="*/ 39 h 39"/>
                  <a:gd name="T4" fmla="*/ 0 w 884"/>
                  <a:gd name="T5" fmla="*/ 39 h 39"/>
                  <a:gd name="T6" fmla="*/ 0 w 884"/>
                  <a:gd name="T7" fmla="*/ 0 h 39"/>
                  <a:gd name="T8" fmla="*/ 884 w 884"/>
                  <a:gd name="T9" fmla="*/ 0 h 39"/>
                  <a:gd name="T10" fmla="*/ 884 w 884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4" h="39">
                    <a:moveTo>
                      <a:pt x="884" y="16"/>
                    </a:moveTo>
                    <a:cubicBezTo>
                      <a:pt x="884" y="23"/>
                      <a:pt x="854" y="39"/>
                      <a:pt x="806" y="39"/>
                    </a:cubicBezTo>
                    <a:cubicBezTo>
                      <a:pt x="758" y="39"/>
                      <a:pt x="0" y="39"/>
                      <a:pt x="0" y="3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884" y="0"/>
                      <a:pt x="884" y="0"/>
                      <a:pt x="884" y="0"/>
                    </a:cubicBezTo>
                    <a:lnTo>
                      <a:pt x="884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3" name="Freeform 47">
                <a:extLst>
                  <a:ext uri="{FF2B5EF4-FFF2-40B4-BE49-F238E27FC236}">
                    <a16:creationId xmlns:a16="http://schemas.microsoft.com/office/drawing/2014/main" id="{CF1B1288-17F3-48AE-A6F4-F3DDDFC323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5384" y="4796156"/>
                <a:ext cx="2257425" cy="1546225"/>
              </a:xfrm>
              <a:custGeom>
                <a:avLst/>
                <a:gdLst>
                  <a:gd name="T0" fmla="*/ 1378 w 1423"/>
                  <a:gd name="T1" fmla="*/ 0 h 974"/>
                  <a:gd name="T2" fmla="*/ 45 w 1423"/>
                  <a:gd name="T3" fmla="*/ 0 h 974"/>
                  <a:gd name="T4" fmla="*/ 0 w 1423"/>
                  <a:gd name="T5" fmla="*/ 45 h 974"/>
                  <a:gd name="T6" fmla="*/ 0 w 1423"/>
                  <a:gd name="T7" fmla="*/ 218 h 974"/>
                  <a:gd name="T8" fmla="*/ 0 w 1423"/>
                  <a:gd name="T9" fmla="*/ 929 h 974"/>
                  <a:gd name="T10" fmla="*/ 45 w 1423"/>
                  <a:gd name="T11" fmla="*/ 974 h 974"/>
                  <a:gd name="T12" fmla="*/ 1378 w 1423"/>
                  <a:gd name="T13" fmla="*/ 974 h 974"/>
                  <a:gd name="T14" fmla="*/ 1423 w 1423"/>
                  <a:gd name="T15" fmla="*/ 929 h 974"/>
                  <a:gd name="T16" fmla="*/ 1423 w 1423"/>
                  <a:gd name="T17" fmla="*/ 45 h 974"/>
                  <a:gd name="T18" fmla="*/ 1378 w 1423"/>
                  <a:gd name="T19" fmla="*/ 0 h 9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23" h="974">
                    <a:moveTo>
                      <a:pt x="1378" y="0"/>
                    </a:moveTo>
                    <a:cubicBezTo>
                      <a:pt x="45" y="0"/>
                      <a:pt x="45" y="0"/>
                      <a:pt x="45" y="0"/>
                    </a:cubicBezTo>
                    <a:cubicBezTo>
                      <a:pt x="20" y="0"/>
                      <a:pt x="0" y="20"/>
                      <a:pt x="0" y="45"/>
                    </a:cubicBezTo>
                    <a:cubicBezTo>
                      <a:pt x="0" y="218"/>
                      <a:pt x="0" y="218"/>
                      <a:pt x="0" y="218"/>
                    </a:cubicBezTo>
                    <a:cubicBezTo>
                      <a:pt x="0" y="929"/>
                      <a:pt x="0" y="929"/>
                      <a:pt x="0" y="929"/>
                    </a:cubicBezTo>
                    <a:cubicBezTo>
                      <a:pt x="0" y="954"/>
                      <a:pt x="20" y="974"/>
                      <a:pt x="45" y="974"/>
                    </a:cubicBezTo>
                    <a:cubicBezTo>
                      <a:pt x="1378" y="974"/>
                      <a:pt x="1378" y="974"/>
                      <a:pt x="1378" y="974"/>
                    </a:cubicBezTo>
                    <a:cubicBezTo>
                      <a:pt x="1403" y="974"/>
                      <a:pt x="1423" y="954"/>
                      <a:pt x="1423" y="929"/>
                    </a:cubicBezTo>
                    <a:cubicBezTo>
                      <a:pt x="1423" y="45"/>
                      <a:pt x="1423" y="45"/>
                      <a:pt x="1423" y="45"/>
                    </a:cubicBezTo>
                    <a:cubicBezTo>
                      <a:pt x="1423" y="20"/>
                      <a:pt x="1403" y="0"/>
                      <a:pt x="1378" y="0"/>
                    </a:cubicBezTo>
                    <a:close/>
                  </a:path>
                </a:pathLst>
              </a:custGeom>
              <a:solidFill>
                <a:srgbClr val="D2D3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4" name="Freeform 48">
                <a:extLst>
                  <a:ext uri="{FF2B5EF4-FFF2-40B4-BE49-F238E27FC236}">
                    <a16:creationId xmlns:a16="http://schemas.microsoft.com/office/drawing/2014/main" id="{F028F4F2-46C5-4AF7-A757-F80DCF29FD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4804093"/>
                <a:ext cx="2243138" cy="1530350"/>
              </a:xfrm>
              <a:custGeom>
                <a:avLst/>
                <a:gdLst>
                  <a:gd name="T0" fmla="*/ 40 w 1414"/>
                  <a:gd name="T1" fmla="*/ 964 h 964"/>
                  <a:gd name="T2" fmla="*/ 0 w 1414"/>
                  <a:gd name="T3" fmla="*/ 924 h 964"/>
                  <a:gd name="T4" fmla="*/ 0 w 1414"/>
                  <a:gd name="T5" fmla="*/ 40 h 964"/>
                  <a:gd name="T6" fmla="*/ 40 w 1414"/>
                  <a:gd name="T7" fmla="*/ 0 h 964"/>
                  <a:gd name="T8" fmla="*/ 1373 w 1414"/>
                  <a:gd name="T9" fmla="*/ 0 h 964"/>
                  <a:gd name="T10" fmla="*/ 1414 w 1414"/>
                  <a:gd name="T11" fmla="*/ 40 h 964"/>
                  <a:gd name="T12" fmla="*/ 1414 w 1414"/>
                  <a:gd name="T13" fmla="*/ 924 h 964"/>
                  <a:gd name="T14" fmla="*/ 1373 w 1414"/>
                  <a:gd name="T15" fmla="*/ 964 h 964"/>
                  <a:gd name="T16" fmla="*/ 40 w 1414"/>
                  <a:gd name="T17" fmla="*/ 964 h 9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964">
                    <a:moveTo>
                      <a:pt x="40" y="964"/>
                    </a:moveTo>
                    <a:cubicBezTo>
                      <a:pt x="18" y="964"/>
                      <a:pt x="0" y="946"/>
                      <a:pt x="0" y="924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1373" y="0"/>
                      <a:pt x="1373" y="0"/>
                      <a:pt x="1373" y="0"/>
                    </a:cubicBezTo>
                    <a:cubicBezTo>
                      <a:pt x="1396" y="0"/>
                      <a:pt x="1414" y="18"/>
                      <a:pt x="1414" y="40"/>
                    </a:cubicBezTo>
                    <a:cubicBezTo>
                      <a:pt x="1414" y="924"/>
                      <a:pt x="1414" y="924"/>
                      <a:pt x="1414" y="924"/>
                    </a:cubicBezTo>
                    <a:cubicBezTo>
                      <a:pt x="1414" y="946"/>
                      <a:pt x="1396" y="964"/>
                      <a:pt x="1373" y="964"/>
                    </a:cubicBezTo>
                    <a:lnTo>
                      <a:pt x="40" y="964"/>
                    </a:lnTo>
                    <a:close/>
                  </a:path>
                </a:pathLst>
              </a:custGeom>
              <a:solidFill>
                <a:srgbClr val="1818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5" name="Freeform 49">
                <a:extLst>
                  <a:ext uri="{FF2B5EF4-FFF2-40B4-BE49-F238E27FC236}">
                    <a16:creationId xmlns:a16="http://schemas.microsoft.com/office/drawing/2014/main" id="{0FA8FE6F-7911-4DA3-9280-CD41893BC2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6269356"/>
                <a:ext cx="2243138" cy="65088"/>
              </a:xfrm>
              <a:custGeom>
                <a:avLst/>
                <a:gdLst>
                  <a:gd name="T0" fmla="*/ 1414 w 1414"/>
                  <a:gd name="T1" fmla="*/ 0 h 41"/>
                  <a:gd name="T2" fmla="*/ 1396 w 1414"/>
                  <a:gd name="T3" fmla="*/ 9 h 41"/>
                  <a:gd name="T4" fmla="*/ 18 w 1414"/>
                  <a:gd name="T5" fmla="*/ 9 h 41"/>
                  <a:gd name="T6" fmla="*/ 0 w 1414"/>
                  <a:gd name="T7" fmla="*/ 0 h 41"/>
                  <a:gd name="T8" fmla="*/ 0 w 1414"/>
                  <a:gd name="T9" fmla="*/ 1 h 41"/>
                  <a:gd name="T10" fmla="*/ 40 w 1414"/>
                  <a:gd name="T11" fmla="*/ 41 h 41"/>
                  <a:gd name="T12" fmla="*/ 1373 w 1414"/>
                  <a:gd name="T13" fmla="*/ 41 h 41"/>
                  <a:gd name="T14" fmla="*/ 1414 w 1414"/>
                  <a:gd name="T15" fmla="*/ 1 h 41"/>
                  <a:gd name="T16" fmla="*/ 1414 w 1414"/>
                  <a:gd name="T17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41">
                    <a:moveTo>
                      <a:pt x="1414" y="0"/>
                    </a:moveTo>
                    <a:cubicBezTo>
                      <a:pt x="1409" y="6"/>
                      <a:pt x="1403" y="9"/>
                      <a:pt x="1396" y="9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0" y="9"/>
                      <a:pt x="4" y="6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3"/>
                      <a:pt x="18" y="41"/>
                      <a:pt x="40" y="41"/>
                    </a:cubicBezTo>
                    <a:cubicBezTo>
                      <a:pt x="1373" y="41"/>
                      <a:pt x="1373" y="41"/>
                      <a:pt x="1373" y="41"/>
                    </a:cubicBezTo>
                    <a:cubicBezTo>
                      <a:pt x="1396" y="41"/>
                      <a:pt x="1414" y="23"/>
                      <a:pt x="1414" y="1"/>
                    </a:cubicBezTo>
                    <a:lnTo>
                      <a:pt x="1414" y="0"/>
                    </a:lnTo>
                    <a:close/>
                  </a:path>
                </a:pathLst>
              </a:cu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6" name="Rectangle 50">
                <a:extLst>
                  <a:ext uri="{FF2B5EF4-FFF2-40B4-BE49-F238E27FC236}">
                    <a16:creationId xmlns:a16="http://schemas.microsoft.com/office/drawing/2014/main" id="{0CC20CD7-5926-4020-B630-6E6CB06605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40747" y="6312218"/>
                <a:ext cx="2786063" cy="50800"/>
              </a:xfrm>
              <a:prstGeom prst="rect">
                <a:avLst/>
              </a:prstGeom>
              <a:solidFill>
                <a:srgbClr val="D2D6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7" name="Freeform 51">
                <a:extLst>
                  <a:ext uri="{FF2B5EF4-FFF2-40B4-BE49-F238E27FC236}">
                    <a16:creationId xmlns:a16="http://schemas.microsoft.com/office/drawing/2014/main" id="{43560EC3-2B3C-4178-A88D-F5F6BE39C1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32959" y="6312218"/>
                <a:ext cx="400050" cy="28575"/>
              </a:xfrm>
              <a:custGeom>
                <a:avLst/>
                <a:gdLst>
                  <a:gd name="T0" fmla="*/ 0 w 252"/>
                  <a:gd name="T1" fmla="*/ 0 h 18"/>
                  <a:gd name="T2" fmla="*/ 22 w 252"/>
                  <a:gd name="T3" fmla="*/ 18 h 18"/>
                  <a:gd name="T4" fmla="*/ 230 w 252"/>
                  <a:gd name="T5" fmla="*/ 18 h 18"/>
                  <a:gd name="T6" fmla="*/ 252 w 252"/>
                  <a:gd name="T7" fmla="*/ 0 h 18"/>
                  <a:gd name="T8" fmla="*/ 0 w 252"/>
                  <a:gd name="T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2" h="18">
                    <a:moveTo>
                      <a:pt x="0" y="0"/>
                    </a:moveTo>
                    <a:cubicBezTo>
                      <a:pt x="2" y="10"/>
                      <a:pt x="11" y="18"/>
                      <a:pt x="22" y="18"/>
                    </a:cubicBezTo>
                    <a:cubicBezTo>
                      <a:pt x="230" y="18"/>
                      <a:pt x="230" y="18"/>
                      <a:pt x="230" y="18"/>
                    </a:cubicBezTo>
                    <a:cubicBezTo>
                      <a:pt x="241" y="18"/>
                      <a:pt x="250" y="10"/>
                      <a:pt x="25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8" name="Rectangle 52">
                <a:extLst>
                  <a:ext uri="{FF2B5EF4-FFF2-40B4-BE49-F238E27FC236}">
                    <a16:creationId xmlns:a16="http://schemas.microsoft.com/office/drawing/2014/main" id="{5FF586EA-939E-4292-B33F-19F5CF1899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97934" y="4900931"/>
                <a:ext cx="2093913" cy="1322388"/>
              </a:xfrm>
              <a:prstGeom prst="rect">
                <a:avLst/>
              </a:pr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9" name="Rectangle 53">
                <a:extLst>
                  <a:ext uri="{FF2B5EF4-FFF2-40B4-BE49-F238E27FC236}">
                    <a16:creationId xmlns:a16="http://schemas.microsoft.com/office/drawing/2014/main" id="{A24BBED8-D594-40A5-A918-74EE9FA5C3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04284" y="4908868"/>
                <a:ext cx="2079625" cy="1308100"/>
              </a:xfrm>
              <a:prstGeom prst="rect">
                <a:avLst/>
              </a:prstGeom>
              <a:solidFill>
                <a:srgbClr val="C6C6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0" name="Oval 54">
                <a:extLst>
                  <a:ext uri="{FF2B5EF4-FFF2-40B4-BE49-F238E27FC236}">
                    <a16:creationId xmlns:a16="http://schemas.microsoft.com/office/drawing/2014/main" id="{6B28BA7D-3322-4138-9747-9B16C575E5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5368"/>
                <a:ext cx="23813" cy="23813"/>
              </a:xfrm>
              <a:prstGeom prst="ellipse">
                <a:avLst/>
              </a:prstGeom>
              <a:solidFill>
                <a:srgbClr val="2C2C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1" name="Oval 55">
                <a:extLst>
                  <a:ext uri="{FF2B5EF4-FFF2-40B4-BE49-F238E27FC236}">
                    <a16:creationId xmlns:a16="http://schemas.microsoft.com/office/drawing/2014/main" id="{2F5F9035-B4F1-4847-BB55-10B3F1E3B3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3781"/>
                <a:ext cx="23813" cy="22225"/>
              </a:xfrm>
              <a:prstGeom prst="ellipse">
                <a:avLst/>
              </a:prstGeom>
              <a:solidFill>
                <a:srgbClr val="0A0A0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2" name="Oval 56">
                <a:extLst>
                  <a:ext uri="{FF2B5EF4-FFF2-40B4-BE49-F238E27FC236}">
                    <a16:creationId xmlns:a16="http://schemas.microsoft.com/office/drawing/2014/main" id="{7E773054-250E-45A4-B703-E04E19F39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6159" y="4846956"/>
                <a:ext cx="14288" cy="15875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3" name="Oval 57">
                <a:extLst>
                  <a:ext uri="{FF2B5EF4-FFF2-40B4-BE49-F238E27FC236}">
                    <a16:creationId xmlns:a16="http://schemas.microsoft.com/office/drawing/2014/main" id="{4DBFDE35-A851-45E3-B125-87316FAE5B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334" y="4851718"/>
                <a:ext cx="7938" cy="7938"/>
              </a:xfrm>
              <a:prstGeom prst="ellipse">
                <a:avLst/>
              </a:prstGeom>
              <a:solidFill>
                <a:srgbClr val="2C99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4" name="Freeform 58">
                <a:extLst>
                  <a:ext uri="{FF2B5EF4-FFF2-40B4-BE49-F238E27FC236}">
                    <a16:creationId xmlns:a16="http://schemas.microsoft.com/office/drawing/2014/main" id="{D19D53F3-FBC6-40CB-BFC1-35AA5208AB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42509" y="4853306"/>
                <a:ext cx="1588" cy="3175"/>
              </a:xfrm>
              <a:custGeom>
                <a:avLst/>
                <a:gdLst>
                  <a:gd name="T0" fmla="*/ 1 w 1"/>
                  <a:gd name="T1" fmla="*/ 1 h 2"/>
                  <a:gd name="T2" fmla="*/ 1 w 1"/>
                  <a:gd name="T3" fmla="*/ 2 h 2"/>
                  <a:gd name="T4" fmla="*/ 0 w 1"/>
                  <a:gd name="T5" fmla="*/ 1 h 2"/>
                  <a:gd name="T6" fmla="*/ 1 w 1"/>
                  <a:gd name="T7" fmla="*/ 0 h 2"/>
                  <a:gd name="T8" fmla="*/ 1 w 1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lnTo>
                      <a:pt x="1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7" name="Rectangle 93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0741D96E-8037-4722-9A7D-22D1E718F9D8}"/>
                </a:ext>
              </a:extLst>
            </p:cNvPr>
            <p:cNvSpPr/>
            <p:nvPr/>
          </p:nvSpPr>
          <p:spPr>
            <a:xfrm>
              <a:off x="2066172" y="2508657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>
                  <a:solidFill>
                    <a:schemeClr val="bg1"/>
                  </a:solidFill>
                  <a:latin typeface="+mj-ea"/>
                  <a:ea typeface="+mj-ea"/>
                </a:rPr>
                <a:t>第五节 算符优先分析法</a:t>
              </a:r>
              <a:endParaRPr lang="zh-CN" altLang="en-US" sz="24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8" name="Rectangle 94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E4182719-1631-476B-8107-AD3EE3E832C0}"/>
                </a:ext>
              </a:extLst>
            </p:cNvPr>
            <p:cNvSpPr/>
            <p:nvPr/>
          </p:nvSpPr>
          <p:spPr>
            <a:xfrm>
              <a:off x="2066172" y="3064164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第六节 </a:t>
              </a:r>
              <a:r>
                <a:rPr lang="en-US" altLang="zh-CN" sz="2400" b="1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LR</a:t>
              </a:r>
              <a:r>
                <a:rPr lang="zh-CN" altLang="en-US" sz="2400" b="1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分析法</a:t>
              </a:r>
              <a:endParaRPr lang="zh-CN" altLang="en-US" sz="2400" b="1" dirty="0">
                <a:solidFill>
                  <a:schemeClr val="bg1"/>
                </a:solidFill>
                <a:latin typeface="+mj-ea"/>
                <a:ea typeface="+mj-ea"/>
                <a:cs typeface="Clear Sans" panose="020B0503030202020304" pitchFamily="34" charset="0"/>
              </a:endParaRPr>
            </a:p>
          </p:txBody>
        </p:sp>
        <p:sp>
          <p:nvSpPr>
            <p:cNvPr id="9" name="Rectangle 95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7935E166-FAD5-4A3A-B94A-3995A4A679CA}"/>
                </a:ext>
              </a:extLst>
            </p:cNvPr>
            <p:cNvSpPr/>
            <p:nvPr/>
          </p:nvSpPr>
          <p:spPr>
            <a:xfrm>
              <a:off x="2066172" y="3618735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endParaRPr lang="zh-CN" altLang="en-US" sz="2400" b="1" dirty="0">
                <a:solidFill>
                  <a:schemeClr val="bg1"/>
                </a:solidFill>
                <a:latin typeface="+mj-ea"/>
                <a:ea typeface="+mj-ea"/>
                <a:cs typeface="Clear Sans" panose="020B0503030202020304" pitchFamily="34" charset="0"/>
              </a:endParaRPr>
            </a:p>
          </p:txBody>
        </p:sp>
        <p:sp>
          <p:nvSpPr>
            <p:cNvPr id="10" name="Rectangle 96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4BC68BE9-AB19-424E-BC85-905C1B758E42}"/>
                </a:ext>
              </a:extLst>
            </p:cNvPr>
            <p:cNvSpPr/>
            <p:nvPr/>
          </p:nvSpPr>
          <p:spPr>
            <a:xfrm>
              <a:off x="2066172" y="4174241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endParaRPr lang="zh-CN" altLang="en-US" sz="2400" b="1" dirty="0">
                <a:solidFill>
                  <a:schemeClr val="bg1"/>
                </a:solidFill>
                <a:latin typeface="+mj-ea"/>
                <a:ea typeface="+mj-ea"/>
                <a:cs typeface="Clear Sans" panose="020B0503030202020304" pitchFamily="34" charset="0"/>
              </a:endParaRPr>
            </a:p>
          </p:txBody>
        </p:sp>
      </p:grpSp>
      <p:sp>
        <p:nvSpPr>
          <p:cNvPr id="25" name="箭头: 右 24">
            <a:extLst>
              <a:ext uri="{FF2B5EF4-FFF2-40B4-BE49-F238E27FC236}">
                <a16:creationId xmlns:a16="http://schemas.microsoft.com/office/drawing/2014/main" id="{B6323BE9-57D8-467F-9A2D-90902E82A543}"/>
              </a:ext>
            </a:extLst>
          </p:cNvPr>
          <p:cNvSpPr/>
          <p:nvPr/>
        </p:nvSpPr>
        <p:spPr>
          <a:xfrm>
            <a:off x="2983159" y="1981200"/>
            <a:ext cx="540000" cy="540000"/>
          </a:xfrm>
          <a:prstGeom prst="rightArrow">
            <a:avLst/>
          </a:prstGeom>
          <a:solidFill>
            <a:srgbClr val="EE8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0375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2601132C-AA5B-4AD9-A15F-E23F335D03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EE853E"/>
                </a:solidFill>
              </a:rPr>
              <a:t>算符文法</a:t>
            </a:r>
            <a:r>
              <a:rPr lang="zh-CN" altLang="en-US" dirty="0"/>
              <a:t>：上下文无关文法</a:t>
            </a:r>
            <a:r>
              <a:rPr lang="en-US" altLang="zh-CN" dirty="0"/>
              <a:t>G</a:t>
            </a:r>
            <a:r>
              <a:rPr lang="zh-CN" altLang="en-US" dirty="0"/>
              <a:t>，如果没有形如 </a:t>
            </a:r>
            <a:r>
              <a:rPr lang="en-US" altLang="zh-CN" dirty="0" err="1"/>
              <a:t>P→ε</a:t>
            </a:r>
            <a:r>
              <a:rPr lang="en-US" altLang="zh-CN" dirty="0"/>
              <a:t> </a:t>
            </a:r>
            <a:r>
              <a:rPr lang="zh-CN" altLang="en-US" dirty="0"/>
              <a:t>和 </a:t>
            </a:r>
            <a:r>
              <a:rPr lang="en-US" altLang="zh-CN" dirty="0"/>
              <a:t>P→...QR... </a:t>
            </a:r>
            <a:r>
              <a:rPr lang="zh-CN" altLang="en-US" dirty="0"/>
              <a:t>的产生式，则称</a:t>
            </a:r>
            <a:r>
              <a:rPr lang="en-US" altLang="zh-CN" dirty="0"/>
              <a:t>G</a:t>
            </a:r>
            <a:r>
              <a:rPr lang="zh-CN" altLang="en-US" dirty="0"/>
              <a:t>为算符文法。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例如：文法</a:t>
            </a:r>
            <a:r>
              <a:rPr lang="en-US" altLang="zh-CN" dirty="0"/>
              <a:t>G</a:t>
            </a:r>
          </a:p>
          <a:p>
            <a:r>
              <a:rPr lang="en-US" altLang="zh-CN" dirty="0"/>
              <a:t>E → E + T | T</a:t>
            </a:r>
          </a:p>
          <a:p>
            <a:r>
              <a:rPr lang="en-US" altLang="zh-CN" dirty="0"/>
              <a:t>T → T * F | F</a:t>
            </a:r>
          </a:p>
          <a:p>
            <a:r>
              <a:rPr lang="en-US" altLang="zh-CN" dirty="0"/>
              <a:t>F → ( E ) | </a:t>
            </a:r>
            <a:r>
              <a:rPr lang="en-US" altLang="zh-CN" dirty="0" err="1"/>
              <a:t>i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F137CFD-9E41-4420-8F50-511535A01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算符文法</a:t>
            </a:r>
          </a:p>
        </p:txBody>
      </p:sp>
      <p:sp>
        <p:nvSpPr>
          <p:cNvPr id="54" name="Text Box 6">
            <a:extLst>
              <a:ext uri="{FF2B5EF4-FFF2-40B4-BE49-F238E27FC236}">
                <a16:creationId xmlns:a16="http://schemas.microsoft.com/office/drawing/2014/main" id="{CD2E00EE-6075-4BCB-A73E-B81D4C9C7F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7582" y="1600200"/>
            <a:ext cx="36099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E</a:t>
            </a:r>
          </a:p>
        </p:txBody>
      </p:sp>
      <p:sp>
        <p:nvSpPr>
          <p:cNvPr id="55" name="Line 13">
            <a:extLst>
              <a:ext uri="{FF2B5EF4-FFF2-40B4-BE49-F238E27FC236}">
                <a16:creationId xmlns:a16="http://schemas.microsoft.com/office/drawing/2014/main" id="{8F7C5B37-7705-4199-A8AB-287D5CD0BC8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85884" y="2074626"/>
            <a:ext cx="516205" cy="469729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56" name="Line 13">
            <a:extLst>
              <a:ext uri="{FF2B5EF4-FFF2-40B4-BE49-F238E27FC236}">
                <a16:creationId xmlns:a16="http://schemas.microsoft.com/office/drawing/2014/main" id="{CFAF71E5-CD96-49CE-885C-84C85FDBD3F8}"/>
              </a:ext>
            </a:extLst>
          </p:cNvPr>
          <p:cNvSpPr>
            <a:spLocks noChangeShapeType="1"/>
          </p:cNvSpPr>
          <p:nvPr/>
        </p:nvSpPr>
        <p:spPr bwMode="auto">
          <a:xfrm>
            <a:off x="6888302" y="2077556"/>
            <a:ext cx="516205" cy="463869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57" name="Line 13">
            <a:extLst>
              <a:ext uri="{FF2B5EF4-FFF2-40B4-BE49-F238E27FC236}">
                <a16:creationId xmlns:a16="http://schemas.microsoft.com/office/drawing/2014/main" id="{32B40FFB-F401-4D7F-A218-6B24E66B74D4}"/>
              </a:ext>
            </a:extLst>
          </p:cNvPr>
          <p:cNvSpPr>
            <a:spLocks noChangeShapeType="1"/>
          </p:cNvSpPr>
          <p:nvPr/>
        </p:nvSpPr>
        <p:spPr bwMode="auto">
          <a:xfrm>
            <a:off x="6706375" y="2065945"/>
            <a:ext cx="12332" cy="48709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58" name="Text Box 6">
            <a:extLst>
              <a:ext uri="{FF2B5EF4-FFF2-40B4-BE49-F238E27FC236}">
                <a16:creationId xmlns:a16="http://schemas.microsoft.com/office/drawing/2014/main" id="{B7DDD431-5D91-421B-B6CA-0CDE4E0A36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9426" y="2514600"/>
            <a:ext cx="36099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E</a:t>
            </a:r>
          </a:p>
        </p:txBody>
      </p:sp>
      <p:sp>
        <p:nvSpPr>
          <p:cNvPr id="59" name="Text Box 6">
            <a:extLst>
              <a:ext uri="{FF2B5EF4-FFF2-40B4-BE49-F238E27FC236}">
                <a16:creationId xmlns:a16="http://schemas.microsoft.com/office/drawing/2014/main" id="{1BC81384-A441-43EE-AC7F-E59E3BF78E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7582" y="2540334"/>
            <a:ext cx="4187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+</a:t>
            </a:r>
            <a:endParaRPr kumimoji="1" lang="en-US" altLang="zh-CN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60" name="Text Box 6">
            <a:extLst>
              <a:ext uri="{FF2B5EF4-FFF2-40B4-BE49-F238E27FC236}">
                <a16:creationId xmlns:a16="http://schemas.microsoft.com/office/drawing/2014/main" id="{070DCB9A-E9BC-4D6F-9EF7-DB00E3C685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9517" y="2527467"/>
            <a:ext cx="37702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T</a:t>
            </a:r>
            <a:endParaRPr kumimoji="1" lang="en-US" altLang="zh-CN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61" name="Line 13">
            <a:extLst>
              <a:ext uri="{FF2B5EF4-FFF2-40B4-BE49-F238E27FC236}">
                <a16:creationId xmlns:a16="http://schemas.microsoft.com/office/drawing/2014/main" id="{3C495EAE-C576-44C6-9BC4-A70E1D70B9D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53585" y="2999069"/>
            <a:ext cx="516205" cy="469729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62" name="Line 13">
            <a:extLst>
              <a:ext uri="{FF2B5EF4-FFF2-40B4-BE49-F238E27FC236}">
                <a16:creationId xmlns:a16="http://schemas.microsoft.com/office/drawing/2014/main" id="{9E23F885-E84C-4370-90A9-53221156BC0F}"/>
              </a:ext>
            </a:extLst>
          </p:cNvPr>
          <p:cNvSpPr>
            <a:spLocks noChangeShapeType="1"/>
          </p:cNvSpPr>
          <p:nvPr/>
        </p:nvSpPr>
        <p:spPr bwMode="auto">
          <a:xfrm>
            <a:off x="7756003" y="3001999"/>
            <a:ext cx="516205" cy="463869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63" name="Line 13">
            <a:extLst>
              <a:ext uri="{FF2B5EF4-FFF2-40B4-BE49-F238E27FC236}">
                <a16:creationId xmlns:a16="http://schemas.microsoft.com/office/drawing/2014/main" id="{7FB3195B-36E8-41B5-9962-FDA705A35EA9}"/>
              </a:ext>
            </a:extLst>
          </p:cNvPr>
          <p:cNvSpPr>
            <a:spLocks noChangeShapeType="1"/>
          </p:cNvSpPr>
          <p:nvPr/>
        </p:nvSpPr>
        <p:spPr bwMode="auto">
          <a:xfrm>
            <a:off x="7574076" y="2990388"/>
            <a:ext cx="12332" cy="48709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64" name="Text Box 6">
            <a:extLst>
              <a:ext uri="{FF2B5EF4-FFF2-40B4-BE49-F238E27FC236}">
                <a16:creationId xmlns:a16="http://schemas.microsoft.com/office/drawing/2014/main" id="{A716D6FE-D294-4CEC-A88C-EF33F77234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9612" y="3439043"/>
            <a:ext cx="37702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T</a:t>
            </a:r>
            <a:endParaRPr kumimoji="1" lang="en-US" altLang="zh-CN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65" name="Text Box 6">
            <a:extLst>
              <a:ext uri="{FF2B5EF4-FFF2-40B4-BE49-F238E27FC236}">
                <a16:creationId xmlns:a16="http://schemas.microsoft.com/office/drawing/2014/main" id="{66DFDE40-A1D2-4191-B190-0FE1A75A0B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5283" y="3464777"/>
            <a:ext cx="33534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*</a:t>
            </a:r>
            <a:endParaRPr kumimoji="1" lang="en-US" altLang="zh-CN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66" name="Text Box 6">
            <a:extLst>
              <a:ext uri="{FF2B5EF4-FFF2-40B4-BE49-F238E27FC236}">
                <a16:creationId xmlns:a16="http://schemas.microsoft.com/office/drawing/2014/main" id="{9D37041A-BD78-4B73-A3E1-A01D01E8A7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16012" y="3451910"/>
            <a:ext cx="36099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F</a:t>
            </a:r>
            <a:endParaRPr kumimoji="1" lang="en-US" altLang="zh-CN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67" name="Line 13">
            <a:extLst>
              <a:ext uri="{FF2B5EF4-FFF2-40B4-BE49-F238E27FC236}">
                <a16:creationId xmlns:a16="http://schemas.microsoft.com/office/drawing/2014/main" id="{CF0A3943-DD1A-4706-955F-09D961F93A32}"/>
              </a:ext>
            </a:extLst>
          </p:cNvPr>
          <p:cNvSpPr>
            <a:spLocks noChangeShapeType="1"/>
          </p:cNvSpPr>
          <p:nvPr/>
        </p:nvSpPr>
        <p:spPr bwMode="auto">
          <a:xfrm>
            <a:off x="5817593" y="2984329"/>
            <a:ext cx="12332" cy="48709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68" name="Text Box 6">
            <a:extLst>
              <a:ext uri="{FF2B5EF4-FFF2-40B4-BE49-F238E27FC236}">
                <a16:creationId xmlns:a16="http://schemas.microsoft.com/office/drawing/2014/main" id="{57B73541-A8D0-4D3A-8667-C95ED7C4FE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3458718"/>
            <a:ext cx="37702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T</a:t>
            </a:r>
            <a:endParaRPr kumimoji="1" lang="en-US" altLang="zh-CN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69" name="Line 13">
            <a:extLst>
              <a:ext uri="{FF2B5EF4-FFF2-40B4-BE49-F238E27FC236}">
                <a16:creationId xmlns:a16="http://schemas.microsoft.com/office/drawing/2014/main" id="{709A2606-C932-44B1-BD50-E1CC69776BCE}"/>
              </a:ext>
            </a:extLst>
          </p:cNvPr>
          <p:cNvSpPr>
            <a:spLocks noChangeShapeType="1"/>
          </p:cNvSpPr>
          <p:nvPr/>
        </p:nvSpPr>
        <p:spPr bwMode="auto">
          <a:xfrm>
            <a:off x="5823205" y="3931387"/>
            <a:ext cx="12332" cy="48709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70" name="Text Box 6">
            <a:extLst>
              <a:ext uri="{FF2B5EF4-FFF2-40B4-BE49-F238E27FC236}">
                <a16:creationId xmlns:a16="http://schemas.microsoft.com/office/drawing/2014/main" id="{4A207B9A-7F2B-4BA9-AFEF-1A32BB5D62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4412" y="4405776"/>
            <a:ext cx="36099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F</a:t>
            </a:r>
            <a:endParaRPr kumimoji="1" lang="en-US" altLang="zh-CN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71" name="Line 13">
            <a:extLst>
              <a:ext uri="{FF2B5EF4-FFF2-40B4-BE49-F238E27FC236}">
                <a16:creationId xmlns:a16="http://schemas.microsoft.com/office/drawing/2014/main" id="{6BD1843F-FAC7-4EDB-8558-19DC0AB48C68}"/>
              </a:ext>
            </a:extLst>
          </p:cNvPr>
          <p:cNvSpPr>
            <a:spLocks noChangeShapeType="1"/>
          </p:cNvSpPr>
          <p:nvPr/>
        </p:nvSpPr>
        <p:spPr bwMode="auto">
          <a:xfrm>
            <a:off x="6727869" y="3927533"/>
            <a:ext cx="12332" cy="48709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72" name="Text Box 6">
            <a:extLst>
              <a:ext uri="{FF2B5EF4-FFF2-40B4-BE49-F238E27FC236}">
                <a16:creationId xmlns:a16="http://schemas.microsoft.com/office/drawing/2014/main" id="{FE31F53E-D68C-4504-ACA4-0D7E3E406E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9076" y="4401922"/>
            <a:ext cx="36099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F</a:t>
            </a:r>
            <a:endParaRPr kumimoji="1" lang="en-US" altLang="zh-CN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73" name="Line 13">
            <a:extLst>
              <a:ext uri="{FF2B5EF4-FFF2-40B4-BE49-F238E27FC236}">
                <a16:creationId xmlns:a16="http://schemas.microsoft.com/office/drawing/2014/main" id="{465F4E66-B171-4FB7-A3D1-281062FAADAE}"/>
              </a:ext>
            </a:extLst>
          </p:cNvPr>
          <p:cNvSpPr>
            <a:spLocks noChangeShapeType="1"/>
          </p:cNvSpPr>
          <p:nvPr/>
        </p:nvSpPr>
        <p:spPr bwMode="auto">
          <a:xfrm>
            <a:off x="8395107" y="3921935"/>
            <a:ext cx="12332" cy="48709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74" name="Text Box 6">
            <a:extLst>
              <a:ext uri="{FF2B5EF4-FFF2-40B4-BE49-F238E27FC236}">
                <a16:creationId xmlns:a16="http://schemas.microsoft.com/office/drawing/2014/main" id="{D38FE629-DBD3-4223-8346-96B1F22CBB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6274" y="4396324"/>
            <a:ext cx="27603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i</a:t>
            </a:r>
            <a:endParaRPr kumimoji="1" lang="en-US" altLang="zh-CN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75" name="Line 13">
            <a:extLst>
              <a:ext uri="{FF2B5EF4-FFF2-40B4-BE49-F238E27FC236}">
                <a16:creationId xmlns:a16="http://schemas.microsoft.com/office/drawing/2014/main" id="{101858BF-19A8-4198-999D-5196AF5D87F5}"/>
              </a:ext>
            </a:extLst>
          </p:cNvPr>
          <p:cNvSpPr>
            <a:spLocks noChangeShapeType="1"/>
          </p:cNvSpPr>
          <p:nvPr/>
        </p:nvSpPr>
        <p:spPr bwMode="auto">
          <a:xfrm>
            <a:off x="5829371" y="4854740"/>
            <a:ext cx="12332" cy="48709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76" name="Text Box 6">
            <a:extLst>
              <a:ext uri="{FF2B5EF4-FFF2-40B4-BE49-F238E27FC236}">
                <a16:creationId xmlns:a16="http://schemas.microsoft.com/office/drawing/2014/main" id="{46ECA460-A5D1-4FE0-9AE9-AD1F7E0AB0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0538" y="5329129"/>
            <a:ext cx="27603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i</a:t>
            </a:r>
            <a:endParaRPr kumimoji="1" lang="en-US" altLang="zh-CN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77" name="Line 13">
            <a:extLst>
              <a:ext uri="{FF2B5EF4-FFF2-40B4-BE49-F238E27FC236}">
                <a16:creationId xmlns:a16="http://schemas.microsoft.com/office/drawing/2014/main" id="{7887FAB8-44BB-44AA-B5DC-9600486DFCC0}"/>
              </a:ext>
            </a:extLst>
          </p:cNvPr>
          <p:cNvSpPr>
            <a:spLocks noChangeShapeType="1"/>
          </p:cNvSpPr>
          <p:nvPr/>
        </p:nvSpPr>
        <p:spPr bwMode="auto">
          <a:xfrm>
            <a:off x="6728725" y="4863587"/>
            <a:ext cx="12332" cy="48709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78" name="Text Box 6">
            <a:extLst>
              <a:ext uri="{FF2B5EF4-FFF2-40B4-BE49-F238E27FC236}">
                <a16:creationId xmlns:a16="http://schemas.microsoft.com/office/drawing/2014/main" id="{6733611C-2472-447E-B82B-D4E277BCA1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9892" y="5337976"/>
            <a:ext cx="27603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i</a:t>
            </a:r>
            <a:endParaRPr kumimoji="1" lang="en-US" altLang="zh-CN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211096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55" grpId="0" animBg="1"/>
      <p:bldP spid="56" grpId="0" animBg="1"/>
      <p:bldP spid="57" grpId="0" animBg="1"/>
      <p:bldP spid="58" grpId="0"/>
      <p:bldP spid="59" grpId="0"/>
      <p:bldP spid="60" grpId="0"/>
      <p:bldP spid="61" grpId="0" animBg="1"/>
      <p:bldP spid="62" grpId="0" animBg="1"/>
      <p:bldP spid="63" grpId="0" animBg="1"/>
      <p:bldP spid="64" grpId="0"/>
      <p:bldP spid="65" grpId="0"/>
      <p:bldP spid="66" grpId="0"/>
      <p:bldP spid="67" grpId="0" animBg="1"/>
      <p:bldP spid="68" grpId="0"/>
      <p:bldP spid="69" grpId="0" animBg="1"/>
      <p:bldP spid="70" grpId="0"/>
      <p:bldP spid="71" grpId="0" animBg="1"/>
      <p:bldP spid="72" grpId="0"/>
      <p:bldP spid="73" grpId="0" animBg="1"/>
      <p:bldP spid="74" grpId="0"/>
      <p:bldP spid="75" grpId="0" animBg="1"/>
      <p:bldP spid="76" grpId="0"/>
      <p:bldP spid="77" grpId="0" animBg="1"/>
      <p:bldP spid="7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72D68209-C4E7-412A-B1C1-AF6C42848B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i</a:t>
            </a:r>
            <a:r>
              <a:rPr lang="en-US" altLang="zh-CN" dirty="0"/>
              <a:t>	+	</a:t>
            </a:r>
            <a:r>
              <a:rPr lang="en-US" altLang="zh-CN" dirty="0" err="1"/>
              <a:t>i</a:t>
            </a:r>
            <a:r>
              <a:rPr lang="en-US" altLang="zh-CN" dirty="0"/>
              <a:t>	*	</a:t>
            </a:r>
            <a:r>
              <a:rPr lang="en-US" altLang="zh-CN" dirty="0" err="1"/>
              <a:t>i</a:t>
            </a:r>
            <a:r>
              <a:rPr lang="en-US" altLang="zh-CN" dirty="0"/>
              <a:t>	(</a:t>
            </a:r>
            <a:r>
              <a:rPr lang="zh-CN" altLang="en-US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&gt;+ )</a:t>
            </a:r>
          </a:p>
          <a:p>
            <a:r>
              <a:rPr lang="en-US" altLang="zh-CN" dirty="0"/>
              <a:t>F	+	</a:t>
            </a:r>
            <a:r>
              <a:rPr lang="en-US" altLang="zh-CN" dirty="0" err="1"/>
              <a:t>i</a:t>
            </a:r>
            <a:r>
              <a:rPr lang="en-US" altLang="zh-CN" dirty="0"/>
              <a:t>	*	</a:t>
            </a:r>
            <a:r>
              <a:rPr lang="en-US" altLang="zh-CN" dirty="0" err="1"/>
              <a:t>i</a:t>
            </a:r>
            <a:r>
              <a:rPr lang="en-US" altLang="zh-CN" dirty="0"/>
              <a:t>	( +&lt;</a:t>
            </a:r>
            <a:r>
              <a:rPr lang="en-US" altLang="zh-CN" dirty="0" err="1"/>
              <a:t>i</a:t>
            </a:r>
            <a:r>
              <a:rPr lang="en-US" altLang="zh-CN" dirty="0"/>
              <a:t> , </a:t>
            </a:r>
            <a:r>
              <a:rPr lang="en-US" altLang="zh-CN" dirty="0" err="1"/>
              <a:t>i</a:t>
            </a:r>
            <a:r>
              <a:rPr lang="en-US" altLang="zh-CN" dirty="0"/>
              <a:t>&gt;* )</a:t>
            </a:r>
          </a:p>
          <a:p>
            <a:r>
              <a:rPr lang="en-US" altLang="zh-CN" dirty="0"/>
              <a:t>F	+	F	*	</a:t>
            </a:r>
            <a:r>
              <a:rPr lang="en-US" altLang="zh-CN" dirty="0" err="1"/>
              <a:t>i</a:t>
            </a:r>
            <a:r>
              <a:rPr lang="en-US" altLang="zh-CN" dirty="0"/>
              <a:t>	(</a:t>
            </a:r>
            <a:r>
              <a:rPr lang="zh-CN" altLang="en-US" dirty="0"/>
              <a:t> </a:t>
            </a:r>
            <a:r>
              <a:rPr lang="en-US" altLang="zh-CN" dirty="0"/>
              <a:t>+&lt;* , *&lt;</a:t>
            </a:r>
            <a:r>
              <a:rPr lang="en-US" altLang="zh-CN" dirty="0" err="1"/>
              <a:t>i</a:t>
            </a:r>
            <a:r>
              <a:rPr lang="en-US" altLang="zh-CN" dirty="0"/>
              <a:t> )</a:t>
            </a:r>
          </a:p>
          <a:p>
            <a:r>
              <a:rPr lang="en-US" altLang="zh-CN" dirty="0"/>
              <a:t>F	+	F	*	F	(</a:t>
            </a:r>
            <a:r>
              <a:rPr lang="zh-CN" altLang="en-US" dirty="0"/>
              <a:t> </a:t>
            </a:r>
            <a:r>
              <a:rPr lang="en-US" altLang="zh-CN" dirty="0"/>
              <a:t>+&lt;* )</a:t>
            </a:r>
          </a:p>
          <a:p>
            <a:r>
              <a:rPr lang="en-US" altLang="zh-CN" dirty="0"/>
              <a:t>F	+	T</a:t>
            </a:r>
          </a:p>
          <a:p>
            <a:r>
              <a:rPr lang="en-US" altLang="zh-CN" dirty="0"/>
              <a:t>E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45F2CE8-892E-4686-A0A6-DF9A80A41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求值过程（归约）</a:t>
            </a:r>
          </a:p>
        </p:txBody>
      </p:sp>
      <p:sp>
        <p:nvSpPr>
          <p:cNvPr id="4" name="Text Box 6">
            <a:extLst>
              <a:ext uri="{FF2B5EF4-FFF2-40B4-BE49-F238E27FC236}">
                <a16:creationId xmlns:a16="http://schemas.microsoft.com/office/drawing/2014/main" id="{541D0CB7-E54A-46D1-8145-9F9702DBED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89582" y="990600"/>
            <a:ext cx="36099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E</a:t>
            </a:r>
          </a:p>
        </p:txBody>
      </p:sp>
      <p:sp>
        <p:nvSpPr>
          <p:cNvPr id="5" name="Line 13">
            <a:extLst>
              <a:ext uri="{FF2B5EF4-FFF2-40B4-BE49-F238E27FC236}">
                <a16:creationId xmlns:a16="http://schemas.microsoft.com/office/drawing/2014/main" id="{9E27A1AD-4F3C-4BDA-9081-DD8C56165E4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47884" y="1465026"/>
            <a:ext cx="516205" cy="469729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Line 13">
            <a:extLst>
              <a:ext uri="{FF2B5EF4-FFF2-40B4-BE49-F238E27FC236}">
                <a16:creationId xmlns:a16="http://schemas.microsoft.com/office/drawing/2014/main" id="{A28AAE6D-4C4C-4E01-86A6-578CF8561349}"/>
              </a:ext>
            </a:extLst>
          </p:cNvPr>
          <p:cNvSpPr>
            <a:spLocks noChangeShapeType="1"/>
          </p:cNvSpPr>
          <p:nvPr/>
        </p:nvSpPr>
        <p:spPr bwMode="auto">
          <a:xfrm>
            <a:off x="7650302" y="1467956"/>
            <a:ext cx="516205" cy="463869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Line 13">
            <a:extLst>
              <a:ext uri="{FF2B5EF4-FFF2-40B4-BE49-F238E27FC236}">
                <a16:creationId xmlns:a16="http://schemas.microsoft.com/office/drawing/2014/main" id="{50BFDBCF-41A6-4781-BB74-7257E27E3A33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8375" y="1456345"/>
            <a:ext cx="12332" cy="48709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id="{DF6DA725-801A-4AEC-85B3-A80A530132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1426" y="1905000"/>
            <a:ext cx="36099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E</a:t>
            </a:r>
          </a:p>
        </p:txBody>
      </p:sp>
      <p:sp>
        <p:nvSpPr>
          <p:cNvPr id="9" name="Text Box 6">
            <a:extLst>
              <a:ext uri="{FF2B5EF4-FFF2-40B4-BE49-F238E27FC236}">
                <a16:creationId xmlns:a16="http://schemas.microsoft.com/office/drawing/2014/main" id="{EAE5D882-BC6E-4AAA-8F41-BEFDE3F316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89582" y="1930734"/>
            <a:ext cx="4187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+</a:t>
            </a:r>
            <a:endParaRPr kumimoji="1" lang="en-US" altLang="zh-CN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0" name="Text Box 6">
            <a:extLst>
              <a:ext uri="{FF2B5EF4-FFF2-40B4-BE49-F238E27FC236}">
                <a16:creationId xmlns:a16="http://schemas.microsoft.com/office/drawing/2014/main" id="{37B2707A-2D5A-44E3-A59F-4585D47563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1517" y="1917867"/>
            <a:ext cx="37702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T</a:t>
            </a:r>
            <a:endParaRPr kumimoji="1" lang="en-US" altLang="zh-CN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1" name="Line 13">
            <a:extLst>
              <a:ext uri="{FF2B5EF4-FFF2-40B4-BE49-F238E27FC236}">
                <a16:creationId xmlns:a16="http://schemas.microsoft.com/office/drawing/2014/main" id="{296B241E-27DD-4189-BCB0-E2B7CF64854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15585" y="2389469"/>
            <a:ext cx="516205" cy="469729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8E4429C0-BCC4-4C20-A285-2DAD239A6193}"/>
              </a:ext>
            </a:extLst>
          </p:cNvPr>
          <p:cNvSpPr>
            <a:spLocks noChangeShapeType="1"/>
          </p:cNvSpPr>
          <p:nvPr/>
        </p:nvSpPr>
        <p:spPr bwMode="auto">
          <a:xfrm>
            <a:off x="8518003" y="2392399"/>
            <a:ext cx="516205" cy="463869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3" name="Line 13">
            <a:extLst>
              <a:ext uri="{FF2B5EF4-FFF2-40B4-BE49-F238E27FC236}">
                <a16:creationId xmlns:a16="http://schemas.microsoft.com/office/drawing/2014/main" id="{1F04D30F-A723-4C61-A80E-B2209263004D}"/>
              </a:ext>
            </a:extLst>
          </p:cNvPr>
          <p:cNvSpPr>
            <a:spLocks noChangeShapeType="1"/>
          </p:cNvSpPr>
          <p:nvPr/>
        </p:nvSpPr>
        <p:spPr bwMode="auto">
          <a:xfrm>
            <a:off x="8336076" y="2380788"/>
            <a:ext cx="12332" cy="48709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4" name="Text Box 6">
            <a:extLst>
              <a:ext uri="{FF2B5EF4-FFF2-40B4-BE49-F238E27FC236}">
                <a16:creationId xmlns:a16="http://schemas.microsoft.com/office/drawing/2014/main" id="{29E067B3-30D7-4F1E-A010-297E276DDD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1612" y="2829443"/>
            <a:ext cx="37702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T</a:t>
            </a:r>
            <a:endParaRPr kumimoji="1" lang="en-US" altLang="zh-CN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5" name="Text Box 6">
            <a:extLst>
              <a:ext uri="{FF2B5EF4-FFF2-40B4-BE49-F238E27FC236}">
                <a16:creationId xmlns:a16="http://schemas.microsoft.com/office/drawing/2014/main" id="{C839E2A6-0CB5-4CD0-B401-95E3429168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7283" y="2855177"/>
            <a:ext cx="33534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*</a:t>
            </a:r>
            <a:endParaRPr kumimoji="1" lang="en-US" altLang="zh-CN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Text Box 6">
            <a:extLst>
              <a:ext uri="{FF2B5EF4-FFF2-40B4-BE49-F238E27FC236}">
                <a16:creationId xmlns:a16="http://schemas.microsoft.com/office/drawing/2014/main" id="{ECCA34E4-23E6-4EA8-B267-90E307914A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78012" y="2842310"/>
            <a:ext cx="36099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F</a:t>
            </a:r>
            <a:endParaRPr kumimoji="1" lang="en-US" altLang="zh-CN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Line 13">
            <a:extLst>
              <a:ext uri="{FF2B5EF4-FFF2-40B4-BE49-F238E27FC236}">
                <a16:creationId xmlns:a16="http://schemas.microsoft.com/office/drawing/2014/main" id="{43B6E3DE-70F4-4176-99B0-15E374BCCC31}"/>
              </a:ext>
            </a:extLst>
          </p:cNvPr>
          <p:cNvSpPr>
            <a:spLocks noChangeShapeType="1"/>
          </p:cNvSpPr>
          <p:nvPr/>
        </p:nvSpPr>
        <p:spPr bwMode="auto">
          <a:xfrm>
            <a:off x="6579593" y="2374729"/>
            <a:ext cx="12332" cy="48709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8" name="Text Box 6">
            <a:extLst>
              <a:ext uri="{FF2B5EF4-FFF2-40B4-BE49-F238E27FC236}">
                <a16:creationId xmlns:a16="http://schemas.microsoft.com/office/drawing/2014/main" id="{5F5DFDEF-207E-4563-A89E-5DD26FBD24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2849118"/>
            <a:ext cx="37702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T</a:t>
            </a:r>
            <a:endParaRPr kumimoji="1" lang="en-US" altLang="zh-CN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Line 13">
            <a:extLst>
              <a:ext uri="{FF2B5EF4-FFF2-40B4-BE49-F238E27FC236}">
                <a16:creationId xmlns:a16="http://schemas.microsoft.com/office/drawing/2014/main" id="{C4115FAE-6A8C-46D0-B534-419E0DAE3DA9}"/>
              </a:ext>
            </a:extLst>
          </p:cNvPr>
          <p:cNvSpPr>
            <a:spLocks noChangeShapeType="1"/>
          </p:cNvSpPr>
          <p:nvPr/>
        </p:nvSpPr>
        <p:spPr bwMode="auto">
          <a:xfrm>
            <a:off x="6585205" y="3321787"/>
            <a:ext cx="12332" cy="48709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20" name="Text Box 6">
            <a:extLst>
              <a:ext uri="{FF2B5EF4-FFF2-40B4-BE49-F238E27FC236}">
                <a16:creationId xmlns:a16="http://schemas.microsoft.com/office/drawing/2014/main" id="{9DF8D5F5-37BE-4664-B58A-901D7FCF21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6412" y="3796176"/>
            <a:ext cx="36099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F</a:t>
            </a:r>
            <a:endParaRPr kumimoji="1" lang="en-US" altLang="zh-CN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1" name="Line 13">
            <a:extLst>
              <a:ext uri="{FF2B5EF4-FFF2-40B4-BE49-F238E27FC236}">
                <a16:creationId xmlns:a16="http://schemas.microsoft.com/office/drawing/2014/main" id="{0C37023C-C801-4620-AC67-BD356FDC8602}"/>
              </a:ext>
            </a:extLst>
          </p:cNvPr>
          <p:cNvSpPr>
            <a:spLocks noChangeShapeType="1"/>
          </p:cNvSpPr>
          <p:nvPr/>
        </p:nvSpPr>
        <p:spPr bwMode="auto">
          <a:xfrm>
            <a:off x="7489869" y="3317933"/>
            <a:ext cx="12332" cy="48709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22" name="Text Box 6">
            <a:extLst>
              <a:ext uri="{FF2B5EF4-FFF2-40B4-BE49-F238E27FC236}">
                <a16:creationId xmlns:a16="http://schemas.microsoft.com/office/drawing/2014/main" id="{7A6E7B5F-8BE8-4F16-A145-4E2E861F45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076" y="3792322"/>
            <a:ext cx="36099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F</a:t>
            </a:r>
            <a:endParaRPr kumimoji="1" lang="en-US" altLang="zh-CN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3" name="Line 13">
            <a:extLst>
              <a:ext uri="{FF2B5EF4-FFF2-40B4-BE49-F238E27FC236}">
                <a16:creationId xmlns:a16="http://schemas.microsoft.com/office/drawing/2014/main" id="{F1E99F30-4953-4419-A0C5-2F8DEDA31019}"/>
              </a:ext>
            </a:extLst>
          </p:cNvPr>
          <p:cNvSpPr>
            <a:spLocks noChangeShapeType="1"/>
          </p:cNvSpPr>
          <p:nvPr/>
        </p:nvSpPr>
        <p:spPr bwMode="auto">
          <a:xfrm>
            <a:off x="9157107" y="3312335"/>
            <a:ext cx="12332" cy="48709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24" name="Text Box 6">
            <a:extLst>
              <a:ext uri="{FF2B5EF4-FFF2-40B4-BE49-F238E27FC236}">
                <a16:creationId xmlns:a16="http://schemas.microsoft.com/office/drawing/2014/main" id="{41260047-2332-45E3-A8D6-E333C0D62E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8274" y="3786724"/>
            <a:ext cx="27603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i</a:t>
            </a:r>
            <a:endParaRPr kumimoji="1" lang="en-US" altLang="zh-CN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5" name="Line 13">
            <a:extLst>
              <a:ext uri="{FF2B5EF4-FFF2-40B4-BE49-F238E27FC236}">
                <a16:creationId xmlns:a16="http://schemas.microsoft.com/office/drawing/2014/main" id="{D437E0BF-82FB-40A7-9AD9-E31ADBA2350B}"/>
              </a:ext>
            </a:extLst>
          </p:cNvPr>
          <p:cNvSpPr>
            <a:spLocks noChangeShapeType="1"/>
          </p:cNvSpPr>
          <p:nvPr/>
        </p:nvSpPr>
        <p:spPr bwMode="auto">
          <a:xfrm>
            <a:off x="6591371" y="4245140"/>
            <a:ext cx="12332" cy="48709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26" name="Text Box 6">
            <a:extLst>
              <a:ext uri="{FF2B5EF4-FFF2-40B4-BE49-F238E27FC236}">
                <a16:creationId xmlns:a16="http://schemas.microsoft.com/office/drawing/2014/main" id="{87C4441E-922A-46B5-8892-7E17BFCED9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2538" y="4719529"/>
            <a:ext cx="27603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i</a:t>
            </a:r>
            <a:endParaRPr kumimoji="1" lang="en-US" altLang="zh-CN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7" name="Line 13">
            <a:extLst>
              <a:ext uri="{FF2B5EF4-FFF2-40B4-BE49-F238E27FC236}">
                <a16:creationId xmlns:a16="http://schemas.microsoft.com/office/drawing/2014/main" id="{119950A9-2D36-4640-ABFD-63CD61C8FF02}"/>
              </a:ext>
            </a:extLst>
          </p:cNvPr>
          <p:cNvSpPr>
            <a:spLocks noChangeShapeType="1"/>
          </p:cNvSpPr>
          <p:nvPr/>
        </p:nvSpPr>
        <p:spPr bwMode="auto">
          <a:xfrm>
            <a:off x="7490725" y="4253987"/>
            <a:ext cx="12332" cy="48709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28" name="Text Box 6">
            <a:extLst>
              <a:ext uri="{FF2B5EF4-FFF2-40B4-BE49-F238E27FC236}">
                <a16:creationId xmlns:a16="http://schemas.microsoft.com/office/drawing/2014/main" id="{265E7437-18BF-4CB1-8FCF-1C078F8886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1892" y="4728376"/>
            <a:ext cx="27603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i</a:t>
            </a:r>
            <a:endParaRPr kumimoji="1" lang="en-US" altLang="zh-CN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150832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/>
      <p:bldP spid="9" grpId="0"/>
      <p:bldP spid="10" grpId="0"/>
      <p:bldP spid="11" grpId="0" animBg="1"/>
      <p:bldP spid="12" grpId="0" animBg="1"/>
      <p:bldP spid="13" grpId="0" animBg="1"/>
      <p:bldP spid="14" grpId="0"/>
      <p:bldP spid="15" grpId="0"/>
      <p:bldP spid="16" grpId="0"/>
      <p:bldP spid="17" grpId="0" animBg="1"/>
      <p:bldP spid="18" grpId="0"/>
      <p:bldP spid="19" grpId="0" animBg="1"/>
      <p:bldP spid="20" grpId="0"/>
      <p:bldP spid="21" grpId="0" animBg="1"/>
      <p:bldP spid="22" grpId="0"/>
      <p:bldP spid="23" grpId="0" animBg="1"/>
      <p:bldP spid="24" grpId="0"/>
      <p:bldP spid="25" grpId="0" animBg="1"/>
      <p:bldP spid="26" grpId="0"/>
      <p:bldP spid="27" grpId="0" animBg="1"/>
      <p:bldP spid="2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2601132C-AA5B-4AD9-A15F-E23F335D03E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>
                    <a:solidFill>
                      <a:srgbClr val="EE853E"/>
                    </a:solidFill>
                  </a:rPr>
                  <a:t>优先关系</a:t>
                </a:r>
                <a:r>
                  <a:rPr lang="zh-CN" altLang="en-US" dirty="0"/>
                  <a:t>：对算符文法</a:t>
                </a:r>
                <a:r>
                  <a:rPr lang="en-US" altLang="zh-CN" dirty="0"/>
                  <a:t>G</a:t>
                </a:r>
                <a:r>
                  <a:rPr lang="zh-CN" altLang="en-US" dirty="0"/>
                  <a:t>的任意</a:t>
                </a:r>
                <a:r>
                  <a:rPr lang="zh-CN" altLang="en-US" dirty="0">
                    <a:solidFill>
                      <a:srgbClr val="EE853E"/>
                    </a:solidFill>
                  </a:rPr>
                  <a:t>终结符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、</a:t>
                </a:r>
                <a:r>
                  <a:rPr lang="en-US" altLang="zh-CN" dirty="0"/>
                  <a:t>b</a:t>
                </a:r>
                <a:r>
                  <a:rPr lang="zh-CN" altLang="en-US" dirty="0"/>
                  <a:t>，定义其优先关系如下</a:t>
                </a:r>
              </a:p>
              <a:p>
                <a:r>
                  <a:rPr lang="en-US" altLang="zh-CN" dirty="0"/>
                  <a:t>1.	</a:t>
                </a:r>
                <a:r>
                  <a:rPr lang="zh-CN" altLang="en-US" dirty="0"/>
                  <a:t>如果存在产生式 </a:t>
                </a:r>
                <a:r>
                  <a:rPr lang="en-US" altLang="zh-CN" dirty="0"/>
                  <a:t>P→...ab... </a:t>
                </a:r>
                <a:r>
                  <a:rPr lang="zh-CN" altLang="en-US" dirty="0"/>
                  <a:t>或 </a:t>
                </a:r>
                <a:r>
                  <a:rPr lang="en-US" altLang="zh-CN" dirty="0"/>
                  <a:t>P→...</a:t>
                </a:r>
                <a:r>
                  <a:rPr lang="en-US" altLang="zh-CN" dirty="0" err="1"/>
                  <a:t>aQb</a:t>
                </a:r>
                <a:r>
                  <a:rPr lang="en-US" altLang="zh-CN" dirty="0"/>
                  <a:t>...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 </a:t>
                </a:r>
                <a:r>
                  <a:rPr lang="zh-CN" altLang="en-US" dirty="0"/>
                  <a:t>则</a:t>
                </a:r>
                <a:r>
                  <a:rPr lang="en-US" altLang="zh-CN" dirty="0"/>
                  <a:t>a=b</a:t>
                </a:r>
              </a:p>
              <a:p>
                <a:r>
                  <a:rPr lang="en-US" altLang="zh-CN" dirty="0"/>
                  <a:t>2.	</a:t>
                </a:r>
                <a:r>
                  <a:rPr lang="zh-CN" altLang="en-US" dirty="0"/>
                  <a:t>如果存在产生式 </a:t>
                </a:r>
                <a:r>
                  <a:rPr lang="en-US" altLang="zh-CN" dirty="0"/>
                  <a:t>P→...</a:t>
                </a:r>
                <a:r>
                  <a:rPr lang="en-US" altLang="zh-CN" dirty="0" err="1"/>
                  <a:t>aQ.</a:t>
                </a:r>
                <a:r>
                  <a:rPr lang="en-US" altLang="zh-CN" dirty="0"/>
                  <a:t>.. </a:t>
                </a:r>
                <a:r>
                  <a:rPr lang="zh-CN" altLang="en-US" dirty="0"/>
                  <a:t>，且 </a:t>
                </a:r>
                <a:r>
                  <a:rPr lang="en-US" altLang="zh-CN" dirty="0"/>
                  <a:t>Q</a:t>
                </a:r>
                <a14:m>
                  <m:oMath xmlns:m="http://schemas.openxmlformats.org/officeDocument/2006/math">
                    <m:groupChr>
                      <m:groupChrPr>
                        <m:chr m:val="⇒"/>
                        <m:vertJc m:val="bot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b="1" i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groupChr>
                  </m:oMath>
                </a14:m>
                <a:r>
                  <a:rPr lang="en-US" altLang="zh-CN" dirty="0"/>
                  <a:t>b… </a:t>
                </a:r>
                <a:r>
                  <a:rPr lang="zh-CN" altLang="en-US" dirty="0"/>
                  <a:t>或 </a:t>
                </a:r>
                <a:r>
                  <a:rPr lang="en-US" altLang="zh-CN" dirty="0"/>
                  <a:t>Q</a:t>
                </a:r>
                <a14:m>
                  <m:oMath xmlns:m="http://schemas.openxmlformats.org/officeDocument/2006/math">
                    <m:groupChr>
                      <m:groupChrPr>
                        <m:chr m:val="⇒"/>
                        <m:vertJc m:val="bot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groupChr>
                  </m:oMath>
                </a14:m>
                <a:r>
                  <a:rPr lang="en-US" altLang="zh-CN" dirty="0" err="1"/>
                  <a:t>Rb</a:t>
                </a:r>
                <a:r>
                  <a:rPr lang="en-US" altLang="zh-CN" dirty="0"/>
                  <a:t>...</a:t>
                </a:r>
                <a:r>
                  <a:rPr lang="zh-CN" altLang="en-US" dirty="0"/>
                  <a:t> ，则</a:t>
                </a:r>
                <a:r>
                  <a:rPr lang="en-US" altLang="zh-CN" dirty="0"/>
                  <a:t>a&lt;b</a:t>
                </a:r>
              </a:p>
              <a:p>
                <a:r>
                  <a:rPr lang="en-US" altLang="zh-CN" dirty="0"/>
                  <a:t>3.	</a:t>
                </a:r>
                <a:r>
                  <a:rPr lang="zh-CN" altLang="en-US" dirty="0"/>
                  <a:t>如果存在产生式 </a:t>
                </a:r>
                <a:r>
                  <a:rPr lang="en-US" altLang="zh-CN" dirty="0"/>
                  <a:t>P→...</a:t>
                </a:r>
                <a:r>
                  <a:rPr lang="en-US" altLang="zh-CN" dirty="0" err="1"/>
                  <a:t>Qb</a:t>
                </a:r>
                <a:r>
                  <a:rPr lang="en-US" altLang="zh-CN" dirty="0"/>
                  <a:t>... </a:t>
                </a:r>
                <a:r>
                  <a:rPr lang="zh-CN" altLang="en-US" dirty="0"/>
                  <a:t>，且 </a:t>
                </a:r>
                <a:r>
                  <a:rPr lang="en-US" altLang="zh-CN" dirty="0"/>
                  <a:t>Q</a:t>
                </a:r>
                <a14:m>
                  <m:oMath xmlns:m="http://schemas.openxmlformats.org/officeDocument/2006/math">
                    <m:groupChr>
                      <m:groupChrPr>
                        <m:chr m:val="⇒"/>
                        <m:vertJc m:val="bot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groupChr>
                  </m:oMath>
                </a14:m>
                <a:r>
                  <a:rPr lang="en-US" altLang="zh-CN" dirty="0"/>
                  <a:t>...a </a:t>
                </a:r>
                <a:r>
                  <a:rPr lang="zh-CN" altLang="en-US" dirty="0"/>
                  <a:t>或 </a:t>
                </a:r>
                <a:r>
                  <a:rPr lang="en-US" altLang="zh-CN" dirty="0"/>
                  <a:t>Q</a:t>
                </a:r>
                <a14:m>
                  <m:oMath xmlns:m="http://schemas.openxmlformats.org/officeDocument/2006/math">
                    <m:groupChr>
                      <m:groupChrPr>
                        <m:chr m:val="⇒"/>
                        <m:vertJc m:val="bot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groupChr>
                  </m:oMath>
                </a14:m>
                <a:r>
                  <a:rPr lang="en-US" altLang="zh-CN" dirty="0"/>
                  <a:t>…</a:t>
                </a:r>
                <a:r>
                  <a:rPr lang="en-US" altLang="zh-CN" dirty="0" err="1"/>
                  <a:t>aR</a:t>
                </a:r>
                <a:r>
                  <a:rPr lang="zh-CN" altLang="en-US" dirty="0"/>
                  <a:t> ，则</a:t>
                </a:r>
                <a:r>
                  <a:rPr lang="en-US" altLang="zh-CN" dirty="0"/>
                  <a:t>a&gt;b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2601132C-AA5B-4AD9-A15F-E23F335D03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2">
            <a:extLst>
              <a:ext uri="{FF2B5EF4-FFF2-40B4-BE49-F238E27FC236}">
                <a16:creationId xmlns:a16="http://schemas.microsoft.com/office/drawing/2014/main" id="{7F137CFD-9E41-4420-8F50-511535A01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优先关系</a:t>
            </a:r>
          </a:p>
        </p:txBody>
      </p:sp>
    </p:spTree>
    <p:extLst>
      <p:ext uri="{BB962C8B-B14F-4D97-AF65-F5344CB8AC3E}">
        <p14:creationId xmlns:p14="http://schemas.microsoft.com/office/powerpoint/2010/main" val="4001511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EB8B1F19-37C9-4602-8C7A-C416DAAC0B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例如：文法</a:t>
            </a:r>
            <a:r>
              <a:rPr lang="en-US" altLang="zh-CN" dirty="0"/>
              <a:t>G</a:t>
            </a:r>
            <a:r>
              <a:rPr lang="zh-CN" altLang="en-US" dirty="0"/>
              <a:t>的算符优先关系表。</a:t>
            </a:r>
            <a:endParaRPr lang="en-US" altLang="zh-CN" dirty="0"/>
          </a:p>
          <a:p>
            <a:r>
              <a:rPr lang="en-US" altLang="zh-CN" dirty="0"/>
              <a:t>E → E + T | T</a:t>
            </a:r>
          </a:p>
          <a:p>
            <a:r>
              <a:rPr lang="en-US" altLang="zh-CN" dirty="0"/>
              <a:t>T → T * F | F</a:t>
            </a:r>
          </a:p>
          <a:p>
            <a:r>
              <a:rPr lang="en-US" altLang="zh-CN" dirty="0"/>
              <a:t>F → ( E ) | </a:t>
            </a:r>
            <a:r>
              <a:rPr lang="en-US" altLang="zh-CN" dirty="0" err="1"/>
              <a:t>i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8A7CA688-A2FD-4AA6-A7BC-33B31E249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算符优先关系表</a:t>
            </a:r>
          </a:p>
        </p:txBody>
      </p:sp>
    </p:spTree>
    <p:extLst>
      <p:ext uri="{BB962C8B-B14F-4D97-AF65-F5344CB8AC3E}">
        <p14:creationId xmlns:p14="http://schemas.microsoft.com/office/powerpoint/2010/main" val="2146130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95AFCC45-7D40-47C0-9BDA-80FF4C7FC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算符优先关系表</a:t>
            </a:r>
          </a:p>
        </p:txBody>
      </p: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88B15122-4509-446D-99A3-8CFA3A2A5559}"/>
              </a:ext>
            </a:extLst>
          </p:cNvPr>
          <p:cNvGrpSpPr/>
          <p:nvPr/>
        </p:nvGrpSpPr>
        <p:grpSpPr>
          <a:xfrm>
            <a:off x="2400300" y="1371600"/>
            <a:ext cx="7391400" cy="4419600"/>
            <a:chOff x="1219200" y="1752600"/>
            <a:chExt cx="7391400" cy="4419600"/>
          </a:xfrm>
        </p:grpSpPr>
        <p:sp>
          <p:nvSpPr>
            <p:cNvPr id="4" name="Rectangle 2">
              <a:extLst>
                <a:ext uri="{FF2B5EF4-FFF2-40B4-BE49-F238E27FC236}">
                  <a16:creationId xmlns:a16="http://schemas.microsoft.com/office/drawing/2014/main" id="{B8016946-3B78-48F5-A9D7-0A1BFF8EF9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9200" y="1752600"/>
              <a:ext cx="7391400" cy="4419600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5" name="Line 3">
              <a:extLst>
                <a:ext uri="{FF2B5EF4-FFF2-40B4-BE49-F238E27FC236}">
                  <a16:creationId xmlns:a16="http://schemas.microsoft.com/office/drawing/2014/main" id="{665CB8AE-73C6-4F59-9DC8-FB4B3C4D3B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57800" y="1752600"/>
              <a:ext cx="0" cy="441960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6" name="Line 4">
              <a:extLst>
                <a:ext uri="{FF2B5EF4-FFF2-40B4-BE49-F238E27FC236}">
                  <a16:creationId xmlns:a16="http://schemas.microsoft.com/office/drawing/2014/main" id="{9DDAC133-B9F5-4DFF-957A-D5F45F9334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19200" y="4267200"/>
              <a:ext cx="7391400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7" name="Line 5">
              <a:extLst>
                <a:ext uri="{FF2B5EF4-FFF2-40B4-BE49-F238E27FC236}">
                  <a16:creationId xmlns:a16="http://schemas.microsoft.com/office/drawing/2014/main" id="{69A0119D-71B6-4E8B-A56D-CC1C2CB8FF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19200" y="2286000"/>
              <a:ext cx="7391400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8" name="Line 6">
              <a:extLst>
                <a:ext uri="{FF2B5EF4-FFF2-40B4-BE49-F238E27FC236}">
                  <a16:creationId xmlns:a16="http://schemas.microsoft.com/office/drawing/2014/main" id="{726AF31A-AA41-4D7F-A35A-140CBF7703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19200" y="2971800"/>
              <a:ext cx="7391400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9" name="Line 7">
              <a:extLst>
                <a:ext uri="{FF2B5EF4-FFF2-40B4-BE49-F238E27FC236}">
                  <a16:creationId xmlns:a16="http://schemas.microsoft.com/office/drawing/2014/main" id="{2F2544A0-285B-45B5-9B11-AD0029DEBF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19200" y="3581400"/>
              <a:ext cx="7391400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10" name="Line 8">
              <a:extLst>
                <a:ext uri="{FF2B5EF4-FFF2-40B4-BE49-F238E27FC236}">
                  <a16:creationId xmlns:a16="http://schemas.microsoft.com/office/drawing/2014/main" id="{37D54BD6-6B93-4BCA-9DCA-A6E6EFEBEE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19200" y="4876800"/>
              <a:ext cx="7391400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11" name="Line 9">
              <a:extLst>
                <a:ext uri="{FF2B5EF4-FFF2-40B4-BE49-F238E27FC236}">
                  <a16:creationId xmlns:a16="http://schemas.microsoft.com/office/drawing/2014/main" id="{4687C65A-36AF-47DC-9AF2-2021C786A3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19200" y="5486400"/>
              <a:ext cx="7391400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12" name="Line 10">
              <a:extLst>
                <a:ext uri="{FF2B5EF4-FFF2-40B4-BE49-F238E27FC236}">
                  <a16:creationId xmlns:a16="http://schemas.microsoft.com/office/drawing/2014/main" id="{E4321C63-9E65-4203-9D55-EC40828773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52600" y="1752600"/>
              <a:ext cx="0" cy="441960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13" name="Line 11">
              <a:extLst>
                <a:ext uri="{FF2B5EF4-FFF2-40B4-BE49-F238E27FC236}">
                  <a16:creationId xmlns:a16="http://schemas.microsoft.com/office/drawing/2014/main" id="{E9DDD054-4C5F-41A8-AD26-60272CBA84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9400" y="1752600"/>
              <a:ext cx="0" cy="441960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14" name="Line 12">
              <a:extLst>
                <a:ext uri="{FF2B5EF4-FFF2-40B4-BE49-F238E27FC236}">
                  <a16:creationId xmlns:a16="http://schemas.microsoft.com/office/drawing/2014/main" id="{F832A3E8-7B0E-432D-877A-F325E95FB8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8600" y="1752600"/>
              <a:ext cx="0" cy="441960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15" name="Line 13">
              <a:extLst>
                <a:ext uri="{FF2B5EF4-FFF2-40B4-BE49-F238E27FC236}">
                  <a16:creationId xmlns:a16="http://schemas.microsoft.com/office/drawing/2014/main" id="{5DE308F1-2BD1-4B9F-A8D3-E40ECE8409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00800" y="1752600"/>
              <a:ext cx="0" cy="441960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16" name="Line 14">
              <a:extLst>
                <a:ext uri="{FF2B5EF4-FFF2-40B4-BE49-F238E27FC236}">
                  <a16:creationId xmlns:a16="http://schemas.microsoft.com/office/drawing/2014/main" id="{BB4F585D-AD21-402B-A53B-0E0981BBD6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43800" y="1752600"/>
              <a:ext cx="0" cy="441960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17" name="Text Box 15">
              <a:extLst>
                <a:ext uri="{FF2B5EF4-FFF2-40B4-BE49-F238E27FC236}">
                  <a16:creationId xmlns:a16="http://schemas.microsoft.com/office/drawing/2014/main" id="{DC632A60-2E78-4C16-AB65-322EF10F1D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1525" y="1793875"/>
              <a:ext cx="41870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+</a:t>
              </a:r>
            </a:p>
          </p:txBody>
        </p:sp>
        <p:sp>
          <p:nvSpPr>
            <p:cNvPr id="18" name="Text Box 16">
              <a:extLst>
                <a:ext uri="{FF2B5EF4-FFF2-40B4-BE49-F238E27FC236}">
                  <a16:creationId xmlns:a16="http://schemas.microsoft.com/office/drawing/2014/main" id="{540DC506-5F1F-40A8-A266-B69F739381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5400" y="2384685"/>
              <a:ext cx="41870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+</a:t>
              </a:r>
            </a:p>
          </p:txBody>
        </p:sp>
        <p:sp>
          <p:nvSpPr>
            <p:cNvPr id="19" name="Text Box 17">
              <a:extLst>
                <a:ext uri="{FF2B5EF4-FFF2-40B4-BE49-F238E27FC236}">
                  <a16:creationId xmlns:a16="http://schemas.microsoft.com/office/drawing/2014/main" id="{35BCB0B3-4BFD-46B1-941E-BEA3B93508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0400" y="1828800"/>
              <a:ext cx="335348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*</a:t>
              </a:r>
            </a:p>
          </p:txBody>
        </p:sp>
        <p:sp>
          <p:nvSpPr>
            <p:cNvPr id="20" name="Text Box 18">
              <a:extLst>
                <a:ext uri="{FF2B5EF4-FFF2-40B4-BE49-F238E27FC236}">
                  <a16:creationId xmlns:a16="http://schemas.microsoft.com/office/drawing/2014/main" id="{82FD95F4-2CA9-4F7A-BF7C-C9AE5136C0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5400" y="3124200"/>
              <a:ext cx="335348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*</a:t>
              </a:r>
            </a:p>
          </p:txBody>
        </p:sp>
        <p:sp>
          <p:nvSpPr>
            <p:cNvPr id="21" name="Text Box 19">
              <a:extLst>
                <a:ext uri="{FF2B5EF4-FFF2-40B4-BE49-F238E27FC236}">
                  <a16:creationId xmlns:a16="http://schemas.microsoft.com/office/drawing/2014/main" id="{5E7696D2-D565-4E87-BB74-75C0D9A8AD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03725" y="1793875"/>
              <a:ext cx="276038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i</a:t>
              </a:r>
            </a:p>
          </p:txBody>
        </p:sp>
        <p:sp>
          <p:nvSpPr>
            <p:cNvPr id="22" name="Text Box 20">
              <a:extLst>
                <a:ext uri="{FF2B5EF4-FFF2-40B4-BE49-F238E27FC236}">
                  <a16:creationId xmlns:a16="http://schemas.microsoft.com/office/drawing/2014/main" id="{A663B6EF-A755-4C7D-8A13-792AA07CC1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71600" y="3733800"/>
              <a:ext cx="276038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i</a:t>
              </a:r>
            </a:p>
          </p:txBody>
        </p:sp>
        <p:sp>
          <p:nvSpPr>
            <p:cNvPr id="23" name="Text Box 21">
              <a:extLst>
                <a:ext uri="{FF2B5EF4-FFF2-40B4-BE49-F238E27FC236}">
                  <a16:creationId xmlns:a16="http://schemas.microsoft.com/office/drawing/2014/main" id="{E49DEE4B-4A1A-4178-A271-2B5F238633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76808" y="1793875"/>
              <a:ext cx="304892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(</a:t>
              </a:r>
            </a:p>
          </p:txBody>
        </p:sp>
        <p:sp>
          <p:nvSpPr>
            <p:cNvPr id="24" name="Text Box 22">
              <a:extLst>
                <a:ext uri="{FF2B5EF4-FFF2-40B4-BE49-F238E27FC236}">
                  <a16:creationId xmlns:a16="http://schemas.microsoft.com/office/drawing/2014/main" id="{D3BEFC8A-6A89-476E-A59C-A6FB709317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71600" y="4343400"/>
              <a:ext cx="304892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(</a:t>
              </a:r>
            </a:p>
          </p:txBody>
        </p:sp>
        <p:sp>
          <p:nvSpPr>
            <p:cNvPr id="25" name="Text Box 23">
              <a:extLst>
                <a:ext uri="{FF2B5EF4-FFF2-40B4-BE49-F238E27FC236}">
                  <a16:creationId xmlns:a16="http://schemas.microsoft.com/office/drawing/2014/main" id="{753C1F2C-BBD0-41C5-ABED-9F16F25050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42125" y="1793875"/>
              <a:ext cx="304892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)</a:t>
              </a:r>
            </a:p>
          </p:txBody>
        </p:sp>
        <p:sp>
          <p:nvSpPr>
            <p:cNvPr id="26" name="Text Box 24">
              <a:extLst>
                <a:ext uri="{FF2B5EF4-FFF2-40B4-BE49-F238E27FC236}">
                  <a16:creationId xmlns:a16="http://schemas.microsoft.com/office/drawing/2014/main" id="{BF0712AE-6CEE-4113-8189-A3F1FD6A3E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71600" y="4953000"/>
              <a:ext cx="304892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)</a:t>
              </a:r>
            </a:p>
          </p:txBody>
        </p:sp>
        <p:sp>
          <p:nvSpPr>
            <p:cNvPr id="27" name="Text Box 25">
              <a:extLst>
                <a:ext uri="{FF2B5EF4-FFF2-40B4-BE49-F238E27FC236}">
                  <a16:creationId xmlns:a16="http://schemas.microsoft.com/office/drawing/2014/main" id="{A3463B09-79E7-42F8-B4B2-5D25CFBF2F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08925" y="1793875"/>
              <a:ext cx="381836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#</a:t>
              </a:r>
            </a:p>
          </p:txBody>
        </p:sp>
        <p:sp>
          <p:nvSpPr>
            <p:cNvPr id="28" name="Text Box 26">
              <a:extLst>
                <a:ext uri="{FF2B5EF4-FFF2-40B4-BE49-F238E27FC236}">
                  <a16:creationId xmlns:a16="http://schemas.microsoft.com/office/drawing/2014/main" id="{5FDC287B-4CD9-4FFE-849C-5957346E5E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5400" y="5638800"/>
              <a:ext cx="381836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#</a:t>
              </a:r>
            </a:p>
          </p:txBody>
        </p:sp>
        <p:sp>
          <p:nvSpPr>
            <p:cNvPr id="29" name="Text Box 27">
              <a:extLst>
                <a:ext uri="{FF2B5EF4-FFF2-40B4-BE49-F238E27FC236}">
                  <a16:creationId xmlns:a16="http://schemas.microsoft.com/office/drawing/2014/main" id="{304AC3C7-0184-4394-9C50-E3AAC413E2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1525" y="2403475"/>
              <a:ext cx="41870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&gt;</a:t>
              </a:r>
            </a:p>
          </p:txBody>
        </p:sp>
        <p:sp>
          <p:nvSpPr>
            <p:cNvPr id="30" name="Text Box 28">
              <a:extLst>
                <a:ext uri="{FF2B5EF4-FFF2-40B4-BE49-F238E27FC236}">
                  <a16:creationId xmlns:a16="http://schemas.microsoft.com/office/drawing/2014/main" id="{FF71AB58-1C52-439A-BD8A-1E9EF87F77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57400" y="3048000"/>
              <a:ext cx="41870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&gt;</a:t>
              </a:r>
            </a:p>
          </p:txBody>
        </p:sp>
        <p:sp>
          <p:nvSpPr>
            <p:cNvPr id="31" name="Text Box 29">
              <a:extLst>
                <a:ext uri="{FF2B5EF4-FFF2-40B4-BE49-F238E27FC236}">
                  <a16:creationId xmlns:a16="http://schemas.microsoft.com/office/drawing/2014/main" id="{E689F14F-772A-48EF-B3BE-D9B15E2186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57400" y="3733800"/>
              <a:ext cx="41870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&gt;</a:t>
              </a:r>
            </a:p>
          </p:txBody>
        </p:sp>
        <p:sp>
          <p:nvSpPr>
            <p:cNvPr id="32" name="Text Box 30">
              <a:extLst>
                <a:ext uri="{FF2B5EF4-FFF2-40B4-BE49-F238E27FC236}">
                  <a16:creationId xmlns:a16="http://schemas.microsoft.com/office/drawing/2014/main" id="{F6BEEDA6-D0D2-481A-A9C2-389431BAA7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57400" y="4343400"/>
              <a:ext cx="41870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&lt;</a:t>
              </a:r>
            </a:p>
          </p:txBody>
        </p:sp>
        <p:sp>
          <p:nvSpPr>
            <p:cNvPr id="33" name="Text Box 31">
              <a:extLst>
                <a:ext uri="{FF2B5EF4-FFF2-40B4-BE49-F238E27FC236}">
                  <a16:creationId xmlns:a16="http://schemas.microsoft.com/office/drawing/2014/main" id="{65E9E2E5-03BF-44BB-A1E6-2CD8E36CA6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57400" y="4953000"/>
              <a:ext cx="41870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&gt;</a:t>
              </a:r>
            </a:p>
          </p:txBody>
        </p:sp>
        <p:sp>
          <p:nvSpPr>
            <p:cNvPr id="34" name="Text Box 32">
              <a:extLst>
                <a:ext uri="{FF2B5EF4-FFF2-40B4-BE49-F238E27FC236}">
                  <a16:creationId xmlns:a16="http://schemas.microsoft.com/office/drawing/2014/main" id="{45438E6E-1C4B-4E6A-8E01-B233155DCC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57400" y="5638800"/>
              <a:ext cx="41870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&lt;</a:t>
              </a:r>
            </a:p>
          </p:txBody>
        </p:sp>
        <p:sp>
          <p:nvSpPr>
            <p:cNvPr id="35" name="Text Box 33">
              <a:extLst>
                <a:ext uri="{FF2B5EF4-FFF2-40B4-BE49-F238E27FC236}">
                  <a16:creationId xmlns:a16="http://schemas.microsoft.com/office/drawing/2014/main" id="{12A6E3C4-F1ED-481F-9233-7E9205FE43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0400" y="2438400"/>
              <a:ext cx="41870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&lt;</a:t>
              </a:r>
            </a:p>
          </p:txBody>
        </p:sp>
        <p:sp>
          <p:nvSpPr>
            <p:cNvPr id="36" name="Text Box 34">
              <a:extLst>
                <a:ext uri="{FF2B5EF4-FFF2-40B4-BE49-F238E27FC236}">
                  <a16:creationId xmlns:a16="http://schemas.microsoft.com/office/drawing/2014/main" id="{FD8D4905-250C-4CF9-BB8B-FC89307D49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0400" y="4343400"/>
              <a:ext cx="41870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&lt;</a:t>
              </a:r>
            </a:p>
          </p:txBody>
        </p:sp>
        <p:sp>
          <p:nvSpPr>
            <p:cNvPr id="37" name="Text Box 35">
              <a:extLst>
                <a:ext uri="{FF2B5EF4-FFF2-40B4-BE49-F238E27FC236}">
                  <a16:creationId xmlns:a16="http://schemas.microsoft.com/office/drawing/2014/main" id="{08D061C6-F622-46E1-9990-712FDBE13B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0400" y="5638800"/>
              <a:ext cx="41870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&lt;</a:t>
              </a:r>
            </a:p>
          </p:txBody>
        </p:sp>
        <p:sp>
          <p:nvSpPr>
            <p:cNvPr id="38" name="Text Box 36">
              <a:extLst>
                <a:ext uri="{FF2B5EF4-FFF2-40B4-BE49-F238E27FC236}">
                  <a16:creationId xmlns:a16="http://schemas.microsoft.com/office/drawing/2014/main" id="{2707994A-AE6F-4246-9F92-C2303E4A9C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0400" y="4953000"/>
              <a:ext cx="41870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&gt;</a:t>
              </a:r>
            </a:p>
          </p:txBody>
        </p:sp>
        <p:sp>
          <p:nvSpPr>
            <p:cNvPr id="39" name="Text Box 37">
              <a:extLst>
                <a:ext uri="{FF2B5EF4-FFF2-40B4-BE49-F238E27FC236}">
                  <a16:creationId xmlns:a16="http://schemas.microsoft.com/office/drawing/2014/main" id="{95122892-C8CC-4500-8D87-844E5C9AC2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0400" y="3733800"/>
              <a:ext cx="41870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&gt;</a:t>
              </a:r>
            </a:p>
          </p:txBody>
        </p:sp>
        <p:sp>
          <p:nvSpPr>
            <p:cNvPr id="40" name="Text Box 38">
              <a:extLst>
                <a:ext uri="{FF2B5EF4-FFF2-40B4-BE49-F238E27FC236}">
                  <a16:creationId xmlns:a16="http://schemas.microsoft.com/office/drawing/2014/main" id="{4B9029D3-4233-416D-877B-47D61E8D6A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0400" y="3048000"/>
              <a:ext cx="41870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&gt;</a:t>
              </a:r>
            </a:p>
          </p:txBody>
        </p:sp>
        <p:sp>
          <p:nvSpPr>
            <p:cNvPr id="41" name="Text Box 39">
              <a:extLst>
                <a:ext uri="{FF2B5EF4-FFF2-40B4-BE49-F238E27FC236}">
                  <a16:creationId xmlns:a16="http://schemas.microsoft.com/office/drawing/2014/main" id="{9AB4990E-B99F-4D5D-A793-D207F7FB5C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3400" y="2438400"/>
              <a:ext cx="41870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&lt;</a:t>
              </a:r>
            </a:p>
          </p:txBody>
        </p:sp>
        <p:sp>
          <p:nvSpPr>
            <p:cNvPr id="42" name="Text Box 40">
              <a:extLst>
                <a:ext uri="{FF2B5EF4-FFF2-40B4-BE49-F238E27FC236}">
                  <a16:creationId xmlns:a16="http://schemas.microsoft.com/office/drawing/2014/main" id="{21E5D3D8-9DF6-404D-9E89-9375DD6B40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3400" y="3048000"/>
              <a:ext cx="41870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&lt;</a:t>
              </a:r>
            </a:p>
          </p:txBody>
        </p:sp>
        <p:sp>
          <p:nvSpPr>
            <p:cNvPr id="43" name="Text Box 41">
              <a:extLst>
                <a:ext uri="{FF2B5EF4-FFF2-40B4-BE49-F238E27FC236}">
                  <a16:creationId xmlns:a16="http://schemas.microsoft.com/office/drawing/2014/main" id="{4345BEEF-C85C-4D9D-993E-D6DBD9BDB3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3400" y="4343400"/>
              <a:ext cx="41870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&lt;</a:t>
              </a:r>
            </a:p>
          </p:txBody>
        </p:sp>
        <p:sp>
          <p:nvSpPr>
            <p:cNvPr id="44" name="Text Box 42">
              <a:extLst>
                <a:ext uri="{FF2B5EF4-FFF2-40B4-BE49-F238E27FC236}">
                  <a16:creationId xmlns:a16="http://schemas.microsoft.com/office/drawing/2014/main" id="{4A558386-0915-4733-B1F1-B5E0EB9113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3400" y="5638800"/>
              <a:ext cx="41870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&lt;</a:t>
              </a:r>
            </a:p>
          </p:txBody>
        </p:sp>
        <p:sp>
          <p:nvSpPr>
            <p:cNvPr id="45" name="Text Box 43">
              <a:extLst>
                <a:ext uri="{FF2B5EF4-FFF2-40B4-BE49-F238E27FC236}">
                  <a16:creationId xmlns:a16="http://schemas.microsoft.com/office/drawing/2014/main" id="{3FDA7413-6676-44F5-B3EE-8B5FECDF53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38800" y="2438400"/>
              <a:ext cx="41870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&lt;</a:t>
              </a:r>
            </a:p>
          </p:txBody>
        </p:sp>
        <p:sp>
          <p:nvSpPr>
            <p:cNvPr id="46" name="Text Box 44">
              <a:extLst>
                <a:ext uri="{FF2B5EF4-FFF2-40B4-BE49-F238E27FC236}">
                  <a16:creationId xmlns:a16="http://schemas.microsoft.com/office/drawing/2014/main" id="{A3563C2C-9DEB-4496-958F-CF95E1F706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38800" y="3048000"/>
              <a:ext cx="41870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&lt;</a:t>
              </a:r>
            </a:p>
          </p:txBody>
        </p:sp>
        <p:sp>
          <p:nvSpPr>
            <p:cNvPr id="47" name="Text Box 45">
              <a:extLst>
                <a:ext uri="{FF2B5EF4-FFF2-40B4-BE49-F238E27FC236}">
                  <a16:creationId xmlns:a16="http://schemas.microsoft.com/office/drawing/2014/main" id="{2EEC5EBC-AA00-4E35-A5CD-BC82594EFA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38800" y="4343400"/>
              <a:ext cx="41870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&lt;</a:t>
              </a:r>
            </a:p>
          </p:txBody>
        </p:sp>
        <p:sp>
          <p:nvSpPr>
            <p:cNvPr id="48" name="Text Box 46">
              <a:extLst>
                <a:ext uri="{FF2B5EF4-FFF2-40B4-BE49-F238E27FC236}">
                  <a16:creationId xmlns:a16="http://schemas.microsoft.com/office/drawing/2014/main" id="{5AC83A00-3151-47C9-B1F6-ACE355E70E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38800" y="5638800"/>
              <a:ext cx="41870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&lt;</a:t>
              </a:r>
            </a:p>
          </p:txBody>
        </p:sp>
        <p:sp>
          <p:nvSpPr>
            <p:cNvPr id="49" name="Text Box 47">
              <a:extLst>
                <a:ext uri="{FF2B5EF4-FFF2-40B4-BE49-F238E27FC236}">
                  <a16:creationId xmlns:a16="http://schemas.microsoft.com/office/drawing/2014/main" id="{1AB11032-256D-4777-8BC7-F3BCE024C6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81800" y="2438400"/>
              <a:ext cx="41870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&gt;</a:t>
              </a:r>
            </a:p>
          </p:txBody>
        </p:sp>
        <p:sp>
          <p:nvSpPr>
            <p:cNvPr id="50" name="Text Box 48">
              <a:extLst>
                <a:ext uri="{FF2B5EF4-FFF2-40B4-BE49-F238E27FC236}">
                  <a16:creationId xmlns:a16="http://schemas.microsoft.com/office/drawing/2014/main" id="{D26CDE08-F6DA-4BAB-9CFD-41D6C6AE72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81800" y="3048000"/>
              <a:ext cx="41870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&gt;</a:t>
              </a:r>
            </a:p>
          </p:txBody>
        </p:sp>
        <p:sp>
          <p:nvSpPr>
            <p:cNvPr id="51" name="Text Box 49">
              <a:extLst>
                <a:ext uri="{FF2B5EF4-FFF2-40B4-BE49-F238E27FC236}">
                  <a16:creationId xmlns:a16="http://schemas.microsoft.com/office/drawing/2014/main" id="{BA995402-063C-4594-B4E7-DB9848E7D5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81800" y="3733800"/>
              <a:ext cx="41870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400" b="1" dirty="0">
                  <a:solidFill>
                    <a:schemeClr val="bg1"/>
                  </a:solidFill>
                  <a:latin typeface="+mj-ea"/>
                  <a:ea typeface="+mj-ea"/>
                </a:rPr>
                <a:t>&gt;</a:t>
              </a:r>
            </a:p>
          </p:txBody>
        </p:sp>
        <p:sp>
          <p:nvSpPr>
            <p:cNvPr id="52" name="Text Box 50">
              <a:extLst>
                <a:ext uri="{FF2B5EF4-FFF2-40B4-BE49-F238E27FC236}">
                  <a16:creationId xmlns:a16="http://schemas.microsoft.com/office/drawing/2014/main" id="{240B79E8-DCCB-4FCA-BE2F-9D70ED8611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81800" y="4953000"/>
              <a:ext cx="41870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&gt;</a:t>
              </a:r>
            </a:p>
          </p:txBody>
        </p:sp>
        <p:sp>
          <p:nvSpPr>
            <p:cNvPr id="53" name="Text Box 51">
              <a:extLst>
                <a:ext uri="{FF2B5EF4-FFF2-40B4-BE49-F238E27FC236}">
                  <a16:creationId xmlns:a16="http://schemas.microsoft.com/office/drawing/2014/main" id="{6B0E0163-6FB3-4F78-8E0C-7F1AA3C89C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24800" y="2438400"/>
              <a:ext cx="41870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&gt;</a:t>
              </a:r>
            </a:p>
          </p:txBody>
        </p:sp>
        <p:sp>
          <p:nvSpPr>
            <p:cNvPr id="54" name="Text Box 52">
              <a:extLst>
                <a:ext uri="{FF2B5EF4-FFF2-40B4-BE49-F238E27FC236}">
                  <a16:creationId xmlns:a16="http://schemas.microsoft.com/office/drawing/2014/main" id="{D327E55F-25E5-4A92-B782-5E9ECAC50B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24800" y="3048000"/>
              <a:ext cx="41870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&gt;</a:t>
              </a:r>
            </a:p>
          </p:txBody>
        </p:sp>
        <p:sp>
          <p:nvSpPr>
            <p:cNvPr id="55" name="Text Box 53">
              <a:extLst>
                <a:ext uri="{FF2B5EF4-FFF2-40B4-BE49-F238E27FC236}">
                  <a16:creationId xmlns:a16="http://schemas.microsoft.com/office/drawing/2014/main" id="{25B72E30-92FC-4146-9D7F-548C7E8137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24800" y="3733800"/>
              <a:ext cx="41870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&gt;</a:t>
              </a:r>
            </a:p>
          </p:txBody>
        </p:sp>
        <p:sp>
          <p:nvSpPr>
            <p:cNvPr id="56" name="Text Box 54">
              <a:extLst>
                <a:ext uri="{FF2B5EF4-FFF2-40B4-BE49-F238E27FC236}">
                  <a16:creationId xmlns:a16="http://schemas.microsoft.com/office/drawing/2014/main" id="{4ECF0A0C-F265-4D11-B3D9-8B6079CA8D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24800" y="4953000"/>
              <a:ext cx="41870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&gt;</a:t>
              </a:r>
            </a:p>
          </p:txBody>
        </p:sp>
        <p:sp>
          <p:nvSpPr>
            <p:cNvPr id="57" name="Text Box 55">
              <a:extLst>
                <a:ext uri="{FF2B5EF4-FFF2-40B4-BE49-F238E27FC236}">
                  <a16:creationId xmlns:a16="http://schemas.microsoft.com/office/drawing/2014/main" id="{D47A9FED-9C0C-40F6-BB8C-C2CABF0897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81800" y="4343400"/>
              <a:ext cx="41870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=</a:t>
              </a:r>
            </a:p>
          </p:txBody>
        </p:sp>
        <p:sp>
          <p:nvSpPr>
            <p:cNvPr id="58" name="Text Box 56">
              <a:extLst>
                <a:ext uri="{FF2B5EF4-FFF2-40B4-BE49-F238E27FC236}">
                  <a16:creationId xmlns:a16="http://schemas.microsoft.com/office/drawing/2014/main" id="{D0363EC3-B7B0-44D9-8CE2-397B4A1E4A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24800" y="5638800"/>
              <a:ext cx="41870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=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6845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2FF86ACB-B23D-454B-9498-B345DB3FB3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由上表可知：</a:t>
            </a:r>
            <a:endParaRPr lang="en-US" altLang="zh-CN" dirty="0"/>
          </a:p>
          <a:p>
            <a:r>
              <a:rPr lang="en-US" altLang="zh-CN" dirty="0"/>
              <a:t>1.	</a:t>
            </a:r>
            <a:r>
              <a:rPr lang="zh-CN" altLang="en-US" dirty="0"/>
              <a:t>相同终结符之间的优先关系未必是“</a:t>
            </a:r>
            <a:r>
              <a:rPr lang="en-US" altLang="zh-CN" dirty="0"/>
              <a:t>=</a:t>
            </a:r>
            <a:r>
              <a:rPr lang="zh-CN" altLang="en-US" dirty="0"/>
              <a:t>”</a:t>
            </a:r>
            <a:endParaRPr lang="en-US" altLang="zh-CN" dirty="0"/>
          </a:p>
          <a:p>
            <a:r>
              <a:rPr lang="en-US" altLang="zh-CN" dirty="0"/>
              <a:t>2.	</a:t>
            </a:r>
            <a:r>
              <a:rPr lang="zh-CN" altLang="en-US" dirty="0"/>
              <a:t>有</a:t>
            </a:r>
            <a:r>
              <a:rPr lang="en-US" altLang="zh-CN" dirty="0"/>
              <a:t>a&lt;b</a:t>
            </a:r>
            <a:r>
              <a:rPr lang="zh-CN" altLang="en-US" dirty="0"/>
              <a:t>，未必有 </a:t>
            </a:r>
            <a:r>
              <a:rPr lang="en-US" altLang="zh-CN" dirty="0"/>
              <a:t>b&gt;a</a:t>
            </a:r>
          </a:p>
          <a:p>
            <a:r>
              <a:rPr lang="en-US" altLang="zh-CN" dirty="0"/>
              <a:t>3.	a</a:t>
            </a:r>
            <a:r>
              <a:rPr lang="zh-CN" altLang="en-US" dirty="0"/>
              <a:t>、</a:t>
            </a:r>
            <a:r>
              <a:rPr lang="en-US" altLang="zh-CN" dirty="0"/>
              <a:t>b</a:t>
            </a:r>
            <a:r>
              <a:rPr lang="zh-CN" altLang="en-US" dirty="0"/>
              <a:t>之间未必一定有优先关系</a:t>
            </a:r>
          </a:p>
          <a:p>
            <a:r>
              <a:rPr lang="zh-CN" altLang="en-US" dirty="0"/>
              <a:t>所以，算符优先关系中的 </a:t>
            </a:r>
            <a:r>
              <a:rPr lang="en-US" altLang="zh-CN" dirty="0"/>
              <a:t>=</a:t>
            </a:r>
            <a:r>
              <a:rPr lang="zh-CN" altLang="en-US" dirty="0"/>
              <a:t>、</a:t>
            </a:r>
            <a:r>
              <a:rPr lang="en-US" altLang="zh-CN" dirty="0"/>
              <a:t>&lt; </a:t>
            </a:r>
            <a:r>
              <a:rPr lang="zh-CN" altLang="en-US" dirty="0"/>
              <a:t>和 </a:t>
            </a:r>
            <a:r>
              <a:rPr lang="en-US" altLang="zh-CN" dirty="0"/>
              <a:t>&gt; </a:t>
            </a:r>
            <a:r>
              <a:rPr lang="zh-CN" altLang="en-US" dirty="0"/>
              <a:t>符号</a:t>
            </a:r>
            <a:r>
              <a:rPr lang="zh-CN" altLang="en-US" dirty="0">
                <a:solidFill>
                  <a:srgbClr val="EE853E"/>
                </a:solidFill>
              </a:rPr>
              <a:t>不同于</a:t>
            </a:r>
            <a:r>
              <a:rPr lang="zh-CN" altLang="en-US" dirty="0"/>
              <a:t>关系运算符中的等于、小于和大于符号。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20165E3-3911-4882-9FB7-1D3D41337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算符优先关系表</a:t>
            </a:r>
          </a:p>
        </p:txBody>
      </p:sp>
    </p:spTree>
    <p:extLst>
      <p:ext uri="{BB962C8B-B14F-4D97-AF65-F5344CB8AC3E}">
        <p14:creationId xmlns:p14="http://schemas.microsoft.com/office/powerpoint/2010/main" val="2497687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570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初始时，输入指针指向输入串的第一个符号，</a:t>
            </a:r>
            <a:r>
              <a:rPr lang="en-US" altLang="zh-CN" dirty="0"/>
              <a:t>#</a:t>
            </a:r>
            <a:r>
              <a:rPr lang="zh-CN" altLang="en-US" dirty="0"/>
              <a:t>入栈；然后比较</a:t>
            </a:r>
            <a:r>
              <a:rPr lang="zh-CN" altLang="en-US" dirty="0">
                <a:solidFill>
                  <a:srgbClr val="EE853E"/>
                </a:solidFill>
              </a:rPr>
              <a:t>栈顶终结符 </a:t>
            </a:r>
            <a:r>
              <a:rPr lang="en-US" altLang="zh-CN" dirty="0"/>
              <a:t>a 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EE853E"/>
                </a:solidFill>
              </a:rPr>
              <a:t>输入符号 </a:t>
            </a:r>
            <a:r>
              <a:rPr lang="en-US" altLang="zh-CN" dirty="0"/>
              <a:t>b </a:t>
            </a:r>
            <a:r>
              <a:rPr lang="zh-CN" altLang="en-US" dirty="0"/>
              <a:t>的优先关系：</a:t>
            </a:r>
          </a:p>
          <a:p>
            <a:r>
              <a:rPr lang="en-US" altLang="zh-CN" dirty="0"/>
              <a:t>1.	</a:t>
            </a:r>
            <a:r>
              <a:rPr lang="zh-CN" altLang="en-US" dirty="0"/>
              <a:t>如 </a:t>
            </a:r>
            <a:r>
              <a:rPr lang="en-US" altLang="zh-CN" dirty="0"/>
              <a:t>a=b</a:t>
            </a:r>
            <a:r>
              <a:rPr lang="zh-CN" altLang="en-US" dirty="0"/>
              <a:t>，且都是</a:t>
            </a:r>
            <a:r>
              <a:rPr lang="en-US" altLang="zh-CN" dirty="0"/>
              <a:t>#</a:t>
            </a:r>
            <a:r>
              <a:rPr lang="zh-CN" altLang="en-US" dirty="0"/>
              <a:t>，</a:t>
            </a:r>
            <a:r>
              <a:rPr lang="zh-CN" altLang="en-US" dirty="0">
                <a:solidFill>
                  <a:srgbClr val="EE853E"/>
                </a:solidFill>
              </a:rPr>
              <a:t>输入串合法</a:t>
            </a:r>
            <a:r>
              <a:rPr lang="zh-CN" altLang="en-US" dirty="0"/>
              <a:t>，分析结束。</a:t>
            </a:r>
          </a:p>
          <a:p>
            <a:r>
              <a:rPr lang="en-US" altLang="zh-CN" dirty="0"/>
              <a:t>2.	</a:t>
            </a:r>
            <a:r>
              <a:rPr lang="zh-CN" altLang="en-US" dirty="0"/>
              <a:t>如 </a:t>
            </a:r>
            <a:r>
              <a:rPr lang="en-US" altLang="zh-CN" dirty="0"/>
              <a:t>a&lt;b </a:t>
            </a:r>
            <a:r>
              <a:rPr lang="zh-CN" altLang="en-US" dirty="0"/>
              <a:t>或 </a:t>
            </a:r>
            <a:r>
              <a:rPr lang="en-US" altLang="zh-CN" dirty="0"/>
              <a:t>a=b</a:t>
            </a:r>
            <a:r>
              <a:rPr lang="zh-CN" altLang="en-US" dirty="0"/>
              <a:t>，</a:t>
            </a:r>
            <a:r>
              <a:rPr lang="en-US" altLang="zh-CN" dirty="0"/>
              <a:t>b</a:t>
            </a:r>
            <a:r>
              <a:rPr lang="zh-CN" altLang="en-US" dirty="0"/>
              <a:t>入栈，输入指针右移。</a:t>
            </a:r>
          </a:p>
          <a:p>
            <a:r>
              <a:rPr lang="en-US" altLang="zh-CN" dirty="0"/>
              <a:t>3.	</a:t>
            </a:r>
            <a:r>
              <a:rPr lang="zh-CN" altLang="en-US" dirty="0"/>
              <a:t>如 </a:t>
            </a:r>
            <a:r>
              <a:rPr lang="en-US" altLang="zh-CN" dirty="0"/>
              <a:t>a&gt;b</a:t>
            </a:r>
            <a:r>
              <a:rPr lang="zh-CN" altLang="en-US" dirty="0"/>
              <a:t>，寻找位于栈顶的包含 </a:t>
            </a:r>
            <a:r>
              <a:rPr lang="en-US" altLang="zh-CN" dirty="0"/>
              <a:t>a </a:t>
            </a:r>
            <a:r>
              <a:rPr lang="zh-CN" altLang="en-US" dirty="0"/>
              <a:t>的最小的可规约串（</a:t>
            </a:r>
            <a:r>
              <a:rPr lang="zh-CN" altLang="en-US" dirty="0">
                <a:solidFill>
                  <a:srgbClr val="EE853E"/>
                </a:solidFill>
              </a:rPr>
              <a:t>最左素短语</a:t>
            </a:r>
            <a:r>
              <a:rPr lang="zh-CN" altLang="en-US" dirty="0"/>
              <a:t>），</a:t>
            </a:r>
            <a:br>
              <a:rPr lang="en-US" altLang="zh-CN" dirty="0"/>
            </a:br>
            <a:r>
              <a:rPr lang="en-US" altLang="zh-CN" dirty="0"/>
              <a:t>	3.1 </a:t>
            </a:r>
            <a:r>
              <a:rPr lang="zh-CN" altLang="en-US" dirty="0"/>
              <a:t>如果找到，将该串规约。</a:t>
            </a:r>
            <a:endParaRPr lang="en-US" altLang="zh-CN" dirty="0"/>
          </a:p>
          <a:p>
            <a:r>
              <a:rPr lang="en-US" altLang="zh-CN" dirty="0"/>
              <a:t>	3.2 </a:t>
            </a:r>
            <a:r>
              <a:rPr lang="zh-CN" altLang="en-US" dirty="0"/>
              <a:t>如果未找到，</a:t>
            </a:r>
            <a:r>
              <a:rPr lang="zh-CN" altLang="en-US" dirty="0">
                <a:solidFill>
                  <a:srgbClr val="EE853E"/>
                </a:solidFill>
              </a:rPr>
              <a:t>输入串非法</a:t>
            </a:r>
            <a:r>
              <a:rPr lang="zh-CN" altLang="en-US" dirty="0"/>
              <a:t>，分析结束。</a:t>
            </a:r>
          </a:p>
          <a:p>
            <a:r>
              <a:rPr lang="en-US" altLang="zh-CN" dirty="0"/>
              <a:t>4.	</a:t>
            </a:r>
            <a:r>
              <a:rPr lang="zh-CN" altLang="en-US" dirty="0"/>
              <a:t>如 </a:t>
            </a:r>
            <a:r>
              <a:rPr lang="en-US" altLang="zh-CN" dirty="0"/>
              <a:t>a </a:t>
            </a:r>
            <a:r>
              <a:rPr lang="zh-CN" altLang="en-US" dirty="0"/>
              <a:t>和 </a:t>
            </a:r>
            <a:r>
              <a:rPr lang="en-US" altLang="zh-CN" dirty="0"/>
              <a:t>b </a:t>
            </a:r>
            <a:r>
              <a:rPr lang="zh-CN" altLang="en-US" dirty="0"/>
              <a:t>不存在优先关系，</a:t>
            </a:r>
            <a:r>
              <a:rPr lang="zh-CN" altLang="en-US" dirty="0">
                <a:solidFill>
                  <a:srgbClr val="EE853E"/>
                </a:solidFill>
              </a:rPr>
              <a:t>输入串非法</a:t>
            </a:r>
            <a:r>
              <a:rPr lang="zh-CN" altLang="en-US" dirty="0"/>
              <a:t>，分析结束。</a:t>
            </a:r>
          </a:p>
          <a:p>
            <a:endParaRPr lang="en-US" altLang="zh-CN" dirty="0"/>
          </a:p>
        </p:txBody>
      </p:sp>
      <p:sp>
        <p:nvSpPr>
          <p:cNvPr id="49357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算符优先分析过程</a:t>
            </a:r>
          </a:p>
        </p:txBody>
      </p:sp>
    </p:spTree>
    <p:extLst>
      <p:ext uri="{BB962C8B-B14F-4D97-AF65-F5344CB8AC3E}">
        <p14:creationId xmlns:p14="http://schemas.microsoft.com/office/powerpoint/2010/main" val="2121482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720000" y="900000"/>
            <a:ext cx="10751844" cy="5237998"/>
          </a:xfrm>
        </p:spPr>
        <p:txBody>
          <a:bodyPr/>
          <a:lstStyle/>
          <a:p>
            <a:r>
              <a:rPr lang="zh-CN" altLang="en-US" dirty="0">
                <a:latin typeface="+mj-ea"/>
                <a:ea typeface="+mj-ea"/>
              </a:rPr>
              <a:t>输入串 </a:t>
            </a:r>
            <a:r>
              <a:rPr lang="en-US" altLang="zh-CN" dirty="0" err="1">
                <a:latin typeface="+mj-ea"/>
                <a:ea typeface="+mj-ea"/>
              </a:rPr>
              <a:t>i</a:t>
            </a:r>
            <a:r>
              <a:rPr lang="en-US" altLang="zh-CN" dirty="0">
                <a:latin typeface="+mj-ea"/>
                <a:ea typeface="+mj-ea"/>
              </a:rPr>
              <a:t> +</a:t>
            </a:r>
            <a:r>
              <a:rPr lang="en-US" altLang="zh-CN" dirty="0" err="1">
                <a:latin typeface="+mj-ea"/>
                <a:ea typeface="+mj-ea"/>
              </a:rPr>
              <a:t>i</a:t>
            </a:r>
            <a:r>
              <a:rPr lang="en-US" altLang="zh-CN" dirty="0">
                <a:latin typeface="+mj-ea"/>
                <a:ea typeface="+mj-ea"/>
              </a:rPr>
              <a:t> * </a:t>
            </a:r>
            <a:r>
              <a:rPr lang="en-US" altLang="zh-CN" dirty="0" err="1">
                <a:latin typeface="+mj-ea"/>
                <a:ea typeface="+mj-ea"/>
              </a:rPr>
              <a:t>i</a:t>
            </a:r>
            <a:r>
              <a:rPr lang="en-US" altLang="zh-CN" dirty="0">
                <a:latin typeface="+mj-ea"/>
                <a:ea typeface="+mj-ea"/>
              </a:rPr>
              <a:t> </a:t>
            </a:r>
            <a:r>
              <a:rPr lang="zh-CN" altLang="en-US" dirty="0">
                <a:latin typeface="+mj-ea"/>
                <a:ea typeface="+mj-ea"/>
              </a:rPr>
              <a:t>的分析过程：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3C9CA96-5853-44CF-A5BB-1A7A1EBFC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算符优先分析过程</a:t>
            </a:r>
          </a:p>
        </p:txBody>
      </p:sp>
      <p:sp>
        <p:nvSpPr>
          <p:cNvPr id="94" name="Text Box 6">
            <a:extLst>
              <a:ext uri="{FF2B5EF4-FFF2-40B4-BE49-F238E27FC236}">
                <a16:creationId xmlns:a16="http://schemas.microsoft.com/office/drawing/2014/main" id="{4642E286-BF5F-476A-A517-C3FED63DB3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8174" y="1600200"/>
            <a:ext cx="36099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E</a:t>
            </a:r>
          </a:p>
        </p:txBody>
      </p:sp>
      <p:sp>
        <p:nvSpPr>
          <p:cNvPr id="135" name="Line 13">
            <a:extLst>
              <a:ext uri="{FF2B5EF4-FFF2-40B4-BE49-F238E27FC236}">
                <a16:creationId xmlns:a16="http://schemas.microsoft.com/office/drawing/2014/main" id="{9734C14F-DF4F-42FF-929C-EE8F3B644FB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66476" y="2074626"/>
            <a:ext cx="516205" cy="469729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39" name="Line 13">
            <a:extLst>
              <a:ext uri="{FF2B5EF4-FFF2-40B4-BE49-F238E27FC236}">
                <a16:creationId xmlns:a16="http://schemas.microsoft.com/office/drawing/2014/main" id="{D7E55C90-E5F9-4358-9F60-B79F14174746}"/>
              </a:ext>
            </a:extLst>
          </p:cNvPr>
          <p:cNvSpPr>
            <a:spLocks noChangeShapeType="1"/>
          </p:cNvSpPr>
          <p:nvPr/>
        </p:nvSpPr>
        <p:spPr bwMode="auto">
          <a:xfrm>
            <a:off x="1968894" y="2077556"/>
            <a:ext cx="516205" cy="463869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494595" name="Rectangle 3"/>
          <p:cNvSpPr>
            <a:spLocks noChangeArrowheads="1"/>
          </p:cNvSpPr>
          <p:nvPr/>
        </p:nvSpPr>
        <p:spPr bwMode="auto">
          <a:xfrm>
            <a:off x="5105400" y="1009446"/>
            <a:ext cx="5943600" cy="5501208"/>
          </a:xfrm>
          <a:prstGeom prst="rect">
            <a:avLst/>
          </a:prstGeom>
          <a:noFill/>
          <a:ln w="38100">
            <a:solidFill>
              <a:schemeClr val="bg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494596" name="Line 4"/>
          <p:cNvSpPr>
            <a:spLocks noChangeShapeType="1"/>
          </p:cNvSpPr>
          <p:nvPr/>
        </p:nvSpPr>
        <p:spPr bwMode="auto">
          <a:xfrm>
            <a:off x="9067800" y="1009446"/>
            <a:ext cx="0" cy="5501208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494597" name="Line 5"/>
          <p:cNvSpPr>
            <a:spLocks noChangeShapeType="1"/>
          </p:cNvSpPr>
          <p:nvPr/>
        </p:nvSpPr>
        <p:spPr bwMode="auto">
          <a:xfrm>
            <a:off x="5105400" y="3466175"/>
            <a:ext cx="5943600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494598" name="Line 6"/>
          <p:cNvSpPr>
            <a:spLocks noChangeShapeType="1"/>
          </p:cNvSpPr>
          <p:nvPr/>
        </p:nvSpPr>
        <p:spPr bwMode="auto">
          <a:xfrm>
            <a:off x="5105400" y="1500792"/>
            <a:ext cx="5943600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494599" name="Line 7"/>
          <p:cNvSpPr>
            <a:spLocks noChangeShapeType="1"/>
          </p:cNvSpPr>
          <p:nvPr/>
        </p:nvSpPr>
        <p:spPr bwMode="auto">
          <a:xfrm>
            <a:off x="5105400" y="1992138"/>
            <a:ext cx="5943600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494600" name="Line 8"/>
          <p:cNvSpPr>
            <a:spLocks noChangeShapeType="1"/>
          </p:cNvSpPr>
          <p:nvPr/>
        </p:nvSpPr>
        <p:spPr bwMode="auto">
          <a:xfrm>
            <a:off x="5105400" y="2483484"/>
            <a:ext cx="5943600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494601" name="Line 9"/>
          <p:cNvSpPr>
            <a:spLocks noChangeShapeType="1"/>
          </p:cNvSpPr>
          <p:nvPr/>
        </p:nvSpPr>
        <p:spPr bwMode="auto">
          <a:xfrm>
            <a:off x="5105400" y="2974829"/>
            <a:ext cx="5943600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494602" name="Line 10"/>
          <p:cNvSpPr>
            <a:spLocks noChangeShapeType="1"/>
          </p:cNvSpPr>
          <p:nvPr/>
        </p:nvSpPr>
        <p:spPr bwMode="auto">
          <a:xfrm>
            <a:off x="5105400" y="3896103"/>
            <a:ext cx="5943600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494603" name="Line 11"/>
          <p:cNvSpPr>
            <a:spLocks noChangeShapeType="1"/>
          </p:cNvSpPr>
          <p:nvPr/>
        </p:nvSpPr>
        <p:spPr bwMode="auto">
          <a:xfrm>
            <a:off x="5105400" y="4326031"/>
            <a:ext cx="5943600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494604" name="Line 12"/>
          <p:cNvSpPr>
            <a:spLocks noChangeShapeType="1"/>
          </p:cNvSpPr>
          <p:nvPr/>
        </p:nvSpPr>
        <p:spPr bwMode="auto">
          <a:xfrm>
            <a:off x="5105400" y="4755957"/>
            <a:ext cx="5943600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494605" name="Line 13"/>
          <p:cNvSpPr>
            <a:spLocks noChangeShapeType="1"/>
          </p:cNvSpPr>
          <p:nvPr/>
        </p:nvSpPr>
        <p:spPr bwMode="auto">
          <a:xfrm>
            <a:off x="7010400" y="1009446"/>
            <a:ext cx="0" cy="5501208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494606" name="Text Box 14"/>
          <p:cNvSpPr txBox="1">
            <a:spLocks noChangeArrowheads="1"/>
          </p:cNvSpPr>
          <p:nvPr/>
        </p:nvSpPr>
        <p:spPr bwMode="auto">
          <a:xfrm>
            <a:off x="5504969" y="1070865"/>
            <a:ext cx="110799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400" b="1">
                <a:solidFill>
                  <a:schemeClr val="bg1"/>
                </a:solidFill>
                <a:latin typeface="+mj-ea"/>
                <a:ea typeface="+mj-ea"/>
              </a:rPr>
              <a:t>下推栈</a:t>
            </a:r>
          </a:p>
        </p:txBody>
      </p:sp>
      <p:sp>
        <p:nvSpPr>
          <p:cNvPr id="494607" name="Text Box 15"/>
          <p:cNvSpPr txBox="1">
            <a:spLocks noChangeArrowheads="1"/>
          </p:cNvSpPr>
          <p:nvPr/>
        </p:nvSpPr>
        <p:spPr bwMode="auto">
          <a:xfrm>
            <a:off x="7562369" y="1070865"/>
            <a:ext cx="110799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400" b="1">
                <a:solidFill>
                  <a:schemeClr val="bg1"/>
                </a:solidFill>
                <a:latin typeface="+mj-ea"/>
                <a:ea typeface="+mj-ea"/>
              </a:rPr>
              <a:t>输入串</a:t>
            </a:r>
          </a:p>
        </p:txBody>
      </p:sp>
      <p:sp>
        <p:nvSpPr>
          <p:cNvPr id="494608" name="Text Box 16"/>
          <p:cNvSpPr txBox="1">
            <a:spLocks noChangeArrowheads="1"/>
          </p:cNvSpPr>
          <p:nvPr/>
        </p:nvSpPr>
        <p:spPr bwMode="auto">
          <a:xfrm>
            <a:off x="9355653" y="1070865"/>
            <a:ext cx="141577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zh-CN" altLang="en-US" sz="2400" b="1">
                <a:solidFill>
                  <a:schemeClr val="bg1"/>
                </a:solidFill>
                <a:latin typeface="+mj-ea"/>
                <a:ea typeface="+mj-ea"/>
              </a:rPr>
              <a:t>查分析表</a:t>
            </a:r>
          </a:p>
        </p:txBody>
      </p:sp>
      <p:sp>
        <p:nvSpPr>
          <p:cNvPr id="494609" name="Text Box 17"/>
          <p:cNvSpPr txBox="1">
            <a:spLocks noChangeArrowheads="1"/>
          </p:cNvSpPr>
          <p:nvPr/>
        </p:nvSpPr>
        <p:spPr bwMode="auto">
          <a:xfrm>
            <a:off x="7391400" y="1562211"/>
            <a:ext cx="158422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r"/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i + i * i #</a:t>
            </a:r>
          </a:p>
        </p:txBody>
      </p:sp>
      <p:sp>
        <p:nvSpPr>
          <p:cNvPr id="494610" name="Text Box 18"/>
          <p:cNvSpPr txBox="1">
            <a:spLocks noChangeArrowheads="1"/>
          </p:cNvSpPr>
          <p:nvPr/>
        </p:nvSpPr>
        <p:spPr bwMode="auto">
          <a:xfrm>
            <a:off x="5141912" y="1562210"/>
            <a:ext cx="38183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#</a:t>
            </a:r>
          </a:p>
        </p:txBody>
      </p:sp>
      <p:sp>
        <p:nvSpPr>
          <p:cNvPr id="494611" name="Text Box 19"/>
          <p:cNvSpPr txBox="1">
            <a:spLocks noChangeArrowheads="1"/>
          </p:cNvSpPr>
          <p:nvPr/>
        </p:nvSpPr>
        <p:spPr bwMode="auto">
          <a:xfrm>
            <a:off x="5124450" y="2025406"/>
            <a:ext cx="56457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# i</a:t>
            </a:r>
          </a:p>
        </p:txBody>
      </p:sp>
      <p:sp>
        <p:nvSpPr>
          <p:cNvPr id="494612" name="Text Box 20"/>
          <p:cNvSpPr txBox="1">
            <a:spLocks noChangeArrowheads="1"/>
          </p:cNvSpPr>
          <p:nvPr/>
        </p:nvSpPr>
        <p:spPr bwMode="auto">
          <a:xfrm>
            <a:off x="5126037" y="2544902"/>
            <a:ext cx="64472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# F</a:t>
            </a:r>
          </a:p>
        </p:txBody>
      </p:sp>
      <p:sp>
        <p:nvSpPr>
          <p:cNvPr id="494613" name="Text Box 21"/>
          <p:cNvSpPr txBox="1">
            <a:spLocks noChangeArrowheads="1"/>
          </p:cNvSpPr>
          <p:nvPr/>
        </p:nvSpPr>
        <p:spPr bwMode="auto">
          <a:xfrm>
            <a:off x="5105400" y="3466175"/>
            <a:ext cx="115288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>
                <a:solidFill>
                  <a:schemeClr val="bg1"/>
                </a:solidFill>
                <a:latin typeface="+mj-ea"/>
              </a:rPr>
              <a:t># F + i</a:t>
            </a:r>
          </a:p>
        </p:txBody>
      </p:sp>
      <p:sp>
        <p:nvSpPr>
          <p:cNvPr id="494614" name="Text Box 22"/>
          <p:cNvSpPr txBox="1">
            <a:spLocks noChangeArrowheads="1"/>
          </p:cNvSpPr>
          <p:nvPr/>
        </p:nvSpPr>
        <p:spPr bwMode="auto">
          <a:xfrm>
            <a:off x="5105401" y="3036248"/>
            <a:ext cx="97013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>
                <a:solidFill>
                  <a:schemeClr val="bg1"/>
                </a:solidFill>
                <a:latin typeface="+mj-ea"/>
              </a:rPr>
              <a:t># F +</a:t>
            </a:r>
          </a:p>
        </p:txBody>
      </p:sp>
      <p:sp>
        <p:nvSpPr>
          <p:cNvPr id="494615" name="Text Box 23"/>
          <p:cNvSpPr txBox="1">
            <a:spLocks noChangeArrowheads="1"/>
          </p:cNvSpPr>
          <p:nvPr/>
        </p:nvSpPr>
        <p:spPr bwMode="auto">
          <a:xfrm>
            <a:off x="5111750" y="3887146"/>
            <a:ext cx="123303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>
                <a:solidFill>
                  <a:schemeClr val="bg1"/>
                </a:solidFill>
                <a:latin typeface="+mj-ea"/>
              </a:rPr>
              <a:t># F + F</a:t>
            </a:r>
          </a:p>
        </p:txBody>
      </p:sp>
      <p:sp>
        <p:nvSpPr>
          <p:cNvPr id="494616" name="Text Box 24"/>
          <p:cNvSpPr txBox="1">
            <a:spLocks noChangeArrowheads="1"/>
          </p:cNvSpPr>
          <p:nvPr/>
        </p:nvSpPr>
        <p:spPr bwMode="auto">
          <a:xfrm>
            <a:off x="5109460" y="4800600"/>
            <a:ext cx="165782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>
                <a:solidFill>
                  <a:schemeClr val="bg1"/>
                </a:solidFill>
                <a:latin typeface="+mj-ea"/>
              </a:rPr>
              <a:t># F + F * i</a:t>
            </a:r>
          </a:p>
        </p:txBody>
      </p:sp>
      <p:sp>
        <p:nvSpPr>
          <p:cNvPr id="494617" name="Text Box 25"/>
          <p:cNvSpPr txBox="1">
            <a:spLocks noChangeArrowheads="1"/>
          </p:cNvSpPr>
          <p:nvPr/>
        </p:nvSpPr>
        <p:spPr bwMode="auto">
          <a:xfrm>
            <a:off x="5106987" y="4343400"/>
            <a:ext cx="14750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 dirty="0">
                <a:solidFill>
                  <a:schemeClr val="bg1"/>
                </a:solidFill>
                <a:latin typeface="+mj-ea"/>
              </a:rPr>
              <a:t># F + F *</a:t>
            </a:r>
          </a:p>
        </p:txBody>
      </p:sp>
      <p:sp>
        <p:nvSpPr>
          <p:cNvPr id="494618" name="Text Box 26"/>
          <p:cNvSpPr txBox="1">
            <a:spLocks noChangeArrowheads="1"/>
          </p:cNvSpPr>
          <p:nvPr/>
        </p:nvSpPr>
        <p:spPr bwMode="auto">
          <a:xfrm>
            <a:off x="7391400" y="2053557"/>
            <a:ext cx="158422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r"/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  + i * i #</a:t>
            </a:r>
          </a:p>
        </p:txBody>
      </p:sp>
      <p:sp>
        <p:nvSpPr>
          <p:cNvPr id="494619" name="Text Box 27"/>
          <p:cNvSpPr txBox="1">
            <a:spLocks noChangeArrowheads="1"/>
          </p:cNvSpPr>
          <p:nvPr/>
        </p:nvSpPr>
        <p:spPr bwMode="auto">
          <a:xfrm>
            <a:off x="7391400" y="3466176"/>
            <a:ext cx="158422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r"/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* i #</a:t>
            </a:r>
          </a:p>
        </p:txBody>
      </p:sp>
      <p:sp>
        <p:nvSpPr>
          <p:cNvPr id="494620" name="Text Box 28"/>
          <p:cNvSpPr txBox="1">
            <a:spLocks noChangeArrowheads="1"/>
          </p:cNvSpPr>
          <p:nvPr/>
        </p:nvSpPr>
        <p:spPr bwMode="auto">
          <a:xfrm>
            <a:off x="7391400" y="2544902"/>
            <a:ext cx="158422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r"/>
            <a:r>
              <a:rPr kumimoji="1"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  + </a:t>
            </a:r>
            <a:r>
              <a:rPr kumimoji="1" lang="en-US" altLang="zh-CN" sz="2400" b="1" dirty="0" err="1">
                <a:solidFill>
                  <a:schemeClr val="bg1"/>
                </a:solidFill>
                <a:latin typeface="+mj-ea"/>
                <a:ea typeface="+mj-ea"/>
              </a:rPr>
              <a:t>i</a:t>
            </a:r>
            <a:r>
              <a:rPr kumimoji="1"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 * </a:t>
            </a:r>
            <a:r>
              <a:rPr kumimoji="1" lang="en-US" altLang="zh-CN" sz="2400" b="1" dirty="0" err="1">
                <a:solidFill>
                  <a:schemeClr val="bg1"/>
                </a:solidFill>
                <a:latin typeface="+mj-ea"/>
                <a:ea typeface="+mj-ea"/>
              </a:rPr>
              <a:t>i</a:t>
            </a:r>
            <a:r>
              <a:rPr kumimoji="1"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 #</a:t>
            </a:r>
          </a:p>
        </p:txBody>
      </p:sp>
      <p:sp>
        <p:nvSpPr>
          <p:cNvPr id="494621" name="Text Box 29"/>
          <p:cNvSpPr txBox="1">
            <a:spLocks noChangeArrowheads="1"/>
          </p:cNvSpPr>
          <p:nvPr/>
        </p:nvSpPr>
        <p:spPr bwMode="auto">
          <a:xfrm>
            <a:off x="7391400" y="3036249"/>
            <a:ext cx="158422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r"/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      i * i #</a:t>
            </a:r>
          </a:p>
        </p:txBody>
      </p:sp>
      <p:sp>
        <p:nvSpPr>
          <p:cNvPr id="494622" name="Text Box 30"/>
          <p:cNvSpPr txBox="1">
            <a:spLocks noChangeArrowheads="1"/>
          </p:cNvSpPr>
          <p:nvPr/>
        </p:nvSpPr>
        <p:spPr bwMode="auto">
          <a:xfrm>
            <a:off x="7391400" y="3896103"/>
            <a:ext cx="158422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r"/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* i #</a:t>
            </a:r>
          </a:p>
        </p:txBody>
      </p:sp>
      <p:sp>
        <p:nvSpPr>
          <p:cNvPr id="494623" name="Text Box 31"/>
          <p:cNvSpPr txBox="1">
            <a:spLocks noChangeArrowheads="1"/>
          </p:cNvSpPr>
          <p:nvPr/>
        </p:nvSpPr>
        <p:spPr bwMode="auto">
          <a:xfrm>
            <a:off x="7391400" y="4326031"/>
            <a:ext cx="158422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r"/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i #</a:t>
            </a:r>
          </a:p>
        </p:txBody>
      </p:sp>
      <p:sp>
        <p:nvSpPr>
          <p:cNvPr id="494624" name="Text Box 32"/>
          <p:cNvSpPr txBox="1">
            <a:spLocks noChangeArrowheads="1"/>
          </p:cNvSpPr>
          <p:nvPr/>
        </p:nvSpPr>
        <p:spPr bwMode="auto">
          <a:xfrm>
            <a:off x="7469490" y="4800600"/>
            <a:ext cx="150613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r"/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#</a:t>
            </a:r>
          </a:p>
        </p:txBody>
      </p:sp>
      <p:sp>
        <p:nvSpPr>
          <p:cNvPr id="494625" name="Text Box 33"/>
          <p:cNvSpPr txBox="1">
            <a:spLocks noChangeArrowheads="1"/>
          </p:cNvSpPr>
          <p:nvPr/>
        </p:nvSpPr>
        <p:spPr bwMode="auto">
          <a:xfrm>
            <a:off x="9709917" y="1564769"/>
            <a:ext cx="70724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#&lt;i</a:t>
            </a:r>
          </a:p>
        </p:txBody>
      </p:sp>
      <p:sp>
        <p:nvSpPr>
          <p:cNvPr id="494626" name="Text Box 34"/>
          <p:cNvSpPr txBox="1">
            <a:spLocks noChangeArrowheads="1"/>
          </p:cNvSpPr>
          <p:nvPr/>
        </p:nvSpPr>
        <p:spPr bwMode="auto">
          <a:xfrm>
            <a:off x="9691482" y="2049718"/>
            <a:ext cx="74411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i&gt;+</a:t>
            </a:r>
          </a:p>
        </p:txBody>
      </p:sp>
      <p:sp>
        <p:nvSpPr>
          <p:cNvPr id="494627" name="Text Box 35"/>
          <p:cNvSpPr txBox="1">
            <a:spLocks noChangeArrowheads="1"/>
          </p:cNvSpPr>
          <p:nvPr/>
        </p:nvSpPr>
        <p:spPr bwMode="auto">
          <a:xfrm>
            <a:off x="9709917" y="4773051"/>
            <a:ext cx="707245" cy="507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en-US" altLang="zh-CN" sz="2400" b="1">
                <a:solidFill>
                  <a:schemeClr val="bg1"/>
                </a:solidFill>
                <a:latin typeface="+mj-ea"/>
              </a:rPr>
              <a:t>i&gt;#</a:t>
            </a:r>
          </a:p>
        </p:txBody>
      </p:sp>
      <p:sp>
        <p:nvSpPr>
          <p:cNvPr id="494628" name="Text Box 36"/>
          <p:cNvSpPr txBox="1">
            <a:spLocks noChangeArrowheads="1"/>
          </p:cNvSpPr>
          <p:nvPr/>
        </p:nvSpPr>
        <p:spPr bwMode="auto">
          <a:xfrm>
            <a:off x="9638583" y="2551300"/>
            <a:ext cx="84991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en-US" altLang="zh-CN" sz="2400" b="1">
                <a:solidFill>
                  <a:schemeClr val="bg1"/>
                </a:solidFill>
                <a:latin typeface="+mj-ea"/>
              </a:rPr>
              <a:t>#&lt;+</a:t>
            </a:r>
          </a:p>
        </p:txBody>
      </p:sp>
      <p:sp>
        <p:nvSpPr>
          <p:cNvPr id="494629" name="Text Box 37"/>
          <p:cNvSpPr txBox="1">
            <a:spLocks noChangeArrowheads="1"/>
          </p:cNvSpPr>
          <p:nvPr/>
        </p:nvSpPr>
        <p:spPr bwMode="auto">
          <a:xfrm>
            <a:off x="9733160" y="3478012"/>
            <a:ext cx="66075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en-US" altLang="zh-CN" sz="2400" b="1">
                <a:solidFill>
                  <a:schemeClr val="bg1"/>
                </a:solidFill>
                <a:latin typeface="+mj-ea"/>
              </a:rPr>
              <a:t>i&gt;*</a:t>
            </a:r>
          </a:p>
        </p:txBody>
      </p:sp>
      <p:sp>
        <p:nvSpPr>
          <p:cNvPr id="494630" name="Text Box 38"/>
          <p:cNvSpPr txBox="1">
            <a:spLocks noChangeArrowheads="1"/>
          </p:cNvSpPr>
          <p:nvPr/>
        </p:nvSpPr>
        <p:spPr bwMode="auto">
          <a:xfrm>
            <a:off x="9272412" y="3880896"/>
            <a:ext cx="1582254" cy="5586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2400" b="1">
                <a:solidFill>
                  <a:schemeClr val="bg1"/>
                </a:solidFill>
                <a:latin typeface="+mj-ea"/>
              </a:rPr>
              <a:t>+&lt;*</a:t>
            </a:r>
          </a:p>
        </p:txBody>
      </p:sp>
      <p:sp>
        <p:nvSpPr>
          <p:cNvPr id="59" name="Line 11">
            <a:extLst>
              <a:ext uri="{FF2B5EF4-FFF2-40B4-BE49-F238E27FC236}">
                <a16:creationId xmlns:a16="http://schemas.microsoft.com/office/drawing/2014/main" id="{B4A88130-ECE1-4D1E-B3FA-7265186446AD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5400" y="5206965"/>
            <a:ext cx="5943600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60" name="Line 12">
            <a:extLst>
              <a:ext uri="{FF2B5EF4-FFF2-40B4-BE49-F238E27FC236}">
                <a16:creationId xmlns:a16="http://schemas.microsoft.com/office/drawing/2014/main" id="{9D6B3125-1A5B-4EDA-A4BC-64F8C67379C5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5400" y="5636892"/>
            <a:ext cx="5943600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61" name="Text Box 24">
            <a:extLst>
              <a:ext uri="{FF2B5EF4-FFF2-40B4-BE49-F238E27FC236}">
                <a16:creationId xmlns:a16="http://schemas.microsoft.com/office/drawing/2014/main" id="{20BF4563-88F6-4F7E-BF30-7E24D568AD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6955" y="5659978"/>
            <a:ext cx="125386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>
                <a:solidFill>
                  <a:schemeClr val="bg1"/>
                </a:solidFill>
                <a:latin typeface="+mj-ea"/>
              </a:rPr>
              <a:t># F + T</a:t>
            </a:r>
          </a:p>
        </p:txBody>
      </p:sp>
      <p:sp>
        <p:nvSpPr>
          <p:cNvPr id="62" name="Text Box 25">
            <a:extLst>
              <a:ext uri="{FF2B5EF4-FFF2-40B4-BE49-F238E27FC236}">
                <a16:creationId xmlns:a16="http://schemas.microsoft.com/office/drawing/2014/main" id="{F844451D-2D02-408D-BBBE-E08C68EAD4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6987" y="5231526"/>
            <a:ext cx="173797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>
                <a:solidFill>
                  <a:schemeClr val="bg1"/>
                </a:solidFill>
                <a:latin typeface="+mj-ea"/>
              </a:rPr>
              <a:t># F + F * F</a:t>
            </a:r>
          </a:p>
        </p:txBody>
      </p:sp>
      <p:sp>
        <p:nvSpPr>
          <p:cNvPr id="63" name="Text Box 31">
            <a:extLst>
              <a:ext uri="{FF2B5EF4-FFF2-40B4-BE49-F238E27FC236}">
                <a16:creationId xmlns:a16="http://schemas.microsoft.com/office/drawing/2014/main" id="{60D47F2E-D44F-4A23-9C3F-05956FC54A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0" y="5220411"/>
            <a:ext cx="158422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r"/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#</a:t>
            </a:r>
          </a:p>
        </p:txBody>
      </p:sp>
      <p:sp>
        <p:nvSpPr>
          <p:cNvPr id="64" name="Text Box 32">
            <a:extLst>
              <a:ext uri="{FF2B5EF4-FFF2-40B4-BE49-F238E27FC236}">
                <a16:creationId xmlns:a16="http://schemas.microsoft.com/office/drawing/2014/main" id="{96E6F63D-C9D0-4116-B21E-2C37725090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9490" y="5659978"/>
            <a:ext cx="150613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r"/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#</a:t>
            </a:r>
          </a:p>
        </p:txBody>
      </p:sp>
      <p:sp>
        <p:nvSpPr>
          <p:cNvPr id="65" name="Text Box 35">
            <a:extLst>
              <a:ext uri="{FF2B5EF4-FFF2-40B4-BE49-F238E27FC236}">
                <a16:creationId xmlns:a16="http://schemas.microsoft.com/office/drawing/2014/main" id="{970EA17D-597A-4AA2-A0F6-10EE5AF5F9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38583" y="5638800"/>
            <a:ext cx="84991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en-US" altLang="zh-CN" sz="2400" b="1">
                <a:solidFill>
                  <a:schemeClr val="bg1"/>
                </a:solidFill>
                <a:latin typeface="+mj-ea"/>
              </a:rPr>
              <a:t>+&gt;#</a:t>
            </a:r>
          </a:p>
        </p:txBody>
      </p:sp>
      <p:sp>
        <p:nvSpPr>
          <p:cNvPr id="67" name="Line 12">
            <a:extLst>
              <a:ext uri="{FF2B5EF4-FFF2-40B4-BE49-F238E27FC236}">
                <a16:creationId xmlns:a16="http://schemas.microsoft.com/office/drawing/2014/main" id="{FA63739B-EA82-4536-86FA-CE7B2386877E}"/>
              </a:ext>
            </a:extLst>
          </p:cNvPr>
          <p:cNvSpPr>
            <a:spLocks noChangeShapeType="1"/>
          </p:cNvSpPr>
          <p:nvPr/>
        </p:nvSpPr>
        <p:spPr bwMode="auto">
          <a:xfrm>
            <a:off x="5112895" y="6068449"/>
            <a:ext cx="5943600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68" name="Text Box 24">
            <a:extLst>
              <a:ext uri="{FF2B5EF4-FFF2-40B4-BE49-F238E27FC236}">
                <a16:creationId xmlns:a16="http://schemas.microsoft.com/office/drawing/2014/main" id="{E3C83F7D-7B29-40BA-BA64-3DFF8F9817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6955" y="6091535"/>
            <a:ext cx="64953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>
                <a:solidFill>
                  <a:schemeClr val="bg1"/>
                </a:solidFill>
                <a:latin typeface="+mj-ea"/>
              </a:rPr>
              <a:t># E</a:t>
            </a:r>
          </a:p>
        </p:txBody>
      </p:sp>
      <p:sp>
        <p:nvSpPr>
          <p:cNvPr id="69" name="Text Box 32">
            <a:extLst>
              <a:ext uri="{FF2B5EF4-FFF2-40B4-BE49-F238E27FC236}">
                <a16:creationId xmlns:a16="http://schemas.microsoft.com/office/drawing/2014/main" id="{5B76FBFF-085D-4F7F-8667-69F74758A6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9490" y="6091535"/>
            <a:ext cx="150613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r"/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#</a:t>
            </a:r>
          </a:p>
        </p:txBody>
      </p:sp>
      <p:sp>
        <p:nvSpPr>
          <p:cNvPr id="71" name="Text Box 33">
            <a:extLst>
              <a:ext uri="{FF2B5EF4-FFF2-40B4-BE49-F238E27FC236}">
                <a16:creationId xmlns:a16="http://schemas.microsoft.com/office/drawing/2014/main" id="{1341A1A8-C73F-457D-B523-972F7B6F98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91482" y="3006041"/>
            <a:ext cx="74411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+&lt;i</a:t>
            </a:r>
          </a:p>
        </p:txBody>
      </p:sp>
      <p:sp>
        <p:nvSpPr>
          <p:cNvPr id="72" name="Text Box 33">
            <a:extLst>
              <a:ext uri="{FF2B5EF4-FFF2-40B4-BE49-F238E27FC236}">
                <a16:creationId xmlns:a16="http://schemas.microsoft.com/office/drawing/2014/main" id="{311DCED2-D6E9-414B-8710-2421C2F1D7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33160" y="4315851"/>
            <a:ext cx="660758" cy="507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*&lt;i</a:t>
            </a:r>
          </a:p>
        </p:txBody>
      </p:sp>
      <p:sp>
        <p:nvSpPr>
          <p:cNvPr id="73" name="Text Box 35">
            <a:extLst>
              <a:ext uri="{FF2B5EF4-FFF2-40B4-BE49-F238E27FC236}">
                <a16:creationId xmlns:a16="http://schemas.microsoft.com/office/drawing/2014/main" id="{2EF5CCDB-3E1E-432E-A410-01AB0346BC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80261" y="5211343"/>
            <a:ext cx="76655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zh-CN" altLang="en-US" sz="2400" b="1">
                <a:solidFill>
                  <a:schemeClr val="bg1"/>
                </a:solidFill>
                <a:latin typeface="+mj-ea"/>
              </a:rPr>
              <a:t>*</a:t>
            </a:r>
            <a:r>
              <a:rPr kumimoji="1" lang="en-US" altLang="zh-CN" sz="2400" b="1">
                <a:solidFill>
                  <a:schemeClr val="bg1"/>
                </a:solidFill>
                <a:latin typeface="+mj-ea"/>
              </a:rPr>
              <a:t>&gt;#</a:t>
            </a:r>
          </a:p>
        </p:txBody>
      </p:sp>
      <p:sp>
        <p:nvSpPr>
          <p:cNvPr id="74" name="Text Box 31">
            <a:extLst>
              <a:ext uri="{FF2B5EF4-FFF2-40B4-BE49-F238E27FC236}">
                <a16:creationId xmlns:a16="http://schemas.microsoft.com/office/drawing/2014/main" id="{9492B9D5-776E-4695-B3DE-C5693B366E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57017" y="6072273"/>
            <a:ext cx="81304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en-US" altLang="zh-CN" sz="2400" b="1">
                <a:solidFill>
                  <a:srgbClr val="EE853E"/>
                </a:solidFill>
                <a:latin typeface="+mj-ea"/>
                <a:ea typeface="+mj-ea"/>
              </a:rPr>
              <a:t>#=#</a:t>
            </a:r>
          </a:p>
        </p:txBody>
      </p:sp>
      <p:sp>
        <p:nvSpPr>
          <p:cNvPr id="75" name="Line 13">
            <a:extLst>
              <a:ext uri="{FF2B5EF4-FFF2-40B4-BE49-F238E27FC236}">
                <a16:creationId xmlns:a16="http://schemas.microsoft.com/office/drawing/2014/main" id="{3699F40B-DF35-47E0-9D30-265B3ADF6208}"/>
              </a:ext>
            </a:extLst>
          </p:cNvPr>
          <p:cNvSpPr>
            <a:spLocks noChangeShapeType="1"/>
          </p:cNvSpPr>
          <p:nvPr/>
        </p:nvSpPr>
        <p:spPr bwMode="auto">
          <a:xfrm>
            <a:off x="1786967" y="2065945"/>
            <a:ext cx="12332" cy="48709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76" name="Text Box 6">
            <a:extLst>
              <a:ext uri="{FF2B5EF4-FFF2-40B4-BE49-F238E27FC236}">
                <a16:creationId xmlns:a16="http://schemas.microsoft.com/office/drawing/2014/main" id="{3D7E37BD-3271-4E2B-9DD6-B148964105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018" y="2514600"/>
            <a:ext cx="36099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E</a:t>
            </a:r>
          </a:p>
        </p:txBody>
      </p:sp>
      <p:sp>
        <p:nvSpPr>
          <p:cNvPr id="77" name="Text Box 6">
            <a:extLst>
              <a:ext uri="{FF2B5EF4-FFF2-40B4-BE49-F238E27FC236}">
                <a16:creationId xmlns:a16="http://schemas.microsoft.com/office/drawing/2014/main" id="{FE214463-468D-448D-BC76-B7C24D6509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8174" y="2540334"/>
            <a:ext cx="4187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+</a:t>
            </a:r>
            <a:endParaRPr kumimoji="1" lang="en-US" altLang="zh-CN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78" name="Text Box 6">
            <a:extLst>
              <a:ext uri="{FF2B5EF4-FFF2-40B4-BE49-F238E27FC236}">
                <a16:creationId xmlns:a16="http://schemas.microsoft.com/office/drawing/2014/main" id="{13AAB44D-A789-4966-9FC8-53565F085B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0109" y="2527467"/>
            <a:ext cx="37702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T</a:t>
            </a:r>
            <a:endParaRPr kumimoji="1" lang="en-US" altLang="zh-CN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79" name="Line 13">
            <a:extLst>
              <a:ext uri="{FF2B5EF4-FFF2-40B4-BE49-F238E27FC236}">
                <a16:creationId xmlns:a16="http://schemas.microsoft.com/office/drawing/2014/main" id="{5EFF4A0A-1081-4DFE-9E41-293933149DD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34177" y="2999069"/>
            <a:ext cx="516205" cy="469729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80" name="Line 13">
            <a:extLst>
              <a:ext uri="{FF2B5EF4-FFF2-40B4-BE49-F238E27FC236}">
                <a16:creationId xmlns:a16="http://schemas.microsoft.com/office/drawing/2014/main" id="{54DD623E-598C-4586-A05F-0B73B986E07D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595" y="3001999"/>
            <a:ext cx="516205" cy="463869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81" name="Line 13">
            <a:extLst>
              <a:ext uri="{FF2B5EF4-FFF2-40B4-BE49-F238E27FC236}">
                <a16:creationId xmlns:a16="http://schemas.microsoft.com/office/drawing/2014/main" id="{7DB95385-3BB3-41E9-BCDA-A771A0088D57}"/>
              </a:ext>
            </a:extLst>
          </p:cNvPr>
          <p:cNvSpPr>
            <a:spLocks noChangeShapeType="1"/>
          </p:cNvSpPr>
          <p:nvPr/>
        </p:nvSpPr>
        <p:spPr bwMode="auto">
          <a:xfrm>
            <a:off x="2654668" y="2990388"/>
            <a:ext cx="12332" cy="48709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82" name="Text Box 6">
            <a:extLst>
              <a:ext uri="{FF2B5EF4-FFF2-40B4-BE49-F238E27FC236}">
                <a16:creationId xmlns:a16="http://schemas.microsoft.com/office/drawing/2014/main" id="{55359D81-0581-4E52-9429-30654A8C75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0204" y="3439043"/>
            <a:ext cx="37702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T</a:t>
            </a:r>
            <a:endParaRPr kumimoji="1" lang="en-US" altLang="zh-CN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83" name="Text Box 6">
            <a:extLst>
              <a:ext uri="{FF2B5EF4-FFF2-40B4-BE49-F238E27FC236}">
                <a16:creationId xmlns:a16="http://schemas.microsoft.com/office/drawing/2014/main" id="{5EE99F25-2041-4787-A02A-CB8D066360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5875" y="3464777"/>
            <a:ext cx="33534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*</a:t>
            </a:r>
            <a:endParaRPr kumimoji="1" lang="en-US" altLang="zh-CN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84" name="Text Box 6">
            <a:extLst>
              <a:ext uri="{FF2B5EF4-FFF2-40B4-BE49-F238E27FC236}">
                <a16:creationId xmlns:a16="http://schemas.microsoft.com/office/drawing/2014/main" id="{0AC11F6D-05BC-4499-9F9E-5C4C46EDA8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6604" y="3451910"/>
            <a:ext cx="36099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F</a:t>
            </a:r>
            <a:endParaRPr kumimoji="1" lang="en-US" altLang="zh-CN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85" name="Line 13">
            <a:extLst>
              <a:ext uri="{FF2B5EF4-FFF2-40B4-BE49-F238E27FC236}">
                <a16:creationId xmlns:a16="http://schemas.microsoft.com/office/drawing/2014/main" id="{A00699B2-8593-49DE-88D3-79A0DFBAC193}"/>
              </a:ext>
            </a:extLst>
          </p:cNvPr>
          <p:cNvSpPr>
            <a:spLocks noChangeShapeType="1"/>
          </p:cNvSpPr>
          <p:nvPr/>
        </p:nvSpPr>
        <p:spPr bwMode="auto">
          <a:xfrm>
            <a:off x="898185" y="2984329"/>
            <a:ext cx="12332" cy="48709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86" name="Text Box 6">
            <a:extLst>
              <a:ext uri="{FF2B5EF4-FFF2-40B4-BE49-F238E27FC236}">
                <a16:creationId xmlns:a16="http://schemas.microsoft.com/office/drawing/2014/main" id="{F954B3FE-F926-43A4-9E33-2712F32DA1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392" y="3458718"/>
            <a:ext cx="37702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T</a:t>
            </a:r>
            <a:endParaRPr kumimoji="1" lang="en-US" altLang="zh-CN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87" name="Line 13">
            <a:extLst>
              <a:ext uri="{FF2B5EF4-FFF2-40B4-BE49-F238E27FC236}">
                <a16:creationId xmlns:a16="http://schemas.microsoft.com/office/drawing/2014/main" id="{B1F1B389-EBE0-4C54-BE2C-64B5134AEA6A}"/>
              </a:ext>
            </a:extLst>
          </p:cNvPr>
          <p:cNvSpPr>
            <a:spLocks noChangeShapeType="1"/>
          </p:cNvSpPr>
          <p:nvPr/>
        </p:nvSpPr>
        <p:spPr bwMode="auto">
          <a:xfrm>
            <a:off x="903797" y="3931387"/>
            <a:ext cx="12332" cy="48709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88" name="Text Box 6">
            <a:extLst>
              <a:ext uri="{FF2B5EF4-FFF2-40B4-BE49-F238E27FC236}">
                <a16:creationId xmlns:a16="http://schemas.microsoft.com/office/drawing/2014/main" id="{C62FCD60-A054-47C3-9F24-2E7482975A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004" y="4405776"/>
            <a:ext cx="36099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F</a:t>
            </a:r>
            <a:endParaRPr kumimoji="1" lang="en-US" altLang="zh-CN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89" name="Line 13">
            <a:extLst>
              <a:ext uri="{FF2B5EF4-FFF2-40B4-BE49-F238E27FC236}">
                <a16:creationId xmlns:a16="http://schemas.microsoft.com/office/drawing/2014/main" id="{BDFBBA8D-DBB4-46E0-84E5-119C6E4FBACE}"/>
              </a:ext>
            </a:extLst>
          </p:cNvPr>
          <p:cNvSpPr>
            <a:spLocks noChangeShapeType="1"/>
          </p:cNvSpPr>
          <p:nvPr/>
        </p:nvSpPr>
        <p:spPr bwMode="auto">
          <a:xfrm>
            <a:off x="1808461" y="3927533"/>
            <a:ext cx="12332" cy="48709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90" name="Text Box 6">
            <a:extLst>
              <a:ext uri="{FF2B5EF4-FFF2-40B4-BE49-F238E27FC236}">
                <a16:creationId xmlns:a16="http://schemas.microsoft.com/office/drawing/2014/main" id="{A258B25C-6730-4FC5-B80B-B7AAF173C5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9668" y="4401922"/>
            <a:ext cx="36099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F</a:t>
            </a:r>
            <a:endParaRPr kumimoji="1" lang="en-US" altLang="zh-CN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91" name="Line 13">
            <a:extLst>
              <a:ext uri="{FF2B5EF4-FFF2-40B4-BE49-F238E27FC236}">
                <a16:creationId xmlns:a16="http://schemas.microsoft.com/office/drawing/2014/main" id="{23114259-C40D-4639-9AF0-115FC704005C}"/>
              </a:ext>
            </a:extLst>
          </p:cNvPr>
          <p:cNvSpPr>
            <a:spLocks noChangeShapeType="1"/>
          </p:cNvSpPr>
          <p:nvPr/>
        </p:nvSpPr>
        <p:spPr bwMode="auto">
          <a:xfrm>
            <a:off x="3475699" y="3921935"/>
            <a:ext cx="12332" cy="48709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92" name="Text Box 6">
            <a:extLst>
              <a:ext uri="{FF2B5EF4-FFF2-40B4-BE49-F238E27FC236}">
                <a16:creationId xmlns:a16="http://schemas.microsoft.com/office/drawing/2014/main" id="{CA57C4A2-07EF-455E-B94A-A72F37F27A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6866" y="4396324"/>
            <a:ext cx="27603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i</a:t>
            </a:r>
            <a:endParaRPr kumimoji="1" lang="en-US" altLang="zh-CN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93" name="Line 13">
            <a:extLst>
              <a:ext uri="{FF2B5EF4-FFF2-40B4-BE49-F238E27FC236}">
                <a16:creationId xmlns:a16="http://schemas.microsoft.com/office/drawing/2014/main" id="{AC1A4942-4C9B-463D-8F72-61AEAD0049FC}"/>
              </a:ext>
            </a:extLst>
          </p:cNvPr>
          <p:cNvSpPr>
            <a:spLocks noChangeShapeType="1"/>
          </p:cNvSpPr>
          <p:nvPr/>
        </p:nvSpPr>
        <p:spPr bwMode="auto">
          <a:xfrm>
            <a:off x="909963" y="4854740"/>
            <a:ext cx="12332" cy="48709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95" name="Text Box 6">
            <a:extLst>
              <a:ext uri="{FF2B5EF4-FFF2-40B4-BE49-F238E27FC236}">
                <a16:creationId xmlns:a16="http://schemas.microsoft.com/office/drawing/2014/main" id="{FA7C970A-5DF6-445B-850B-FD083E5576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1130" y="5329129"/>
            <a:ext cx="27603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i</a:t>
            </a:r>
            <a:endParaRPr kumimoji="1" lang="en-US" altLang="zh-CN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96" name="Line 13">
            <a:extLst>
              <a:ext uri="{FF2B5EF4-FFF2-40B4-BE49-F238E27FC236}">
                <a16:creationId xmlns:a16="http://schemas.microsoft.com/office/drawing/2014/main" id="{1BEEBE44-3AEF-47AB-95CD-F4D2C84EA3FC}"/>
              </a:ext>
            </a:extLst>
          </p:cNvPr>
          <p:cNvSpPr>
            <a:spLocks noChangeShapeType="1"/>
          </p:cNvSpPr>
          <p:nvPr/>
        </p:nvSpPr>
        <p:spPr bwMode="auto">
          <a:xfrm>
            <a:off x="1809317" y="4863587"/>
            <a:ext cx="12332" cy="48709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97" name="Text Box 6">
            <a:extLst>
              <a:ext uri="{FF2B5EF4-FFF2-40B4-BE49-F238E27FC236}">
                <a16:creationId xmlns:a16="http://schemas.microsoft.com/office/drawing/2014/main" id="{D4C51A88-EAEC-4971-B33A-6F2AFA8A1C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0484" y="5337976"/>
            <a:ext cx="27603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i</a:t>
            </a:r>
            <a:endParaRPr kumimoji="1" lang="en-US" altLang="zh-CN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98" name="Text Box 31">
            <a:extLst>
              <a:ext uri="{FF2B5EF4-FFF2-40B4-BE49-F238E27FC236}">
                <a16:creationId xmlns:a16="http://schemas.microsoft.com/office/drawing/2014/main" id="{AF985594-B546-47BA-83EC-1C0BDCEC92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1600200"/>
            <a:ext cx="264687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zh-CN" altLang="en-US" sz="2400" b="1">
                <a:solidFill>
                  <a:srgbClr val="EE853E"/>
                </a:solidFill>
                <a:latin typeface="+mj-ea"/>
                <a:ea typeface="+mj-ea"/>
              </a:rPr>
              <a:t>结论：输入串合法</a:t>
            </a:r>
          </a:p>
        </p:txBody>
      </p:sp>
      <p:sp>
        <p:nvSpPr>
          <p:cNvPr id="99" name="箭头: 右 98">
            <a:extLst>
              <a:ext uri="{FF2B5EF4-FFF2-40B4-BE49-F238E27FC236}">
                <a16:creationId xmlns:a16="http://schemas.microsoft.com/office/drawing/2014/main" id="{4CCCCB2E-7F55-4700-B273-7927C85E161B}"/>
              </a:ext>
            </a:extLst>
          </p:cNvPr>
          <p:cNvSpPr/>
          <p:nvPr/>
        </p:nvSpPr>
        <p:spPr>
          <a:xfrm rot="16200000">
            <a:off x="731169" y="5836569"/>
            <a:ext cx="370882" cy="300380"/>
          </a:xfrm>
          <a:prstGeom prst="rightArrow">
            <a:avLst/>
          </a:prstGeom>
          <a:solidFill>
            <a:srgbClr val="EE8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0550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4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94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94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94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94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94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94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3.33333E-6 L -2.08333E-7 -0.14676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7338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94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94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94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-0.14676 L 0.07227 -0.41736 " pathEditMode="relative" rAng="0" ptsTypes="AA">
                                      <p:cBhvr>
                                        <p:cTn id="71" dur="2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07" y="-135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94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494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227 -0.41736 L 0.0737 -0.00417 " pathEditMode="relative" rAng="0" ptsTypes="AA">
                                      <p:cBhvr>
                                        <p:cTn id="90" dur="2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5" y="2064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494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94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494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42" presetClass="path" presetSubtype="0" accel="50000" decel="5000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37 -0.00417 L 0.07318 -0.13959 " pathEditMode="relative" rAng="0" ptsTypes="AA">
                                      <p:cBhvr>
                                        <p:cTn id="109" dur="2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" y="-6782"/>
                                    </p:animMotion>
                                  </p:childTnLst>
                                </p:cTn>
                              </p:par>
                              <p:par>
                                <p:cTn id="11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494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494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94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42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318 -0.13958 L 0.14362 -0.29908 " pathEditMode="relative" rAng="0" ptsTypes="AA">
                                      <p:cBhvr>
                                        <p:cTn id="134" dur="2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90" y="-77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494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494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42" presetClass="path" presetSubtype="0" accel="50000" decel="5000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4362 -0.29908 L 0.21094 -0.13959 " pathEditMode="relative" rAng="0" ptsTypes="AA">
                                      <p:cBhvr>
                                        <p:cTn id="153" dur="2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59" y="796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494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494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42" presetClass="path" presetSubtype="0" accel="50000" decel="5000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1094 -0.13959 L 0.21094 -0.27385 " pathEditMode="relative" rAng="0" ptsTypes="AA">
                                      <p:cBhvr>
                                        <p:cTn id="172" dur="2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" y="-6157"/>
                                    </p:animMotion>
                                  </p:childTnLst>
                                </p:cTn>
                              </p:par>
                              <p:par>
                                <p:cTn id="17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4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5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8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42" presetClass="path" presetSubtype="0" accel="50000" decel="5000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1094 -0.27385 L 0.14245 -0.41852 " pathEditMode="relative" rAng="0" ptsTypes="AA">
                                      <p:cBhvr>
                                        <p:cTn id="221" dur="2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424" y="-724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indefinite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42" presetClass="path" presetSubtype="0" accel="50000" decel="5000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4245 -0.41852 L 0.07148 -0.54398 " pathEditMode="relative" rAng="0" ptsTypes="AA">
                                      <p:cBhvr>
                                        <p:cTn id="240" dur="2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55" y="-6273"/>
                                    </p:animMotion>
                                  </p:childTnLst>
                                </p:cTn>
                              </p:par>
                              <p:par>
                                <p:cTn id="24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5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8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0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3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indefinite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6" fill="hold">
                      <p:stCondLst>
                        <p:cond delay="indefinite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>
                      <p:stCondLst>
                        <p:cond delay="indefinite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5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" grpId="0" animBg="1"/>
      <p:bldP spid="139" grpId="0" animBg="1"/>
      <p:bldP spid="494609" grpId="0"/>
      <p:bldP spid="494610" grpId="0"/>
      <p:bldP spid="494611" grpId="0"/>
      <p:bldP spid="494612" grpId="0"/>
      <p:bldP spid="494613" grpId="0"/>
      <p:bldP spid="494614" grpId="0"/>
      <p:bldP spid="494615" grpId="0"/>
      <p:bldP spid="494616" grpId="0"/>
      <p:bldP spid="494617" grpId="0"/>
      <p:bldP spid="494618" grpId="0"/>
      <p:bldP spid="494619" grpId="0"/>
      <p:bldP spid="494620" grpId="0"/>
      <p:bldP spid="494621" grpId="0"/>
      <p:bldP spid="494622" grpId="0"/>
      <p:bldP spid="494623" grpId="0"/>
      <p:bldP spid="494624" grpId="0"/>
      <p:bldP spid="494625" grpId="0"/>
      <p:bldP spid="494626" grpId="0"/>
      <p:bldP spid="494627" grpId="0"/>
      <p:bldP spid="494628" grpId="0"/>
      <p:bldP spid="494629" grpId="0"/>
      <p:bldP spid="494630" grpId="0"/>
      <p:bldP spid="61" grpId="0"/>
      <p:bldP spid="62" grpId="0"/>
      <p:bldP spid="63" grpId="0"/>
      <p:bldP spid="64" grpId="0"/>
      <p:bldP spid="65" grpId="0"/>
      <p:bldP spid="68" grpId="0"/>
      <p:bldP spid="69" grpId="0"/>
      <p:bldP spid="71" grpId="0"/>
      <p:bldP spid="72" grpId="0"/>
      <p:bldP spid="73" grpId="0"/>
      <p:bldP spid="74" grpId="0"/>
      <p:bldP spid="75" grpId="0" animBg="1"/>
      <p:bldP spid="76" grpId="0"/>
      <p:bldP spid="77" grpId="0"/>
      <p:bldP spid="78" grpId="0"/>
      <p:bldP spid="79" grpId="0" animBg="1"/>
      <p:bldP spid="80" grpId="0" animBg="1"/>
      <p:bldP spid="81" grpId="0" animBg="1"/>
      <p:bldP spid="82" grpId="0"/>
      <p:bldP spid="83" grpId="0"/>
      <p:bldP spid="84" grpId="0"/>
      <p:bldP spid="85" grpId="0" animBg="1"/>
      <p:bldP spid="86" grpId="0"/>
      <p:bldP spid="87" grpId="0" animBg="1"/>
      <p:bldP spid="88" grpId="0"/>
      <p:bldP spid="89" grpId="0" animBg="1"/>
      <p:bldP spid="90" grpId="0"/>
      <p:bldP spid="91" grpId="0" animBg="1"/>
      <p:bldP spid="92" grpId="0"/>
      <p:bldP spid="93" grpId="0" animBg="1"/>
      <p:bldP spid="95" grpId="0"/>
      <p:bldP spid="96" grpId="1" animBg="1"/>
      <p:bldP spid="97" grpId="1"/>
      <p:bldP spid="98" grpId="0"/>
      <p:bldP spid="99" grpId="0" animBg="1"/>
      <p:bldP spid="99" grpId="1" animBg="1"/>
      <p:bldP spid="99" grpId="2" animBg="1"/>
      <p:bldP spid="99" grpId="3" animBg="1"/>
      <p:bldP spid="99" grpId="5" animBg="1"/>
      <p:bldP spid="99" grpId="6" animBg="1"/>
      <p:bldP spid="99" grpId="7" animBg="1"/>
      <p:bldP spid="99" grpId="8" animBg="1"/>
      <p:bldP spid="99" grpId="9" animBg="1"/>
      <p:bldP spid="99" grpId="1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ACD076EA-F487-43A5-AEAC-F79347AF5D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在算符优先分析过程中，处于栈顶待归约的串与相应产生式的右部只要满足</a:t>
            </a:r>
            <a:r>
              <a:rPr lang="zh-CN" altLang="en-US" dirty="0">
                <a:solidFill>
                  <a:srgbClr val="EE853E"/>
                </a:solidFill>
              </a:rPr>
              <a:t>结构一致</a:t>
            </a:r>
            <a:r>
              <a:rPr lang="zh-CN" altLang="en-US" dirty="0"/>
              <a:t>（即长度一致，对应的终结符一致，而对应的非终结符可以不一致），即可进行归约。这是一种</a:t>
            </a:r>
            <a:r>
              <a:rPr lang="zh-CN" altLang="en-US" dirty="0">
                <a:solidFill>
                  <a:srgbClr val="EE853E"/>
                </a:solidFill>
              </a:rPr>
              <a:t>结构归约</a:t>
            </a:r>
            <a:r>
              <a:rPr lang="zh-CN" altLang="en-US" dirty="0"/>
              <a:t>，并非</a:t>
            </a:r>
            <a:r>
              <a:rPr lang="zh-CN" altLang="en-US" dirty="0">
                <a:solidFill>
                  <a:srgbClr val="EE853E"/>
                </a:solidFill>
              </a:rPr>
              <a:t>规范归约</a:t>
            </a:r>
            <a:r>
              <a:rPr lang="zh-CN" altLang="en-US" dirty="0"/>
              <a:t>。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B2A3E137-DE5B-49EF-A566-47C113329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结构规约</a:t>
            </a:r>
          </a:p>
        </p:txBody>
      </p:sp>
    </p:spTree>
    <p:extLst>
      <p:ext uri="{BB962C8B-B14F-4D97-AF65-F5344CB8AC3E}">
        <p14:creationId xmlns:p14="http://schemas.microsoft.com/office/powerpoint/2010/main" val="174296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文法的</a:t>
            </a:r>
            <a:r>
              <a:rPr lang="en-US" altLang="zh-CN" dirty="0" err="1"/>
              <a:t>FIRSTVT</a:t>
            </a:r>
            <a:r>
              <a:rPr lang="zh-CN" altLang="en-US" dirty="0"/>
              <a:t>集</a:t>
            </a:r>
          </a:p>
          <a:p>
            <a:r>
              <a:rPr lang="zh-CN" altLang="en-US" dirty="0"/>
              <a:t>文法的</a:t>
            </a:r>
            <a:r>
              <a:rPr lang="en-US" altLang="zh-CN" dirty="0" err="1"/>
              <a:t>LASTVT</a:t>
            </a:r>
            <a:r>
              <a:rPr lang="zh-CN" altLang="en-US" dirty="0"/>
              <a:t>集</a:t>
            </a:r>
          </a:p>
          <a:p>
            <a:r>
              <a:rPr lang="zh-CN" altLang="en-US" dirty="0"/>
              <a:t>算符优先关系表的构造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算符优先关系表的构造</a:t>
            </a:r>
          </a:p>
        </p:txBody>
      </p:sp>
    </p:spTree>
    <p:extLst>
      <p:ext uri="{BB962C8B-B14F-4D97-AF65-F5344CB8AC3E}">
        <p14:creationId xmlns:p14="http://schemas.microsoft.com/office/powerpoint/2010/main" val="2352340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FCEE55E5-2CD5-4B88-898A-A03E9DCB2CB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>
                    <a:solidFill>
                      <a:srgbClr val="EE853E"/>
                    </a:solidFill>
                  </a:rPr>
                  <a:t>定义</a:t>
                </a:r>
                <a:r>
                  <a:rPr lang="zh-CN" altLang="en-US" dirty="0"/>
                  <a:t>：对</a:t>
                </a:r>
                <a:r>
                  <a:rPr lang="en-US" altLang="zh-CN" dirty="0" err="1"/>
                  <a:t>P</a:t>
                </a:r>
                <a:r>
                  <a:rPr lang="en-US" altLang="zh-CN" dirty="0" err="1">
                    <a:sym typeface="Symbol" pitchFamily="18" charset="2"/>
                  </a:rPr>
                  <a:t></a:t>
                </a:r>
                <a:r>
                  <a:rPr lang="en-US" altLang="zh-CN" dirty="0" err="1"/>
                  <a:t>V</a:t>
                </a:r>
                <a:r>
                  <a:rPr lang="en-US" altLang="zh-CN" baseline="-25000" dirty="0" err="1"/>
                  <a:t>N</a:t>
                </a:r>
                <a:r>
                  <a:rPr lang="zh-CN" altLang="en-US" dirty="0"/>
                  <a:t>，有，</a:t>
                </a:r>
                <a:endParaRPr lang="en-US" altLang="zh-CN" dirty="0"/>
              </a:p>
              <a:p>
                <a:r>
                  <a:rPr lang="en-US" altLang="zh-CN" dirty="0" err="1"/>
                  <a:t>FIRSTVT</a:t>
                </a:r>
                <a:r>
                  <a:rPr lang="en-US" altLang="zh-CN" dirty="0"/>
                  <a:t>(P) = { a | P</a:t>
                </a:r>
                <a14:m>
                  <m:oMath xmlns:m="http://schemas.openxmlformats.org/officeDocument/2006/math">
                    <m:groupChr>
                      <m:groupChrPr>
                        <m:chr m:val="⇒"/>
                        <m:vertJc m:val="bot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groupChr>
                  </m:oMath>
                </a14:m>
                <a:r>
                  <a:rPr lang="en-US" altLang="zh-CN" dirty="0"/>
                  <a:t>a... </a:t>
                </a:r>
                <a:r>
                  <a:rPr lang="zh-CN" altLang="en-US" dirty="0"/>
                  <a:t>或 </a:t>
                </a:r>
                <a:r>
                  <a:rPr lang="en-US" altLang="zh-CN" dirty="0"/>
                  <a:t>P</a:t>
                </a:r>
                <a14:m>
                  <m:oMath xmlns:m="http://schemas.openxmlformats.org/officeDocument/2006/math">
                    <m:groupChr>
                      <m:groupChrPr>
                        <m:chr m:val="⇒"/>
                        <m:vertJc m:val="bot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groupChr>
                  </m:oMath>
                </a14:m>
                <a:r>
                  <a:rPr lang="en-US" altLang="zh-CN" dirty="0" err="1"/>
                  <a:t>Qa</a:t>
                </a:r>
                <a:r>
                  <a:rPr lang="en-US" altLang="zh-CN" dirty="0"/>
                  <a:t>...</a:t>
                </a:r>
                <a:r>
                  <a:rPr lang="zh-CN" altLang="en-US" dirty="0"/>
                  <a:t>，</a:t>
                </a:r>
                <a:r>
                  <a:rPr lang="en-US" altLang="zh-CN" dirty="0" err="1"/>
                  <a:t>a</a:t>
                </a:r>
                <a:r>
                  <a:rPr lang="en-US" altLang="en-US" dirty="0" err="1"/>
                  <a:t>∈</a:t>
                </a:r>
                <a:r>
                  <a:rPr lang="en-US" altLang="zh-CN" dirty="0" err="1"/>
                  <a:t>V</a:t>
                </a:r>
                <a:r>
                  <a:rPr lang="en-US" altLang="zh-CN" baseline="-25000" dirty="0" err="1"/>
                  <a:t>T</a:t>
                </a:r>
                <a:r>
                  <a:rPr lang="zh-CN" altLang="en-US" dirty="0"/>
                  <a:t>，</a:t>
                </a:r>
                <a:r>
                  <a:rPr lang="en-US" altLang="zh-CN" dirty="0" err="1"/>
                  <a:t>Q</a:t>
                </a:r>
                <a:r>
                  <a:rPr lang="en-US" altLang="en-US" dirty="0" err="1"/>
                  <a:t>∈</a:t>
                </a:r>
                <a:r>
                  <a:rPr lang="en-US" altLang="zh-CN" dirty="0" err="1"/>
                  <a:t>V</a:t>
                </a:r>
                <a:r>
                  <a:rPr lang="en-US" altLang="zh-CN" baseline="-25000" dirty="0" err="1"/>
                  <a:t>N</a:t>
                </a:r>
                <a:r>
                  <a:rPr lang="en-US" altLang="zh-CN" baseline="-25000" dirty="0"/>
                  <a:t> </a:t>
                </a:r>
                <a:r>
                  <a:rPr lang="en-US" altLang="zh-CN" dirty="0"/>
                  <a:t>}</a:t>
                </a:r>
              </a:p>
              <a:p>
                <a:endParaRPr lang="en-US" altLang="zh-CN" dirty="0"/>
              </a:p>
              <a:p>
                <a:r>
                  <a:rPr lang="zh-CN" altLang="en-US" dirty="0">
                    <a:solidFill>
                      <a:srgbClr val="EE853E"/>
                    </a:solidFill>
                  </a:rPr>
                  <a:t>构造方法</a:t>
                </a:r>
                <a:r>
                  <a:rPr lang="zh-CN" altLang="en-US" dirty="0"/>
                  <a:t>：</a:t>
                </a:r>
                <a:endParaRPr lang="en-US" altLang="zh-CN" dirty="0"/>
              </a:p>
              <a:p>
                <a:r>
                  <a:rPr lang="zh-CN" altLang="en-US" dirty="0"/>
                  <a:t>逐一考察</a:t>
                </a:r>
                <a:r>
                  <a:rPr lang="zh-CN" altLang="en-US" dirty="0">
                    <a:solidFill>
                      <a:srgbClr val="EE853E"/>
                    </a:solidFill>
                  </a:rPr>
                  <a:t>每一个产生式</a:t>
                </a:r>
                <a:r>
                  <a:rPr lang="zh-CN" altLang="en-US" dirty="0"/>
                  <a:t>，</a:t>
                </a:r>
                <a:endParaRPr lang="en-US" altLang="zh-CN" dirty="0"/>
              </a:p>
              <a:p>
                <a:r>
                  <a:rPr lang="zh-CN" altLang="en-US" dirty="0"/>
                  <a:t>若 </a:t>
                </a:r>
                <a:r>
                  <a:rPr lang="en-US" altLang="zh-CN" dirty="0" err="1"/>
                  <a:t>P→a</a:t>
                </a:r>
                <a:r>
                  <a:rPr lang="en-US" altLang="zh-CN" dirty="0"/>
                  <a:t>... </a:t>
                </a:r>
                <a:r>
                  <a:rPr lang="zh-CN" altLang="en-US" dirty="0"/>
                  <a:t>或 </a:t>
                </a:r>
                <a:r>
                  <a:rPr lang="en-US" altLang="zh-CN" dirty="0" err="1"/>
                  <a:t>P→Qa</a:t>
                </a:r>
                <a:r>
                  <a:rPr lang="en-US" altLang="zh-CN" dirty="0"/>
                  <a:t>...</a:t>
                </a:r>
                <a:r>
                  <a:rPr lang="zh-CN" altLang="en-US" dirty="0"/>
                  <a:t>，则将 </a:t>
                </a:r>
                <a:r>
                  <a:rPr lang="en-US" altLang="zh-CN" dirty="0"/>
                  <a:t>a </a:t>
                </a:r>
                <a:r>
                  <a:rPr lang="zh-CN" altLang="en-US" dirty="0"/>
                  <a:t>加入 </a:t>
                </a:r>
                <a:r>
                  <a:rPr lang="en-US" altLang="zh-CN" dirty="0" err="1"/>
                  <a:t>FIRSTVT</a:t>
                </a:r>
                <a:r>
                  <a:rPr lang="en-US" altLang="zh-CN" dirty="0"/>
                  <a:t>(P)</a:t>
                </a:r>
                <a:r>
                  <a:rPr lang="zh-CN" altLang="en-US" dirty="0"/>
                  <a:t>；</a:t>
                </a:r>
                <a:endParaRPr lang="en-US" altLang="zh-CN" dirty="0"/>
              </a:p>
              <a:p>
                <a:r>
                  <a:rPr lang="zh-CN" altLang="en-US" dirty="0"/>
                  <a:t>若 </a:t>
                </a:r>
                <a:r>
                  <a:rPr lang="en-US" altLang="zh-CN" dirty="0" err="1"/>
                  <a:t>P→Q</a:t>
                </a:r>
                <a:r>
                  <a:rPr lang="en-US" altLang="zh-CN" dirty="0"/>
                  <a:t>…</a:t>
                </a:r>
                <a:r>
                  <a:rPr lang="zh-CN" altLang="en-US" dirty="0"/>
                  <a:t>，则将 </a:t>
                </a:r>
                <a:r>
                  <a:rPr lang="en-US" altLang="zh-CN" dirty="0" err="1"/>
                  <a:t>FIRSTVT</a:t>
                </a:r>
                <a:r>
                  <a:rPr lang="en-US" altLang="zh-CN" dirty="0"/>
                  <a:t>(Q) </a:t>
                </a:r>
                <a:r>
                  <a:rPr lang="zh-CN" altLang="en-US" dirty="0"/>
                  <a:t>加入 </a:t>
                </a:r>
                <a:r>
                  <a:rPr lang="en-US" altLang="zh-CN" dirty="0" err="1"/>
                  <a:t>FIRSTVT</a:t>
                </a:r>
                <a:r>
                  <a:rPr lang="en-US" altLang="zh-CN" dirty="0"/>
                  <a:t>(P)</a:t>
                </a:r>
                <a:r>
                  <a:rPr lang="zh-CN" altLang="en-US" dirty="0"/>
                  <a:t>；</a:t>
                </a:r>
                <a:endParaRPr lang="en-US" altLang="zh-CN" dirty="0"/>
              </a:p>
              <a:p>
                <a:r>
                  <a:rPr lang="zh-CN" altLang="en-US" dirty="0"/>
                  <a:t>反复执行上述操作，直至所有非终结符的 </a:t>
                </a:r>
                <a:r>
                  <a:rPr lang="en-US" altLang="zh-CN" dirty="0" err="1"/>
                  <a:t>FIRSTVT</a:t>
                </a:r>
                <a:r>
                  <a:rPr lang="en-US" altLang="zh-CN" dirty="0"/>
                  <a:t> </a:t>
                </a:r>
                <a:r>
                  <a:rPr lang="zh-CN" altLang="en-US" dirty="0"/>
                  <a:t>不再增大。 </a:t>
                </a:r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FCEE55E5-2CD5-4B88-898A-A03E9DCB2C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2">
            <a:extLst>
              <a:ext uri="{FF2B5EF4-FFF2-40B4-BE49-F238E27FC236}">
                <a16:creationId xmlns:a16="http://schemas.microsoft.com/office/drawing/2014/main" id="{331CF947-7114-4FCC-BA9B-03B18EBB8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FIRSTVT</a:t>
            </a:r>
            <a:r>
              <a:rPr lang="zh-CN" altLang="en-US"/>
              <a:t>集</a:t>
            </a:r>
          </a:p>
        </p:txBody>
      </p:sp>
    </p:spTree>
    <p:extLst>
      <p:ext uri="{BB962C8B-B14F-4D97-AF65-F5344CB8AC3E}">
        <p14:creationId xmlns:p14="http://schemas.microsoft.com/office/powerpoint/2010/main" val="2898626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FCEE55E5-2CD5-4B88-898A-A03E9DCB2CB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>
                    <a:solidFill>
                      <a:srgbClr val="EE853E"/>
                    </a:solidFill>
                  </a:rPr>
                  <a:t>定义</a:t>
                </a:r>
                <a:r>
                  <a:rPr lang="zh-CN" altLang="en-US"/>
                  <a:t>：对</a:t>
                </a:r>
                <a:r>
                  <a:rPr lang="en-US" altLang="zh-CN"/>
                  <a:t>P</a:t>
                </a:r>
                <a:r>
                  <a:rPr lang="en-US" altLang="zh-CN">
                    <a:sym typeface="Symbol" pitchFamily="18" charset="2"/>
                  </a:rPr>
                  <a:t></a:t>
                </a:r>
                <a:r>
                  <a:rPr lang="en-US" altLang="zh-CN"/>
                  <a:t>V</a:t>
                </a:r>
                <a:r>
                  <a:rPr lang="en-US" altLang="zh-CN" baseline="-25000"/>
                  <a:t>N</a:t>
                </a:r>
                <a:r>
                  <a:rPr lang="zh-CN" altLang="en-US"/>
                  <a:t>，有，</a:t>
                </a:r>
                <a:endParaRPr lang="en-US" altLang="zh-CN"/>
              </a:p>
              <a:p>
                <a:r>
                  <a:rPr lang="en-US" altLang="zh-CN"/>
                  <a:t>LASTVT(P) = { a | P</a:t>
                </a:r>
                <a14:m>
                  <m:oMath xmlns:m="http://schemas.openxmlformats.org/officeDocument/2006/math">
                    <m:groupChr>
                      <m:groupChrPr>
                        <m:chr m:val="⇒"/>
                        <m:vertJc m:val="bot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groupChr>
                  </m:oMath>
                </a14:m>
                <a:r>
                  <a:rPr lang="en-US" altLang="zh-CN"/>
                  <a:t>...a </a:t>
                </a:r>
                <a:r>
                  <a:rPr lang="zh-CN" altLang="en-US"/>
                  <a:t>或 </a:t>
                </a:r>
                <a:r>
                  <a:rPr lang="en-US" altLang="zh-CN"/>
                  <a:t>P</a:t>
                </a:r>
                <a14:m>
                  <m:oMath xmlns:m="http://schemas.openxmlformats.org/officeDocument/2006/math">
                    <m:groupChr>
                      <m:groupChrPr>
                        <m:chr m:val="⇒"/>
                        <m:vertJc m:val="bot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groupChr>
                  </m:oMath>
                </a14:m>
                <a:r>
                  <a:rPr lang="en-US" altLang="zh-CN"/>
                  <a:t>...aQ</a:t>
                </a:r>
                <a:r>
                  <a:rPr lang="zh-CN" altLang="en-US"/>
                  <a:t>，</a:t>
                </a:r>
                <a:r>
                  <a:rPr lang="en-US" altLang="zh-CN"/>
                  <a:t>a</a:t>
                </a:r>
                <a:r>
                  <a:rPr lang="en-US" altLang="en-US"/>
                  <a:t>∈</a:t>
                </a:r>
                <a:r>
                  <a:rPr lang="en-US" altLang="zh-CN"/>
                  <a:t>V</a:t>
                </a:r>
                <a:r>
                  <a:rPr lang="en-US" altLang="zh-CN" baseline="-25000"/>
                  <a:t>T</a:t>
                </a:r>
                <a:r>
                  <a:rPr lang="zh-CN" altLang="en-US"/>
                  <a:t>，</a:t>
                </a:r>
                <a:r>
                  <a:rPr lang="en-US" altLang="zh-CN"/>
                  <a:t>Q</a:t>
                </a:r>
                <a:r>
                  <a:rPr lang="en-US" altLang="en-US"/>
                  <a:t>∈</a:t>
                </a:r>
                <a:r>
                  <a:rPr lang="en-US" altLang="zh-CN"/>
                  <a:t>V</a:t>
                </a:r>
                <a:r>
                  <a:rPr lang="en-US" altLang="zh-CN" baseline="-25000"/>
                  <a:t>N </a:t>
                </a:r>
                <a:r>
                  <a:rPr lang="en-US" altLang="zh-CN"/>
                  <a:t>}</a:t>
                </a:r>
              </a:p>
              <a:p>
                <a:endParaRPr lang="en-US" altLang="zh-CN"/>
              </a:p>
              <a:p>
                <a:r>
                  <a:rPr lang="zh-CN" altLang="en-US">
                    <a:solidFill>
                      <a:srgbClr val="EE853E"/>
                    </a:solidFill>
                  </a:rPr>
                  <a:t>构造方法</a:t>
                </a:r>
                <a:r>
                  <a:rPr lang="zh-CN" altLang="en-US"/>
                  <a:t>：</a:t>
                </a:r>
                <a:endParaRPr lang="en-US" altLang="zh-CN"/>
              </a:p>
              <a:p>
                <a:r>
                  <a:rPr lang="zh-CN" altLang="en-US"/>
                  <a:t>逐一考察</a:t>
                </a:r>
                <a:r>
                  <a:rPr lang="zh-CN" altLang="en-US">
                    <a:solidFill>
                      <a:srgbClr val="EE853E"/>
                    </a:solidFill>
                  </a:rPr>
                  <a:t>每一个产生式</a:t>
                </a:r>
                <a:r>
                  <a:rPr lang="zh-CN" altLang="en-US"/>
                  <a:t>，</a:t>
                </a:r>
                <a:endParaRPr lang="en-US" altLang="zh-CN"/>
              </a:p>
              <a:p>
                <a:r>
                  <a:rPr lang="zh-CN" altLang="en-US"/>
                  <a:t>若 </a:t>
                </a:r>
                <a:r>
                  <a:rPr lang="en-US" altLang="zh-CN"/>
                  <a:t>P→...a </a:t>
                </a:r>
                <a:r>
                  <a:rPr lang="zh-CN" altLang="en-US"/>
                  <a:t>或 </a:t>
                </a:r>
                <a:r>
                  <a:rPr lang="en-US" altLang="zh-CN"/>
                  <a:t>P→...aQ</a:t>
                </a:r>
                <a:r>
                  <a:rPr lang="zh-CN" altLang="en-US"/>
                  <a:t>，则将 </a:t>
                </a:r>
                <a:r>
                  <a:rPr lang="en-US" altLang="zh-CN"/>
                  <a:t>a </a:t>
                </a:r>
                <a:r>
                  <a:rPr lang="zh-CN" altLang="en-US"/>
                  <a:t>加入 </a:t>
                </a:r>
                <a:r>
                  <a:rPr lang="en-US" altLang="zh-CN"/>
                  <a:t>LASTVT(P)</a:t>
                </a:r>
                <a:r>
                  <a:rPr lang="zh-CN" altLang="en-US"/>
                  <a:t>；</a:t>
                </a:r>
                <a:endParaRPr lang="en-US" altLang="zh-CN"/>
              </a:p>
              <a:p>
                <a:r>
                  <a:rPr lang="zh-CN" altLang="en-US"/>
                  <a:t>若 </a:t>
                </a:r>
                <a:r>
                  <a:rPr lang="en-US" altLang="zh-CN"/>
                  <a:t>P→…Q</a:t>
                </a:r>
                <a:r>
                  <a:rPr lang="zh-CN" altLang="en-US"/>
                  <a:t>，则将 </a:t>
                </a:r>
                <a:r>
                  <a:rPr lang="en-US" altLang="zh-CN"/>
                  <a:t>LASTVT(Q) </a:t>
                </a:r>
                <a:r>
                  <a:rPr lang="zh-CN" altLang="en-US"/>
                  <a:t>加入 </a:t>
                </a:r>
                <a:r>
                  <a:rPr lang="en-US" altLang="zh-CN"/>
                  <a:t>LASTVT(P)</a:t>
                </a:r>
                <a:r>
                  <a:rPr lang="zh-CN" altLang="en-US"/>
                  <a:t>；</a:t>
                </a:r>
                <a:endParaRPr lang="en-US" altLang="zh-CN"/>
              </a:p>
              <a:p>
                <a:r>
                  <a:rPr lang="zh-CN" altLang="en-US"/>
                  <a:t>反复执行上述操作，直至所有非终结符的 </a:t>
                </a:r>
                <a:r>
                  <a:rPr lang="en-US" altLang="zh-CN"/>
                  <a:t>LASTVT </a:t>
                </a:r>
                <a:r>
                  <a:rPr lang="zh-CN" altLang="en-US"/>
                  <a:t>不再增大。 </a:t>
                </a:r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FCEE55E5-2CD5-4B88-898A-A03E9DCB2C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2">
            <a:extLst>
              <a:ext uri="{FF2B5EF4-FFF2-40B4-BE49-F238E27FC236}">
                <a16:creationId xmlns:a16="http://schemas.microsoft.com/office/drawing/2014/main" id="{331CF947-7114-4FCC-BA9B-03B18EBB8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LASTVT</a:t>
            </a:r>
            <a:r>
              <a:rPr lang="zh-CN" altLang="en-US"/>
              <a:t>集</a:t>
            </a:r>
          </a:p>
        </p:txBody>
      </p:sp>
    </p:spTree>
    <p:extLst>
      <p:ext uri="{BB962C8B-B14F-4D97-AF65-F5344CB8AC3E}">
        <p14:creationId xmlns:p14="http://schemas.microsoft.com/office/powerpoint/2010/main" val="3853800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4DF75468-8190-4DF3-8B95-7251793174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求文法 </a:t>
            </a:r>
            <a:r>
              <a:rPr lang="en-US" altLang="zh-CN" dirty="0"/>
              <a:t>G </a:t>
            </a:r>
            <a:r>
              <a:rPr lang="zh-CN" altLang="en-US" dirty="0"/>
              <a:t>的 </a:t>
            </a:r>
            <a:r>
              <a:rPr lang="en-US" altLang="zh-CN" dirty="0" err="1"/>
              <a:t>FIRSTVT</a:t>
            </a:r>
            <a:r>
              <a:rPr lang="en-US" altLang="zh-CN" dirty="0"/>
              <a:t> </a:t>
            </a:r>
            <a:r>
              <a:rPr lang="zh-CN" altLang="en-US" dirty="0"/>
              <a:t>集和 </a:t>
            </a:r>
            <a:r>
              <a:rPr lang="en-US" altLang="zh-CN" dirty="0" err="1"/>
              <a:t>LASTVT</a:t>
            </a:r>
            <a:r>
              <a:rPr lang="en-US" altLang="zh-CN" dirty="0"/>
              <a:t> </a:t>
            </a:r>
            <a:r>
              <a:rPr lang="zh-CN" altLang="en-US" dirty="0"/>
              <a:t>集：</a:t>
            </a:r>
            <a:endParaRPr lang="en-US" altLang="zh-CN" dirty="0"/>
          </a:p>
          <a:p>
            <a:r>
              <a:rPr lang="de-DE" altLang="zh-CN" dirty="0"/>
              <a:t>E → E + T │ T</a:t>
            </a:r>
          </a:p>
          <a:p>
            <a:r>
              <a:rPr lang="de-DE" altLang="zh-CN" dirty="0"/>
              <a:t>T → T * F │ F</a:t>
            </a:r>
          </a:p>
          <a:p>
            <a:r>
              <a:rPr lang="de-DE" altLang="zh-CN" dirty="0"/>
              <a:t>F → ( E ) │ i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EAD7F30-D3DC-4DFD-ACE5-CD729019C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实例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9DC3DF-30DC-4C27-9DE3-0CA643A170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2209800"/>
            <a:ext cx="7391400" cy="258445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" name="Line 4">
            <a:extLst>
              <a:ext uri="{FF2B5EF4-FFF2-40B4-BE49-F238E27FC236}">
                <a16:creationId xmlns:a16="http://schemas.microsoft.com/office/drawing/2014/main" id="{86A8A112-95CC-4B91-8DC5-C551E90C8887}"/>
              </a:ext>
            </a:extLst>
          </p:cNvPr>
          <p:cNvSpPr>
            <a:spLocks noChangeShapeType="1"/>
          </p:cNvSpPr>
          <p:nvPr/>
        </p:nvSpPr>
        <p:spPr bwMode="auto">
          <a:xfrm>
            <a:off x="7848600" y="2209800"/>
            <a:ext cx="0" cy="258445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6" name="Line 5">
            <a:extLst>
              <a:ext uri="{FF2B5EF4-FFF2-40B4-BE49-F238E27FC236}">
                <a16:creationId xmlns:a16="http://schemas.microsoft.com/office/drawing/2014/main" id="{06E07601-5B7B-44AB-877E-1E22A08D9B8C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400" y="4114800"/>
            <a:ext cx="73914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7" name="Line 6">
            <a:extLst>
              <a:ext uri="{FF2B5EF4-FFF2-40B4-BE49-F238E27FC236}">
                <a16:creationId xmlns:a16="http://schemas.microsoft.com/office/drawing/2014/main" id="{8EE0B83F-B664-4EDF-99D6-16F034C765F6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2209800"/>
            <a:ext cx="0" cy="258445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8" name="Line 7">
            <a:extLst>
              <a:ext uri="{FF2B5EF4-FFF2-40B4-BE49-F238E27FC236}">
                <a16:creationId xmlns:a16="http://schemas.microsoft.com/office/drawing/2014/main" id="{295B0BD2-0172-4CA1-BBF4-3E302227C51F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400" y="2895600"/>
            <a:ext cx="73914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9" name="Line 8">
            <a:extLst>
              <a:ext uri="{FF2B5EF4-FFF2-40B4-BE49-F238E27FC236}">
                <a16:creationId xmlns:a16="http://schemas.microsoft.com/office/drawing/2014/main" id="{8B5CF7DB-CEDF-4926-A67B-8C56319F59BB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400" y="3505200"/>
            <a:ext cx="73914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37AC807B-AFB5-4F9D-A012-564B92A20E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77" y="2936875"/>
            <a:ext cx="36099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E</a:t>
            </a:r>
          </a:p>
        </p:txBody>
      </p:sp>
      <p:sp>
        <p:nvSpPr>
          <p:cNvPr id="11" name="Text Box 10">
            <a:extLst>
              <a:ext uri="{FF2B5EF4-FFF2-40B4-BE49-F238E27FC236}">
                <a16:creationId xmlns:a16="http://schemas.microsoft.com/office/drawing/2014/main" id="{7A4EC1BC-AA5D-40FA-BCD3-C194B69ED6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4462" y="3651250"/>
            <a:ext cx="37702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T</a:t>
            </a:r>
          </a:p>
        </p:txBody>
      </p:sp>
      <p:sp>
        <p:nvSpPr>
          <p:cNvPr id="12" name="Text Box 11">
            <a:extLst>
              <a:ext uri="{FF2B5EF4-FFF2-40B4-BE49-F238E27FC236}">
                <a16:creationId xmlns:a16="http://schemas.microsoft.com/office/drawing/2014/main" id="{D24A2292-C403-4395-9F4C-6ABF631796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4881" y="4232275"/>
            <a:ext cx="35618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F</a:t>
            </a:r>
          </a:p>
        </p:txBody>
      </p:sp>
      <p:sp>
        <p:nvSpPr>
          <p:cNvPr id="13" name="Text Box 12">
            <a:extLst>
              <a:ext uri="{FF2B5EF4-FFF2-40B4-BE49-F238E27FC236}">
                <a16:creationId xmlns:a16="http://schemas.microsoft.com/office/drawing/2014/main" id="{738A9F02-ECE1-4521-955A-9A4D0F0AD7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6725" y="2327275"/>
            <a:ext cx="147950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FIRSTVT</a:t>
            </a:r>
          </a:p>
        </p:txBody>
      </p:sp>
      <p:sp>
        <p:nvSpPr>
          <p:cNvPr id="14" name="Text Box 13">
            <a:extLst>
              <a:ext uri="{FF2B5EF4-FFF2-40B4-BE49-F238E27FC236}">
                <a16:creationId xmlns:a16="http://schemas.microsoft.com/office/drawing/2014/main" id="{3BB9FF97-D92F-4668-9630-D788C960DA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6800" y="2362200"/>
            <a:ext cx="139743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LASTVT</a:t>
            </a:r>
          </a:p>
        </p:txBody>
      </p:sp>
      <p:sp>
        <p:nvSpPr>
          <p:cNvPr id="15" name="Text Box 14">
            <a:extLst>
              <a:ext uri="{FF2B5EF4-FFF2-40B4-BE49-F238E27FC236}">
                <a16:creationId xmlns:a16="http://schemas.microsoft.com/office/drawing/2014/main" id="{94071079-B511-4D48-A8E7-B141FEB2FA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0525" y="2936875"/>
            <a:ext cx="178606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(    </a:t>
            </a:r>
            <a:r>
              <a:rPr lang="en-US" altLang="zh-CN" sz="2400" b="1" dirty="0" err="1">
                <a:solidFill>
                  <a:schemeClr val="bg1"/>
                </a:solidFill>
                <a:latin typeface="+mj-ea"/>
                <a:ea typeface="+mj-ea"/>
              </a:rPr>
              <a:t>i</a:t>
            </a:r>
            <a:r>
              <a:rPr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    *   +</a:t>
            </a:r>
          </a:p>
        </p:txBody>
      </p:sp>
      <p:sp>
        <p:nvSpPr>
          <p:cNvPr id="16" name="Text Box 15">
            <a:extLst>
              <a:ext uri="{FF2B5EF4-FFF2-40B4-BE49-F238E27FC236}">
                <a16:creationId xmlns:a16="http://schemas.microsoft.com/office/drawing/2014/main" id="{B7A2C507-0100-4155-BB40-65B4A7825E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4267200"/>
            <a:ext cx="76174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(    i</a:t>
            </a:r>
          </a:p>
        </p:txBody>
      </p:sp>
      <p:sp>
        <p:nvSpPr>
          <p:cNvPr id="17" name="Text Box 16">
            <a:extLst>
              <a:ext uri="{FF2B5EF4-FFF2-40B4-BE49-F238E27FC236}">
                <a16:creationId xmlns:a16="http://schemas.microsoft.com/office/drawing/2014/main" id="{B0F763DC-C7C5-4951-9C1C-8BCC726E26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0" y="2965450"/>
            <a:ext cx="178606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)    </a:t>
            </a:r>
            <a:r>
              <a:rPr lang="en-US" altLang="zh-CN" sz="2400" b="1" dirty="0" err="1">
                <a:solidFill>
                  <a:schemeClr val="bg1"/>
                </a:solidFill>
                <a:latin typeface="+mj-ea"/>
                <a:ea typeface="+mj-ea"/>
              </a:rPr>
              <a:t>i</a:t>
            </a:r>
            <a:r>
              <a:rPr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    *   +</a:t>
            </a:r>
          </a:p>
        </p:txBody>
      </p:sp>
      <p:sp>
        <p:nvSpPr>
          <p:cNvPr id="18" name="Text Box 17">
            <a:extLst>
              <a:ext uri="{FF2B5EF4-FFF2-40B4-BE49-F238E27FC236}">
                <a16:creationId xmlns:a16="http://schemas.microsoft.com/office/drawing/2014/main" id="{F94470D5-5AC8-4FDE-9401-68C373D42D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0" y="3575050"/>
            <a:ext cx="127791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)    i    *</a:t>
            </a:r>
          </a:p>
        </p:txBody>
      </p:sp>
      <p:sp>
        <p:nvSpPr>
          <p:cNvPr id="19" name="Text Box 18">
            <a:extLst>
              <a:ext uri="{FF2B5EF4-FFF2-40B4-BE49-F238E27FC236}">
                <a16:creationId xmlns:a16="http://schemas.microsoft.com/office/drawing/2014/main" id="{BE10EC8A-239B-4AC8-ABC4-0C00E6A857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0" y="4260850"/>
            <a:ext cx="76174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)    i</a:t>
            </a:r>
          </a:p>
        </p:txBody>
      </p:sp>
      <p:sp>
        <p:nvSpPr>
          <p:cNvPr id="20" name="Text Box 19">
            <a:extLst>
              <a:ext uri="{FF2B5EF4-FFF2-40B4-BE49-F238E27FC236}">
                <a16:creationId xmlns:a16="http://schemas.microsoft.com/office/drawing/2014/main" id="{210FA2B9-BBFE-4F85-9139-36FA164922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3575050"/>
            <a:ext cx="127791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(    i    *</a:t>
            </a:r>
          </a:p>
        </p:txBody>
      </p:sp>
    </p:spTree>
    <p:extLst>
      <p:ext uri="{BB962C8B-B14F-4D97-AF65-F5344CB8AC3E}">
        <p14:creationId xmlns:p14="http://schemas.microsoft.com/office/powerpoint/2010/main" val="372911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utoUpdateAnimBg="0"/>
      <p:bldP spid="16" grpId="0" autoUpdateAnimBg="0"/>
      <p:bldP spid="17" grpId="0" autoUpdateAnimBg="0"/>
      <p:bldP spid="18" grpId="0" autoUpdateAnimBg="0"/>
      <p:bldP spid="19" grpId="0" autoUpdateAnimBg="0"/>
      <p:bldP spid="20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8D39ACA6-6F08-450E-9A61-5D39D883E9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for ( </a:t>
            </a:r>
            <a:r>
              <a:rPr lang="zh-CN" altLang="en-US" dirty="0"/>
              <a:t>每条产生式 </a:t>
            </a:r>
            <a:r>
              <a:rPr lang="en-US" altLang="zh-CN" dirty="0"/>
              <a:t>P</a:t>
            </a:r>
            <a:r>
              <a:rPr lang="de-DE" altLang="zh-CN" dirty="0"/>
              <a:t>→</a:t>
            </a:r>
            <a:r>
              <a:rPr lang="en-US" altLang="zh-CN" dirty="0" err="1"/>
              <a:t>X</a:t>
            </a:r>
            <a:r>
              <a:rPr lang="en-US" altLang="zh-CN" baseline="-25000" dirty="0" err="1"/>
              <a:t>1</a:t>
            </a:r>
            <a:r>
              <a:rPr lang="en-US" altLang="zh-CN" dirty="0" err="1"/>
              <a:t>X</a:t>
            </a:r>
            <a:r>
              <a:rPr lang="en-US" altLang="zh-CN" baseline="-25000" dirty="0" err="1"/>
              <a:t>2</a:t>
            </a:r>
            <a:r>
              <a:rPr lang="en-US" altLang="zh-CN" dirty="0"/>
              <a:t>…</a:t>
            </a:r>
            <a:r>
              <a:rPr lang="en-US" altLang="zh-CN" dirty="0" err="1"/>
              <a:t>X</a:t>
            </a:r>
            <a:r>
              <a:rPr lang="en-US" altLang="zh-CN" baseline="-25000" dirty="0" err="1"/>
              <a:t>n</a:t>
            </a:r>
            <a:r>
              <a:rPr lang="en-US" altLang="zh-CN" baseline="-25000" dirty="0"/>
              <a:t> </a:t>
            </a:r>
            <a:r>
              <a:rPr lang="en-US" altLang="zh-CN" dirty="0"/>
              <a:t>) </a:t>
            </a:r>
            <a:endParaRPr lang="en-US" altLang="zh-CN" baseline="-25000" dirty="0"/>
          </a:p>
          <a:p>
            <a:r>
              <a:rPr lang="en-US" altLang="zh-CN" dirty="0"/>
              <a:t>{</a:t>
            </a:r>
          </a:p>
          <a:p>
            <a:r>
              <a:rPr lang="en-US" altLang="zh-CN" dirty="0"/>
              <a:t>	for ( </a:t>
            </a:r>
            <a:r>
              <a:rPr lang="en-US" altLang="zh-CN" dirty="0" err="1"/>
              <a:t>i</a:t>
            </a:r>
            <a:r>
              <a:rPr lang="en-US" altLang="zh-CN" dirty="0"/>
              <a:t>=1 to n-1 ) </a:t>
            </a:r>
          </a:p>
          <a:p>
            <a:r>
              <a:rPr lang="en-US" altLang="zh-CN" dirty="0"/>
              <a:t>	{</a:t>
            </a:r>
          </a:p>
          <a:p>
            <a:r>
              <a:rPr lang="en-US" altLang="zh-CN" dirty="0"/>
              <a:t>		if ( </a:t>
            </a:r>
            <a:r>
              <a:rPr lang="en-US" altLang="zh-CN" dirty="0" err="1"/>
              <a:t>X</a:t>
            </a:r>
            <a:r>
              <a:rPr lang="en-US" altLang="zh-CN" baseline="-25000" dirty="0" err="1"/>
              <a:t>i</a:t>
            </a:r>
            <a:r>
              <a:rPr lang="en-US" altLang="en-US" dirty="0" err="1"/>
              <a:t>∈</a:t>
            </a:r>
            <a:r>
              <a:rPr lang="en-US" altLang="zh-CN" dirty="0" err="1"/>
              <a:t>V</a:t>
            </a:r>
            <a:r>
              <a:rPr lang="en-US" altLang="zh-CN" baseline="-25000" dirty="0" err="1"/>
              <a:t>T</a:t>
            </a:r>
            <a:r>
              <a:rPr lang="zh-CN" altLang="en-US" dirty="0"/>
              <a:t>，</a:t>
            </a:r>
            <a:r>
              <a:rPr lang="en-US" altLang="zh-CN" dirty="0" err="1"/>
              <a:t>X</a:t>
            </a:r>
            <a:r>
              <a:rPr lang="en-US" altLang="zh-CN" baseline="-25000" dirty="0" err="1"/>
              <a:t>i+1</a:t>
            </a:r>
            <a:r>
              <a:rPr lang="en-US" altLang="en-US" dirty="0" err="1"/>
              <a:t>∈</a:t>
            </a:r>
            <a:r>
              <a:rPr lang="en-US" altLang="zh-CN" dirty="0" err="1"/>
              <a:t>V</a:t>
            </a:r>
            <a:r>
              <a:rPr lang="en-US" altLang="zh-CN" baseline="-25000" dirty="0" err="1"/>
              <a:t>T</a:t>
            </a:r>
            <a:r>
              <a:rPr lang="zh-CN" altLang="en-US" dirty="0"/>
              <a:t> </a:t>
            </a:r>
            <a:r>
              <a:rPr lang="en-US" altLang="zh-CN" dirty="0"/>
              <a:t>) { </a:t>
            </a:r>
            <a:r>
              <a:rPr lang="en-US" altLang="zh-CN" dirty="0">
                <a:solidFill>
                  <a:srgbClr val="EE853E"/>
                </a:solidFill>
              </a:rPr>
              <a:t>X</a:t>
            </a:r>
            <a:r>
              <a:rPr lang="en-US" altLang="zh-CN" baseline="-25000" dirty="0">
                <a:solidFill>
                  <a:srgbClr val="EE853E"/>
                </a:solidFill>
              </a:rPr>
              <a:t>i</a:t>
            </a:r>
            <a:r>
              <a:rPr lang="en-US" altLang="zh-CN" dirty="0">
                <a:solidFill>
                  <a:srgbClr val="EE853E"/>
                </a:solidFill>
              </a:rPr>
              <a:t> = </a:t>
            </a:r>
            <a:r>
              <a:rPr lang="en-US" altLang="zh-CN" dirty="0" err="1">
                <a:solidFill>
                  <a:srgbClr val="EE853E"/>
                </a:solidFill>
              </a:rPr>
              <a:t>X</a:t>
            </a:r>
            <a:r>
              <a:rPr lang="en-US" altLang="zh-CN" baseline="-25000" dirty="0" err="1">
                <a:solidFill>
                  <a:srgbClr val="EE853E"/>
                </a:solidFill>
              </a:rPr>
              <a:t>i+1</a:t>
            </a:r>
            <a:r>
              <a:rPr lang="en-US" altLang="zh-CN" baseline="-25000" dirty="0">
                <a:solidFill>
                  <a:srgbClr val="EE853E"/>
                </a:solidFill>
              </a:rPr>
              <a:t> </a:t>
            </a:r>
            <a:r>
              <a:rPr lang="en-US" altLang="zh-CN" dirty="0"/>
              <a:t>}</a:t>
            </a:r>
          </a:p>
          <a:p>
            <a:r>
              <a:rPr lang="en-US" altLang="zh-CN" dirty="0"/>
              <a:t>		if ( </a:t>
            </a:r>
            <a:r>
              <a:rPr lang="en-US" altLang="zh-CN" dirty="0" err="1"/>
              <a:t>X</a:t>
            </a:r>
            <a:r>
              <a:rPr lang="en-US" altLang="zh-CN" baseline="-25000" dirty="0" err="1"/>
              <a:t>i</a:t>
            </a:r>
            <a:r>
              <a:rPr lang="en-US" altLang="en-US" dirty="0" err="1"/>
              <a:t>∈</a:t>
            </a:r>
            <a:r>
              <a:rPr lang="en-US" altLang="zh-CN" dirty="0" err="1"/>
              <a:t>V</a:t>
            </a:r>
            <a:r>
              <a:rPr lang="en-US" altLang="zh-CN" baseline="-25000" dirty="0" err="1"/>
              <a:t>T</a:t>
            </a:r>
            <a:r>
              <a:rPr lang="zh-CN" altLang="en-US" dirty="0"/>
              <a:t>，</a:t>
            </a:r>
            <a:r>
              <a:rPr lang="en-US" altLang="zh-CN" dirty="0" err="1"/>
              <a:t>X</a:t>
            </a:r>
            <a:r>
              <a:rPr lang="en-US" altLang="zh-CN" baseline="-25000" dirty="0" err="1"/>
              <a:t>i+1</a:t>
            </a:r>
            <a:r>
              <a:rPr lang="en-US" altLang="en-US" dirty="0" err="1"/>
              <a:t>∈</a:t>
            </a:r>
            <a:r>
              <a:rPr lang="en-US" altLang="zh-CN" dirty="0" err="1"/>
              <a:t>V</a:t>
            </a:r>
            <a:r>
              <a:rPr lang="en-US" altLang="zh-CN" baseline="-25000" dirty="0" err="1"/>
              <a:t>N</a:t>
            </a:r>
            <a:r>
              <a:rPr lang="zh-CN" altLang="en-US" dirty="0"/>
              <a:t>，</a:t>
            </a:r>
            <a:r>
              <a:rPr lang="en-US" altLang="zh-CN" dirty="0" err="1"/>
              <a:t>X</a:t>
            </a:r>
            <a:r>
              <a:rPr lang="en-US" altLang="zh-CN" baseline="-25000" dirty="0" err="1"/>
              <a:t>i+2</a:t>
            </a:r>
            <a:r>
              <a:rPr lang="en-US" altLang="en-US" dirty="0" err="1"/>
              <a:t>∈</a:t>
            </a:r>
            <a:r>
              <a:rPr lang="en-US" altLang="zh-CN" dirty="0" err="1"/>
              <a:t>V</a:t>
            </a:r>
            <a:r>
              <a:rPr lang="en-US" altLang="zh-CN" baseline="-25000" dirty="0" err="1"/>
              <a:t>T</a:t>
            </a:r>
            <a:r>
              <a:rPr lang="en-US" altLang="zh-CN" dirty="0"/>
              <a:t> ) { </a:t>
            </a:r>
            <a:r>
              <a:rPr lang="en-US" altLang="zh-CN" dirty="0">
                <a:solidFill>
                  <a:srgbClr val="EE853E"/>
                </a:solidFill>
              </a:rPr>
              <a:t>X</a:t>
            </a:r>
            <a:r>
              <a:rPr lang="en-US" altLang="zh-CN" baseline="-25000" dirty="0">
                <a:solidFill>
                  <a:srgbClr val="EE853E"/>
                </a:solidFill>
              </a:rPr>
              <a:t>i </a:t>
            </a:r>
            <a:r>
              <a:rPr lang="en-US" altLang="zh-CN" dirty="0">
                <a:solidFill>
                  <a:srgbClr val="EE853E"/>
                </a:solidFill>
              </a:rPr>
              <a:t>= </a:t>
            </a:r>
            <a:r>
              <a:rPr lang="en-US" altLang="zh-CN" dirty="0" err="1">
                <a:solidFill>
                  <a:srgbClr val="EE853E"/>
                </a:solidFill>
              </a:rPr>
              <a:t>X</a:t>
            </a:r>
            <a:r>
              <a:rPr lang="en-US" altLang="zh-CN" baseline="-25000" dirty="0" err="1">
                <a:solidFill>
                  <a:srgbClr val="EE853E"/>
                </a:solidFill>
              </a:rPr>
              <a:t>i+2</a:t>
            </a:r>
            <a:r>
              <a:rPr lang="en-US" altLang="zh-CN" baseline="-25000" dirty="0">
                <a:solidFill>
                  <a:srgbClr val="EE853E"/>
                </a:solidFill>
              </a:rPr>
              <a:t> </a:t>
            </a:r>
            <a:r>
              <a:rPr lang="en-US" altLang="zh-CN" dirty="0"/>
              <a:t>}</a:t>
            </a:r>
          </a:p>
          <a:p>
            <a:r>
              <a:rPr lang="en-US" altLang="zh-CN" dirty="0"/>
              <a:t>		if</a:t>
            </a:r>
            <a:r>
              <a:rPr lang="zh-CN" altLang="en-US" dirty="0"/>
              <a:t> </a:t>
            </a:r>
            <a:r>
              <a:rPr lang="en-US" altLang="zh-CN" dirty="0"/>
              <a:t>(</a:t>
            </a:r>
            <a:r>
              <a:rPr lang="zh-CN" altLang="en-US" dirty="0"/>
              <a:t> </a:t>
            </a:r>
            <a:r>
              <a:rPr lang="en-US" altLang="zh-CN" dirty="0" err="1"/>
              <a:t>X</a:t>
            </a:r>
            <a:r>
              <a:rPr lang="en-US" altLang="zh-CN" baseline="-25000" dirty="0" err="1"/>
              <a:t>i</a:t>
            </a:r>
            <a:r>
              <a:rPr lang="en-US" altLang="en-US" dirty="0" err="1"/>
              <a:t>∈</a:t>
            </a:r>
            <a:r>
              <a:rPr lang="en-US" altLang="zh-CN" dirty="0" err="1"/>
              <a:t>V</a:t>
            </a:r>
            <a:r>
              <a:rPr lang="en-US" altLang="zh-CN" baseline="-25000" dirty="0" err="1"/>
              <a:t>T</a:t>
            </a:r>
            <a:r>
              <a:rPr lang="en-US" altLang="zh-CN" dirty="0"/>
              <a:t>, </a:t>
            </a:r>
            <a:r>
              <a:rPr lang="en-US" altLang="zh-CN" dirty="0" err="1"/>
              <a:t>X</a:t>
            </a:r>
            <a:r>
              <a:rPr lang="en-US" altLang="zh-CN" baseline="-25000" dirty="0" err="1"/>
              <a:t>i+1</a:t>
            </a:r>
            <a:r>
              <a:rPr lang="en-US" altLang="en-US" dirty="0" err="1"/>
              <a:t>∈</a:t>
            </a:r>
            <a:r>
              <a:rPr lang="en-US" altLang="zh-CN" dirty="0" err="1"/>
              <a:t>V</a:t>
            </a:r>
            <a:r>
              <a:rPr lang="en-US" altLang="zh-CN" baseline="-25000" dirty="0" err="1"/>
              <a:t>N</a:t>
            </a:r>
            <a:r>
              <a:rPr lang="en-US" altLang="zh-CN" dirty="0"/>
              <a:t> ) { </a:t>
            </a:r>
            <a:r>
              <a:rPr lang="en-US" altLang="zh-CN" dirty="0">
                <a:sym typeface="Symbol" panose="05050102010706020507" pitchFamily="18" charset="2"/>
              </a:rPr>
              <a:t></a:t>
            </a:r>
            <a:r>
              <a:rPr lang="en-US" altLang="zh-CN" dirty="0" err="1"/>
              <a:t>a</a:t>
            </a:r>
            <a:r>
              <a:rPr lang="en-US" altLang="en-US" dirty="0" err="1"/>
              <a:t>∈</a:t>
            </a:r>
            <a:r>
              <a:rPr lang="en-US" altLang="zh-CN" dirty="0" err="1"/>
              <a:t>FIRSTVT</a:t>
            </a:r>
            <a:r>
              <a:rPr lang="en-US" altLang="zh-CN" dirty="0"/>
              <a:t>(</a:t>
            </a:r>
            <a:r>
              <a:rPr lang="en-US" altLang="zh-CN" dirty="0" err="1"/>
              <a:t>X</a:t>
            </a:r>
            <a:r>
              <a:rPr lang="en-US" altLang="zh-CN" baseline="-25000" dirty="0" err="1"/>
              <a:t>i+1</a:t>
            </a:r>
            <a:r>
              <a:rPr lang="en-US" altLang="zh-CN" dirty="0"/>
              <a:t>)</a:t>
            </a:r>
            <a:r>
              <a:rPr lang="zh-CN" altLang="en-US" dirty="0"/>
              <a:t>，</a:t>
            </a:r>
            <a:r>
              <a:rPr lang="en-US" altLang="zh-CN" dirty="0">
                <a:solidFill>
                  <a:srgbClr val="EE853E"/>
                </a:solidFill>
              </a:rPr>
              <a:t>X</a:t>
            </a:r>
            <a:r>
              <a:rPr lang="en-US" altLang="zh-CN" baseline="-25000" dirty="0">
                <a:solidFill>
                  <a:srgbClr val="EE853E"/>
                </a:solidFill>
              </a:rPr>
              <a:t>i</a:t>
            </a:r>
            <a:r>
              <a:rPr lang="en-US" altLang="zh-CN" dirty="0">
                <a:solidFill>
                  <a:srgbClr val="EE853E"/>
                </a:solidFill>
              </a:rPr>
              <a:t>&lt;a</a:t>
            </a:r>
            <a:r>
              <a:rPr lang="en-US" altLang="zh-CN" dirty="0"/>
              <a:t> }</a:t>
            </a:r>
          </a:p>
          <a:p>
            <a:r>
              <a:rPr lang="en-US" altLang="zh-CN" dirty="0"/>
              <a:t>		if</a:t>
            </a:r>
            <a:r>
              <a:rPr lang="zh-CN" altLang="en-US" dirty="0"/>
              <a:t> </a:t>
            </a:r>
            <a:r>
              <a:rPr lang="en-US" altLang="zh-CN" dirty="0"/>
              <a:t>(</a:t>
            </a:r>
            <a:r>
              <a:rPr lang="zh-CN" altLang="en-US" dirty="0"/>
              <a:t> </a:t>
            </a:r>
            <a:r>
              <a:rPr lang="en-US" altLang="zh-CN" dirty="0" err="1"/>
              <a:t>X</a:t>
            </a:r>
            <a:r>
              <a:rPr lang="en-US" altLang="zh-CN" baseline="-25000" dirty="0" err="1"/>
              <a:t>i</a:t>
            </a:r>
            <a:r>
              <a:rPr lang="en-US" altLang="en-US" dirty="0" err="1"/>
              <a:t>∈</a:t>
            </a:r>
            <a:r>
              <a:rPr lang="en-US" altLang="zh-CN" dirty="0" err="1"/>
              <a:t>V</a:t>
            </a:r>
            <a:r>
              <a:rPr lang="en-US" altLang="zh-CN" baseline="-25000" dirty="0" err="1"/>
              <a:t>N</a:t>
            </a:r>
            <a:r>
              <a:rPr lang="en-US" altLang="zh-CN" dirty="0"/>
              <a:t>, </a:t>
            </a:r>
            <a:r>
              <a:rPr lang="en-US" altLang="zh-CN" dirty="0" err="1"/>
              <a:t>X</a:t>
            </a:r>
            <a:r>
              <a:rPr lang="en-US" altLang="zh-CN" baseline="-25000" dirty="0" err="1"/>
              <a:t>i+1</a:t>
            </a:r>
            <a:r>
              <a:rPr lang="en-US" altLang="en-US" dirty="0" err="1"/>
              <a:t>∈</a:t>
            </a:r>
            <a:r>
              <a:rPr lang="en-US" altLang="zh-CN" dirty="0" err="1"/>
              <a:t>V</a:t>
            </a:r>
            <a:r>
              <a:rPr lang="en-US" altLang="zh-CN" baseline="-25000" dirty="0" err="1"/>
              <a:t>T</a:t>
            </a:r>
            <a:r>
              <a:rPr lang="en-US" altLang="zh-CN" dirty="0"/>
              <a:t> ) { </a:t>
            </a:r>
            <a:r>
              <a:rPr lang="en-US" altLang="zh-CN" dirty="0">
                <a:sym typeface="Symbol" panose="05050102010706020507" pitchFamily="18" charset="2"/>
              </a:rPr>
              <a:t></a:t>
            </a:r>
            <a:r>
              <a:rPr lang="en-US" altLang="zh-CN" dirty="0" err="1"/>
              <a:t>a</a:t>
            </a:r>
            <a:r>
              <a:rPr lang="en-US" altLang="en-US" dirty="0" err="1"/>
              <a:t>∈</a:t>
            </a:r>
            <a:r>
              <a:rPr lang="en-US" altLang="zh-CN" dirty="0" err="1"/>
              <a:t>LASTVT</a:t>
            </a:r>
            <a:r>
              <a:rPr lang="en-US" altLang="zh-CN" dirty="0"/>
              <a:t>(X</a:t>
            </a:r>
            <a:r>
              <a:rPr lang="en-US" altLang="zh-CN" baseline="-25000" dirty="0"/>
              <a:t>i</a:t>
            </a:r>
            <a:r>
              <a:rPr lang="en-US" altLang="zh-CN" dirty="0"/>
              <a:t>)</a:t>
            </a:r>
            <a:r>
              <a:rPr lang="zh-CN" altLang="en-US" dirty="0"/>
              <a:t>，</a:t>
            </a:r>
            <a:r>
              <a:rPr lang="en-US" altLang="zh-CN" dirty="0">
                <a:solidFill>
                  <a:srgbClr val="EE853E"/>
                </a:solidFill>
              </a:rPr>
              <a:t>a&gt;</a:t>
            </a:r>
            <a:r>
              <a:rPr lang="en-US" altLang="zh-CN" dirty="0" err="1">
                <a:solidFill>
                  <a:srgbClr val="EE853E"/>
                </a:solidFill>
              </a:rPr>
              <a:t>X</a:t>
            </a:r>
            <a:r>
              <a:rPr lang="en-US" altLang="zh-CN" baseline="-25000" dirty="0" err="1">
                <a:solidFill>
                  <a:srgbClr val="EE853E"/>
                </a:solidFill>
              </a:rPr>
              <a:t>i+1</a:t>
            </a:r>
            <a:r>
              <a:rPr lang="en-US" altLang="zh-CN" baseline="-25000" dirty="0">
                <a:solidFill>
                  <a:srgbClr val="EE853E"/>
                </a:solidFill>
              </a:rPr>
              <a:t> </a:t>
            </a:r>
            <a:r>
              <a:rPr lang="en-US" altLang="zh-CN" dirty="0"/>
              <a:t>}</a:t>
            </a:r>
          </a:p>
          <a:p>
            <a:r>
              <a:rPr lang="en-US" altLang="zh-CN" dirty="0"/>
              <a:t>	}</a:t>
            </a:r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114535D-2758-44BC-8F9E-78246FDF2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算符优先关系表的构造</a:t>
            </a:r>
          </a:p>
        </p:txBody>
      </p:sp>
    </p:spTree>
    <p:extLst>
      <p:ext uri="{BB962C8B-B14F-4D97-AF65-F5344CB8AC3E}">
        <p14:creationId xmlns:p14="http://schemas.microsoft.com/office/powerpoint/2010/main" val="1436502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4DF75468-8190-4DF3-8B95-7251793174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求下述文法</a:t>
            </a:r>
            <a:r>
              <a:rPr lang="en-US" altLang="zh-CN" dirty="0"/>
              <a:t>G</a:t>
            </a:r>
            <a:r>
              <a:rPr lang="zh-CN" altLang="en-US" dirty="0"/>
              <a:t>的算符优先关系表：</a:t>
            </a:r>
            <a:endParaRPr lang="en-US" altLang="zh-CN" dirty="0"/>
          </a:p>
          <a:p>
            <a:r>
              <a:rPr lang="de-DE" altLang="zh-CN" dirty="0"/>
              <a:t>E → E + T │ T</a:t>
            </a:r>
          </a:p>
          <a:p>
            <a:r>
              <a:rPr lang="de-DE" altLang="zh-CN" dirty="0"/>
              <a:t>T → T * F │ F</a:t>
            </a:r>
          </a:p>
          <a:p>
            <a:r>
              <a:rPr lang="de-DE" altLang="zh-CN" dirty="0"/>
              <a:t>F → ( E ) │ i</a:t>
            </a:r>
          </a:p>
          <a:p>
            <a:endParaRPr lang="de-DE" altLang="zh-CN" dirty="0"/>
          </a:p>
          <a:p>
            <a:r>
              <a:rPr lang="zh-CN" altLang="en-US" dirty="0"/>
              <a:t>考察 </a:t>
            </a:r>
            <a:r>
              <a:rPr lang="de-DE" altLang="zh-CN" dirty="0"/>
              <a:t>E→E+T </a:t>
            </a:r>
            <a:r>
              <a:rPr lang="zh-CN" altLang="en-US" dirty="0"/>
              <a:t>中的：</a:t>
            </a:r>
            <a:r>
              <a:rPr lang="de-DE" altLang="zh-CN" dirty="0"/>
              <a:t>E </a:t>
            </a:r>
            <a:r>
              <a:rPr lang="zh-CN" altLang="en-US" dirty="0"/>
              <a:t>和 </a:t>
            </a:r>
            <a:r>
              <a:rPr lang="en-US" altLang="zh-CN" dirty="0"/>
              <a:t>+</a:t>
            </a:r>
            <a:r>
              <a:rPr lang="zh-CN" altLang="en-US" dirty="0"/>
              <a:t>，</a:t>
            </a:r>
            <a:r>
              <a:rPr lang="en-US" altLang="zh-CN" dirty="0"/>
              <a:t>+ </a:t>
            </a:r>
            <a:r>
              <a:rPr lang="zh-CN" altLang="en-US" dirty="0"/>
              <a:t>和 </a:t>
            </a:r>
            <a:r>
              <a:rPr lang="de-DE" altLang="zh-CN" dirty="0"/>
              <a:t>T</a:t>
            </a:r>
          </a:p>
          <a:p>
            <a:r>
              <a:rPr lang="zh-CN" altLang="en-US" dirty="0"/>
              <a:t>考察 </a:t>
            </a:r>
            <a:r>
              <a:rPr lang="de-DE" altLang="zh-CN" dirty="0"/>
              <a:t>T→T*F </a:t>
            </a:r>
            <a:r>
              <a:rPr lang="zh-CN" altLang="en-US" dirty="0"/>
              <a:t>中的：</a:t>
            </a:r>
            <a:r>
              <a:rPr lang="de-DE" altLang="zh-CN" dirty="0"/>
              <a:t>T </a:t>
            </a:r>
            <a:r>
              <a:rPr lang="zh-CN" altLang="en-US" dirty="0"/>
              <a:t>和 *，* 和 </a:t>
            </a:r>
            <a:r>
              <a:rPr lang="de-DE" altLang="zh-CN" dirty="0"/>
              <a:t>F</a:t>
            </a:r>
          </a:p>
          <a:p>
            <a:r>
              <a:rPr lang="zh-CN" altLang="en-US" dirty="0"/>
              <a:t>考察 </a:t>
            </a:r>
            <a:r>
              <a:rPr lang="de-DE" altLang="zh-CN" dirty="0"/>
              <a:t>F→(E) </a:t>
            </a:r>
            <a:r>
              <a:rPr lang="zh-CN" altLang="en-US" dirty="0"/>
              <a:t>中的：</a:t>
            </a:r>
            <a:r>
              <a:rPr lang="en-US" altLang="zh-CN" dirty="0"/>
              <a:t>( </a:t>
            </a:r>
            <a:r>
              <a:rPr lang="zh-CN" altLang="en-US" dirty="0"/>
              <a:t>和 </a:t>
            </a:r>
            <a:r>
              <a:rPr lang="de-DE" altLang="zh-CN" dirty="0"/>
              <a:t>E</a:t>
            </a:r>
            <a:r>
              <a:rPr lang="zh-CN" altLang="en-US" dirty="0"/>
              <a:t>，</a:t>
            </a:r>
            <a:r>
              <a:rPr lang="de-DE" altLang="zh-CN" dirty="0"/>
              <a:t>( </a:t>
            </a:r>
            <a:r>
              <a:rPr lang="zh-CN" altLang="en-US" dirty="0"/>
              <a:t>和 </a:t>
            </a:r>
            <a:r>
              <a:rPr lang="en-US" altLang="zh-CN" dirty="0"/>
              <a:t>)</a:t>
            </a:r>
            <a:r>
              <a:rPr lang="zh-CN" altLang="en-US" dirty="0"/>
              <a:t>，</a:t>
            </a:r>
            <a:r>
              <a:rPr lang="de-DE" altLang="zh-CN" dirty="0"/>
              <a:t>E </a:t>
            </a:r>
            <a:r>
              <a:rPr lang="zh-CN" altLang="en-US" dirty="0"/>
              <a:t>和 </a:t>
            </a:r>
            <a:r>
              <a:rPr lang="en-US" altLang="zh-CN" dirty="0"/>
              <a:t>)</a:t>
            </a:r>
          </a:p>
          <a:p>
            <a:r>
              <a:rPr lang="zh-CN" altLang="en-US" dirty="0">
                <a:solidFill>
                  <a:srgbClr val="EE853E"/>
                </a:solidFill>
              </a:rPr>
              <a:t>考察 </a:t>
            </a:r>
            <a:r>
              <a:rPr lang="en-US" altLang="zh-CN" dirty="0">
                <a:solidFill>
                  <a:srgbClr val="EE853E"/>
                </a:solidFill>
              </a:rPr>
              <a:t>#E# </a:t>
            </a:r>
            <a:r>
              <a:rPr lang="zh-CN" altLang="en-US" dirty="0">
                <a:solidFill>
                  <a:srgbClr val="EE853E"/>
                </a:solidFill>
              </a:rPr>
              <a:t>中的：</a:t>
            </a:r>
            <a:r>
              <a:rPr lang="en-US" altLang="zh-CN" dirty="0">
                <a:solidFill>
                  <a:srgbClr val="EE853E"/>
                </a:solidFill>
              </a:rPr>
              <a:t># </a:t>
            </a:r>
            <a:r>
              <a:rPr lang="zh-CN" altLang="en-US" dirty="0">
                <a:solidFill>
                  <a:srgbClr val="EE853E"/>
                </a:solidFill>
              </a:rPr>
              <a:t>和 </a:t>
            </a:r>
            <a:r>
              <a:rPr lang="en-US" altLang="zh-CN" dirty="0">
                <a:solidFill>
                  <a:srgbClr val="EE853E"/>
                </a:solidFill>
              </a:rPr>
              <a:t>E</a:t>
            </a:r>
            <a:r>
              <a:rPr lang="zh-CN" altLang="en-US" dirty="0">
                <a:solidFill>
                  <a:srgbClr val="EE853E"/>
                </a:solidFill>
              </a:rPr>
              <a:t>，</a:t>
            </a:r>
            <a:r>
              <a:rPr lang="en-US" altLang="zh-CN" dirty="0">
                <a:solidFill>
                  <a:srgbClr val="EE853E"/>
                </a:solidFill>
              </a:rPr>
              <a:t>#</a:t>
            </a:r>
            <a:r>
              <a:rPr lang="de-DE" altLang="zh-CN" dirty="0">
                <a:solidFill>
                  <a:srgbClr val="EE853E"/>
                </a:solidFill>
              </a:rPr>
              <a:t> </a:t>
            </a:r>
            <a:r>
              <a:rPr lang="zh-CN" altLang="en-US" dirty="0">
                <a:solidFill>
                  <a:srgbClr val="EE853E"/>
                </a:solidFill>
              </a:rPr>
              <a:t>和 </a:t>
            </a:r>
            <a:r>
              <a:rPr lang="en-US" altLang="zh-CN" dirty="0">
                <a:solidFill>
                  <a:srgbClr val="EE853E"/>
                </a:solidFill>
              </a:rPr>
              <a:t>#</a:t>
            </a:r>
            <a:r>
              <a:rPr lang="zh-CN" altLang="en-US" dirty="0">
                <a:solidFill>
                  <a:srgbClr val="EE853E"/>
                </a:solidFill>
              </a:rPr>
              <a:t>，</a:t>
            </a:r>
            <a:r>
              <a:rPr lang="de-DE" altLang="zh-CN" dirty="0">
                <a:solidFill>
                  <a:srgbClr val="EE853E"/>
                </a:solidFill>
              </a:rPr>
              <a:t>E </a:t>
            </a:r>
            <a:r>
              <a:rPr lang="zh-CN" altLang="en-US" dirty="0">
                <a:solidFill>
                  <a:srgbClr val="EE853E"/>
                </a:solidFill>
              </a:rPr>
              <a:t>和 </a:t>
            </a:r>
            <a:r>
              <a:rPr lang="en-US" altLang="zh-CN" dirty="0">
                <a:solidFill>
                  <a:srgbClr val="EE853E"/>
                </a:solidFill>
              </a:rPr>
              <a:t>#</a:t>
            </a:r>
          </a:p>
          <a:p>
            <a:endParaRPr lang="de-DE" altLang="zh-CN" dirty="0">
              <a:solidFill>
                <a:srgbClr val="EE853E"/>
              </a:solidFill>
            </a:endParaRP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EAD7F30-D3DC-4DFD-ACE5-CD729019C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实例</a:t>
            </a:r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A94B4863-14A8-4B90-97A5-E5E77C85C757}"/>
              </a:ext>
            </a:extLst>
          </p:cNvPr>
          <p:cNvGrpSpPr/>
          <p:nvPr/>
        </p:nvGrpSpPr>
        <p:grpSpPr>
          <a:xfrm>
            <a:off x="5638800" y="1524000"/>
            <a:ext cx="5029200" cy="1944044"/>
            <a:chOff x="3962400" y="1600200"/>
            <a:chExt cx="7391400" cy="2584450"/>
          </a:xfrm>
        </p:grpSpPr>
        <p:sp>
          <p:nvSpPr>
            <p:cNvPr id="21" name="Rectangle 3">
              <a:extLst>
                <a:ext uri="{FF2B5EF4-FFF2-40B4-BE49-F238E27FC236}">
                  <a16:creationId xmlns:a16="http://schemas.microsoft.com/office/drawing/2014/main" id="{4A2DBD2C-ECBE-4189-853F-D5D5EFC02E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2400" y="1600200"/>
              <a:ext cx="7391400" cy="2584450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22" name="Line 4">
              <a:extLst>
                <a:ext uri="{FF2B5EF4-FFF2-40B4-BE49-F238E27FC236}">
                  <a16:creationId xmlns:a16="http://schemas.microsoft.com/office/drawing/2014/main" id="{64A87011-2FB9-4DEE-B611-71437468F3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29600" y="1600200"/>
              <a:ext cx="0" cy="258445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23" name="Line 5">
              <a:extLst>
                <a:ext uri="{FF2B5EF4-FFF2-40B4-BE49-F238E27FC236}">
                  <a16:creationId xmlns:a16="http://schemas.microsoft.com/office/drawing/2014/main" id="{F308CA4E-7BCA-4BD2-AB73-36E80B520E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2400" y="3505200"/>
              <a:ext cx="7391400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24" name="Line 6">
              <a:extLst>
                <a:ext uri="{FF2B5EF4-FFF2-40B4-BE49-F238E27FC236}">
                  <a16:creationId xmlns:a16="http://schemas.microsoft.com/office/drawing/2014/main" id="{424D1E3B-1E70-4F13-BD3E-4BD7DC55B8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81600" y="1600200"/>
              <a:ext cx="0" cy="258445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25" name="Line 7">
              <a:extLst>
                <a:ext uri="{FF2B5EF4-FFF2-40B4-BE49-F238E27FC236}">
                  <a16:creationId xmlns:a16="http://schemas.microsoft.com/office/drawing/2014/main" id="{D46E76F6-72F6-4B1F-A217-1C8D2E2FA9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2400" y="2286000"/>
              <a:ext cx="7391400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26" name="Line 8">
              <a:extLst>
                <a:ext uri="{FF2B5EF4-FFF2-40B4-BE49-F238E27FC236}">
                  <a16:creationId xmlns:a16="http://schemas.microsoft.com/office/drawing/2014/main" id="{32487413-A154-4B36-8432-656C73394B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2400" y="2895600"/>
              <a:ext cx="7391400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27" name="Text Box 9">
              <a:extLst>
                <a:ext uri="{FF2B5EF4-FFF2-40B4-BE49-F238E27FC236}">
                  <a16:creationId xmlns:a16="http://schemas.microsoft.com/office/drawing/2014/main" id="{A556B80D-C30A-4F5E-B191-A8AEE175E7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3477" y="2327275"/>
              <a:ext cx="33054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 b="1">
                  <a:solidFill>
                    <a:schemeClr val="bg1"/>
                  </a:solidFill>
                  <a:latin typeface="+mj-ea"/>
                  <a:ea typeface="+mj-ea"/>
                </a:rPr>
                <a:t>E</a:t>
              </a:r>
            </a:p>
          </p:txBody>
        </p:sp>
        <p:sp>
          <p:nvSpPr>
            <p:cNvPr id="28" name="Text Box 10">
              <a:extLst>
                <a:ext uri="{FF2B5EF4-FFF2-40B4-BE49-F238E27FC236}">
                  <a16:creationId xmlns:a16="http://schemas.microsoft.com/office/drawing/2014/main" id="{D3644962-05AE-42CA-A9A8-57C34849E6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35462" y="3041650"/>
              <a:ext cx="344966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 b="1">
                  <a:solidFill>
                    <a:schemeClr val="bg1"/>
                  </a:solidFill>
                  <a:latin typeface="+mj-ea"/>
                  <a:ea typeface="+mj-ea"/>
                </a:rPr>
                <a:t>T</a:t>
              </a:r>
            </a:p>
          </p:txBody>
        </p:sp>
        <p:sp>
          <p:nvSpPr>
            <p:cNvPr id="29" name="Text Box 11">
              <a:extLst>
                <a:ext uri="{FF2B5EF4-FFF2-40B4-BE49-F238E27FC236}">
                  <a16:creationId xmlns:a16="http://schemas.microsoft.com/office/drawing/2014/main" id="{D454B88C-1C5C-46F1-83EA-0D7D306140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5881" y="3622675"/>
              <a:ext cx="327334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 b="1">
                  <a:solidFill>
                    <a:schemeClr val="bg1"/>
                  </a:solidFill>
                  <a:latin typeface="+mj-ea"/>
                  <a:ea typeface="+mj-ea"/>
                </a:rPr>
                <a:t>F</a:t>
              </a:r>
            </a:p>
          </p:txBody>
        </p:sp>
        <p:sp>
          <p:nvSpPr>
            <p:cNvPr id="30" name="Text Box 12">
              <a:extLst>
                <a:ext uri="{FF2B5EF4-FFF2-40B4-BE49-F238E27FC236}">
                  <a16:creationId xmlns:a16="http://schemas.microsoft.com/office/drawing/2014/main" id="{62CEAC5B-C381-4E5B-A330-EC14DA5B3F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27725" y="1717675"/>
              <a:ext cx="1263679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 b="1">
                  <a:solidFill>
                    <a:schemeClr val="bg1"/>
                  </a:solidFill>
                  <a:latin typeface="+mj-ea"/>
                  <a:ea typeface="+mj-ea"/>
                </a:rPr>
                <a:t>FIRSTVT</a:t>
              </a:r>
            </a:p>
          </p:txBody>
        </p:sp>
        <p:sp>
          <p:nvSpPr>
            <p:cNvPr id="31" name="Text Box 13">
              <a:extLst>
                <a:ext uri="{FF2B5EF4-FFF2-40B4-BE49-F238E27FC236}">
                  <a16:creationId xmlns:a16="http://schemas.microsoft.com/office/drawing/2014/main" id="{38939F2B-0BD5-4FAD-B0A7-FAE24684FD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67800" y="1752600"/>
              <a:ext cx="1194751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 b="1">
                  <a:solidFill>
                    <a:schemeClr val="bg1"/>
                  </a:solidFill>
                  <a:latin typeface="+mj-ea"/>
                  <a:ea typeface="+mj-ea"/>
                </a:rPr>
                <a:t>LASTVT</a:t>
              </a:r>
            </a:p>
          </p:txBody>
        </p:sp>
        <p:sp>
          <p:nvSpPr>
            <p:cNvPr id="32" name="Text Box 14">
              <a:extLst>
                <a:ext uri="{FF2B5EF4-FFF2-40B4-BE49-F238E27FC236}">
                  <a16:creationId xmlns:a16="http://schemas.microsoft.com/office/drawing/2014/main" id="{14057B60-13A3-4C23-A02F-A2D5BAA86E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51525" y="2327275"/>
              <a:ext cx="2243316" cy="5319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 b="1" dirty="0">
                  <a:solidFill>
                    <a:schemeClr val="bg1"/>
                  </a:solidFill>
                  <a:latin typeface="+mj-ea"/>
                  <a:ea typeface="+mj-ea"/>
                </a:rPr>
                <a:t>(    </a:t>
              </a:r>
              <a:r>
                <a:rPr lang="en-US" altLang="zh-CN" sz="2000" b="1" dirty="0" err="1">
                  <a:solidFill>
                    <a:schemeClr val="bg1"/>
                  </a:solidFill>
                  <a:latin typeface="+mj-ea"/>
                  <a:ea typeface="+mj-ea"/>
                </a:rPr>
                <a:t>i</a:t>
              </a:r>
              <a:r>
                <a:rPr lang="en-US" altLang="zh-CN" sz="2000" b="1" dirty="0">
                  <a:solidFill>
                    <a:schemeClr val="bg1"/>
                  </a:solidFill>
                  <a:latin typeface="+mj-ea"/>
                  <a:ea typeface="+mj-ea"/>
                </a:rPr>
                <a:t>    *   +</a:t>
              </a:r>
            </a:p>
          </p:txBody>
        </p:sp>
        <p:sp>
          <p:nvSpPr>
            <p:cNvPr id="33" name="Text Box 15">
              <a:extLst>
                <a:ext uri="{FF2B5EF4-FFF2-40B4-BE49-F238E27FC236}">
                  <a16:creationId xmlns:a16="http://schemas.microsoft.com/office/drawing/2014/main" id="{7FC01AB2-7497-44C7-9576-3F4C507268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67400" y="3657600"/>
              <a:ext cx="66717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 b="1" dirty="0">
                  <a:solidFill>
                    <a:schemeClr val="bg1"/>
                  </a:solidFill>
                  <a:latin typeface="+mj-ea"/>
                  <a:ea typeface="+mj-ea"/>
                </a:rPr>
                <a:t>(    </a:t>
              </a:r>
              <a:r>
                <a:rPr lang="en-US" altLang="zh-CN" sz="2000" b="1" dirty="0" err="1">
                  <a:solidFill>
                    <a:schemeClr val="bg1"/>
                  </a:solidFill>
                  <a:latin typeface="+mj-ea"/>
                  <a:ea typeface="+mj-ea"/>
                </a:rPr>
                <a:t>i</a:t>
              </a:r>
              <a:endParaRPr lang="en-US" altLang="zh-CN" sz="20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34" name="Text Box 16">
              <a:extLst>
                <a:ext uri="{FF2B5EF4-FFF2-40B4-BE49-F238E27FC236}">
                  <a16:creationId xmlns:a16="http://schemas.microsoft.com/office/drawing/2014/main" id="{7A3CABC7-9A3F-475D-BE28-7BCB239283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63001" y="2355850"/>
              <a:ext cx="2243316" cy="5319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 b="1" dirty="0">
                  <a:solidFill>
                    <a:schemeClr val="bg1"/>
                  </a:solidFill>
                  <a:latin typeface="+mj-ea"/>
                  <a:ea typeface="+mj-ea"/>
                </a:rPr>
                <a:t>)    </a:t>
              </a:r>
              <a:r>
                <a:rPr lang="en-US" altLang="zh-CN" sz="2000" b="1" dirty="0" err="1">
                  <a:solidFill>
                    <a:schemeClr val="bg1"/>
                  </a:solidFill>
                  <a:latin typeface="+mj-ea"/>
                  <a:ea typeface="+mj-ea"/>
                </a:rPr>
                <a:t>i</a:t>
              </a:r>
              <a:r>
                <a:rPr lang="en-US" altLang="zh-CN" sz="2000" b="1" dirty="0">
                  <a:solidFill>
                    <a:schemeClr val="bg1"/>
                  </a:solidFill>
                  <a:latin typeface="+mj-ea"/>
                  <a:ea typeface="+mj-ea"/>
                </a:rPr>
                <a:t>    *   +</a:t>
              </a:r>
            </a:p>
          </p:txBody>
        </p:sp>
        <p:sp>
          <p:nvSpPr>
            <p:cNvPr id="35" name="Text Box 17">
              <a:extLst>
                <a:ext uri="{FF2B5EF4-FFF2-40B4-BE49-F238E27FC236}">
                  <a16:creationId xmlns:a16="http://schemas.microsoft.com/office/drawing/2014/main" id="{ED6B6F13-07E1-4F24-8677-D93931C090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63000" y="2965450"/>
              <a:ext cx="1099981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 b="1" dirty="0">
                  <a:solidFill>
                    <a:schemeClr val="bg1"/>
                  </a:solidFill>
                  <a:latin typeface="+mj-ea"/>
                  <a:ea typeface="+mj-ea"/>
                </a:rPr>
                <a:t>)    </a:t>
              </a:r>
              <a:r>
                <a:rPr lang="en-US" altLang="zh-CN" sz="2000" b="1" dirty="0" err="1">
                  <a:solidFill>
                    <a:schemeClr val="bg1"/>
                  </a:solidFill>
                  <a:latin typeface="+mj-ea"/>
                  <a:ea typeface="+mj-ea"/>
                </a:rPr>
                <a:t>i</a:t>
              </a:r>
              <a:r>
                <a:rPr lang="en-US" altLang="zh-CN" sz="2000" b="1" dirty="0">
                  <a:solidFill>
                    <a:schemeClr val="bg1"/>
                  </a:solidFill>
                  <a:latin typeface="+mj-ea"/>
                  <a:ea typeface="+mj-ea"/>
                </a:rPr>
                <a:t>    *</a:t>
              </a:r>
            </a:p>
          </p:txBody>
        </p:sp>
        <p:sp>
          <p:nvSpPr>
            <p:cNvPr id="36" name="Text Box 18">
              <a:extLst>
                <a:ext uri="{FF2B5EF4-FFF2-40B4-BE49-F238E27FC236}">
                  <a16:creationId xmlns:a16="http://schemas.microsoft.com/office/drawing/2014/main" id="{2906FF4B-A9B3-4495-B3FD-A75BA0E250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63000" y="3651250"/>
              <a:ext cx="66717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 b="1">
                  <a:solidFill>
                    <a:schemeClr val="bg1"/>
                  </a:solidFill>
                  <a:latin typeface="+mj-ea"/>
                  <a:ea typeface="+mj-ea"/>
                </a:rPr>
                <a:t>)    i</a:t>
              </a:r>
            </a:p>
          </p:txBody>
        </p:sp>
        <p:sp>
          <p:nvSpPr>
            <p:cNvPr id="37" name="Text Box 19">
              <a:extLst>
                <a:ext uri="{FF2B5EF4-FFF2-40B4-BE49-F238E27FC236}">
                  <a16:creationId xmlns:a16="http://schemas.microsoft.com/office/drawing/2014/main" id="{6E133090-1862-408F-8D1C-4E53D45059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67400" y="2965450"/>
              <a:ext cx="1099981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 b="1" dirty="0">
                  <a:solidFill>
                    <a:schemeClr val="bg1"/>
                  </a:solidFill>
                  <a:latin typeface="+mj-ea"/>
                  <a:ea typeface="+mj-ea"/>
                </a:rPr>
                <a:t>(    </a:t>
              </a:r>
              <a:r>
                <a:rPr lang="en-US" altLang="zh-CN" sz="2000" b="1" dirty="0" err="1">
                  <a:solidFill>
                    <a:schemeClr val="bg1"/>
                  </a:solidFill>
                  <a:latin typeface="+mj-ea"/>
                  <a:ea typeface="+mj-ea"/>
                </a:rPr>
                <a:t>i</a:t>
              </a:r>
              <a:r>
                <a:rPr lang="en-US" altLang="zh-CN" sz="2000" b="1" dirty="0">
                  <a:solidFill>
                    <a:schemeClr val="bg1"/>
                  </a:solidFill>
                  <a:latin typeface="+mj-ea"/>
                  <a:ea typeface="+mj-ea"/>
                </a:rPr>
                <a:t>    *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44049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95AFCC45-7D40-47C0-9BDA-80FF4C7FC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算符优先关系表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8016946-3B78-48F5-A9D7-0A1BFF8EF9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0300" y="1371600"/>
            <a:ext cx="7391400" cy="44196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" name="Line 3">
            <a:extLst>
              <a:ext uri="{FF2B5EF4-FFF2-40B4-BE49-F238E27FC236}">
                <a16:creationId xmlns:a16="http://schemas.microsoft.com/office/drawing/2014/main" id="{665CB8AE-73C6-4F59-9DC8-FB4B3C4D3BCB}"/>
              </a:ext>
            </a:extLst>
          </p:cNvPr>
          <p:cNvSpPr>
            <a:spLocks noChangeShapeType="1"/>
          </p:cNvSpPr>
          <p:nvPr/>
        </p:nvSpPr>
        <p:spPr bwMode="auto">
          <a:xfrm>
            <a:off x="6438900" y="1371600"/>
            <a:ext cx="0" cy="44196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6" name="Line 4">
            <a:extLst>
              <a:ext uri="{FF2B5EF4-FFF2-40B4-BE49-F238E27FC236}">
                <a16:creationId xmlns:a16="http://schemas.microsoft.com/office/drawing/2014/main" id="{9DDAC133-B9F5-4DFF-957A-D5F45F933493}"/>
              </a:ext>
            </a:extLst>
          </p:cNvPr>
          <p:cNvSpPr>
            <a:spLocks noChangeShapeType="1"/>
          </p:cNvSpPr>
          <p:nvPr/>
        </p:nvSpPr>
        <p:spPr bwMode="auto">
          <a:xfrm>
            <a:off x="2400300" y="3886200"/>
            <a:ext cx="73914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7" name="Line 5">
            <a:extLst>
              <a:ext uri="{FF2B5EF4-FFF2-40B4-BE49-F238E27FC236}">
                <a16:creationId xmlns:a16="http://schemas.microsoft.com/office/drawing/2014/main" id="{69A0119D-71B6-4E8B-A56D-CC1C2CB8FF44}"/>
              </a:ext>
            </a:extLst>
          </p:cNvPr>
          <p:cNvSpPr>
            <a:spLocks noChangeShapeType="1"/>
          </p:cNvSpPr>
          <p:nvPr/>
        </p:nvSpPr>
        <p:spPr bwMode="auto">
          <a:xfrm>
            <a:off x="2400300" y="1905000"/>
            <a:ext cx="73914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8" name="Line 6">
            <a:extLst>
              <a:ext uri="{FF2B5EF4-FFF2-40B4-BE49-F238E27FC236}">
                <a16:creationId xmlns:a16="http://schemas.microsoft.com/office/drawing/2014/main" id="{726AF31A-AA41-4D7F-A35A-140CBF770393}"/>
              </a:ext>
            </a:extLst>
          </p:cNvPr>
          <p:cNvSpPr>
            <a:spLocks noChangeShapeType="1"/>
          </p:cNvSpPr>
          <p:nvPr/>
        </p:nvSpPr>
        <p:spPr bwMode="auto">
          <a:xfrm>
            <a:off x="2400300" y="2590800"/>
            <a:ext cx="73914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9" name="Line 7">
            <a:extLst>
              <a:ext uri="{FF2B5EF4-FFF2-40B4-BE49-F238E27FC236}">
                <a16:creationId xmlns:a16="http://schemas.microsoft.com/office/drawing/2014/main" id="{2F2544A0-285B-45B5-9B11-AD0029DEBFE1}"/>
              </a:ext>
            </a:extLst>
          </p:cNvPr>
          <p:cNvSpPr>
            <a:spLocks noChangeShapeType="1"/>
          </p:cNvSpPr>
          <p:nvPr/>
        </p:nvSpPr>
        <p:spPr bwMode="auto">
          <a:xfrm>
            <a:off x="2400300" y="3200400"/>
            <a:ext cx="73914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0" name="Line 8">
            <a:extLst>
              <a:ext uri="{FF2B5EF4-FFF2-40B4-BE49-F238E27FC236}">
                <a16:creationId xmlns:a16="http://schemas.microsoft.com/office/drawing/2014/main" id="{37D54BD6-6B93-4BCA-9DCA-A6E6EFEBEE14}"/>
              </a:ext>
            </a:extLst>
          </p:cNvPr>
          <p:cNvSpPr>
            <a:spLocks noChangeShapeType="1"/>
          </p:cNvSpPr>
          <p:nvPr/>
        </p:nvSpPr>
        <p:spPr bwMode="auto">
          <a:xfrm>
            <a:off x="2400300" y="4495800"/>
            <a:ext cx="73914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1" name="Line 9">
            <a:extLst>
              <a:ext uri="{FF2B5EF4-FFF2-40B4-BE49-F238E27FC236}">
                <a16:creationId xmlns:a16="http://schemas.microsoft.com/office/drawing/2014/main" id="{4687C65A-36AF-47DC-9AF2-2021C786A3E3}"/>
              </a:ext>
            </a:extLst>
          </p:cNvPr>
          <p:cNvSpPr>
            <a:spLocks noChangeShapeType="1"/>
          </p:cNvSpPr>
          <p:nvPr/>
        </p:nvSpPr>
        <p:spPr bwMode="auto">
          <a:xfrm>
            <a:off x="2400300" y="5105400"/>
            <a:ext cx="73914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Line 10">
            <a:extLst>
              <a:ext uri="{FF2B5EF4-FFF2-40B4-BE49-F238E27FC236}">
                <a16:creationId xmlns:a16="http://schemas.microsoft.com/office/drawing/2014/main" id="{E4321C63-9E65-4203-9D55-EC4082877344}"/>
              </a:ext>
            </a:extLst>
          </p:cNvPr>
          <p:cNvSpPr>
            <a:spLocks noChangeShapeType="1"/>
          </p:cNvSpPr>
          <p:nvPr/>
        </p:nvSpPr>
        <p:spPr bwMode="auto">
          <a:xfrm>
            <a:off x="2933700" y="1371600"/>
            <a:ext cx="0" cy="44196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3" name="Line 11">
            <a:extLst>
              <a:ext uri="{FF2B5EF4-FFF2-40B4-BE49-F238E27FC236}">
                <a16:creationId xmlns:a16="http://schemas.microsoft.com/office/drawing/2014/main" id="{E9DDD054-4C5F-41A8-AD26-60272CBA84DE}"/>
              </a:ext>
            </a:extLst>
          </p:cNvPr>
          <p:cNvSpPr>
            <a:spLocks noChangeShapeType="1"/>
          </p:cNvSpPr>
          <p:nvPr/>
        </p:nvSpPr>
        <p:spPr bwMode="auto">
          <a:xfrm>
            <a:off x="4000500" y="1371600"/>
            <a:ext cx="0" cy="44196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4" name="Line 12">
            <a:extLst>
              <a:ext uri="{FF2B5EF4-FFF2-40B4-BE49-F238E27FC236}">
                <a16:creationId xmlns:a16="http://schemas.microsoft.com/office/drawing/2014/main" id="{F832A3E8-7B0E-432D-877A-F325E95FB8E8}"/>
              </a:ext>
            </a:extLst>
          </p:cNvPr>
          <p:cNvSpPr>
            <a:spLocks noChangeShapeType="1"/>
          </p:cNvSpPr>
          <p:nvPr/>
        </p:nvSpPr>
        <p:spPr bwMode="auto">
          <a:xfrm>
            <a:off x="5219700" y="1371600"/>
            <a:ext cx="0" cy="44196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5" name="Line 13">
            <a:extLst>
              <a:ext uri="{FF2B5EF4-FFF2-40B4-BE49-F238E27FC236}">
                <a16:creationId xmlns:a16="http://schemas.microsoft.com/office/drawing/2014/main" id="{5DE308F1-2BD1-4B9F-A8D3-E40ECE84097A}"/>
              </a:ext>
            </a:extLst>
          </p:cNvPr>
          <p:cNvSpPr>
            <a:spLocks noChangeShapeType="1"/>
          </p:cNvSpPr>
          <p:nvPr/>
        </p:nvSpPr>
        <p:spPr bwMode="auto">
          <a:xfrm>
            <a:off x="7581900" y="1371600"/>
            <a:ext cx="0" cy="44196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Line 14">
            <a:extLst>
              <a:ext uri="{FF2B5EF4-FFF2-40B4-BE49-F238E27FC236}">
                <a16:creationId xmlns:a16="http://schemas.microsoft.com/office/drawing/2014/main" id="{BB4F585D-AD21-402B-A53B-0E0981BBD61C}"/>
              </a:ext>
            </a:extLst>
          </p:cNvPr>
          <p:cNvSpPr>
            <a:spLocks noChangeShapeType="1"/>
          </p:cNvSpPr>
          <p:nvPr/>
        </p:nvSpPr>
        <p:spPr bwMode="auto">
          <a:xfrm>
            <a:off x="8724900" y="1371600"/>
            <a:ext cx="0" cy="44196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 Box 15">
            <a:extLst>
              <a:ext uri="{FF2B5EF4-FFF2-40B4-BE49-F238E27FC236}">
                <a16:creationId xmlns:a16="http://schemas.microsoft.com/office/drawing/2014/main" id="{DC632A60-2E78-4C16-AB65-322EF10F1D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2625" y="1412875"/>
            <a:ext cx="4187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+</a:t>
            </a:r>
          </a:p>
        </p:txBody>
      </p:sp>
      <p:sp>
        <p:nvSpPr>
          <p:cNvPr id="18" name="Text Box 16">
            <a:extLst>
              <a:ext uri="{FF2B5EF4-FFF2-40B4-BE49-F238E27FC236}">
                <a16:creationId xmlns:a16="http://schemas.microsoft.com/office/drawing/2014/main" id="{540DC506-5F1F-40A8-A266-B69F739381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6500" y="2003685"/>
            <a:ext cx="4187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+</a:t>
            </a:r>
          </a:p>
        </p:txBody>
      </p:sp>
      <p:sp>
        <p:nvSpPr>
          <p:cNvPr id="19" name="Text Box 17">
            <a:extLst>
              <a:ext uri="{FF2B5EF4-FFF2-40B4-BE49-F238E27FC236}">
                <a16:creationId xmlns:a16="http://schemas.microsoft.com/office/drawing/2014/main" id="{35BCB0B3-4BFD-46B1-941E-BEA3B93508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1500" y="1447800"/>
            <a:ext cx="33534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*</a:t>
            </a:r>
          </a:p>
        </p:txBody>
      </p:sp>
      <p:sp>
        <p:nvSpPr>
          <p:cNvPr id="20" name="Text Box 18">
            <a:extLst>
              <a:ext uri="{FF2B5EF4-FFF2-40B4-BE49-F238E27FC236}">
                <a16:creationId xmlns:a16="http://schemas.microsoft.com/office/drawing/2014/main" id="{82FD95F4-2CA9-4F7A-BF7C-C9AE5136C0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6500" y="2743200"/>
            <a:ext cx="33534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*</a:t>
            </a:r>
          </a:p>
        </p:txBody>
      </p:sp>
      <p:sp>
        <p:nvSpPr>
          <p:cNvPr id="21" name="Text Box 19">
            <a:extLst>
              <a:ext uri="{FF2B5EF4-FFF2-40B4-BE49-F238E27FC236}">
                <a16:creationId xmlns:a16="http://schemas.microsoft.com/office/drawing/2014/main" id="{5E7696D2-D565-4E87-BB74-75C0D9A8AD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4825" y="1412875"/>
            <a:ext cx="27603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i</a:t>
            </a:r>
          </a:p>
        </p:txBody>
      </p:sp>
      <p:sp>
        <p:nvSpPr>
          <p:cNvPr id="22" name="Text Box 20">
            <a:extLst>
              <a:ext uri="{FF2B5EF4-FFF2-40B4-BE49-F238E27FC236}">
                <a16:creationId xmlns:a16="http://schemas.microsoft.com/office/drawing/2014/main" id="{A663B6EF-A755-4C7D-8A13-792AA07CC1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2700" y="3352800"/>
            <a:ext cx="27603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i</a:t>
            </a:r>
          </a:p>
        </p:txBody>
      </p:sp>
      <p:sp>
        <p:nvSpPr>
          <p:cNvPr id="23" name="Text Box 21">
            <a:extLst>
              <a:ext uri="{FF2B5EF4-FFF2-40B4-BE49-F238E27FC236}">
                <a16:creationId xmlns:a16="http://schemas.microsoft.com/office/drawing/2014/main" id="{E49DEE4B-4A1A-4178-A271-2B5F238633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7908" y="1412875"/>
            <a:ext cx="30489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(</a:t>
            </a:r>
          </a:p>
        </p:txBody>
      </p:sp>
      <p:sp>
        <p:nvSpPr>
          <p:cNvPr id="24" name="Text Box 22">
            <a:extLst>
              <a:ext uri="{FF2B5EF4-FFF2-40B4-BE49-F238E27FC236}">
                <a16:creationId xmlns:a16="http://schemas.microsoft.com/office/drawing/2014/main" id="{D3BEFC8A-6A89-476E-A59C-A6FB709317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2700" y="3962400"/>
            <a:ext cx="30489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(</a:t>
            </a:r>
          </a:p>
        </p:txBody>
      </p:sp>
      <p:sp>
        <p:nvSpPr>
          <p:cNvPr id="25" name="Text Box 23">
            <a:extLst>
              <a:ext uri="{FF2B5EF4-FFF2-40B4-BE49-F238E27FC236}">
                <a16:creationId xmlns:a16="http://schemas.microsoft.com/office/drawing/2014/main" id="{753C1F2C-BBD0-41C5-ABED-9F16F25050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23225" y="1412875"/>
            <a:ext cx="30489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)</a:t>
            </a:r>
          </a:p>
        </p:txBody>
      </p:sp>
      <p:sp>
        <p:nvSpPr>
          <p:cNvPr id="26" name="Text Box 24">
            <a:extLst>
              <a:ext uri="{FF2B5EF4-FFF2-40B4-BE49-F238E27FC236}">
                <a16:creationId xmlns:a16="http://schemas.microsoft.com/office/drawing/2014/main" id="{BF0712AE-6CEE-4113-8189-A3F1FD6A3E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2700" y="4572000"/>
            <a:ext cx="30489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)</a:t>
            </a:r>
          </a:p>
        </p:txBody>
      </p:sp>
      <p:sp>
        <p:nvSpPr>
          <p:cNvPr id="27" name="Text Box 25">
            <a:extLst>
              <a:ext uri="{FF2B5EF4-FFF2-40B4-BE49-F238E27FC236}">
                <a16:creationId xmlns:a16="http://schemas.microsoft.com/office/drawing/2014/main" id="{A3463B09-79E7-42F8-B4B2-5D25CFBF2F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90025" y="1412875"/>
            <a:ext cx="38183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#</a:t>
            </a:r>
          </a:p>
        </p:txBody>
      </p:sp>
      <p:sp>
        <p:nvSpPr>
          <p:cNvPr id="28" name="Text Box 26">
            <a:extLst>
              <a:ext uri="{FF2B5EF4-FFF2-40B4-BE49-F238E27FC236}">
                <a16:creationId xmlns:a16="http://schemas.microsoft.com/office/drawing/2014/main" id="{5FDC287B-4CD9-4FFE-849C-5957346E5E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6500" y="5257800"/>
            <a:ext cx="38183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#</a:t>
            </a:r>
          </a:p>
        </p:txBody>
      </p:sp>
      <p:sp>
        <p:nvSpPr>
          <p:cNvPr id="29" name="Text Box 27">
            <a:extLst>
              <a:ext uri="{FF2B5EF4-FFF2-40B4-BE49-F238E27FC236}">
                <a16:creationId xmlns:a16="http://schemas.microsoft.com/office/drawing/2014/main" id="{304AC3C7-0184-4394-9C50-E3AAC413E2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2625" y="2022475"/>
            <a:ext cx="4187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&gt;</a:t>
            </a:r>
          </a:p>
        </p:txBody>
      </p:sp>
      <p:sp>
        <p:nvSpPr>
          <p:cNvPr id="30" name="Text Box 28">
            <a:extLst>
              <a:ext uri="{FF2B5EF4-FFF2-40B4-BE49-F238E27FC236}">
                <a16:creationId xmlns:a16="http://schemas.microsoft.com/office/drawing/2014/main" id="{FF71AB58-1C52-439A-BD8A-1E9EF87F77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0" y="2667000"/>
            <a:ext cx="4187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&gt;</a:t>
            </a:r>
          </a:p>
        </p:txBody>
      </p:sp>
      <p:sp>
        <p:nvSpPr>
          <p:cNvPr id="31" name="Text Box 29">
            <a:extLst>
              <a:ext uri="{FF2B5EF4-FFF2-40B4-BE49-F238E27FC236}">
                <a16:creationId xmlns:a16="http://schemas.microsoft.com/office/drawing/2014/main" id="{E689F14F-772A-48EF-B3BE-D9B15E2186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0" y="3352800"/>
            <a:ext cx="4187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&gt;</a:t>
            </a:r>
          </a:p>
        </p:txBody>
      </p:sp>
      <p:sp>
        <p:nvSpPr>
          <p:cNvPr id="32" name="Text Box 30">
            <a:extLst>
              <a:ext uri="{FF2B5EF4-FFF2-40B4-BE49-F238E27FC236}">
                <a16:creationId xmlns:a16="http://schemas.microsoft.com/office/drawing/2014/main" id="{F6BEEDA6-D0D2-481A-A9C2-389431BAA7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0" y="3962400"/>
            <a:ext cx="4187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&lt;</a:t>
            </a:r>
          </a:p>
        </p:txBody>
      </p:sp>
      <p:sp>
        <p:nvSpPr>
          <p:cNvPr id="33" name="Text Box 31">
            <a:extLst>
              <a:ext uri="{FF2B5EF4-FFF2-40B4-BE49-F238E27FC236}">
                <a16:creationId xmlns:a16="http://schemas.microsoft.com/office/drawing/2014/main" id="{65E9E2E5-03BF-44BB-A1E6-2CD8E36CA6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0" y="4572000"/>
            <a:ext cx="4187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&gt;</a:t>
            </a:r>
          </a:p>
        </p:txBody>
      </p:sp>
      <p:sp>
        <p:nvSpPr>
          <p:cNvPr id="34" name="Text Box 32">
            <a:extLst>
              <a:ext uri="{FF2B5EF4-FFF2-40B4-BE49-F238E27FC236}">
                <a16:creationId xmlns:a16="http://schemas.microsoft.com/office/drawing/2014/main" id="{45438E6E-1C4B-4E6A-8E01-B233155DCC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0" y="5257800"/>
            <a:ext cx="4187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&lt;</a:t>
            </a:r>
          </a:p>
        </p:txBody>
      </p:sp>
      <p:sp>
        <p:nvSpPr>
          <p:cNvPr id="35" name="Text Box 33">
            <a:extLst>
              <a:ext uri="{FF2B5EF4-FFF2-40B4-BE49-F238E27FC236}">
                <a16:creationId xmlns:a16="http://schemas.microsoft.com/office/drawing/2014/main" id="{12A6E3C4-F1ED-481F-9233-7E9205FE43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1500" y="2057400"/>
            <a:ext cx="4187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&lt;</a:t>
            </a:r>
          </a:p>
        </p:txBody>
      </p:sp>
      <p:sp>
        <p:nvSpPr>
          <p:cNvPr id="36" name="Text Box 34">
            <a:extLst>
              <a:ext uri="{FF2B5EF4-FFF2-40B4-BE49-F238E27FC236}">
                <a16:creationId xmlns:a16="http://schemas.microsoft.com/office/drawing/2014/main" id="{FD8D4905-250C-4CF9-BB8B-FC89307D49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1500" y="3962400"/>
            <a:ext cx="4187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&lt;</a:t>
            </a:r>
          </a:p>
        </p:txBody>
      </p:sp>
      <p:sp>
        <p:nvSpPr>
          <p:cNvPr id="37" name="Text Box 35">
            <a:extLst>
              <a:ext uri="{FF2B5EF4-FFF2-40B4-BE49-F238E27FC236}">
                <a16:creationId xmlns:a16="http://schemas.microsoft.com/office/drawing/2014/main" id="{08D061C6-F622-46E1-9990-712FDBE13B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1500" y="5257800"/>
            <a:ext cx="4187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&lt;</a:t>
            </a:r>
          </a:p>
        </p:txBody>
      </p:sp>
      <p:sp>
        <p:nvSpPr>
          <p:cNvPr id="38" name="Text Box 36">
            <a:extLst>
              <a:ext uri="{FF2B5EF4-FFF2-40B4-BE49-F238E27FC236}">
                <a16:creationId xmlns:a16="http://schemas.microsoft.com/office/drawing/2014/main" id="{2707994A-AE6F-4246-9F92-C2303E4A9C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1500" y="4572000"/>
            <a:ext cx="4187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&gt;</a:t>
            </a:r>
          </a:p>
        </p:txBody>
      </p:sp>
      <p:sp>
        <p:nvSpPr>
          <p:cNvPr id="39" name="Text Box 37">
            <a:extLst>
              <a:ext uri="{FF2B5EF4-FFF2-40B4-BE49-F238E27FC236}">
                <a16:creationId xmlns:a16="http://schemas.microsoft.com/office/drawing/2014/main" id="{95122892-C8CC-4500-8D87-844E5C9AC2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1500" y="3352800"/>
            <a:ext cx="4187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&gt;</a:t>
            </a:r>
          </a:p>
        </p:txBody>
      </p:sp>
      <p:sp>
        <p:nvSpPr>
          <p:cNvPr id="40" name="Text Box 38">
            <a:extLst>
              <a:ext uri="{FF2B5EF4-FFF2-40B4-BE49-F238E27FC236}">
                <a16:creationId xmlns:a16="http://schemas.microsoft.com/office/drawing/2014/main" id="{4B9029D3-4233-416D-877B-47D61E8D6A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1500" y="2667000"/>
            <a:ext cx="4187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&gt;</a:t>
            </a:r>
          </a:p>
        </p:txBody>
      </p:sp>
      <p:sp>
        <p:nvSpPr>
          <p:cNvPr id="41" name="Text Box 39">
            <a:extLst>
              <a:ext uri="{FF2B5EF4-FFF2-40B4-BE49-F238E27FC236}">
                <a16:creationId xmlns:a16="http://schemas.microsoft.com/office/drawing/2014/main" id="{9AB4990E-B99F-4D5D-A793-D207F7FB5C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4500" y="2057400"/>
            <a:ext cx="4187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&lt;</a:t>
            </a:r>
          </a:p>
        </p:txBody>
      </p:sp>
      <p:sp>
        <p:nvSpPr>
          <p:cNvPr id="42" name="Text Box 40">
            <a:extLst>
              <a:ext uri="{FF2B5EF4-FFF2-40B4-BE49-F238E27FC236}">
                <a16:creationId xmlns:a16="http://schemas.microsoft.com/office/drawing/2014/main" id="{21E5D3D8-9DF6-404D-9E89-9375DD6B40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4500" y="2667000"/>
            <a:ext cx="4187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&lt;</a:t>
            </a:r>
          </a:p>
        </p:txBody>
      </p:sp>
      <p:sp>
        <p:nvSpPr>
          <p:cNvPr id="43" name="Text Box 41">
            <a:extLst>
              <a:ext uri="{FF2B5EF4-FFF2-40B4-BE49-F238E27FC236}">
                <a16:creationId xmlns:a16="http://schemas.microsoft.com/office/drawing/2014/main" id="{4345BEEF-C85C-4D9D-993E-D6DBD9BDB3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4500" y="3962400"/>
            <a:ext cx="4187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&lt;</a:t>
            </a:r>
          </a:p>
        </p:txBody>
      </p:sp>
      <p:sp>
        <p:nvSpPr>
          <p:cNvPr id="44" name="Text Box 42">
            <a:extLst>
              <a:ext uri="{FF2B5EF4-FFF2-40B4-BE49-F238E27FC236}">
                <a16:creationId xmlns:a16="http://schemas.microsoft.com/office/drawing/2014/main" id="{4A558386-0915-4733-B1F1-B5E0EB9113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4500" y="5257800"/>
            <a:ext cx="4187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&lt;</a:t>
            </a:r>
          </a:p>
        </p:txBody>
      </p:sp>
      <p:sp>
        <p:nvSpPr>
          <p:cNvPr id="45" name="Text Box 43">
            <a:extLst>
              <a:ext uri="{FF2B5EF4-FFF2-40B4-BE49-F238E27FC236}">
                <a16:creationId xmlns:a16="http://schemas.microsoft.com/office/drawing/2014/main" id="{3FDA7413-6676-44F5-B3EE-8B5FECDF53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9900" y="2057400"/>
            <a:ext cx="4187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&lt;</a:t>
            </a:r>
          </a:p>
        </p:txBody>
      </p:sp>
      <p:sp>
        <p:nvSpPr>
          <p:cNvPr id="46" name="Text Box 44">
            <a:extLst>
              <a:ext uri="{FF2B5EF4-FFF2-40B4-BE49-F238E27FC236}">
                <a16:creationId xmlns:a16="http://schemas.microsoft.com/office/drawing/2014/main" id="{A3563C2C-9DEB-4496-958F-CF95E1F706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9900" y="2667000"/>
            <a:ext cx="4187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&lt;</a:t>
            </a:r>
          </a:p>
        </p:txBody>
      </p:sp>
      <p:sp>
        <p:nvSpPr>
          <p:cNvPr id="47" name="Text Box 45">
            <a:extLst>
              <a:ext uri="{FF2B5EF4-FFF2-40B4-BE49-F238E27FC236}">
                <a16:creationId xmlns:a16="http://schemas.microsoft.com/office/drawing/2014/main" id="{2EEC5EBC-AA00-4E35-A5CD-BC82594EFA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9900" y="3962400"/>
            <a:ext cx="4187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&lt;</a:t>
            </a:r>
          </a:p>
        </p:txBody>
      </p:sp>
      <p:sp>
        <p:nvSpPr>
          <p:cNvPr id="48" name="Text Box 46">
            <a:extLst>
              <a:ext uri="{FF2B5EF4-FFF2-40B4-BE49-F238E27FC236}">
                <a16:creationId xmlns:a16="http://schemas.microsoft.com/office/drawing/2014/main" id="{5AC83A00-3151-47C9-B1F6-ACE355E70E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9900" y="5257800"/>
            <a:ext cx="4187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&lt;</a:t>
            </a:r>
          </a:p>
        </p:txBody>
      </p:sp>
      <p:sp>
        <p:nvSpPr>
          <p:cNvPr id="49" name="Text Box 47">
            <a:extLst>
              <a:ext uri="{FF2B5EF4-FFF2-40B4-BE49-F238E27FC236}">
                <a16:creationId xmlns:a16="http://schemas.microsoft.com/office/drawing/2014/main" id="{1AB11032-256D-4777-8BC7-F3BCE024C6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62900" y="2057400"/>
            <a:ext cx="4187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&gt;</a:t>
            </a:r>
          </a:p>
        </p:txBody>
      </p:sp>
      <p:sp>
        <p:nvSpPr>
          <p:cNvPr id="50" name="Text Box 48">
            <a:extLst>
              <a:ext uri="{FF2B5EF4-FFF2-40B4-BE49-F238E27FC236}">
                <a16:creationId xmlns:a16="http://schemas.microsoft.com/office/drawing/2014/main" id="{D26CDE08-F6DA-4BAB-9CFD-41D6C6AE72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62900" y="2667000"/>
            <a:ext cx="4187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&gt;</a:t>
            </a:r>
          </a:p>
        </p:txBody>
      </p:sp>
      <p:sp>
        <p:nvSpPr>
          <p:cNvPr id="51" name="Text Box 49">
            <a:extLst>
              <a:ext uri="{FF2B5EF4-FFF2-40B4-BE49-F238E27FC236}">
                <a16:creationId xmlns:a16="http://schemas.microsoft.com/office/drawing/2014/main" id="{BA995402-063C-4594-B4E7-DB9848E7D5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62900" y="3352800"/>
            <a:ext cx="4187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&gt;</a:t>
            </a:r>
          </a:p>
        </p:txBody>
      </p:sp>
      <p:sp>
        <p:nvSpPr>
          <p:cNvPr id="52" name="Text Box 50">
            <a:extLst>
              <a:ext uri="{FF2B5EF4-FFF2-40B4-BE49-F238E27FC236}">
                <a16:creationId xmlns:a16="http://schemas.microsoft.com/office/drawing/2014/main" id="{240B79E8-DCCB-4FCA-BE2F-9D70ED8611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62900" y="4572000"/>
            <a:ext cx="4187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&gt;</a:t>
            </a:r>
          </a:p>
        </p:txBody>
      </p:sp>
      <p:sp>
        <p:nvSpPr>
          <p:cNvPr id="53" name="Text Box 51">
            <a:extLst>
              <a:ext uri="{FF2B5EF4-FFF2-40B4-BE49-F238E27FC236}">
                <a16:creationId xmlns:a16="http://schemas.microsoft.com/office/drawing/2014/main" id="{6B0E0163-6FB3-4F78-8E0C-7F1AA3C89C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05900" y="2057400"/>
            <a:ext cx="4187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&gt;</a:t>
            </a:r>
          </a:p>
        </p:txBody>
      </p:sp>
      <p:sp>
        <p:nvSpPr>
          <p:cNvPr id="54" name="Text Box 52">
            <a:extLst>
              <a:ext uri="{FF2B5EF4-FFF2-40B4-BE49-F238E27FC236}">
                <a16:creationId xmlns:a16="http://schemas.microsoft.com/office/drawing/2014/main" id="{D327E55F-25E5-4A92-B782-5E9ECAC50B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05900" y="2667000"/>
            <a:ext cx="4187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&gt;</a:t>
            </a:r>
          </a:p>
        </p:txBody>
      </p:sp>
      <p:sp>
        <p:nvSpPr>
          <p:cNvPr id="55" name="Text Box 53">
            <a:extLst>
              <a:ext uri="{FF2B5EF4-FFF2-40B4-BE49-F238E27FC236}">
                <a16:creationId xmlns:a16="http://schemas.microsoft.com/office/drawing/2014/main" id="{25B72E30-92FC-4146-9D7F-548C7E8137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05900" y="3352800"/>
            <a:ext cx="4187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&gt;</a:t>
            </a:r>
          </a:p>
        </p:txBody>
      </p:sp>
      <p:sp>
        <p:nvSpPr>
          <p:cNvPr id="56" name="Text Box 54">
            <a:extLst>
              <a:ext uri="{FF2B5EF4-FFF2-40B4-BE49-F238E27FC236}">
                <a16:creationId xmlns:a16="http://schemas.microsoft.com/office/drawing/2014/main" id="{4ECF0A0C-F265-4D11-B3D9-8B6079CA8D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05900" y="4572000"/>
            <a:ext cx="4187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&gt;</a:t>
            </a:r>
          </a:p>
        </p:txBody>
      </p:sp>
      <p:sp>
        <p:nvSpPr>
          <p:cNvPr id="57" name="Text Box 55">
            <a:extLst>
              <a:ext uri="{FF2B5EF4-FFF2-40B4-BE49-F238E27FC236}">
                <a16:creationId xmlns:a16="http://schemas.microsoft.com/office/drawing/2014/main" id="{D47A9FED-9C0C-40F6-BB8C-C2CABF0897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62900" y="3962400"/>
            <a:ext cx="4187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=</a:t>
            </a:r>
          </a:p>
        </p:txBody>
      </p:sp>
      <p:sp>
        <p:nvSpPr>
          <p:cNvPr id="58" name="Text Box 56">
            <a:extLst>
              <a:ext uri="{FF2B5EF4-FFF2-40B4-BE49-F238E27FC236}">
                <a16:creationId xmlns:a16="http://schemas.microsoft.com/office/drawing/2014/main" id="{D0363EC3-B7B0-44D9-8CE2-397B4A1E4A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05900" y="5257800"/>
            <a:ext cx="4187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=</a:t>
            </a:r>
          </a:p>
        </p:txBody>
      </p:sp>
    </p:spTree>
    <p:extLst>
      <p:ext uri="{BB962C8B-B14F-4D97-AF65-F5344CB8AC3E}">
        <p14:creationId xmlns:p14="http://schemas.microsoft.com/office/powerpoint/2010/main" val="2244955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EB8B1F19-37C9-4602-8C7A-C416DAAC0B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若</a:t>
            </a:r>
            <a:r>
              <a:rPr lang="zh-CN" altLang="en-US" dirty="0">
                <a:solidFill>
                  <a:srgbClr val="EE853E"/>
                </a:solidFill>
              </a:rPr>
              <a:t>算符文法</a:t>
            </a:r>
            <a:r>
              <a:rPr lang="en-US" altLang="zh-CN" dirty="0"/>
              <a:t>G</a:t>
            </a:r>
            <a:r>
              <a:rPr lang="zh-CN" altLang="en-US" dirty="0"/>
              <a:t>的算符优先关系表中不含冲突表项，即它的任意两个终结符之间的优先关系</a:t>
            </a:r>
            <a:r>
              <a:rPr lang="zh-CN" altLang="en-US" dirty="0">
                <a:solidFill>
                  <a:srgbClr val="EE853E"/>
                </a:solidFill>
              </a:rPr>
              <a:t>最多</a:t>
            </a:r>
            <a:r>
              <a:rPr lang="zh-CN" altLang="en-US" dirty="0"/>
              <a:t>只有 </a:t>
            </a:r>
            <a:r>
              <a:rPr lang="en-US" altLang="zh-CN" dirty="0"/>
              <a:t>=</a:t>
            </a:r>
            <a:r>
              <a:rPr lang="zh-CN" altLang="en-US" dirty="0"/>
              <a:t>、</a:t>
            </a:r>
            <a:r>
              <a:rPr lang="en-US" altLang="zh-CN" dirty="0"/>
              <a:t>&gt;</a:t>
            </a:r>
            <a:r>
              <a:rPr lang="zh-CN" altLang="en-US" dirty="0"/>
              <a:t>、</a:t>
            </a:r>
            <a:r>
              <a:rPr lang="en-US" altLang="zh-CN" dirty="0"/>
              <a:t>&lt; </a:t>
            </a:r>
            <a:r>
              <a:rPr lang="zh-CN" altLang="en-US" dirty="0"/>
              <a:t>中的一个，则称文法</a:t>
            </a:r>
            <a:r>
              <a:rPr lang="en-US" altLang="zh-CN" dirty="0"/>
              <a:t>G</a:t>
            </a:r>
            <a:r>
              <a:rPr lang="zh-CN" altLang="en-US" dirty="0"/>
              <a:t>为</a:t>
            </a:r>
            <a:r>
              <a:rPr lang="zh-CN" altLang="en-US" dirty="0">
                <a:solidFill>
                  <a:srgbClr val="EE853E"/>
                </a:solidFill>
              </a:rPr>
              <a:t>算符优先文法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8A7CA688-A2FD-4AA6-A7BC-33B31E249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算符优先文法</a:t>
            </a:r>
          </a:p>
        </p:txBody>
      </p:sp>
    </p:spTree>
    <p:extLst>
      <p:ext uri="{BB962C8B-B14F-4D97-AF65-F5344CB8AC3E}">
        <p14:creationId xmlns:p14="http://schemas.microsoft.com/office/powerpoint/2010/main" val="3627374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8F5A5DA8-1FAB-4242-BA13-B1349078FC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1.	</a:t>
            </a:r>
            <a:r>
              <a:rPr lang="zh-CN" altLang="en-US" dirty="0"/>
              <a:t>仅适用于</a:t>
            </a:r>
            <a:r>
              <a:rPr lang="zh-CN" altLang="en-US" dirty="0">
                <a:solidFill>
                  <a:srgbClr val="EE853E"/>
                </a:solidFill>
              </a:rPr>
              <a:t>算符优先文法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en-US" altLang="zh-CN" dirty="0"/>
              <a:t>2.	</a:t>
            </a:r>
            <a:r>
              <a:rPr lang="zh-CN" altLang="en-US" dirty="0"/>
              <a:t>分析过程中的</a:t>
            </a:r>
            <a:r>
              <a:rPr lang="zh-CN" altLang="en-US" dirty="0">
                <a:solidFill>
                  <a:srgbClr val="EE853E"/>
                </a:solidFill>
              </a:rPr>
              <a:t>结构规约</a:t>
            </a:r>
            <a:r>
              <a:rPr lang="zh-CN" altLang="en-US" dirty="0"/>
              <a:t>不够精确，可能出现错误。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zh-CN" altLang="en-US" dirty="0"/>
              <a:t>例：对下述算符优先文法，判断输入串 </a:t>
            </a:r>
            <a:r>
              <a:rPr lang="en-US" altLang="zh-CN" dirty="0">
                <a:solidFill>
                  <a:srgbClr val="EE853E"/>
                </a:solidFill>
              </a:rPr>
              <a:t>( a + a ) </a:t>
            </a:r>
            <a:r>
              <a:rPr lang="zh-CN" altLang="en-US" dirty="0"/>
              <a:t>是否合法？</a:t>
            </a:r>
            <a:endParaRPr lang="en-US" altLang="zh-CN" dirty="0"/>
          </a:p>
          <a:p>
            <a:r>
              <a:rPr lang="de-DE" altLang="zh-CN" dirty="0"/>
              <a:t>	S → S ; D │ D</a:t>
            </a:r>
          </a:p>
          <a:p>
            <a:r>
              <a:rPr lang="de-DE" altLang="zh-CN" dirty="0"/>
              <a:t>	D → D ( T ) │ H</a:t>
            </a:r>
          </a:p>
          <a:p>
            <a:r>
              <a:rPr lang="de-DE" altLang="zh-CN" dirty="0"/>
              <a:t>	H → a │ ( S )</a:t>
            </a:r>
          </a:p>
          <a:p>
            <a:r>
              <a:rPr lang="de-DE" altLang="zh-CN" dirty="0"/>
              <a:t>	T → T + S | S</a:t>
            </a:r>
          </a:p>
          <a:p>
            <a:endParaRPr lang="de-DE" altLang="zh-CN" dirty="0"/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5E63A443-2031-46A2-BC68-7DB2E72FF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算符优先分析法的局限性</a:t>
            </a:r>
          </a:p>
        </p:txBody>
      </p:sp>
    </p:spTree>
    <p:extLst>
      <p:ext uri="{BB962C8B-B14F-4D97-AF65-F5344CB8AC3E}">
        <p14:creationId xmlns:p14="http://schemas.microsoft.com/office/powerpoint/2010/main" val="3075099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环保">
  <a:themeElements>
    <a:clrScheme name="环保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5"/>
      </a:accent6>
      <a:hlink>
        <a:srgbClr val="BB7826"/>
      </a:hlink>
      <a:folHlink>
        <a:srgbClr val="CF9C5F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环保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10260</TotalTime>
  <Words>1478</Words>
  <Application>Microsoft Office PowerPoint</Application>
  <PresentationFormat>宽屏</PresentationFormat>
  <Paragraphs>288</Paragraphs>
  <Slides>19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5" baseType="lpstr">
      <vt:lpstr>微软雅黑</vt:lpstr>
      <vt:lpstr>Arial</vt:lpstr>
      <vt:lpstr>Arial Black</vt:lpstr>
      <vt:lpstr>Cambria Math</vt:lpstr>
      <vt:lpstr>Wingdings</vt:lpstr>
      <vt:lpstr>环保</vt:lpstr>
      <vt:lpstr>第七章 语法分析</vt:lpstr>
      <vt:lpstr>算符文法</vt:lpstr>
      <vt:lpstr>求值过程（归约）</vt:lpstr>
      <vt:lpstr>优先关系</vt:lpstr>
      <vt:lpstr>算符优先关系表</vt:lpstr>
      <vt:lpstr>算符优先关系表</vt:lpstr>
      <vt:lpstr>算符优先关系表</vt:lpstr>
      <vt:lpstr>算符优先分析过程</vt:lpstr>
      <vt:lpstr>算符优先分析过程</vt:lpstr>
      <vt:lpstr>结构规约</vt:lpstr>
      <vt:lpstr>算符优先关系表的构造</vt:lpstr>
      <vt:lpstr>FIRSTVT集</vt:lpstr>
      <vt:lpstr>LASTVT集</vt:lpstr>
      <vt:lpstr>实例</vt:lpstr>
      <vt:lpstr>算符优先关系表的构造</vt:lpstr>
      <vt:lpstr>实例</vt:lpstr>
      <vt:lpstr>算符优先关系表</vt:lpstr>
      <vt:lpstr>算符优先文法</vt:lpstr>
      <vt:lpstr>算符优先分析法的局限性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TEST</dc:creator>
  <cp:lastModifiedBy>TEST</cp:lastModifiedBy>
  <cp:revision>1224</cp:revision>
  <cp:lastPrinted>1601-01-01T00:00:00Z</cp:lastPrinted>
  <dcterms:created xsi:type="dcterms:W3CDTF">1601-01-01T00:00:00Z</dcterms:created>
  <dcterms:modified xsi:type="dcterms:W3CDTF">2020-02-27T13:38:44Z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