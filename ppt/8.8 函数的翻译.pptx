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22"/>
  </p:notesMasterIdLst>
  <p:handoutMasterIdLst>
    <p:handoutMasterId r:id="rId23"/>
  </p:handoutMasterIdLst>
  <p:sldIdLst>
    <p:sldId id="371" r:id="rId2"/>
    <p:sldId id="276" r:id="rId3"/>
    <p:sldId id="388" r:id="rId4"/>
    <p:sldId id="277" r:id="rId5"/>
    <p:sldId id="386" r:id="rId6"/>
    <p:sldId id="383" r:id="rId7"/>
    <p:sldId id="396" r:id="rId8"/>
    <p:sldId id="397" r:id="rId9"/>
    <p:sldId id="400" r:id="rId10"/>
    <p:sldId id="398" r:id="rId11"/>
    <p:sldId id="399" r:id="rId12"/>
    <p:sldId id="381" r:id="rId13"/>
    <p:sldId id="389" r:id="rId14"/>
    <p:sldId id="384" r:id="rId15"/>
    <p:sldId id="385" r:id="rId16"/>
    <p:sldId id="401" r:id="rId17"/>
    <p:sldId id="402" r:id="rId18"/>
    <p:sldId id="403" r:id="rId19"/>
    <p:sldId id="404" r:id="rId20"/>
    <p:sldId id="313" r:id="rId21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89127" autoAdjust="0"/>
  </p:normalViewPr>
  <p:slideViewPr>
    <p:cSldViewPr>
      <p:cViewPr varScale="1">
        <p:scale>
          <a:sx n="80" d="100"/>
          <a:sy n="80" d="100"/>
        </p:scale>
        <p:origin x="43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6670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1541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92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584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3221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7583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7423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8722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6579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175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78752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425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26585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23335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03595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4296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481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525796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7E9892FE-F3AB-4039-9723-7093E7CEC2C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10130" y="899160"/>
            <a:ext cx="525797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676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4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17182" y="899999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6938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445227" y="899999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70454" y="899999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B6CEB031-D232-4E70-89DA-EAEFA87DCE0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5681" y="899999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264441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10" r:id="rId3"/>
    <p:sldLayoutId id="2147484311" r:id="rId4"/>
    <p:sldLayoutId id="2147484308" r:id="rId5"/>
    <p:sldLayoutId id="2147484312" r:id="rId6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第八章 语义分析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第五节 </a:t>
              </a:r>
              <a:r>
                <a:rPr lang="en-US" altLang="zh-CN" sz="2400" b="1" dirty="0">
                  <a:solidFill>
                    <a:schemeClr val="bg1"/>
                  </a:solidFill>
                  <a:latin typeface="+mj-ea"/>
                  <a:ea typeface="+mj-ea"/>
                </a:rPr>
                <a:t>if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语句的翻译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第六节 </a:t>
              </a:r>
              <a:r>
                <a:rPr lang="en-US" altLang="zh-CN" sz="2400" b="1" dirty="0">
                  <a:solidFill>
                    <a:schemeClr val="bg1"/>
                  </a:solidFill>
                  <a:latin typeface="+mj-ea"/>
                  <a:ea typeface="+mj-ea"/>
                </a:rPr>
                <a:t>while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语句的翻译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第七节 </a:t>
              </a:r>
              <a:r>
                <a:rPr lang="en-US" altLang="zh-CN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for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语句的翻译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第八节 函数的翻译</a:t>
              </a: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A8201A18-6154-4529-8A1F-F44752894B81}"/>
              </a:ext>
            </a:extLst>
          </p:cNvPr>
          <p:cNvSpPr/>
          <p:nvPr/>
        </p:nvSpPr>
        <p:spPr>
          <a:xfrm>
            <a:off x="2983159" y="4160547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41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函数定义：</a:t>
            </a:r>
            <a:endParaRPr lang="en-US" altLang="zh-CN" dirty="0"/>
          </a:p>
          <a:p>
            <a:r>
              <a:rPr lang="en-US" altLang="zh-CN" dirty="0"/>
              <a:t>		add ( x , y ) { a = x + y ; return a ; }</a:t>
            </a:r>
          </a:p>
          <a:p>
            <a:r>
              <a:rPr lang="en-US" altLang="zh-CN" dirty="0"/>
              <a:t>		max ( x , y ) { if (x &gt; y )</a:t>
            </a:r>
            <a:r>
              <a:rPr lang="zh-CN" altLang="en-US" dirty="0"/>
              <a:t> </a:t>
            </a:r>
            <a:r>
              <a:rPr lang="en-US" altLang="zh-CN" dirty="0"/>
              <a:t>{ return x ; } else { return y ; } }</a:t>
            </a:r>
          </a:p>
          <a:p>
            <a:endParaRPr lang="en-US" altLang="zh-CN" dirty="0"/>
          </a:p>
          <a:p>
            <a:r>
              <a:rPr lang="zh-CN" altLang="en-US" dirty="0"/>
              <a:t>采用下列语法规则：</a:t>
            </a:r>
            <a:endParaRPr lang="en-US" altLang="zh-CN" dirty="0"/>
          </a:p>
          <a:p>
            <a:r>
              <a:rPr lang="en-US" altLang="zh-CN" dirty="0"/>
              <a:t>		S → </a:t>
            </a:r>
            <a:r>
              <a:rPr lang="en-US" altLang="zh-CN" dirty="0" err="1"/>
              <a:t>i</a:t>
            </a:r>
            <a:r>
              <a:rPr lang="en-US" altLang="zh-CN" dirty="0"/>
              <a:t> ( Para ) { </a:t>
            </a:r>
            <a:r>
              <a:rPr lang="en-US" altLang="zh-CN" dirty="0" err="1"/>
              <a:t>S_list</a:t>
            </a:r>
            <a:r>
              <a:rPr lang="en-US" altLang="zh-CN" dirty="0"/>
              <a:t> }</a:t>
            </a:r>
          </a:p>
          <a:p>
            <a:r>
              <a:rPr lang="en-US" altLang="zh-CN" dirty="0"/>
              <a:t>		Para → </a:t>
            </a:r>
            <a:r>
              <a:rPr lang="en-US" altLang="zh-CN" dirty="0" err="1"/>
              <a:t>i_list</a:t>
            </a:r>
            <a:r>
              <a:rPr lang="en-US" altLang="zh-CN" dirty="0"/>
              <a:t> | </a:t>
            </a:r>
            <a:r>
              <a:rPr lang="el-GR" altLang="zh-CN" dirty="0"/>
              <a:t>ε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i_list</a:t>
            </a:r>
            <a:r>
              <a:rPr lang="en-US" altLang="zh-CN" dirty="0"/>
              <a:t> → </a:t>
            </a:r>
            <a:r>
              <a:rPr lang="en-US" altLang="zh-CN" dirty="0" err="1"/>
              <a:t>i_list</a:t>
            </a:r>
            <a:r>
              <a:rPr lang="en-US" altLang="zh-CN" dirty="0"/>
              <a:t> , </a:t>
            </a:r>
            <a:r>
              <a:rPr lang="en-US" altLang="zh-CN" dirty="0" err="1"/>
              <a:t>i</a:t>
            </a:r>
            <a:r>
              <a:rPr lang="en-US" altLang="zh-CN" dirty="0"/>
              <a:t> | </a:t>
            </a:r>
            <a:r>
              <a:rPr lang="en-US" altLang="zh-CN" dirty="0" err="1"/>
              <a:t>i</a:t>
            </a:r>
            <a:endParaRPr lang="en-US" altLang="zh-CN" dirty="0"/>
          </a:p>
          <a:p>
            <a:r>
              <a:rPr lang="en-US" altLang="zh-CN" dirty="0"/>
              <a:t>		S → return E ; | return ;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30C9FC3-846D-4826-8922-FB877131F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语法规则</a:t>
            </a:r>
          </a:p>
        </p:txBody>
      </p:sp>
    </p:spTree>
    <p:extLst>
      <p:ext uri="{BB962C8B-B14F-4D97-AF65-F5344CB8AC3E}">
        <p14:creationId xmlns:p14="http://schemas.microsoft.com/office/powerpoint/2010/main" val="3141441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源程序：</a:t>
            </a:r>
            <a:endParaRPr lang="nn-NO" altLang="zh-CN" dirty="0"/>
          </a:p>
          <a:p>
            <a:endParaRPr lang="en-US" altLang="zh-CN" dirty="0"/>
          </a:p>
          <a:p>
            <a:r>
              <a:rPr lang="en-US" altLang="zh-CN" dirty="0"/>
              <a:t>add ( x , y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int a ;</a:t>
            </a:r>
          </a:p>
          <a:p>
            <a:r>
              <a:rPr lang="en-US" altLang="zh-CN" dirty="0"/>
              <a:t>	a = x + y ; 	</a:t>
            </a:r>
          </a:p>
          <a:p>
            <a:r>
              <a:rPr lang="en-US" altLang="zh-CN" dirty="0"/>
              <a:t>	return a ; 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语义分析目标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00600" y="900000"/>
            <a:ext cx="3068999" cy="5237998"/>
          </a:xfrm>
        </p:spPr>
        <p:txBody>
          <a:bodyPr/>
          <a:lstStyle/>
          <a:p>
            <a:r>
              <a:rPr lang="zh-CN" altLang="en-US" dirty="0"/>
              <a:t>三地址码：</a:t>
            </a:r>
            <a:endParaRPr lang="en-US" altLang="zh-CN" dirty="0"/>
          </a:p>
          <a:p>
            <a:endParaRPr lang="it-IT" altLang="zh-CN" dirty="0"/>
          </a:p>
          <a:p>
            <a:r>
              <a:rPr lang="en-US" altLang="zh-CN" dirty="0"/>
              <a:t>label add</a:t>
            </a:r>
          </a:p>
          <a:p>
            <a:r>
              <a:rPr lang="en-US" altLang="zh-CN" dirty="0"/>
              <a:t>start</a:t>
            </a:r>
          </a:p>
          <a:p>
            <a:r>
              <a:rPr lang="en-US" altLang="zh-CN" dirty="0"/>
              <a:t>para x</a:t>
            </a:r>
          </a:p>
          <a:p>
            <a:r>
              <a:rPr lang="en-US" altLang="zh-CN" dirty="0"/>
              <a:t>para y</a:t>
            </a:r>
          </a:p>
          <a:p>
            <a:r>
              <a:rPr lang="en-US" altLang="zh-CN" dirty="0"/>
              <a:t>var a</a:t>
            </a:r>
          </a:p>
          <a:p>
            <a:endParaRPr lang="en-US" altLang="zh-CN" sz="2000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2DC111-1626-4BB5-B335-318D59DDF2E5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 altLang="zh-CN" dirty="0"/>
          </a:p>
          <a:p>
            <a:endParaRPr lang="nn-NO" altLang="zh-CN" dirty="0"/>
          </a:p>
          <a:p>
            <a:r>
              <a:rPr lang="en-US" altLang="zh-CN" dirty="0" err="1"/>
              <a:t>t1</a:t>
            </a:r>
            <a:r>
              <a:rPr lang="en-US" altLang="zh-CN" dirty="0"/>
              <a:t> = x + y</a:t>
            </a:r>
          </a:p>
          <a:p>
            <a:r>
              <a:rPr lang="en-US" altLang="zh-CN" dirty="0"/>
              <a:t>a = </a:t>
            </a:r>
            <a:r>
              <a:rPr lang="en-US" altLang="zh-CN" dirty="0" err="1"/>
              <a:t>t1</a:t>
            </a:r>
            <a:endParaRPr lang="en-US" altLang="zh-CN" dirty="0"/>
          </a:p>
          <a:p>
            <a:r>
              <a:rPr lang="en-US" altLang="zh-CN" dirty="0"/>
              <a:t>return a</a:t>
            </a:r>
          </a:p>
          <a:p>
            <a:r>
              <a:rPr lang="en-US" altLang="zh-CN" dirty="0"/>
              <a:t>end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654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i_list</a:t>
            </a:r>
            <a:r>
              <a:rPr lang="en-US" altLang="zh-CN" dirty="0"/>
              <a:t> → </a:t>
            </a:r>
            <a:r>
              <a:rPr lang="en-US" altLang="zh-CN" dirty="0" err="1"/>
              <a:t>i</a:t>
            </a:r>
            <a:r>
              <a:rPr lang="en-US" altLang="zh-CN" dirty="0"/>
              <a:t> 				{	symbol ( </a:t>
            </a:r>
            <a:r>
              <a:rPr lang="en-US" altLang="zh-CN" dirty="0" err="1"/>
              <a:t>i</a:t>
            </a:r>
            <a:r>
              <a:rPr lang="en-US" altLang="zh-CN" dirty="0"/>
              <a:t> , int ) </a:t>
            </a:r>
          </a:p>
          <a:p>
            <a:r>
              <a:rPr lang="en-US" altLang="zh-CN" dirty="0"/>
              <a:t>							</a:t>
            </a:r>
            <a:r>
              <a:rPr lang="en-US" altLang="zh-CN" dirty="0" err="1"/>
              <a:t>i_list.tac</a:t>
            </a:r>
            <a:r>
              <a:rPr lang="en-US" altLang="zh-CN" dirty="0"/>
              <a:t> = para </a:t>
            </a:r>
            <a:r>
              <a:rPr lang="en-US" altLang="zh-CN" dirty="0" err="1"/>
              <a:t>i</a:t>
            </a:r>
            <a:r>
              <a:rPr lang="en-US" altLang="zh-CN" dirty="0"/>
              <a:t>    }</a:t>
            </a:r>
          </a:p>
          <a:p>
            <a:endParaRPr lang="en-US" altLang="zh-CN" dirty="0"/>
          </a:p>
          <a:p>
            <a:r>
              <a:rPr lang="en-US" altLang="zh-CN" dirty="0" err="1"/>
              <a:t>i_list</a:t>
            </a:r>
            <a:r>
              <a:rPr lang="en-US" altLang="zh-CN" dirty="0"/>
              <a:t> → </a:t>
            </a:r>
            <a:r>
              <a:rPr lang="en-US" altLang="zh-CN" dirty="0" err="1"/>
              <a:t>i_list</a:t>
            </a:r>
            <a:r>
              <a:rPr lang="en-US" altLang="zh-CN" baseline="-25000" dirty="0" err="1"/>
              <a:t>1</a:t>
            </a:r>
            <a:r>
              <a:rPr lang="en-US" altLang="zh-CN" dirty="0"/>
              <a:t> , </a:t>
            </a:r>
            <a:r>
              <a:rPr lang="en-US" altLang="zh-CN" dirty="0" err="1"/>
              <a:t>i</a:t>
            </a:r>
            <a:r>
              <a:rPr lang="en-US" altLang="zh-CN" dirty="0"/>
              <a:t>	{	symbol ( </a:t>
            </a:r>
            <a:r>
              <a:rPr lang="en-US" altLang="zh-CN" dirty="0" err="1"/>
              <a:t>i</a:t>
            </a:r>
            <a:r>
              <a:rPr lang="en-US" altLang="zh-CN" dirty="0"/>
              <a:t> , int ) </a:t>
            </a:r>
          </a:p>
          <a:p>
            <a:r>
              <a:rPr lang="en-US" altLang="zh-CN" dirty="0"/>
              <a:t>							</a:t>
            </a:r>
            <a:r>
              <a:rPr lang="en-US" altLang="zh-CN" dirty="0" err="1"/>
              <a:t>i_list.tac</a:t>
            </a:r>
            <a:r>
              <a:rPr lang="en-US" altLang="zh-CN" dirty="0"/>
              <a:t> = append ( </a:t>
            </a:r>
            <a:r>
              <a:rPr lang="en-US" altLang="zh-CN" dirty="0" err="1"/>
              <a:t>i_list</a:t>
            </a:r>
            <a:r>
              <a:rPr lang="en-US" altLang="zh-CN" baseline="-25000" dirty="0" err="1"/>
              <a:t>1</a:t>
            </a:r>
            <a:r>
              <a:rPr lang="en-US" altLang="zh-CN" dirty="0" err="1"/>
              <a:t>.tac</a:t>
            </a:r>
            <a:r>
              <a:rPr lang="en-US" altLang="zh-CN" dirty="0"/>
              <a:t> , para </a:t>
            </a:r>
            <a:r>
              <a:rPr lang="en-US" altLang="zh-CN" dirty="0" err="1"/>
              <a:t>i</a:t>
            </a:r>
            <a:r>
              <a:rPr lang="en-US" altLang="zh-CN" dirty="0"/>
              <a:t> )   }</a:t>
            </a:r>
          </a:p>
          <a:p>
            <a:endParaRPr lang="en-US" altLang="zh-CN" dirty="0"/>
          </a:p>
          <a:p>
            <a:r>
              <a:rPr lang="en-US" altLang="zh-CN" dirty="0"/>
              <a:t>Para → </a:t>
            </a:r>
            <a:r>
              <a:rPr lang="en-US" altLang="zh-CN" dirty="0" err="1"/>
              <a:t>i_list</a:t>
            </a:r>
            <a:r>
              <a:rPr lang="en-US" altLang="zh-CN" dirty="0"/>
              <a:t>	 	{	</a:t>
            </a:r>
            <a:r>
              <a:rPr lang="en-US" altLang="zh-CN" dirty="0" err="1"/>
              <a:t>Para.tac</a:t>
            </a:r>
            <a:r>
              <a:rPr lang="en-US" altLang="zh-CN" dirty="0"/>
              <a:t> = </a:t>
            </a:r>
            <a:r>
              <a:rPr lang="en-US" altLang="zh-CN" dirty="0" err="1"/>
              <a:t>i_list.tac</a:t>
            </a:r>
            <a:r>
              <a:rPr lang="en-US" altLang="zh-CN" dirty="0"/>
              <a:t>    }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142031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 → return;		{	</a:t>
            </a:r>
            <a:r>
              <a:rPr lang="en-US" altLang="zh-CN" dirty="0" err="1"/>
              <a:t>S.tac</a:t>
            </a:r>
            <a:r>
              <a:rPr lang="en-US" altLang="zh-CN" dirty="0"/>
              <a:t> = return   }</a:t>
            </a:r>
          </a:p>
          <a:p>
            <a:endParaRPr lang="en-US" altLang="zh-CN" dirty="0"/>
          </a:p>
          <a:p>
            <a:r>
              <a:rPr lang="en-US" altLang="zh-CN" dirty="0"/>
              <a:t>S → return E ;	{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E.tac</a:t>
            </a:r>
            <a:r>
              <a:rPr lang="en-US" altLang="zh-CN" dirty="0"/>
              <a:t> , return </a:t>
            </a:r>
            <a:r>
              <a:rPr lang="en-US" altLang="zh-CN" dirty="0" err="1"/>
              <a:t>E.addr</a:t>
            </a:r>
            <a:r>
              <a:rPr lang="en-US" altLang="zh-CN" dirty="0"/>
              <a:t> )   }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323254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0BE5EED-6E00-4118-8A75-87AA08760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 → </a:t>
            </a:r>
            <a:r>
              <a:rPr lang="en-US" altLang="zh-CN" dirty="0" err="1"/>
              <a:t>i</a:t>
            </a:r>
            <a:r>
              <a:rPr lang="en-US" altLang="zh-CN" dirty="0"/>
              <a:t> ( Para ) { </a:t>
            </a:r>
            <a:r>
              <a:rPr lang="en-US" altLang="zh-CN" dirty="0" err="1"/>
              <a:t>S_list</a:t>
            </a:r>
            <a:r>
              <a:rPr lang="en-US" altLang="zh-CN" dirty="0"/>
              <a:t> }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S.tac</a:t>
            </a:r>
            <a:r>
              <a:rPr lang="en-US" altLang="zh-CN" dirty="0"/>
              <a:t> = append ( label </a:t>
            </a:r>
            <a:r>
              <a:rPr lang="en-US" altLang="zh-CN" dirty="0" err="1"/>
              <a:t>i</a:t>
            </a:r>
            <a:r>
              <a:rPr lang="en-US" altLang="zh-CN" dirty="0"/>
              <a:t> , start )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S.tac</a:t>
            </a:r>
            <a:r>
              <a:rPr lang="en-US" altLang="zh-CN" dirty="0"/>
              <a:t> , </a:t>
            </a:r>
            <a:r>
              <a:rPr lang="en-US" altLang="zh-CN" dirty="0" err="1"/>
              <a:t>Para.tac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S.tac</a:t>
            </a:r>
            <a:r>
              <a:rPr lang="en-US" altLang="zh-CN" dirty="0"/>
              <a:t> , </a:t>
            </a:r>
            <a:r>
              <a:rPr lang="en-US" altLang="zh-CN" dirty="0" err="1"/>
              <a:t>S_list.tac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S.tac</a:t>
            </a:r>
            <a:r>
              <a:rPr lang="en-US" altLang="zh-CN" dirty="0"/>
              <a:t> , end )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581EE4C-B1AB-4BC8-869C-40D81800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2960215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初始时：</a:t>
            </a:r>
            <a:endParaRPr lang="en-US" altLang="zh-CN" dirty="0"/>
          </a:p>
          <a:p>
            <a:endParaRPr lang="en-US" altLang="zh-CN" dirty="0"/>
          </a:p>
          <a:p>
            <a:r>
              <a:rPr lang="nn-NO" altLang="zh-CN" dirty="0"/>
              <a:t>● </a:t>
            </a:r>
            <a:r>
              <a:rPr lang="en-US" altLang="zh-CN" dirty="0"/>
              <a:t>add ( x , y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int a ;</a:t>
            </a:r>
          </a:p>
          <a:p>
            <a:r>
              <a:rPr lang="en-US" altLang="zh-CN" dirty="0"/>
              <a:t>	a = x + y ; 	</a:t>
            </a:r>
          </a:p>
          <a:p>
            <a:r>
              <a:rPr lang="en-US" altLang="zh-CN" dirty="0"/>
              <a:t>	return a ; 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add ( </a:t>
            </a:r>
            <a:r>
              <a:rPr lang="en-US" altLang="zh-CN" dirty="0" err="1">
                <a:solidFill>
                  <a:srgbClr val="EE853E"/>
                </a:solidFill>
              </a:rPr>
              <a:t>i_list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nn-NO" altLang="zh-CN" dirty="0"/>
              <a:t>● </a:t>
            </a:r>
            <a:r>
              <a:rPr lang="en-US" altLang="zh-CN" dirty="0"/>
              <a:t>, y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int a ;</a:t>
            </a:r>
          </a:p>
          <a:p>
            <a:r>
              <a:rPr lang="en-US" altLang="zh-CN" dirty="0"/>
              <a:t>	a = x + y ; 	</a:t>
            </a:r>
          </a:p>
          <a:p>
            <a:r>
              <a:rPr lang="en-US" altLang="zh-CN" dirty="0"/>
              <a:t>	return a ; 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i_list.tac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para x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387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add ( </a:t>
            </a:r>
            <a:r>
              <a:rPr lang="en-US" altLang="zh-CN" dirty="0" err="1"/>
              <a:t>i_list</a:t>
            </a:r>
            <a:r>
              <a:rPr lang="en-US" altLang="zh-CN" dirty="0"/>
              <a:t> </a:t>
            </a:r>
            <a:r>
              <a:rPr lang="nn-NO" altLang="zh-CN" dirty="0"/>
              <a:t>● </a:t>
            </a:r>
            <a:r>
              <a:rPr lang="en-US" altLang="zh-CN" dirty="0"/>
              <a:t>, y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int a ;</a:t>
            </a:r>
          </a:p>
          <a:p>
            <a:r>
              <a:rPr lang="en-US" altLang="zh-CN" dirty="0"/>
              <a:t>	a = x + y ; 	</a:t>
            </a:r>
          </a:p>
          <a:p>
            <a:r>
              <a:rPr lang="en-US" altLang="zh-CN" dirty="0"/>
              <a:t>	return a ; 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add ( </a:t>
            </a:r>
            <a:r>
              <a:rPr lang="en-US" altLang="zh-CN" dirty="0" err="1">
                <a:solidFill>
                  <a:srgbClr val="EE853E"/>
                </a:solidFill>
              </a:rPr>
              <a:t>i_list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nn-NO" altLang="zh-CN" dirty="0"/>
              <a:t>●</a:t>
            </a:r>
            <a:r>
              <a:rPr lang="en-US" altLang="zh-CN" dirty="0"/>
              <a:t>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int a ;</a:t>
            </a:r>
          </a:p>
          <a:p>
            <a:r>
              <a:rPr lang="en-US" altLang="zh-CN" dirty="0"/>
              <a:t>	a = x + y ; 	</a:t>
            </a:r>
          </a:p>
          <a:p>
            <a:r>
              <a:rPr lang="en-US" altLang="zh-CN" dirty="0"/>
              <a:t>	return a ; 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i_list.tac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para x</a:t>
            </a:r>
          </a:p>
          <a:p>
            <a:r>
              <a:rPr lang="en-US" altLang="zh-CN" dirty="0"/>
              <a:t>para y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565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add ( </a:t>
            </a:r>
            <a:r>
              <a:rPr lang="en-US" altLang="zh-CN" dirty="0" err="1"/>
              <a:t>i_list</a:t>
            </a:r>
            <a:r>
              <a:rPr lang="en-US" altLang="zh-CN" dirty="0"/>
              <a:t> </a:t>
            </a:r>
            <a:r>
              <a:rPr lang="nn-NO" altLang="zh-CN" dirty="0"/>
              <a:t>●</a:t>
            </a:r>
            <a:r>
              <a:rPr lang="en-US" altLang="zh-CN" dirty="0"/>
              <a:t>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int a ;</a:t>
            </a:r>
          </a:p>
          <a:p>
            <a:r>
              <a:rPr lang="en-US" altLang="zh-CN" dirty="0"/>
              <a:t>	a = x + y ; 	</a:t>
            </a:r>
          </a:p>
          <a:p>
            <a:r>
              <a:rPr lang="en-US" altLang="zh-CN" dirty="0"/>
              <a:t>	return a ; 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add ( </a:t>
            </a:r>
            <a:r>
              <a:rPr lang="en-US" altLang="zh-CN" dirty="0">
                <a:solidFill>
                  <a:srgbClr val="EE853E"/>
                </a:solidFill>
              </a:rPr>
              <a:t>Para</a:t>
            </a:r>
            <a:r>
              <a:rPr lang="en-US" altLang="zh-CN" dirty="0"/>
              <a:t> </a:t>
            </a:r>
            <a:r>
              <a:rPr lang="nn-NO" altLang="zh-CN" dirty="0"/>
              <a:t>●</a:t>
            </a:r>
            <a:r>
              <a:rPr lang="en-US" altLang="zh-CN" dirty="0"/>
              <a:t>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int a ;</a:t>
            </a:r>
          </a:p>
          <a:p>
            <a:r>
              <a:rPr lang="en-US" altLang="zh-CN" dirty="0"/>
              <a:t>	a = x + y ; 	</a:t>
            </a:r>
          </a:p>
          <a:p>
            <a:r>
              <a:rPr lang="en-US" altLang="zh-CN" dirty="0"/>
              <a:t>	return a ; 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Para.tac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para x</a:t>
            </a:r>
          </a:p>
          <a:p>
            <a:r>
              <a:rPr lang="en-US" altLang="zh-CN" dirty="0"/>
              <a:t>para y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149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add ( Para </a:t>
            </a:r>
            <a:r>
              <a:rPr lang="nn-NO" altLang="zh-CN" dirty="0"/>
              <a:t>●</a:t>
            </a:r>
            <a:r>
              <a:rPr lang="en-US" altLang="zh-CN" dirty="0"/>
              <a:t>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int a ;</a:t>
            </a:r>
          </a:p>
          <a:p>
            <a:r>
              <a:rPr lang="en-US" altLang="zh-CN" dirty="0"/>
              <a:t>	a = x + y ; 	</a:t>
            </a:r>
          </a:p>
          <a:p>
            <a:r>
              <a:rPr lang="en-US" altLang="zh-CN" dirty="0"/>
              <a:t>	return a ; 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add ( Para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</a:t>
            </a:r>
            <a:r>
              <a:rPr lang="en-US" altLang="zh-CN" dirty="0" err="1">
                <a:solidFill>
                  <a:srgbClr val="EE853E"/>
                </a:solidFill>
              </a:rPr>
              <a:t>S_list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nn-NO" altLang="zh-CN" dirty="0">
                <a:solidFill>
                  <a:srgbClr val="EE853E"/>
                </a:solidFill>
              </a:rPr>
              <a:t> </a:t>
            </a:r>
            <a:r>
              <a:rPr lang="nn-NO" altLang="zh-CN" dirty="0"/>
              <a:t>●</a:t>
            </a:r>
            <a:endParaRPr lang="en-US" altLang="zh-CN" dirty="0"/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S_list.tac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var a</a:t>
            </a:r>
          </a:p>
          <a:p>
            <a:r>
              <a:rPr lang="en-US" altLang="zh-CN" dirty="0" err="1"/>
              <a:t>t1</a:t>
            </a:r>
            <a:r>
              <a:rPr lang="en-US" altLang="zh-CN" dirty="0"/>
              <a:t> = x + y</a:t>
            </a:r>
          </a:p>
          <a:p>
            <a:r>
              <a:rPr lang="en-US" altLang="zh-CN" dirty="0"/>
              <a:t>a = </a:t>
            </a:r>
            <a:r>
              <a:rPr lang="en-US" altLang="zh-CN" dirty="0" err="1"/>
              <a:t>t1</a:t>
            </a:r>
            <a:endParaRPr lang="en-US" altLang="zh-CN" dirty="0"/>
          </a:p>
          <a:p>
            <a:r>
              <a:rPr lang="en-US" altLang="zh-CN" dirty="0"/>
              <a:t>return a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112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add ( Para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S_list</a:t>
            </a:r>
            <a:r>
              <a:rPr lang="en-US" altLang="zh-CN" dirty="0"/>
              <a:t> </a:t>
            </a:r>
            <a:r>
              <a:rPr lang="nn-NO" altLang="zh-CN" dirty="0"/>
              <a:t> ●</a:t>
            </a:r>
            <a:endParaRPr lang="en-US" altLang="zh-CN" dirty="0"/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5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olidFill>
                  <a:srgbClr val="EE853E"/>
                </a:solidFill>
              </a:rPr>
              <a:t>S</a:t>
            </a:r>
            <a:r>
              <a:rPr lang="en-US" altLang="zh-CN" dirty="0"/>
              <a:t> </a:t>
            </a:r>
            <a:r>
              <a:rPr lang="nn-NO" altLang="zh-CN" dirty="0"/>
              <a:t>●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0454" y="899999"/>
            <a:ext cx="3125946" cy="5237998"/>
          </a:xfrm>
        </p:spPr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label add</a:t>
            </a:r>
          </a:p>
          <a:p>
            <a:r>
              <a:rPr lang="en-US" altLang="zh-CN" dirty="0"/>
              <a:t>start</a:t>
            </a:r>
          </a:p>
          <a:p>
            <a:r>
              <a:rPr lang="en-US" altLang="zh-CN" dirty="0"/>
              <a:t>para x</a:t>
            </a:r>
          </a:p>
          <a:p>
            <a:r>
              <a:rPr lang="en-US" altLang="zh-CN" dirty="0"/>
              <a:t>para y</a:t>
            </a:r>
          </a:p>
          <a:p>
            <a:r>
              <a:rPr lang="en-US" altLang="zh-CN" dirty="0"/>
              <a:t>var a</a:t>
            </a:r>
          </a:p>
          <a:p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5254C1A-8D41-40BB-9791-0BEF7C25186E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t1</a:t>
            </a:r>
            <a:r>
              <a:rPr lang="en-US" altLang="zh-CN" dirty="0"/>
              <a:t> = x + y</a:t>
            </a:r>
          </a:p>
          <a:p>
            <a:r>
              <a:rPr lang="en-US" altLang="zh-CN" dirty="0"/>
              <a:t>a = </a:t>
            </a:r>
            <a:r>
              <a:rPr lang="en-US" altLang="zh-CN" dirty="0" err="1"/>
              <a:t>t1</a:t>
            </a:r>
            <a:endParaRPr lang="en-US" altLang="zh-CN" dirty="0"/>
          </a:p>
          <a:p>
            <a:r>
              <a:rPr lang="en-US" altLang="zh-CN" dirty="0"/>
              <a:t>return a</a:t>
            </a:r>
          </a:p>
          <a:p>
            <a:r>
              <a:rPr lang="en-US" altLang="zh-CN" dirty="0"/>
              <a:t>end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9154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函数调用：</a:t>
            </a:r>
            <a:endParaRPr lang="en-US" altLang="zh-CN" dirty="0"/>
          </a:p>
          <a:p>
            <a:r>
              <a:rPr lang="en-US" altLang="zh-CN" dirty="0"/>
              <a:t>		c = add ( a + 1 , b + 2 ) ;</a:t>
            </a:r>
          </a:p>
          <a:p>
            <a:r>
              <a:rPr lang="en-US" altLang="zh-CN" dirty="0"/>
              <a:t>		c = max ( a , b ) ;</a:t>
            </a:r>
          </a:p>
          <a:p>
            <a:endParaRPr lang="en-US" altLang="zh-CN" dirty="0"/>
          </a:p>
          <a:p>
            <a:r>
              <a:rPr lang="zh-CN" altLang="en-US" dirty="0"/>
              <a:t>采用下列语法规则：</a:t>
            </a:r>
            <a:endParaRPr lang="en-US" altLang="zh-CN" dirty="0"/>
          </a:p>
          <a:p>
            <a:r>
              <a:rPr lang="en-US" altLang="zh-CN" dirty="0"/>
              <a:t>		E → </a:t>
            </a:r>
            <a:r>
              <a:rPr lang="en-US" altLang="zh-CN" dirty="0" err="1"/>
              <a:t>i</a:t>
            </a:r>
            <a:r>
              <a:rPr lang="en-US" altLang="zh-CN" dirty="0"/>
              <a:t> ( </a:t>
            </a:r>
            <a:r>
              <a:rPr lang="en-US" altLang="zh-CN" dirty="0" err="1"/>
              <a:t>Arg</a:t>
            </a:r>
            <a:r>
              <a:rPr lang="en-US" altLang="zh-CN" dirty="0"/>
              <a:t> ) 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Arg</a:t>
            </a:r>
            <a:r>
              <a:rPr lang="en-US" altLang="zh-CN" dirty="0"/>
              <a:t> → </a:t>
            </a:r>
            <a:r>
              <a:rPr lang="en-US" altLang="zh-CN" dirty="0" err="1"/>
              <a:t>E_list</a:t>
            </a:r>
            <a:r>
              <a:rPr lang="en-US" altLang="zh-CN" dirty="0"/>
              <a:t> | </a:t>
            </a:r>
            <a:r>
              <a:rPr lang="el-GR" altLang="zh-CN" dirty="0"/>
              <a:t>ε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E_list</a:t>
            </a:r>
            <a:r>
              <a:rPr lang="en-US" altLang="zh-CN" dirty="0"/>
              <a:t> → </a:t>
            </a:r>
            <a:r>
              <a:rPr lang="en-US" altLang="zh-CN" dirty="0" err="1"/>
              <a:t>E_list</a:t>
            </a:r>
            <a:r>
              <a:rPr lang="en-US" altLang="zh-CN" dirty="0"/>
              <a:t> , E | E</a:t>
            </a:r>
          </a:p>
          <a:p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30C9FC3-846D-4826-8922-FB877131F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语法规则</a:t>
            </a:r>
          </a:p>
        </p:txBody>
      </p:sp>
    </p:spTree>
    <p:extLst>
      <p:ext uri="{BB962C8B-B14F-4D97-AF65-F5344CB8AC3E}">
        <p14:creationId xmlns:p14="http://schemas.microsoft.com/office/powerpoint/2010/main" val="343610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源程序：</a:t>
            </a:r>
            <a:endParaRPr lang="nn-NO" altLang="zh-CN" dirty="0"/>
          </a:p>
          <a:p>
            <a:endParaRPr lang="en-US" altLang="zh-CN" dirty="0"/>
          </a:p>
          <a:p>
            <a:r>
              <a:rPr lang="en-US" altLang="zh-CN" dirty="0"/>
              <a:t>add ( a + 1 , b + 2 )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语义分析目标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三地址码：</a:t>
            </a:r>
            <a:endParaRPr lang="en-US" altLang="zh-CN" dirty="0"/>
          </a:p>
          <a:p>
            <a:endParaRPr lang="it-IT" altLang="zh-CN" dirty="0"/>
          </a:p>
          <a:p>
            <a:r>
              <a:rPr lang="en-US" altLang="zh-CN" dirty="0" err="1"/>
              <a:t>t1</a:t>
            </a:r>
            <a:r>
              <a:rPr lang="en-US" altLang="zh-CN" dirty="0"/>
              <a:t> = a + 1</a:t>
            </a:r>
          </a:p>
          <a:p>
            <a:r>
              <a:rPr lang="en-US" altLang="zh-CN" dirty="0" err="1"/>
              <a:t>t2</a:t>
            </a:r>
            <a:r>
              <a:rPr lang="en-US" altLang="zh-CN" dirty="0"/>
              <a:t> = b + 2</a:t>
            </a:r>
          </a:p>
          <a:p>
            <a:r>
              <a:rPr lang="en-US" altLang="zh-CN" dirty="0" err="1"/>
              <a:t>arg</a:t>
            </a:r>
            <a:r>
              <a:rPr lang="en-US" altLang="zh-CN" dirty="0"/>
              <a:t> </a:t>
            </a:r>
            <a:r>
              <a:rPr lang="en-US" altLang="zh-CN" dirty="0" err="1"/>
              <a:t>t1</a:t>
            </a:r>
            <a:endParaRPr lang="en-US" altLang="zh-CN" dirty="0"/>
          </a:p>
          <a:p>
            <a:r>
              <a:rPr lang="en-US" altLang="zh-CN" dirty="0" err="1"/>
              <a:t>arg</a:t>
            </a:r>
            <a:r>
              <a:rPr lang="en-US" altLang="zh-CN" dirty="0"/>
              <a:t> </a:t>
            </a:r>
            <a:r>
              <a:rPr lang="en-US" altLang="zh-CN" dirty="0" err="1"/>
              <a:t>t2</a:t>
            </a:r>
            <a:endParaRPr lang="en-US" altLang="zh-CN" dirty="0"/>
          </a:p>
          <a:p>
            <a:r>
              <a:rPr lang="en-US" altLang="zh-CN" dirty="0" err="1"/>
              <a:t>t3</a:t>
            </a:r>
            <a:r>
              <a:rPr lang="en-US" altLang="zh-CN" dirty="0"/>
              <a:t> = call add</a:t>
            </a:r>
          </a:p>
          <a:p>
            <a:endParaRPr lang="en-US" altLang="zh-CN" dirty="0"/>
          </a:p>
          <a:p>
            <a:endParaRPr lang="en-US" altLang="zh-CN" sz="2000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2DC111-1626-4BB5-B335-318D59DDF2E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643938" y="900113"/>
            <a:ext cx="3548062" cy="5237162"/>
          </a:xfrm>
          <a:prstGeom prst="rect">
            <a:avLst/>
          </a:prstGeom>
        </p:spPr>
        <p:txBody>
          <a:bodyPr/>
          <a:lstStyle/>
          <a:p>
            <a:endParaRPr lang="en-US" altLang="zh-CN" dirty="0"/>
          </a:p>
          <a:p>
            <a:endParaRPr lang="nn-NO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23951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E_list</a:t>
            </a:r>
            <a:r>
              <a:rPr lang="en-US" altLang="zh-CN" dirty="0"/>
              <a:t> → E			 {	</a:t>
            </a:r>
            <a:r>
              <a:rPr lang="en-US" altLang="zh-CN" dirty="0" err="1"/>
              <a:t>E_list.tac</a:t>
            </a:r>
            <a:r>
              <a:rPr lang="en-US" altLang="zh-CN" dirty="0"/>
              <a:t> = </a:t>
            </a:r>
            <a:r>
              <a:rPr lang="en-US" altLang="zh-CN" dirty="0" err="1"/>
              <a:t>E.tac</a:t>
            </a:r>
            <a:endParaRPr lang="en-US" altLang="zh-CN" dirty="0"/>
          </a:p>
          <a:p>
            <a:r>
              <a:rPr lang="en-US" altLang="zh-CN" dirty="0"/>
              <a:t>							</a:t>
            </a:r>
            <a:r>
              <a:rPr lang="en-US" altLang="zh-CN" dirty="0" err="1"/>
              <a:t>E_list.addrs</a:t>
            </a:r>
            <a:r>
              <a:rPr lang="en-US" altLang="zh-CN" dirty="0"/>
              <a:t> = </a:t>
            </a:r>
            <a:r>
              <a:rPr lang="en-US" altLang="zh-CN" dirty="0" err="1"/>
              <a:t>E.addr</a:t>
            </a:r>
            <a:r>
              <a:rPr lang="en-US" altLang="zh-CN" dirty="0"/>
              <a:t>  }</a:t>
            </a:r>
          </a:p>
          <a:p>
            <a:endParaRPr lang="en-US" altLang="zh-CN" dirty="0"/>
          </a:p>
          <a:p>
            <a:r>
              <a:rPr lang="en-US" altLang="zh-CN" dirty="0" err="1"/>
              <a:t>E_list</a:t>
            </a:r>
            <a:r>
              <a:rPr lang="en-US" altLang="zh-CN" dirty="0"/>
              <a:t> → </a:t>
            </a:r>
            <a:r>
              <a:rPr lang="en-US" altLang="zh-CN" dirty="0" err="1"/>
              <a:t>E_list</a:t>
            </a:r>
            <a:r>
              <a:rPr lang="en-US" altLang="zh-CN" baseline="-25000" dirty="0" err="1"/>
              <a:t>1</a:t>
            </a:r>
            <a:r>
              <a:rPr lang="en-US" altLang="zh-CN" baseline="-25000" dirty="0"/>
              <a:t> </a:t>
            </a:r>
            <a:r>
              <a:rPr lang="en-US" altLang="zh-CN" dirty="0"/>
              <a:t>, E	 {	</a:t>
            </a:r>
            <a:r>
              <a:rPr lang="en-US" altLang="zh-CN" dirty="0" err="1"/>
              <a:t>E_list.tac</a:t>
            </a:r>
            <a:r>
              <a:rPr lang="en-US" altLang="zh-CN" dirty="0"/>
              <a:t> = append ( </a:t>
            </a:r>
            <a:r>
              <a:rPr lang="en-US" altLang="zh-CN" dirty="0" err="1"/>
              <a:t>E_list</a:t>
            </a:r>
            <a:r>
              <a:rPr lang="en-US" altLang="zh-CN" baseline="-25000" dirty="0" err="1"/>
              <a:t>1</a:t>
            </a:r>
            <a:r>
              <a:rPr lang="en-US" altLang="zh-CN" dirty="0" err="1"/>
              <a:t>.tac</a:t>
            </a:r>
            <a:r>
              <a:rPr lang="en-US" altLang="zh-CN" dirty="0"/>
              <a:t> , </a:t>
            </a:r>
            <a:r>
              <a:rPr lang="en-US" altLang="zh-CN" dirty="0" err="1"/>
              <a:t>E.tac</a:t>
            </a:r>
            <a:r>
              <a:rPr lang="en-US" altLang="zh-CN" dirty="0"/>
              <a:t> )    </a:t>
            </a:r>
          </a:p>
          <a:p>
            <a:r>
              <a:rPr lang="en-US" altLang="zh-CN" dirty="0"/>
              <a:t>							</a:t>
            </a:r>
            <a:r>
              <a:rPr lang="en-US" altLang="zh-CN" dirty="0" err="1"/>
              <a:t>E_list.addrs</a:t>
            </a:r>
            <a:r>
              <a:rPr lang="en-US" altLang="zh-CN" dirty="0"/>
              <a:t> = append ( </a:t>
            </a:r>
            <a:r>
              <a:rPr lang="en-US" altLang="zh-CN" dirty="0" err="1"/>
              <a:t>E_list.addrs</a:t>
            </a:r>
            <a:r>
              <a:rPr lang="en-US" altLang="zh-CN" dirty="0"/>
              <a:t> , </a:t>
            </a:r>
            <a:r>
              <a:rPr lang="en-US" altLang="zh-CN" dirty="0" err="1"/>
              <a:t>E.addr</a:t>
            </a:r>
            <a:r>
              <a:rPr lang="en-US" altLang="zh-CN" dirty="0"/>
              <a:t> )   }</a:t>
            </a:r>
          </a:p>
          <a:p>
            <a:endParaRPr lang="en-US" altLang="zh-CN" dirty="0"/>
          </a:p>
          <a:p>
            <a:r>
              <a:rPr lang="en-US" altLang="zh-CN" dirty="0" err="1"/>
              <a:t>Arg</a:t>
            </a:r>
            <a:r>
              <a:rPr lang="en-US" altLang="zh-CN" dirty="0"/>
              <a:t> → </a:t>
            </a:r>
            <a:r>
              <a:rPr lang="en-US" altLang="zh-CN" dirty="0" err="1"/>
              <a:t>E_list</a:t>
            </a:r>
            <a:r>
              <a:rPr lang="en-US" altLang="zh-CN" dirty="0"/>
              <a:t> 		 {	</a:t>
            </a:r>
            <a:r>
              <a:rPr lang="en-US" altLang="zh-CN" dirty="0" err="1"/>
              <a:t>Arg.tac</a:t>
            </a:r>
            <a:r>
              <a:rPr lang="en-US" altLang="zh-CN" dirty="0"/>
              <a:t> = </a:t>
            </a:r>
            <a:r>
              <a:rPr lang="en-US" altLang="zh-CN" dirty="0" err="1"/>
              <a:t>E_list.tac</a:t>
            </a:r>
            <a:endParaRPr lang="en-US" altLang="zh-CN" dirty="0"/>
          </a:p>
          <a:p>
            <a:r>
              <a:rPr lang="en-US" altLang="zh-CN" dirty="0"/>
              <a:t>							</a:t>
            </a:r>
            <a:r>
              <a:rPr lang="en-US" altLang="zh-CN" dirty="0" err="1"/>
              <a:t>Arg.addrs</a:t>
            </a:r>
            <a:r>
              <a:rPr lang="en-US" altLang="zh-CN" dirty="0"/>
              <a:t> = </a:t>
            </a:r>
            <a:r>
              <a:rPr lang="en-US" altLang="zh-CN" dirty="0" err="1"/>
              <a:t>E_list.addrs</a:t>
            </a:r>
            <a:r>
              <a:rPr lang="en-US" altLang="zh-CN" dirty="0"/>
              <a:t>    }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147431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0BE5EED-6E00-4118-8A75-87AA08760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 → </a:t>
            </a:r>
            <a:r>
              <a:rPr lang="en-US" altLang="zh-CN" dirty="0" err="1"/>
              <a:t>i</a:t>
            </a:r>
            <a:r>
              <a:rPr lang="en-US" altLang="zh-CN" dirty="0"/>
              <a:t> ( </a:t>
            </a:r>
            <a:r>
              <a:rPr lang="en-US" altLang="zh-CN" dirty="0" err="1"/>
              <a:t>Arg</a:t>
            </a:r>
            <a:r>
              <a:rPr lang="en-US" altLang="zh-CN" dirty="0"/>
              <a:t> ) 	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E.tac</a:t>
            </a:r>
            <a:r>
              <a:rPr lang="en-US" altLang="zh-CN" dirty="0"/>
              <a:t> = </a:t>
            </a:r>
            <a:r>
              <a:rPr lang="en-US" altLang="zh-CN" dirty="0" err="1"/>
              <a:t>Arg.tac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	for each </a:t>
            </a:r>
            <a:r>
              <a:rPr lang="en-US" altLang="zh-CN" dirty="0" err="1"/>
              <a:t>addr</a:t>
            </a:r>
            <a:r>
              <a:rPr lang="en-US" altLang="zh-CN" dirty="0"/>
              <a:t> in </a:t>
            </a:r>
            <a:r>
              <a:rPr lang="en-US" altLang="zh-CN" dirty="0" err="1"/>
              <a:t>Arg.addrs</a:t>
            </a:r>
            <a:r>
              <a:rPr lang="en-US" altLang="zh-CN" dirty="0"/>
              <a:t>   {	</a:t>
            </a:r>
            <a:r>
              <a:rPr lang="en-US" altLang="zh-CN" dirty="0" err="1"/>
              <a:t>E.tac</a:t>
            </a:r>
            <a:r>
              <a:rPr lang="en-US" altLang="zh-CN" dirty="0"/>
              <a:t> = append ( </a:t>
            </a:r>
            <a:r>
              <a:rPr lang="en-US" altLang="zh-CN" dirty="0" err="1"/>
              <a:t>E.tac</a:t>
            </a:r>
            <a:r>
              <a:rPr lang="en-US" altLang="zh-CN" dirty="0"/>
              <a:t> , </a:t>
            </a:r>
            <a:r>
              <a:rPr lang="en-US" altLang="zh-CN" dirty="0" err="1"/>
              <a:t>arg</a:t>
            </a:r>
            <a:r>
              <a:rPr lang="en-US" altLang="zh-CN" dirty="0"/>
              <a:t> </a:t>
            </a:r>
            <a:r>
              <a:rPr lang="en-US" altLang="zh-CN" dirty="0" err="1"/>
              <a:t>addr</a:t>
            </a:r>
            <a:r>
              <a:rPr lang="en-US" altLang="zh-CN" dirty="0"/>
              <a:t> )   }</a:t>
            </a:r>
          </a:p>
          <a:p>
            <a:r>
              <a:rPr lang="en-US" altLang="zh-CN" dirty="0"/>
              <a:t>	t = </a:t>
            </a:r>
            <a:r>
              <a:rPr lang="en-US" altLang="zh-CN" dirty="0" err="1"/>
              <a:t>new_temp</a:t>
            </a:r>
            <a:r>
              <a:rPr lang="en-US" altLang="zh-CN" dirty="0"/>
              <a:t> ( 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E.tac</a:t>
            </a:r>
            <a:r>
              <a:rPr lang="en-US" altLang="zh-CN" dirty="0"/>
              <a:t> = append ( </a:t>
            </a:r>
            <a:r>
              <a:rPr lang="en-US" altLang="zh-CN" dirty="0" err="1"/>
              <a:t>E.tac</a:t>
            </a:r>
            <a:r>
              <a:rPr lang="en-US" altLang="zh-CN" dirty="0"/>
              <a:t> , t = call </a:t>
            </a:r>
            <a:r>
              <a:rPr lang="en-US" altLang="zh-CN" dirty="0" err="1"/>
              <a:t>i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E.address</a:t>
            </a:r>
            <a:r>
              <a:rPr lang="en-US" altLang="zh-CN" dirty="0"/>
              <a:t> = t 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581EE4C-B1AB-4BC8-869C-40D81800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3890912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初始时：</a:t>
            </a:r>
            <a:endParaRPr lang="en-US" altLang="zh-CN" dirty="0"/>
          </a:p>
          <a:p>
            <a:endParaRPr lang="en-US" altLang="zh-CN" dirty="0"/>
          </a:p>
          <a:p>
            <a:r>
              <a:rPr lang="nn-NO" altLang="zh-CN" dirty="0"/>
              <a:t>● </a:t>
            </a:r>
            <a:r>
              <a:rPr lang="en-US" altLang="zh-CN" dirty="0"/>
              <a:t>add ( </a:t>
            </a:r>
            <a:r>
              <a:rPr lang="en-US" altLang="zh-CN" dirty="0" err="1"/>
              <a:t>a+1</a:t>
            </a:r>
            <a:r>
              <a:rPr lang="en-US" altLang="zh-CN" dirty="0"/>
              <a:t> , </a:t>
            </a:r>
            <a:r>
              <a:rPr lang="en-US" altLang="zh-CN" dirty="0" err="1"/>
              <a:t>b+2</a:t>
            </a:r>
            <a:r>
              <a:rPr lang="en-US" altLang="zh-CN" dirty="0"/>
              <a:t> )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add ( </a:t>
            </a:r>
            <a:r>
              <a:rPr lang="en-US" altLang="zh-CN" dirty="0" err="1">
                <a:solidFill>
                  <a:srgbClr val="EE853E"/>
                </a:solidFill>
              </a:rPr>
              <a:t>E_list</a:t>
            </a:r>
            <a:r>
              <a:rPr lang="nn-NO" altLang="zh-CN" dirty="0">
                <a:solidFill>
                  <a:srgbClr val="EE853E"/>
                </a:solidFill>
              </a:rPr>
              <a:t> </a:t>
            </a:r>
            <a:r>
              <a:rPr lang="nn-NO" altLang="zh-CN" dirty="0"/>
              <a:t>● </a:t>
            </a:r>
            <a:r>
              <a:rPr lang="en-US" altLang="zh-CN" dirty="0"/>
              <a:t>, </a:t>
            </a:r>
            <a:r>
              <a:rPr lang="en-US" altLang="zh-CN" dirty="0" err="1"/>
              <a:t>b+2</a:t>
            </a:r>
            <a:r>
              <a:rPr lang="en-US" altLang="zh-CN" dirty="0"/>
              <a:t> )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E_list.tac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 err="1"/>
              <a:t>t1</a:t>
            </a:r>
            <a:r>
              <a:rPr lang="en-US" altLang="zh-CN" dirty="0"/>
              <a:t> = a + 1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6562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add ( </a:t>
            </a:r>
            <a:r>
              <a:rPr lang="en-US" altLang="zh-CN" dirty="0" err="1"/>
              <a:t>E_list</a:t>
            </a:r>
            <a:r>
              <a:rPr lang="nn-NO" altLang="zh-CN" dirty="0"/>
              <a:t> ● </a:t>
            </a:r>
            <a:r>
              <a:rPr lang="en-US" altLang="zh-CN" dirty="0"/>
              <a:t>, </a:t>
            </a:r>
            <a:r>
              <a:rPr lang="en-US" altLang="zh-CN" dirty="0" err="1"/>
              <a:t>b+2</a:t>
            </a:r>
            <a:r>
              <a:rPr lang="en-US" altLang="zh-CN" dirty="0"/>
              <a:t> ) 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add( </a:t>
            </a:r>
            <a:r>
              <a:rPr lang="en-US" altLang="zh-CN" dirty="0" err="1">
                <a:solidFill>
                  <a:srgbClr val="EE853E"/>
                </a:solidFill>
              </a:rPr>
              <a:t>E_list</a:t>
            </a:r>
            <a:r>
              <a:rPr lang="nn-NO" altLang="zh-CN" dirty="0">
                <a:solidFill>
                  <a:srgbClr val="EE853E"/>
                </a:solidFill>
              </a:rPr>
              <a:t> </a:t>
            </a:r>
            <a:r>
              <a:rPr lang="nn-NO" altLang="zh-CN" dirty="0"/>
              <a:t>● </a:t>
            </a:r>
            <a:r>
              <a:rPr lang="en-US" altLang="zh-CN" dirty="0"/>
              <a:t>)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E_list.tac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 err="1"/>
              <a:t>t1</a:t>
            </a:r>
            <a:r>
              <a:rPr lang="en-US" altLang="zh-CN" dirty="0"/>
              <a:t> = a + 1</a:t>
            </a:r>
          </a:p>
          <a:p>
            <a:r>
              <a:rPr lang="en-US" altLang="zh-CN" dirty="0" err="1"/>
              <a:t>t2</a:t>
            </a:r>
            <a:r>
              <a:rPr lang="en-US" altLang="zh-CN" dirty="0"/>
              <a:t> = b + 2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488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add( </a:t>
            </a:r>
            <a:r>
              <a:rPr lang="en-US" altLang="zh-CN" dirty="0" err="1"/>
              <a:t>E_list</a:t>
            </a:r>
            <a:r>
              <a:rPr lang="nn-NO" altLang="zh-CN" dirty="0"/>
              <a:t> ● </a:t>
            </a:r>
            <a:r>
              <a:rPr lang="en-US" altLang="zh-CN" dirty="0"/>
              <a:t>)</a:t>
            </a:r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add( </a:t>
            </a:r>
            <a:r>
              <a:rPr lang="en-US" altLang="zh-CN" dirty="0" err="1">
                <a:solidFill>
                  <a:srgbClr val="EE853E"/>
                </a:solidFill>
              </a:rPr>
              <a:t>Arg</a:t>
            </a:r>
            <a:r>
              <a:rPr lang="en-US" altLang="zh-CN" dirty="0"/>
              <a:t> </a:t>
            </a:r>
            <a:r>
              <a:rPr lang="nn-NO" altLang="zh-CN" dirty="0"/>
              <a:t>● </a:t>
            </a:r>
            <a:r>
              <a:rPr lang="en-US" altLang="zh-CN" dirty="0"/>
              <a:t>)</a:t>
            </a:r>
          </a:p>
          <a:p>
            <a:endParaRPr lang="en-US" altLang="zh-CN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Arg.tac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 err="1"/>
              <a:t>t1</a:t>
            </a:r>
            <a:r>
              <a:rPr lang="en-US" altLang="zh-CN" dirty="0"/>
              <a:t> = a + 1</a:t>
            </a:r>
          </a:p>
          <a:p>
            <a:r>
              <a:rPr lang="en-US" altLang="zh-CN" dirty="0" err="1"/>
              <a:t>t2</a:t>
            </a:r>
            <a:r>
              <a:rPr lang="en-US" altLang="zh-CN" dirty="0"/>
              <a:t> = b + 2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405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add( </a:t>
            </a:r>
            <a:r>
              <a:rPr lang="en-US" altLang="zh-CN" dirty="0" err="1"/>
              <a:t>Arg</a:t>
            </a:r>
            <a:r>
              <a:rPr lang="en-US" altLang="zh-CN" dirty="0"/>
              <a:t> )</a:t>
            </a:r>
            <a:r>
              <a:rPr lang="nn-NO" altLang="zh-CN" dirty="0"/>
              <a:t> ●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olidFill>
                  <a:srgbClr val="EE853E"/>
                </a:solidFill>
              </a:rPr>
              <a:t>E</a:t>
            </a:r>
            <a:r>
              <a:rPr lang="en-US" altLang="zh-CN" dirty="0"/>
              <a:t> </a:t>
            </a:r>
            <a:r>
              <a:rPr lang="nn-NO" altLang="zh-CN" dirty="0"/>
              <a:t>●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E.tac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 err="1"/>
              <a:t>t1</a:t>
            </a:r>
            <a:r>
              <a:rPr lang="en-US" altLang="zh-CN" dirty="0"/>
              <a:t> = a + 1</a:t>
            </a:r>
          </a:p>
          <a:p>
            <a:r>
              <a:rPr lang="en-US" altLang="zh-CN" dirty="0" err="1"/>
              <a:t>t2</a:t>
            </a:r>
            <a:r>
              <a:rPr lang="en-US" altLang="zh-CN" dirty="0"/>
              <a:t> = b + 2</a:t>
            </a:r>
          </a:p>
          <a:p>
            <a:r>
              <a:rPr lang="en-US" altLang="zh-CN" dirty="0" err="1"/>
              <a:t>arg</a:t>
            </a:r>
            <a:r>
              <a:rPr lang="en-US" altLang="zh-CN" dirty="0"/>
              <a:t> </a:t>
            </a:r>
            <a:r>
              <a:rPr lang="en-US" altLang="zh-CN" dirty="0" err="1"/>
              <a:t>t1</a:t>
            </a:r>
            <a:endParaRPr lang="en-US" altLang="zh-CN" dirty="0"/>
          </a:p>
          <a:p>
            <a:r>
              <a:rPr lang="en-US" altLang="zh-CN" dirty="0" err="1"/>
              <a:t>arg</a:t>
            </a:r>
            <a:r>
              <a:rPr lang="en-US" altLang="zh-CN" dirty="0"/>
              <a:t> </a:t>
            </a:r>
            <a:r>
              <a:rPr lang="en-US" altLang="zh-CN" dirty="0" err="1"/>
              <a:t>t2</a:t>
            </a:r>
            <a:endParaRPr lang="en-US" altLang="zh-CN" dirty="0"/>
          </a:p>
          <a:p>
            <a:r>
              <a:rPr lang="en-US" altLang="zh-CN" dirty="0" err="1"/>
              <a:t>t3</a:t>
            </a:r>
            <a:r>
              <a:rPr lang="en-US" altLang="zh-CN" dirty="0"/>
              <a:t> = call add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152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 err="1"/>
              <a:t>yacc</a:t>
            </a:r>
            <a:r>
              <a:rPr lang="zh-CN" altLang="en-US" dirty="0"/>
              <a:t>中实现表达式和赋值语句的语义子程序。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参考代码：</a:t>
            </a:r>
            <a:endParaRPr lang="en-US" altLang="zh-CN" dirty="0"/>
          </a:p>
          <a:p>
            <a:r>
              <a:rPr lang="en-US" altLang="zh-CN" dirty="0" err="1"/>
              <a:t>expression.y</a:t>
            </a:r>
            <a:r>
              <a:rPr lang="en-US" altLang="zh-CN" dirty="0"/>
              <a:t> + </a:t>
            </a:r>
            <a:r>
              <a:rPr lang="en-US" altLang="zh-CN" dirty="0" err="1"/>
              <a:t>expression.l</a:t>
            </a:r>
            <a:endParaRPr lang="en-US" altLang="zh-CN" dirty="0"/>
          </a:p>
          <a:p>
            <a:r>
              <a:rPr lang="en-US" altLang="zh-CN" dirty="0" err="1"/>
              <a:t>assignment.y</a:t>
            </a:r>
            <a:r>
              <a:rPr lang="en-US" altLang="zh-CN" dirty="0"/>
              <a:t> + </a:t>
            </a:r>
            <a:r>
              <a:rPr lang="en-US" altLang="zh-CN" dirty="0" err="1"/>
              <a:t>assignment.l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课后练习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274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6433</TotalTime>
  <Words>1222</Words>
  <Application>Microsoft Office PowerPoint</Application>
  <PresentationFormat>宽屏</PresentationFormat>
  <Paragraphs>257</Paragraphs>
  <Slides>20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微软雅黑</vt:lpstr>
      <vt:lpstr>Arial</vt:lpstr>
      <vt:lpstr>Wingdings</vt:lpstr>
      <vt:lpstr>环保</vt:lpstr>
      <vt:lpstr>第八章 语义分析</vt:lpstr>
      <vt:lpstr>语法规则</vt:lpstr>
      <vt:lpstr>语义分析目标</vt:lpstr>
      <vt:lpstr>语义子程序</vt:lpstr>
      <vt:lpstr>语义子程序</vt:lpstr>
      <vt:lpstr>语义子程序</vt:lpstr>
      <vt:lpstr>语义分析过程</vt:lpstr>
      <vt:lpstr>语义分析过程</vt:lpstr>
      <vt:lpstr>语义分析过程</vt:lpstr>
      <vt:lpstr>语义分析过程</vt:lpstr>
      <vt:lpstr>语义分析过程</vt:lpstr>
      <vt:lpstr>语法规则</vt:lpstr>
      <vt:lpstr>语义分析目标</vt:lpstr>
      <vt:lpstr>语义子程序</vt:lpstr>
      <vt:lpstr>语义子程序</vt:lpstr>
      <vt:lpstr>语义分析过程</vt:lpstr>
      <vt:lpstr>语义分析过程</vt:lpstr>
      <vt:lpstr>语义分析过程</vt:lpstr>
      <vt:lpstr>语义分析过程</vt:lpstr>
      <vt:lpstr>课后练习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1252</cp:revision>
  <cp:lastPrinted>1601-01-01T00:00:00Z</cp:lastPrinted>
  <dcterms:created xsi:type="dcterms:W3CDTF">1601-01-01T00:00:00Z</dcterms:created>
  <dcterms:modified xsi:type="dcterms:W3CDTF">2021-02-22T10:10:42Z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