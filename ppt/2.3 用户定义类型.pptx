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2"/>
  </p:notesMasterIdLst>
  <p:handoutMasterIdLst>
    <p:handoutMasterId r:id="rId23"/>
  </p:handoutMasterIdLst>
  <p:sldIdLst>
    <p:sldId id="390" r:id="rId2"/>
    <p:sldId id="282" r:id="rId3"/>
    <p:sldId id="383" r:id="rId4"/>
    <p:sldId id="269" r:id="rId5"/>
    <p:sldId id="270" r:id="rId6"/>
    <p:sldId id="271" r:id="rId7"/>
    <p:sldId id="384" r:id="rId8"/>
    <p:sldId id="272" r:id="rId9"/>
    <p:sldId id="273" r:id="rId10"/>
    <p:sldId id="385" r:id="rId11"/>
    <p:sldId id="275" r:id="rId12"/>
    <p:sldId id="386" r:id="rId13"/>
    <p:sldId id="276" r:id="rId14"/>
    <p:sldId id="387" r:id="rId15"/>
    <p:sldId id="277" r:id="rId16"/>
    <p:sldId id="278" r:id="rId17"/>
    <p:sldId id="279" r:id="rId18"/>
    <p:sldId id="280" r:id="rId19"/>
    <p:sldId id="388" r:id="rId20"/>
    <p:sldId id="281" r:id="rId2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040C0E"/>
    <a:srgbClr val="A18D60"/>
    <a:srgbClr val="EE8A3E"/>
    <a:srgbClr val="E98A3E"/>
    <a:srgbClr val="04141B"/>
    <a:srgbClr val="D9B247"/>
    <a:srgbClr val="2A9995"/>
    <a:srgbClr val="54D0C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100" d="100"/>
          <a:sy n="100" d="100"/>
        </p:scale>
        <p:origin x="51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492188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869804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099699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145238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不允许直接递归（除</a:t>
            </a:r>
            <a:r>
              <a:rPr lang="en-US" altLang="zh-CN" dirty="0"/>
              <a:t>C++</a:t>
            </a:r>
            <a:r>
              <a:rPr lang="zh-CN" altLang="en-US" dirty="0"/>
              <a:t>的静态对象成员） </a:t>
            </a:r>
            <a:r>
              <a:rPr lang="en-US" altLang="zh-CN" dirty="0"/>
              <a:t>C</a:t>
            </a:r>
            <a:r>
              <a:rPr lang="zh-CN" altLang="en-US" dirty="0"/>
              <a:t>语言的二叉树    </a:t>
            </a:r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F3C873-FACB-4CB7-B38D-188F13DB968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380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568332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i1  i2  </a:t>
            </a:r>
            <a:r>
              <a:rPr lang="zh-CN" altLang="en-US"/>
              <a:t>存储空间一样大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BDF6B0-384F-4A18-8BE9-E5B586711AF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3744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856384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=""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=""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=""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=""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=""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=""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=""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=""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=""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=""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=""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=""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=""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=""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=""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=""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609600"/>
            <a:ext cx="9601196" cy="56388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4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=""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=""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=""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=""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=""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=""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=""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=""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=""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=""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=""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=""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=""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=""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内部类型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用户定义类型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72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语言允许程序员利用数据</a:t>
            </a:r>
            <a:r>
              <a:rPr lang="zh-CN" altLang="en-US" dirty="0">
                <a:solidFill>
                  <a:srgbClr val="EE853E"/>
                </a:solidFill>
              </a:rPr>
              <a:t>聚合机制</a:t>
            </a:r>
            <a:r>
              <a:rPr lang="zh-CN" altLang="en-US" dirty="0"/>
              <a:t>，定义复杂的</a:t>
            </a:r>
            <a:r>
              <a:rPr lang="zh-CN" altLang="en-US" dirty="0" smtClean="0"/>
              <a:t>数据。 </a:t>
            </a:r>
            <a:endParaRPr lang="zh-CN" altLang="en-US" dirty="0"/>
          </a:p>
          <a:p>
            <a:r>
              <a:rPr lang="zh-CN" altLang="en-US" dirty="0" smtClean="0"/>
              <a:t>进一步，可以定义</a:t>
            </a:r>
            <a:r>
              <a:rPr lang="zh-CN" altLang="en-US" dirty="0"/>
              <a:t>以复杂的</a:t>
            </a:r>
            <a:r>
              <a:rPr lang="zh-CN" altLang="en-US" dirty="0" smtClean="0"/>
              <a:t>数据作为</a:t>
            </a:r>
            <a:r>
              <a:rPr lang="zh-CN" altLang="en-US" dirty="0">
                <a:solidFill>
                  <a:srgbClr val="EE853E"/>
                </a:solidFill>
              </a:rPr>
              <a:t>基本项</a:t>
            </a:r>
            <a:r>
              <a:rPr lang="zh-CN" altLang="en-US" dirty="0" smtClean="0"/>
              <a:t>的更复杂数据</a:t>
            </a:r>
            <a:r>
              <a:rPr lang="en-US" altLang="zh-CN" dirty="0" smtClean="0"/>
              <a:t>--</a:t>
            </a:r>
            <a:r>
              <a:rPr lang="zh-CN" altLang="en-US" dirty="0" smtClean="0"/>
              <a:t>聚合</a:t>
            </a:r>
            <a:r>
              <a:rPr lang="zh-CN" altLang="en-US" dirty="0"/>
              <a:t>的</a:t>
            </a:r>
            <a:r>
              <a:rPr lang="zh-CN" altLang="en-US" dirty="0" smtClean="0"/>
              <a:t>聚合</a:t>
            </a:r>
            <a:endParaRPr lang="en-US" altLang="zh-CN" dirty="0"/>
          </a:p>
          <a:p>
            <a:r>
              <a:rPr lang="zh-CN" altLang="en-GB" dirty="0"/>
              <a:t> </a:t>
            </a:r>
            <a:r>
              <a:rPr lang="en-GB" altLang="zh-CN" dirty="0" err="1"/>
              <a:t>struct</a:t>
            </a:r>
            <a:r>
              <a:rPr lang="en-GB" altLang="zh-CN" dirty="0"/>
              <a:t> student { </a:t>
            </a:r>
          </a:p>
          <a:p>
            <a:r>
              <a:rPr lang="en-GB" altLang="zh-CN" dirty="0"/>
              <a:t>	</a:t>
            </a:r>
            <a:r>
              <a:rPr lang="en-GB" altLang="zh-CN" dirty="0">
                <a:solidFill>
                  <a:srgbClr val="EE853E"/>
                </a:solidFill>
              </a:rPr>
              <a:t>char name[48];</a:t>
            </a:r>
          </a:p>
          <a:p>
            <a:r>
              <a:rPr lang="en-GB" altLang="zh-CN" dirty="0"/>
              <a:t>	</a:t>
            </a:r>
            <a:r>
              <a:rPr lang="en-GB" altLang="zh-CN" dirty="0" err="1"/>
              <a:t>int</a:t>
            </a:r>
            <a:r>
              <a:rPr lang="en-GB" altLang="zh-CN" dirty="0"/>
              <a:t> age;</a:t>
            </a:r>
          </a:p>
          <a:p>
            <a:r>
              <a:rPr lang="en-GB" altLang="zh-CN" dirty="0"/>
              <a:t>};</a:t>
            </a:r>
            <a:endParaRPr lang="en-US" altLang="zh-CN" dirty="0"/>
          </a:p>
        </p:txBody>
      </p:sp>
      <p:sp>
        <p:nvSpPr>
          <p:cNvPr id="4" name="标题 3">
            <a:extLst>
              <a:ext uri="{FF2B5EF4-FFF2-40B4-BE49-F238E27FC236}">
                <a16:creationId xmlns="" xmlns:a16="http://schemas.microsoft.com/office/drawing/2014/main" id="{9E029D7A-15AA-4B17-8353-7F204BFD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用户定义类型</a:t>
            </a:r>
          </a:p>
        </p:txBody>
      </p:sp>
    </p:spTree>
    <p:extLst>
      <p:ext uri="{BB962C8B-B14F-4D97-AF65-F5344CB8AC3E}">
        <p14:creationId xmlns:p14="http://schemas.microsoft.com/office/powerpoint/2010/main" val="427634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172200" y="2072348"/>
            <a:ext cx="3657600" cy="2743200"/>
          </a:xfrm>
          <a:prstGeom prst="wedgeRoundRectCallout">
            <a:avLst>
              <a:gd name="adj1" fmla="val 8361"/>
              <a:gd name="adj2" fmla="val 65622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有限映像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判定或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幂集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=""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=""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=""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=""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=""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=""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=""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=""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=""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=""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=""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=""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=""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=""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536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个集合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n</a:t>
            </a:r>
            <a:r>
              <a:rPr lang="zh-CN" altLang="en-US" dirty="0"/>
              <a:t>的笛卡儿积：</a:t>
            </a:r>
          </a:p>
          <a:p>
            <a:r>
              <a:rPr lang="en-US" altLang="zh-CN" dirty="0" smtClean="0"/>
              <a:t>  A</a:t>
            </a:r>
            <a:r>
              <a:rPr lang="en-US" altLang="zh-CN" baseline="-25000" dirty="0"/>
              <a:t>1</a:t>
            </a:r>
            <a:r>
              <a:rPr lang="en-US" altLang="zh-CN" dirty="0" smtClean="0"/>
              <a:t>×A</a:t>
            </a:r>
            <a:r>
              <a:rPr lang="en-US" altLang="zh-CN" baseline="-25000" dirty="0"/>
              <a:t>2</a:t>
            </a:r>
            <a:r>
              <a:rPr lang="en-US" altLang="zh-CN" dirty="0"/>
              <a:t>×…×A</a:t>
            </a:r>
            <a:r>
              <a:rPr lang="en-US" altLang="zh-CN" baseline="-25000" dirty="0"/>
              <a:t>n</a:t>
            </a:r>
          </a:p>
          <a:p>
            <a:endParaRPr lang="en-US" altLang="zh-CN" dirty="0"/>
          </a:p>
          <a:p>
            <a:r>
              <a:rPr lang="zh-CN" altLang="en-US" dirty="0" smtClean="0"/>
              <a:t>是</a:t>
            </a:r>
            <a:r>
              <a:rPr lang="zh-CN" altLang="en-US" dirty="0"/>
              <a:t>一个集合，其元素是</a:t>
            </a:r>
            <a:r>
              <a:rPr lang="zh-CN" altLang="en-US" dirty="0">
                <a:solidFill>
                  <a:srgbClr val="EE853E"/>
                </a:solidFill>
              </a:rPr>
              <a:t>有序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zh-CN" altLang="en-US" dirty="0"/>
              <a:t>元式：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n</a:t>
            </a:r>
            <a:r>
              <a:rPr lang="zh-CN" altLang="en-US" dirty="0"/>
              <a:t>）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49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例：一个正多边形用一个</a:t>
            </a:r>
            <a:r>
              <a:rPr lang="zh-CN" altLang="en-US" dirty="0">
                <a:solidFill>
                  <a:srgbClr val="EE853E"/>
                </a:solidFill>
              </a:rPr>
              <a:t>整数</a:t>
            </a:r>
            <a:r>
              <a:rPr lang="zh-CN" altLang="en-US" dirty="0"/>
              <a:t>（正多边形边数）和一个</a:t>
            </a:r>
            <a:r>
              <a:rPr lang="zh-CN" altLang="en-US" dirty="0">
                <a:solidFill>
                  <a:srgbClr val="EE853E"/>
                </a:solidFill>
              </a:rPr>
              <a:t>实数</a:t>
            </a:r>
            <a:r>
              <a:rPr lang="zh-CN" altLang="en-US" dirty="0"/>
              <a:t>（边的长度）来描述，那么</a:t>
            </a:r>
            <a:r>
              <a:rPr lang="zh-CN" altLang="en-US" dirty="0">
                <a:solidFill>
                  <a:srgbClr val="EE853E"/>
                </a:solidFill>
              </a:rPr>
              <a:t>任意</a:t>
            </a:r>
            <a:r>
              <a:rPr lang="zh-CN" altLang="en-US" dirty="0"/>
              <a:t>正多边形都是笛卡儿积 </a:t>
            </a:r>
          </a:p>
          <a:p>
            <a:r>
              <a:rPr lang="en-US" altLang="zh-CN" dirty="0" smtClean="0"/>
              <a:t>   </a:t>
            </a:r>
            <a:r>
              <a:rPr lang="en-US" altLang="zh-CN" dirty="0" err="1" smtClean="0"/>
              <a:t>integer×real</a:t>
            </a:r>
            <a:endParaRPr lang="en-US" altLang="zh-CN" dirty="0"/>
          </a:p>
          <a:p>
            <a:r>
              <a:rPr lang="zh-CN" altLang="en-US" dirty="0"/>
              <a:t>的一个元素。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</a:t>
            </a:r>
          </a:p>
        </p:txBody>
      </p:sp>
    </p:spTree>
    <p:extLst>
      <p:ext uri="{BB962C8B-B14F-4D97-AF65-F5344CB8AC3E}">
        <p14:creationId xmlns:p14="http://schemas.microsoft.com/office/powerpoint/2010/main" val="86267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0078" y="762000"/>
            <a:ext cx="10751844" cy="5638800"/>
          </a:xfrm>
        </p:spPr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/>
              <a:t>语言的</a:t>
            </a:r>
            <a:r>
              <a:rPr lang="zh-CN" altLang="en-US" dirty="0" smtClean="0">
                <a:solidFill>
                  <a:srgbClr val="EE853E"/>
                </a:solidFill>
              </a:rPr>
              <a:t>结构</a:t>
            </a:r>
            <a:endParaRPr lang="en-US" altLang="zh-CN" dirty="0" smtClean="0">
              <a:solidFill>
                <a:srgbClr val="EE853E"/>
              </a:solidFill>
            </a:endParaRPr>
          </a:p>
          <a:p>
            <a:r>
              <a:rPr lang="en-GB" altLang="zh-CN" dirty="0" err="1"/>
              <a:t>struct</a:t>
            </a:r>
            <a:r>
              <a:rPr lang="en-GB" altLang="zh-CN" dirty="0"/>
              <a:t> </a:t>
            </a:r>
            <a:r>
              <a:rPr lang="en-US" altLang="zh-CN" b="0" dirty="0" smtClean="0"/>
              <a:t>Regular-polygon</a:t>
            </a:r>
            <a:r>
              <a:rPr lang="en-US" altLang="zh-CN" dirty="0" smtClean="0"/>
              <a:t> </a:t>
            </a:r>
            <a:r>
              <a:rPr lang="en-GB" altLang="zh-CN" dirty="0" smtClean="0"/>
              <a:t>{ </a:t>
            </a:r>
            <a:endParaRPr lang="en-GB" altLang="zh-CN" dirty="0"/>
          </a:p>
          <a:p>
            <a:r>
              <a:rPr lang="en-GB" altLang="zh-CN" dirty="0"/>
              <a:t>	</a:t>
            </a:r>
            <a:r>
              <a:rPr lang="en-GB" altLang="zh-CN" dirty="0" err="1" smtClean="0">
                <a:solidFill>
                  <a:srgbClr val="EE853E"/>
                </a:solidFill>
              </a:rPr>
              <a:t>int</a:t>
            </a:r>
            <a:r>
              <a:rPr lang="en-GB" altLang="zh-CN" dirty="0" smtClean="0">
                <a:solidFill>
                  <a:srgbClr val="EE853E"/>
                </a:solidFill>
              </a:rPr>
              <a:t> numb;</a:t>
            </a:r>
            <a:endParaRPr lang="en-GB" altLang="zh-CN" dirty="0">
              <a:solidFill>
                <a:srgbClr val="EE853E"/>
              </a:solidFill>
            </a:endParaRPr>
          </a:p>
          <a:p>
            <a:r>
              <a:rPr lang="en-GB" altLang="zh-CN" dirty="0"/>
              <a:t>	</a:t>
            </a:r>
            <a:r>
              <a:rPr lang="en-GB" altLang="zh-CN" dirty="0" smtClean="0"/>
              <a:t>float  </a:t>
            </a:r>
            <a:r>
              <a:rPr lang="en-GB" altLang="zh-CN" dirty="0" err="1" smtClean="0"/>
              <a:t>len</a:t>
            </a:r>
            <a:r>
              <a:rPr lang="en-GB" altLang="zh-CN" dirty="0" smtClean="0"/>
              <a:t>;</a:t>
            </a:r>
            <a:endParaRPr lang="en-GB" altLang="zh-CN" dirty="0"/>
          </a:p>
          <a:p>
            <a:r>
              <a:rPr lang="en-GB" altLang="zh-CN" dirty="0"/>
              <a:t>};</a:t>
            </a:r>
            <a:endParaRPr lang="en-US" altLang="zh-CN" dirty="0"/>
          </a:p>
          <a:p>
            <a:r>
              <a:rPr lang="en-US" altLang="zh-CN" dirty="0" smtClean="0"/>
              <a:t>Pascal</a:t>
            </a:r>
            <a:r>
              <a:rPr lang="zh-CN" altLang="en-US" dirty="0"/>
              <a:t>语言的</a:t>
            </a:r>
            <a:r>
              <a:rPr lang="zh-CN" altLang="en-US" dirty="0">
                <a:solidFill>
                  <a:srgbClr val="EE853E"/>
                </a:solidFill>
              </a:rPr>
              <a:t>记录</a:t>
            </a:r>
          </a:p>
          <a:p>
            <a:r>
              <a:rPr lang="en-US" altLang="zh-CN" dirty="0" smtClean="0"/>
              <a:t>type </a:t>
            </a:r>
            <a:r>
              <a:rPr lang="en-US" altLang="zh-CN" b="0" dirty="0"/>
              <a:t>Regular-polygon</a:t>
            </a:r>
            <a:r>
              <a:rPr lang="en-US" altLang="zh-CN" dirty="0" smtClean="0"/>
              <a:t>  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EE853E"/>
                </a:solidFill>
              </a:rPr>
              <a:t>record</a:t>
            </a:r>
            <a:r>
              <a:rPr lang="en-US" altLang="zh-CN" dirty="0"/>
              <a:t>  	</a:t>
            </a:r>
          </a:p>
          <a:p>
            <a:r>
              <a:rPr lang="en-US" altLang="zh-CN" dirty="0"/>
              <a:t>					</a:t>
            </a:r>
            <a:r>
              <a:rPr lang="en-US" altLang="zh-CN" dirty="0" smtClean="0"/>
              <a:t>                  </a:t>
            </a:r>
            <a:r>
              <a:rPr lang="en-US" altLang="zh-CN" dirty="0" smtClean="0">
                <a:solidFill>
                  <a:srgbClr val="EE853E"/>
                </a:solidFill>
              </a:rPr>
              <a:t>numb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en-US" altLang="zh-CN" dirty="0"/>
              <a:t>integer 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					</a:t>
            </a:r>
            <a:r>
              <a:rPr lang="en-US" altLang="zh-CN" dirty="0" smtClean="0"/>
              <a:t>                   </a:t>
            </a:r>
            <a:r>
              <a:rPr lang="en-US" altLang="zh-CN" dirty="0" err="1" smtClean="0">
                <a:solidFill>
                  <a:srgbClr val="EE853E"/>
                </a:solidFill>
              </a:rPr>
              <a:t>len</a:t>
            </a:r>
            <a:r>
              <a:rPr lang="en-US" altLang="zh-CN" dirty="0" smtClean="0">
                <a:solidFill>
                  <a:srgbClr val="EE853E"/>
                </a:solidFill>
              </a:rPr>
              <a:t> </a:t>
            </a:r>
            <a:r>
              <a:rPr lang="zh-CN" altLang="en-US" dirty="0" smtClean="0"/>
              <a:t>：</a:t>
            </a:r>
            <a:r>
              <a:rPr lang="en-US" altLang="zh-CN" dirty="0"/>
              <a:t>real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			</a:t>
            </a:r>
            <a:r>
              <a:rPr lang="en-US" altLang="zh-CN" dirty="0" smtClean="0"/>
              <a:t>                          </a:t>
            </a:r>
            <a:r>
              <a:rPr lang="en-US" altLang="zh-CN" dirty="0" smtClean="0">
                <a:solidFill>
                  <a:srgbClr val="EE853E"/>
                </a:solidFill>
              </a:rPr>
              <a:t>end</a:t>
            </a:r>
            <a:r>
              <a:rPr lang="zh-CN" altLang="en-US" dirty="0"/>
              <a:t>；</a:t>
            </a:r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="" xmlns:a16="http://schemas.microsoft.com/office/drawing/2014/main" id="{28E73A86-C9D6-41AE-9FB1-46286D93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笛卡尔积实例</a:t>
            </a:r>
          </a:p>
        </p:txBody>
      </p:sp>
    </p:spTree>
    <p:extLst>
      <p:ext uri="{BB962C8B-B14F-4D97-AF65-F5344CB8AC3E}">
        <p14:creationId xmlns:p14="http://schemas.microsoft.com/office/powerpoint/2010/main" val="264156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172200" y="2072348"/>
            <a:ext cx="3657600" cy="2743200"/>
          </a:xfrm>
          <a:prstGeom prst="wedgeRoundRectCallout">
            <a:avLst>
              <a:gd name="adj1" fmla="val 8361"/>
              <a:gd name="adj2" fmla="val 65622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有限映像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判定或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幂集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=""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=""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=""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=""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=""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=""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=""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=""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=""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=""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=""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=""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=""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=""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76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	</a:t>
            </a:r>
            <a:r>
              <a:rPr lang="zh-CN" altLang="en-US" dirty="0"/>
              <a:t>定义：从定义域类型</a:t>
            </a:r>
            <a:r>
              <a:rPr lang="en-US" altLang="zh-CN" dirty="0">
                <a:solidFill>
                  <a:srgbClr val="EE853E"/>
                </a:solidFill>
              </a:rPr>
              <a:t>DT</a:t>
            </a:r>
            <a:r>
              <a:rPr lang="zh-CN" altLang="en-US" dirty="0"/>
              <a:t>值的有限集合，到值域类型</a:t>
            </a:r>
            <a:r>
              <a:rPr lang="en-US" altLang="zh-CN" dirty="0">
                <a:solidFill>
                  <a:srgbClr val="EE853E"/>
                </a:solidFill>
              </a:rPr>
              <a:t>RT</a:t>
            </a:r>
            <a:r>
              <a:rPr lang="zh-CN" altLang="en-US" dirty="0"/>
              <a:t>值的有限集合的</a:t>
            </a:r>
            <a:r>
              <a:rPr lang="zh-CN" altLang="en-US" dirty="0">
                <a:solidFill>
                  <a:srgbClr val="EE853E"/>
                </a:solidFill>
              </a:rPr>
              <a:t>函数（映射）</a:t>
            </a:r>
            <a:r>
              <a:rPr lang="zh-CN" altLang="en-US" dirty="0"/>
              <a:t>称为有限映像。</a:t>
            </a:r>
          </a:p>
          <a:p>
            <a:r>
              <a:rPr lang="en-US" altLang="zh-CN" dirty="0" smtClean="0"/>
              <a:t>   array[1</a:t>
            </a:r>
            <a:r>
              <a:rPr lang="en-US" altLang="zh-CN" dirty="0"/>
              <a:t>..50] of char</a:t>
            </a:r>
          </a:p>
          <a:p>
            <a:r>
              <a:rPr lang="zh-CN" altLang="en-US" dirty="0"/>
              <a:t>整数</a:t>
            </a:r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50</a:t>
            </a:r>
            <a:r>
              <a:rPr lang="zh-CN" altLang="en-US" dirty="0"/>
              <a:t>到字符集的有限映像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有限映像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7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(2)	</a:t>
            </a:r>
            <a:r>
              <a:rPr lang="zh-CN" altLang="en-US" dirty="0"/>
              <a:t>值域对象通过</a:t>
            </a:r>
            <a:r>
              <a:rPr lang="zh-CN" altLang="en-US" dirty="0">
                <a:solidFill>
                  <a:srgbClr val="EE853E"/>
                </a:solidFill>
              </a:rPr>
              <a:t>下标变量</a:t>
            </a:r>
            <a:r>
              <a:rPr lang="zh-CN" altLang="en-US" dirty="0"/>
              <a:t>方式对应</a:t>
            </a:r>
          </a:p>
          <a:p>
            <a:r>
              <a:rPr lang="en-US" altLang="zh-CN" dirty="0"/>
              <a:t>(3)</a:t>
            </a:r>
            <a:r>
              <a:rPr lang="en-US" altLang="zh-CN" dirty="0">
                <a:solidFill>
                  <a:srgbClr val="EE853E"/>
                </a:solidFill>
              </a:rPr>
              <a:t>	</a:t>
            </a:r>
            <a:r>
              <a:rPr lang="zh-CN" altLang="en-US" dirty="0">
                <a:solidFill>
                  <a:srgbClr val="EE853E"/>
                </a:solidFill>
              </a:rPr>
              <a:t>下标越界</a:t>
            </a:r>
            <a:r>
              <a:rPr lang="zh-CN" altLang="en-US" dirty="0"/>
              <a:t>会出错，</a:t>
            </a:r>
            <a:r>
              <a:rPr lang="zh-CN" altLang="en-US" dirty="0">
                <a:solidFill>
                  <a:srgbClr val="EE853E"/>
                </a:solidFill>
              </a:rPr>
              <a:t>动态</a:t>
            </a:r>
            <a:r>
              <a:rPr lang="zh-CN" altLang="en-US" dirty="0" smtClean="0">
                <a:solidFill>
                  <a:srgbClr val="EE853E"/>
                </a:solidFill>
              </a:rPr>
              <a:t>检查   </a:t>
            </a:r>
            <a:r>
              <a:rPr lang="zh-CN" altLang="en-US" dirty="0" smtClean="0"/>
              <a:t>（注意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语言的处理方式）</a:t>
            </a:r>
            <a:endParaRPr lang="zh-CN" altLang="en-US" dirty="0"/>
          </a:p>
          <a:p>
            <a:r>
              <a:rPr lang="en-US" altLang="zh-CN" dirty="0"/>
              <a:t>(4)	</a:t>
            </a:r>
            <a:r>
              <a:rPr lang="en-US" altLang="zh-CN" dirty="0">
                <a:solidFill>
                  <a:srgbClr val="EE853E"/>
                </a:solidFill>
              </a:rPr>
              <a:t>SNOBOL4</a:t>
            </a:r>
            <a:r>
              <a:rPr lang="zh-CN" altLang="en-US" dirty="0"/>
              <a:t>的数组构造符不要求值域集的元素是同一类型的（</a:t>
            </a:r>
            <a:r>
              <a:rPr lang="zh-CN" altLang="en-US" dirty="0">
                <a:solidFill>
                  <a:srgbClr val="EE853E"/>
                </a:solidFill>
              </a:rPr>
              <a:t>异质数组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(5)	</a:t>
            </a:r>
            <a:r>
              <a:rPr lang="en-US" altLang="zh-CN" dirty="0">
                <a:solidFill>
                  <a:srgbClr val="EE853E"/>
                </a:solidFill>
              </a:rPr>
              <a:t>DT</a:t>
            </a:r>
            <a:r>
              <a:rPr lang="zh-CN" altLang="en-US" dirty="0"/>
              <a:t>特定子集（下标）的绑定策略：</a:t>
            </a:r>
          </a:p>
          <a:p>
            <a:pPr lvl="1"/>
            <a:r>
              <a:rPr lang="zh-CN" altLang="en-US" dirty="0"/>
              <a:t>编译时绑定（</a:t>
            </a:r>
            <a:r>
              <a:rPr lang="zh-CN" altLang="en-US" dirty="0">
                <a:solidFill>
                  <a:srgbClr val="EE853E"/>
                </a:solidFill>
              </a:rPr>
              <a:t>静态</a:t>
            </a:r>
            <a:r>
              <a:rPr lang="zh-CN" altLang="en-US" dirty="0" smtClean="0"/>
              <a:t>数组  </a:t>
            </a:r>
            <a:r>
              <a:rPr lang="en-US" altLang="zh-CN" dirty="0" smtClean="0"/>
              <a:t>C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对象建立时绑定（</a:t>
            </a:r>
            <a:r>
              <a:rPr lang="zh-CN" altLang="en-US" dirty="0">
                <a:solidFill>
                  <a:srgbClr val="EE853E"/>
                </a:solidFill>
              </a:rPr>
              <a:t>半动态</a:t>
            </a:r>
            <a:r>
              <a:rPr lang="zh-CN" altLang="en-US" dirty="0"/>
              <a:t>数组 </a:t>
            </a:r>
            <a:r>
              <a:rPr lang="zh-CN" altLang="en-US" dirty="0" smtClean="0"/>
              <a:t> </a:t>
            </a:r>
            <a:r>
              <a:rPr lang="en-US" altLang="zh-CN" dirty="0" smtClean="0"/>
              <a:t>ALGOL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对象处理时绑定（</a:t>
            </a:r>
            <a:r>
              <a:rPr lang="zh-CN" altLang="en-US" dirty="0">
                <a:solidFill>
                  <a:srgbClr val="EE853E"/>
                </a:solidFill>
              </a:rPr>
              <a:t>动态</a:t>
            </a:r>
            <a:r>
              <a:rPr lang="zh-CN" altLang="en-US" dirty="0"/>
              <a:t>数组 </a:t>
            </a:r>
            <a:r>
              <a:rPr lang="zh-CN" altLang="en-US" dirty="0" smtClean="0"/>
              <a:t> </a:t>
            </a:r>
            <a:r>
              <a:rPr lang="en-US" altLang="zh-CN" dirty="0" smtClean="0"/>
              <a:t>APL</a:t>
            </a:r>
            <a:r>
              <a:rPr lang="zh-CN" altLang="en-US" dirty="0"/>
              <a:t>）</a:t>
            </a:r>
          </a:p>
          <a:p>
            <a:pPr marL="457200" indent="-457200">
              <a:buAutoNum type="arabicParenBoth" startAt="4"/>
            </a:pP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="" xmlns:a16="http://schemas.microsoft.com/office/drawing/2014/main" id="{F679D256-B74B-4312-9837-3E61CA23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有限映像</a:t>
            </a:r>
          </a:p>
        </p:txBody>
      </p:sp>
    </p:spTree>
    <p:extLst>
      <p:ext uri="{BB962C8B-B14F-4D97-AF65-F5344CB8AC3E}">
        <p14:creationId xmlns:p14="http://schemas.microsoft.com/office/powerpoint/2010/main" val="410950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172200" y="2072348"/>
            <a:ext cx="3657600" cy="2743200"/>
          </a:xfrm>
          <a:prstGeom prst="wedgeRoundRectCallout">
            <a:avLst>
              <a:gd name="adj1" fmla="val 8361"/>
              <a:gd name="adj2" fmla="val 65622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有限映像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判定或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幂集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=""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=""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=""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=""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=""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=""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=""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=""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=""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=""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=""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=""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=""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=""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785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任意多个数据项组成，数据项称为该序列的成分，且</a:t>
            </a:r>
            <a:r>
              <a:rPr lang="zh-CN" altLang="en-US" dirty="0">
                <a:solidFill>
                  <a:srgbClr val="EE853E"/>
                </a:solidFill>
              </a:rPr>
              <a:t>类型相同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(2) </a:t>
            </a:r>
            <a:r>
              <a:rPr lang="zh-CN" altLang="en-US" dirty="0" smtClean="0"/>
              <a:t>字符串</a:t>
            </a:r>
            <a:r>
              <a:rPr lang="zh-CN" altLang="en-US" dirty="0"/>
              <a:t>是序列。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顺序文件的思想也是来自序列的概念，只能顺序读写。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172200" y="2072348"/>
            <a:ext cx="3657600" cy="2743200"/>
          </a:xfrm>
          <a:prstGeom prst="wedgeRoundRectCallout">
            <a:avLst>
              <a:gd name="adj1" fmla="val 8361"/>
              <a:gd name="adj2" fmla="val 65622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有限映像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判定或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幂集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=""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=""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=""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=""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=""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=""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=""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=""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=""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=""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=""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=""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=""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=""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813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若数据类型</a:t>
            </a:r>
            <a:r>
              <a:rPr lang="en-US" altLang="zh-CN" dirty="0"/>
              <a:t>T</a:t>
            </a:r>
            <a:r>
              <a:rPr lang="zh-CN" altLang="en-US" dirty="0"/>
              <a:t>包含属于同一类型</a:t>
            </a:r>
            <a:r>
              <a:rPr lang="en-US" altLang="zh-CN" dirty="0"/>
              <a:t>T</a:t>
            </a:r>
            <a:r>
              <a:rPr lang="zh-CN" altLang="en-US" dirty="0"/>
              <a:t>的成分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EE853E"/>
                </a:solidFill>
              </a:rPr>
              <a:t>递归类型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(1) </a:t>
            </a:r>
            <a:r>
              <a:rPr lang="zh-CN" altLang="en-US" dirty="0"/>
              <a:t>在类型定义中使用被定义类型的名字。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不允许直接递归（</a:t>
            </a:r>
            <a:r>
              <a:rPr lang="en-US" altLang="zh-CN" dirty="0"/>
              <a:t>C++</a:t>
            </a:r>
            <a:r>
              <a:rPr lang="zh-CN" altLang="en-US" dirty="0"/>
              <a:t>的静态对象成员除外） 。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指针是构造递归类型的重要手段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GB" altLang="zh-CN" dirty="0" err="1"/>
              <a:t>struct</a:t>
            </a:r>
            <a:r>
              <a:rPr lang="en-GB" altLang="zh-CN" dirty="0"/>
              <a:t> </a:t>
            </a:r>
            <a:r>
              <a:rPr lang="en-US" altLang="zh-CN" b="0" dirty="0" smtClean="0"/>
              <a:t>List</a:t>
            </a:r>
            <a:r>
              <a:rPr lang="en-US" altLang="zh-CN" dirty="0" smtClean="0"/>
              <a:t> </a:t>
            </a:r>
            <a:r>
              <a:rPr lang="en-GB" altLang="zh-CN" dirty="0"/>
              <a:t>{ </a:t>
            </a:r>
          </a:p>
          <a:p>
            <a:r>
              <a:rPr lang="en-GB" altLang="zh-CN" dirty="0"/>
              <a:t>	</a:t>
            </a:r>
            <a:r>
              <a:rPr lang="en-GB" altLang="zh-CN" dirty="0" err="1">
                <a:solidFill>
                  <a:srgbClr val="EE853E"/>
                </a:solidFill>
              </a:rPr>
              <a:t>int</a:t>
            </a:r>
            <a:r>
              <a:rPr lang="en-GB" altLang="zh-CN" dirty="0">
                <a:solidFill>
                  <a:srgbClr val="EE853E"/>
                </a:solidFill>
              </a:rPr>
              <a:t> numb;</a:t>
            </a:r>
          </a:p>
          <a:p>
            <a:r>
              <a:rPr lang="en-GB" altLang="zh-CN" dirty="0"/>
              <a:t>	 </a:t>
            </a:r>
            <a:r>
              <a:rPr lang="en-GB" altLang="zh-CN" dirty="0" err="1"/>
              <a:t>struct</a:t>
            </a:r>
            <a:r>
              <a:rPr lang="en-GB" altLang="zh-CN" dirty="0"/>
              <a:t> </a:t>
            </a:r>
            <a:r>
              <a:rPr lang="en-US" altLang="zh-CN" b="0" dirty="0"/>
              <a:t>List </a:t>
            </a:r>
            <a:r>
              <a:rPr lang="en-GB" altLang="zh-CN" dirty="0" smtClean="0"/>
              <a:t> </a:t>
            </a:r>
            <a:r>
              <a:rPr lang="en-GB" altLang="zh-CN" dirty="0" smtClean="0">
                <a:solidFill>
                  <a:srgbClr val="FF0000"/>
                </a:solidFill>
              </a:rPr>
              <a:t>*</a:t>
            </a:r>
            <a:r>
              <a:rPr lang="en-GB" altLang="zh-CN" dirty="0" smtClean="0"/>
              <a:t> next;</a:t>
            </a:r>
            <a:endParaRPr lang="en-GB" altLang="zh-CN" dirty="0"/>
          </a:p>
          <a:p>
            <a:r>
              <a:rPr lang="en-GB" altLang="zh-CN" dirty="0"/>
              <a:t>};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12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172200" y="2072348"/>
            <a:ext cx="3657600" cy="2743200"/>
          </a:xfrm>
          <a:prstGeom prst="wedgeRoundRectCallout">
            <a:avLst>
              <a:gd name="adj1" fmla="val 8361"/>
              <a:gd name="adj2" fmla="val 65622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有限映像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判定或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幂集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=""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=""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=""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=""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=""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=""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=""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=""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=""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=""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=""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=""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=""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=""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39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可以选择不同成员的构造机制</a:t>
            </a:r>
            <a:endParaRPr lang="en-US" altLang="zh-CN" dirty="0"/>
          </a:p>
          <a:p>
            <a:r>
              <a:rPr lang="en-US" altLang="zh-CN" dirty="0"/>
              <a:t>PASCAL</a:t>
            </a:r>
            <a:r>
              <a:rPr lang="zh-CN" altLang="en-US" dirty="0"/>
              <a:t>的变体记录；</a:t>
            </a:r>
            <a:r>
              <a:rPr lang="en-US" altLang="zh-CN" dirty="0"/>
              <a:t>C</a:t>
            </a:r>
            <a:r>
              <a:rPr lang="zh-CN" altLang="en-US" dirty="0"/>
              <a:t>的联合。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判定或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90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type </a:t>
            </a:r>
            <a:r>
              <a:rPr lang="en-US" altLang="zh-CN" dirty="0" err="1"/>
              <a:t>dept</a:t>
            </a:r>
            <a:r>
              <a:rPr lang="en-US" altLang="zh-CN" dirty="0"/>
              <a:t>=(</a:t>
            </a:r>
            <a:r>
              <a:rPr lang="en-US" altLang="zh-CN" dirty="0" err="1"/>
              <a:t>house,sports,drugs,food,liquor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month=1..12;</a:t>
            </a:r>
          </a:p>
          <a:p>
            <a:r>
              <a:rPr lang="en-US" altLang="zh-CN" dirty="0"/>
              <a:t>Item=</a:t>
            </a:r>
            <a:r>
              <a:rPr lang="en-US" altLang="zh-CN" dirty="0">
                <a:solidFill>
                  <a:srgbClr val="EE853E"/>
                </a:solidFill>
              </a:rPr>
              <a:t>record</a:t>
            </a:r>
          </a:p>
          <a:p>
            <a:r>
              <a:rPr lang="en-US" altLang="zh-CN" dirty="0"/>
              <a:t>			</a:t>
            </a:r>
            <a:r>
              <a:rPr lang="en-US" altLang="zh-CN" dirty="0" err="1"/>
              <a:t>price:real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	</a:t>
            </a:r>
            <a:r>
              <a:rPr lang="en-US" altLang="zh-CN" dirty="0">
                <a:solidFill>
                  <a:srgbClr val="EE853E"/>
                </a:solidFill>
              </a:rPr>
              <a:t>case</a:t>
            </a:r>
            <a:r>
              <a:rPr lang="en-US" altLang="zh-CN" dirty="0"/>
              <a:t> </a:t>
            </a:r>
            <a:r>
              <a:rPr lang="en-US" altLang="zh-CN" dirty="0" err="1"/>
              <a:t>available:boolean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EE853E"/>
                </a:solidFill>
              </a:rPr>
              <a:t>of</a:t>
            </a:r>
          </a:p>
          <a:p>
            <a:r>
              <a:rPr lang="en-US" altLang="zh-CN" dirty="0"/>
              <a:t>				</a:t>
            </a:r>
            <a:r>
              <a:rPr lang="en-US" altLang="zh-CN" dirty="0">
                <a:solidFill>
                  <a:srgbClr val="EE853E"/>
                </a:solidFill>
              </a:rPr>
              <a:t>true</a:t>
            </a:r>
            <a:r>
              <a:rPr lang="en-US" altLang="zh-CN" dirty="0"/>
              <a:t>: (</a:t>
            </a:r>
            <a:r>
              <a:rPr lang="en-US" altLang="zh-CN" dirty="0" err="1"/>
              <a:t>amount:integer</a:t>
            </a:r>
            <a:r>
              <a:rPr lang="en-US" altLang="zh-CN" dirty="0"/>
              <a:t>;  </a:t>
            </a:r>
            <a:r>
              <a:rPr lang="en-US" altLang="zh-CN" dirty="0" err="1"/>
              <a:t>where:dept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			</a:t>
            </a:r>
            <a:r>
              <a:rPr lang="en-US" altLang="zh-CN" dirty="0">
                <a:solidFill>
                  <a:srgbClr val="EE853E"/>
                </a:solidFill>
              </a:rPr>
              <a:t>false</a:t>
            </a:r>
            <a:r>
              <a:rPr lang="en-US" altLang="zh-CN" dirty="0"/>
              <a:t>:(</a:t>
            </a:r>
            <a:r>
              <a:rPr lang="en-US" altLang="zh-CN" dirty="0" err="1"/>
              <a:t>month_expected:month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	</a:t>
            </a:r>
            <a:r>
              <a:rPr lang="en-US" altLang="zh-CN" dirty="0">
                <a:solidFill>
                  <a:srgbClr val="EE853E"/>
                </a:solidFill>
              </a:rPr>
              <a:t>end</a:t>
            </a:r>
            <a:r>
              <a:rPr lang="en-US" altLang="zh-CN" dirty="0"/>
              <a:t>;</a:t>
            </a:r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12EBAD76-3883-467D-B3C7-4619BE53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判定或</a:t>
            </a:r>
          </a:p>
        </p:txBody>
      </p:sp>
    </p:spTree>
    <p:extLst>
      <p:ext uri="{BB962C8B-B14F-4D97-AF65-F5344CB8AC3E}">
        <p14:creationId xmlns:p14="http://schemas.microsoft.com/office/powerpoint/2010/main" val="257734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var</a:t>
            </a:r>
            <a:r>
              <a:rPr lang="en-US" altLang="zh-CN" dirty="0"/>
              <a:t>  i1,i2:item:</a:t>
            </a:r>
          </a:p>
          <a:p>
            <a:r>
              <a:rPr lang="en-US" altLang="zh-CN" dirty="0"/>
              <a:t>……</a:t>
            </a:r>
          </a:p>
          <a:p>
            <a:r>
              <a:rPr lang="en-US" altLang="zh-CN" dirty="0"/>
              <a:t>i1.price:=5.24;		i1.available:=true;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i1.amount</a:t>
            </a:r>
            <a:r>
              <a:rPr lang="en-US" altLang="zh-CN" dirty="0"/>
              <a:t>:=29;	</a:t>
            </a:r>
            <a:r>
              <a:rPr lang="en-US" altLang="zh-CN" dirty="0">
                <a:solidFill>
                  <a:srgbClr val="EE853E"/>
                </a:solidFill>
              </a:rPr>
              <a:t>i1.where</a:t>
            </a:r>
            <a:r>
              <a:rPr lang="en-US" altLang="zh-CN" dirty="0"/>
              <a:t>:=liquor;</a:t>
            </a:r>
          </a:p>
          <a:p>
            <a:r>
              <a:rPr lang="en-US" altLang="zh-CN" dirty="0"/>
              <a:t>i2.price:=324.99;	i2.available:=false;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i2.month_expect</a:t>
            </a:r>
            <a:r>
              <a:rPr lang="en-US" altLang="zh-CN" dirty="0"/>
              <a:t>:=8;</a:t>
            </a:r>
          </a:p>
        </p:txBody>
      </p:sp>
      <p:sp>
        <p:nvSpPr>
          <p:cNvPr id="4" name="标题 3">
            <a:extLst>
              <a:ext uri="{FF2B5EF4-FFF2-40B4-BE49-F238E27FC236}">
                <a16:creationId xmlns="" xmlns:a16="http://schemas.microsoft.com/office/drawing/2014/main" id="{B6C809DC-D716-4B8D-8091-8F663F14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判定或</a:t>
            </a:r>
          </a:p>
        </p:txBody>
      </p:sp>
    </p:spTree>
    <p:extLst>
      <p:ext uri="{BB962C8B-B14F-4D97-AF65-F5344CB8AC3E}">
        <p14:creationId xmlns:p14="http://schemas.microsoft.com/office/powerpoint/2010/main" val="84145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="" xmlns:a16="http://schemas.microsoft.com/office/drawing/2014/main" id="{30993F09-C19A-4DE2-A43E-ADB85926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判定或</a:t>
            </a:r>
          </a:p>
        </p:txBody>
      </p:sp>
      <p:sp>
        <p:nvSpPr>
          <p:cNvPr id="599042" name="Rectangle 2"/>
          <p:cNvSpPr>
            <a:spLocks noChangeArrowheads="1"/>
          </p:cNvSpPr>
          <p:nvPr/>
        </p:nvSpPr>
        <p:spPr bwMode="auto">
          <a:xfrm>
            <a:off x="2594285" y="1927880"/>
            <a:ext cx="2641600" cy="249172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99044" name="Line 4"/>
          <p:cNvSpPr>
            <a:spLocks noChangeShapeType="1"/>
          </p:cNvSpPr>
          <p:nvPr/>
        </p:nvSpPr>
        <p:spPr bwMode="auto">
          <a:xfrm>
            <a:off x="2594285" y="3124200"/>
            <a:ext cx="264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99045" name="Line 5"/>
          <p:cNvSpPr>
            <a:spLocks noChangeShapeType="1"/>
          </p:cNvSpPr>
          <p:nvPr/>
        </p:nvSpPr>
        <p:spPr bwMode="auto">
          <a:xfrm>
            <a:off x="2594285" y="3733800"/>
            <a:ext cx="264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99046" name="Line 6"/>
          <p:cNvSpPr>
            <a:spLocks noChangeShapeType="1"/>
          </p:cNvSpPr>
          <p:nvPr/>
        </p:nvSpPr>
        <p:spPr bwMode="auto">
          <a:xfrm>
            <a:off x="2594285" y="2514600"/>
            <a:ext cx="264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99049" name="Text Box 9"/>
          <p:cNvSpPr txBox="1">
            <a:spLocks noChangeArrowheads="1"/>
          </p:cNvSpPr>
          <p:nvPr/>
        </p:nvSpPr>
        <p:spPr bwMode="auto">
          <a:xfrm>
            <a:off x="1796127" y="1976735"/>
            <a:ext cx="8235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price</a:t>
            </a:r>
          </a:p>
        </p:txBody>
      </p:sp>
      <p:sp>
        <p:nvSpPr>
          <p:cNvPr id="599050" name="Text Box 10"/>
          <p:cNvSpPr txBox="1">
            <a:spLocks noChangeArrowheads="1"/>
          </p:cNvSpPr>
          <p:nvPr/>
        </p:nvSpPr>
        <p:spPr bwMode="auto">
          <a:xfrm>
            <a:off x="1302723" y="2573992"/>
            <a:ext cx="1316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available</a:t>
            </a:r>
          </a:p>
        </p:txBody>
      </p:sp>
      <p:sp>
        <p:nvSpPr>
          <p:cNvPr id="599051" name="Text Box 11"/>
          <p:cNvSpPr txBox="1">
            <a:spLocks noChangeArrowheads="1"/>
          </p:cNvSpPr>
          <p:nvPr/>
        </p:nvSpPr>
        <p:spPr bwMode="auto">
          <a:xfrm>
            <a:off x="1428334" y="3195935"/>
            <a:ext cx="11913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amount</a:t>
            </a:r>
          </a:p>
        </p:txBody>
      </p:sp>
      <p:sp>
        <p:nvSpPr>
          <p:cNvPr id="599052" name="Text Box 12"/>
          <p:cNvSpPr txBox="1">
            <a:spLocks noChangeArrowheads="1"/>
          </p:cNvSpPr>
          <p:nvPr/>
        </p:nvSpPr>
        <p:spPr bwMode="auto">
          <a:xfrm>
            <a:off x="1646022" y="3805535"/>
            <a:ext cx="9736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where</a:t>
            </a:r>
          </a:p>
        </p:txBody>
      </p:sp>
      <p:sp>
        <p:nvSpPr>
          <p:cNvPr id="599053" name="Text Box 13"/>
          <p:cNvSpPr txBox="1">
            <a:spLocks noChangeArrowheads="1"/>
          </p:cNvSpPr>
          <p:nvPr/>
        </p:nvSpPr>
        <p:spPr bwMode="auto">
          <a:xfrm>
            <a:off x="3384033" y="1992967"/>
            <a:ext cx="7344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5.24</a:t>
            </a:r>
          </a:p>
        </p:txBody>
      </p:sp>
      <p:sp>
        <p:nvSpPr>
          <p:cNvPr id="599054" name="Text Box 14"/>
          <p:cNvSpPr txBox="1">
            <a:spLocks noChangeArrowheads="1"/>
          </p:cNvSpPr>
          <p:nvPr/>
        </p:nvSpPr>
        <p:spPr bwMode="auto">
          <a:xfrm>
            <a:off x="3357743" y="2586335"/>
            <a:ext cx="8697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lang="en-US" altLang="zh-CN" sz="20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 </a:t>
            </a:r>
          </a:p>
        </p:txBody>
      </p:sp>
      <p:sp>
        <p:nvSpPr>
          <p:cNvPr id="599055" name="Text Box 15"/>
          <p:cNvSpPr txBox="1">
            <a:spLocks noChangeArrowheads="1"/>
          </p:cNvSpPr>
          <p:nvPr/>
        </p:nvSpPr>
        <p:spPr bwMode="auto">
          <a:xfrm>
            <a:off x="3347164" y="3195935"/>
            <a:ext cx="5020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29</a:t>
            </a:r>
          </a:p>
        </p:txBody>
      </p:sp>
      <p:sp>
        <p:nvSpPr>
          <p:cNvPr id="599056" name="Text Box 16"/>
          <p:cNvSpPr txBox="1">
            <a:spLocks noChangeArrowheads="1"/>
          </p:cNvSpPr>
          <p:nvPr/>
        </p:nvSpPr>
        <p:spPr bwMode="auto">
          <a:xfrm>
            <a:off x="3398460" y="3805535"/>
            <a:ext cx="9492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liquor</a:t>
            </a:r>
          </a:p>
        </p:txBody>
      </p:sp>
      <p:sp>
        <p:nvSpPr>
          <p:cNvPr id="599057" name="Text Box 17"/>
          <p:cNvSpPr txBox="1">
            <a:spLocks noChangeArrowheads="1"/>
          </p:cNvSpPr>
          <p:nvPr/>
        </p:nvSpPr>
        <p:spPr bwMode="auto">
          <a:xfrm>
            <a:off x="7169431" y="1991380"/>
            <a:ext cx="8235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price</a:t>
            </a:r>
          </a:p>
        </p:txBody>
      </p:sp>
      <p:sp>
        <p:nvSpPr>
          <p:cNvPr id="599058" name="Text Box 18"/>
          <p:cNvSpPr txBox="1">
            <a:spLocks noChangeArrowheads="1"/>
          </p:cNvSpPr>
          <p:nvPr/>
        </p:nvSpPr>
        <p:spPr bwMode="auto">
          <a:xfrm>
            <a:off x="5896286" y="2600980"/>
            <a:ext cx="2096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available</a:t>
            </a:r>
          </a:p>
        </p:txBody>
      </p:sp>
      <p:sp>
        <p:nvSpPr>
          <p:cNvPr id="599059" name="Text Box 19"/>
          <p:cNvSpPr txBox="1">
            <a:spLocks noChangeArrowheads="1"/>
          </p:cNvSpPr>
          <p:nvPr/>
        </p:nvSpPr>
        <p:spPr bwMode="auto">
          <a:xfrm>
            <a:off x="5439086" y="3200400"/>
            <a:ext cx="25539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month_expected</a:t>
            </a:r>
            <a:endParaRPr kumimoji="1"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99065" name="Text Box 25"/>
          <p:cNvSpPr txBox="1">
            <a:spLocks noChangeArrowheads="1"/>
          </p:cNvSpPr>
          <p:nvPr/>
        </p:nvSpPr>
        <p:spPr bwMode="auto">
          <a:xfrm>
            <a:off x="3350370" y="4419600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i1</a:t>
            </a:r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7992990" y="1938060"/>
            <a:ext cx="2641600" cy="249172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Line 4"/>
          <p:cNvSpPr>
            <a:spLocks noChangeShapeType="1"/>
          </p:cNvSpPr>
          <p:nvPr/>
        </p:nvSpPr>
        <p:spPr bwMode="auto">
          <a:xfrm>
            <a:off x="7992990" y="3134380"/>
            <a:ext cx="264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Line 5"/>
          <p:cNvSpPr>
            <a:spLocks noChangeShapeType="1"/>
          </p:cNvSpPr>
          <p:nvPr/>
        </p:nvSpPr>
        <p:spPr bwMode="auto">
          <a:xfrm>
            <a:off x="7992990" y="3743980"/>
            <a:ext cx="26416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Line 6"/>
          <p:cNvSpPr>
            <a:spLocks noChangeShapeType="1"/>
          </p:cNvSpPr>
          <p:nvPr/>
        </p:nvSpPr>
        <p:spPr bwMode="auto">
          <a:xfrm>
            <a:off x="7992990" y="2524780"/>
            <a:ext cx="264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8683024" y="2003147"/>
            <a:ext cx="10518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324.99</a:t>
            </a:r>
          </a:p>
        </p:txBody>
      </p:sp>
      <p:sp>
        <p:nvSpPr>
          <p:cNvPr id="36" name="Text Box 14"/>
          <p:cNvSpPr txBox="1">
            <a:spLocks noChangeArrowheads="1"/>
          </p:cNvSpPr>
          <p:nvPr/>
        </p:nvSpPr>
        <p:spPr bwMode="auto">
          <a:xfrm>
            <a:off x="8683024" y="2596515"/>
            <a:ext cx="7873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</p:txBody>
      </p:sp>
      <p:sp>
        <p:nvSpPr>
          <p:cNvPr id="37" name="Text Box 15"/>
          <p:cNvSpPr txBox="1">
            <a:spLocks noChangeArrowheads="1"/>
          </p:cNvSpPr>
          <p:nvPr/>
        </p:nvSpPr>
        <p:spPr bwMode="auto">
          <a:xfrm>
            <a:off x="8683024" y="320611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8683024" y="4429780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128101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172200" y="2072348"/>
            <a:ext cx="3657600" cy="2743200"/>
          </a:xfrm>
          <a:prstGeom prst="wedgeRoundRectCallout">
            <a:avLst>
              <a:gd name="adj1" fmla="val 8361"/>
              <a:gd name="adj2" fmla="val 65622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有限映像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判定或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幂集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=""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=""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=""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=""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=""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=""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=""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=""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=""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=""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=""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=""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=""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=""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70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类型</a:t>
            </a:r>
            <a:r>
              <a:rPr lang="en-US" altLang="zh-CN" dirty="0"/>
              <a:t>T</a:t>
            </a:r>
            <a:r>
              <a:rPr lang="zh-CN" altLang="en-US" dirty="0"/>
              <a:t>的元素所有子集的集合，称为幂集， </a:t>
            </a:r>
            <a:r>
              <a:rPr lang="en-US" altLang="zh-CN" dirty="0"/>
              <a:t>T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EE853E"/>
                </a:solidFill>
              </a:rPr>
              <a:t>基类型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PASCAL</a:t>
            </a:r>
            <a:r>
              <a:rPr lang="zh-CN" altLang="en-US" dirty="0"/>
              <a:t>语言：集合类型；</a:t>
            </a:r>
            <a:endParaRPr lang="en-US" altLang="zh-CN" dirty="0"/>
          </a:p>
          <a:p>
            <a:r>
              <a:rPr lang="zh-CN" altLang="en-US" dirty="0"/>
              <a:t>若语言缺乏幂集构造方法，可以使用</a:t>
            </a:r>
            <a:r>
              <a:rPr lang="zh-CN" altLang="en-US" dirty="0">
                <a:solidFill>
                  <a:srgbClr val="EE853E"/>
                </a:solidFill>
              </a:rPr>
              <a:t>链表</a:t>
            </a:r>
            <a:r>
              <a:rPr lang="zh-CN" altLang="en-US" dirty="0"/>
              <a:t>或数组来实现。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幂集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26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5970</TotalTime>
  <Words>822</Words>
  <Application>Microsoft Office PowerPoint</Application>
  <PresentationFormat>宽屏</PresentationFormat>
  <Paragraphs>174</Paragraphs>
  <Slides>20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Clear Sans</vt:lpstr>
      <vt:lpstr>黑体</vt:lpstr>
      <vt:lpstr>宋体</vt:lpstr>
      <vt:lpstr>微软雅黑</vt:lpstr>
      <vt:lpstr>Arial</vt:lpstr>
      <vt:lpstr>Wingdings</vt:lpstr>
      <vt:lpstr>环保</vt:lpstr>
      <vt:lpstr>第二章 数据类型</vt:lpstr>
      <vt:lpstr>用户定义类型</vt:lpstr>
      <vt:lpstr>第二章 数据类型</vt:lpstr>
      <vt:lpstr>笛卡尔积</vt:lpstr>
      <vt:lpstr>笛卡尔积</vt:lpstr>
      <vt:lpstr>笛卡尔积实例</vt:lpstr>
      <vt:lpstr>第二章 数据类型</vt:lpstr>
      <vt:lpstr>有限映像</vt:lpstr>
      <vt:lpstr>有限映像</vt:lpstr>
      <vt:lpstr>第二章 数据类型</vt:lpstr>
      <vt:lpstr>序列</vt:lpstr>
      <vt:lpstr>第二章 数据类型</vt:lpstr>
      <vt:lpstr>递归</vt:lpstr>
      <vt:lpstr>第二章 数据类型</vt:lpstr>
      <vt:lpstr>判定或</vt:lpstr>
      <vt:lpstr>判定或</vt:lpstr>
      <vt:lpstr>判定或</vt:lpstr>
      <vt:lpstr>判定或</vt:lpstr>
      <vt:lpstr>第二章 数据类型</vt:lpstr>
      <vt:lpstr>幂集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Microsoft</cp:lastModifiedBy>
  <cp:revision>1053</cp:revision>
  <cp:lastPrinted>1601-01-01T00:00:00Z</cp:lastPrinted>
  <dcterms:created xsi:type="dcterms:W3CDTF">1601-01-01T00:00:00Z</dcterms:created>
  <dcterms:modified xsi:type="dcterms:W3CDTF">2019-11-25T02:30:10Z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