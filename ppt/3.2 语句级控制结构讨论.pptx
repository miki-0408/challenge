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01" r:id="rId1"/>
  </p:sldMasterIdLst>
  <p:notesMasterIdLst>
    <p:notesMasterId r:id="rId12"/>
  </p:notesMasterIdLst>
  <p:handoutMasterIdLst>
    <p:handoutMasterId r:id="rId13"/>
  </p:handoutMasterIdLst>
  <p:sldIdLst>
    <p:sldId id="381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8" r:id="rId11"/>
  </p:sldIdLst>
  <p:sldSz cx="12192000" cy="6858000"/>
  <p:notesSz cx="2782888" cy="37179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853E"/>
    <a:srgbClr val="A18D60"/>
    <a:srgbClr val="EE8A3E"/>
    <a:srgbClr val="E98A3E"/>
    <a:srgbClr val="04141B"/>
    <a:srgbClr val="D9B247"/>
    <a:srgbClr val="2A9995"/>
    <a:srgbClr val="54D0CA"/>
    <a:srgbClr val="0000FF"/>
    <a:srgbClr val="0033CC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13" autoAdjust="0"/>
    <p:restoredTop sz="89127" autoAdjust="0"/>
  </p:normalViewPr>
  <p:slideViewPr>
    <p:cSldViewPr>
      <p:cViewPr varScale="1">
        <p:scale>
          <a:sx n="58" d="100"/>
          <a:sy n="58" d="100"/>
        </p:scale>
        <p:origin x="-822" y="-9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48"/>
    </p:cViewPr>
  </p:sorterViewPr>
  <p:notesViewPr>
    <p:cSldViewPr>
      <p:cViewPr varScale="1">
        <p:scale>
          <a:sx n="183" d="100"/>
          <a:sy n="183" d="100"/>
        </p:scale>
        <p:origin x="2668" y="96"/>
      </p:cViewPr>
      <p:guideLst/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22DA3B-951B-42A7-9A91-80A8B753C4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="" val="11619618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algn="r"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3988" y="279400"/>
            <a:ext cx="2474912" cy="1393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374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77813" y="1765300"/>
            <a:ext cx="2227262" cy="167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74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algn="r" defTabSz="371475">
              <a:defRPr sz="500"/>
            </a:lvl1pPr>
          </a:lstStyle>
          <a:p>
            <a:fld id="{7C94B347-5D95-4F16-91F2-C12A0B20C4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="" val="28427714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92398" y="3623737"/>
            <a:ext cx="6815669" cy="9482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单击此处添加副标题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92398" y="2057406"/>
            <a:ext cx="6815669" cy="1329259"/>
          </a:xfrm>
          <a:prstGeom prst="rect">
            <a:avLst/>
          </a:prstGeom>
        </p:spPr>
        <p:txBody>
          <a:bodyPr anchor="ctr"/>
          <a:lstStyle>
            <a:lvl1pPr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xmlns="" id="{78557376-49C6-4381-B102-72EEC70D751A}"/>
              </a:ext>
            </a:extLst>
          </p:cNvPr>
          <p:cNvCxnSpPr>
            <a:cxnSpLocks/>
          </p:cNvCxnSpPr>
          <p:nvPr userDrawn="1"/>
        </p:nvCxnSpPr>
        <p:spPr>
          <a:xfrm>
            <a:off x="2692398" y="3505200"/>
            <a:ext cx="6815669" cy="0"/>
          </a:xfrm>
          <a:prstGeom prst="line">
            <a:avLst/>
          </a:prstGeom>
          <a:ln w="12700">
            <a:gradFill flip="none" rotWithShape="1">
              <a:gsLst>
                <a:gs pos="59000">
                  <a:schemeClr val="bg1">
                    <a:alpha val="21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7167846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xmlns="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10751844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xmlns="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xmlns="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xmlns="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xmlns="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xmlns="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xmlns="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xmlns="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xmlns="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xmlns="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xmlns="" val="3929287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xmlns="" id="{5E28B1FC-3605-4CC3-A226-94C02D264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xmlns="" id="{8A153692-77AD-465A-A07A-1F236B045846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xmlns="" id="{1A30A995-568B-4288-A1AE-69EE8DAF081C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8" name="任意多边形 41">
              <a:extLst>
                <a:ext uri="{FF2B5EF4-FFF2-40B4-BE49-F238E27FC236}">
                  <a16:creationId xmlns:a16="http://schemas.microsoft.com/office/drawing/2014/main" xmlns="" id="{548C9EB0-9642-44C5-B2B7-07F802F76B58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xmlns="" id="{19E95DC8-161D-40C4-9683-31996CC1D0AF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xmlns="" id="{1F05C3C9-12CA-416C-9887-3B295CCCFB74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xmlns="" id="{F7FFC115-1EE8-42CC-B656-23881B4B180E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xmlns="" id="{0214CFBE-9CFB-4E8F-ACC6-A52DE709F3F1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xmlns="" id="{898DDCA7-1785-41D9-A6F9-240A9B2251D5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xmlns="" val="25731679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" hasCustomPrompt="1"/>
          </p:nvPr>
        </p:nvSpPr>
        <p:spPr>
          <a:xfrm>
            <a:off x="1295402" y="1474304"/>
            <a:ext cx="4754880" cy="4774096"/>
          </a:xfrm>
        </p:spPr>
        <p:txBody>
          <a:bodyPr/>
          <a:lstStyle/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0" hasCustomPrompt="1"/>
          </p:nvPr>
        </p:nvSpPr>
        <p:spPr>
          <a:xfrm>
            <a:off x="6141720" y="1474304"/>
            <a:ext cx="4754878" cy="4774096"/>
          </a:xfrm>
        </p:spPr>
        <p:txBody>
          <a:bodyPr/>
          <a:lstStyle/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95402" y="609600"/>
            <a:ext cx="9601196" cy="712304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1396169" y="1394792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9790162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93540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308" r:id="rId3"/>
    <p:sldLayoutId id="2147484309" r:id="rId4"/>
  </p:sldLayoutIdLst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 cap="none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0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="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xmlns="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第三章 控制结构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927033" y="2073194"/>
            <a:ext cx="4711767" cy="2711612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xmlns="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xmlns="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xmlns="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xmlns="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xmlns="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xmlns="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xmlns="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xmlns="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xmlns="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xmlns="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xmlns="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xmlns="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xmlns="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xmlns="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rgbClr val="EE853E"/>
                  </a:solidFill>
                  <a:latin typeface="+mj-ea"/>
                  <a:ea typeface="+mj-ea"/>
                </a:rPr>
                <a:t>第一节 语句级控制结构</a:t>
              </a:r>
              <a:endParaRPr lang="zh-CN" altLang="en-US" b="1" dirty="0">
                <a:solidFill>
                  <a:srgbClr val="EE853E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第二</a:t>
              </a:r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节 单元级控制结构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endParaRPr lang="zh-CN" altLang="en-US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endParaRPr lang="zh-CN" altLang="en-US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</p:grpSp>
      <p:sp>
        <p:nvSpPr>
          <p:cNvPr id="30" name="对话气泡: 圆角矩形 29">
            <a:extLst>
              <a:ext uri="{FF2B5EF4-FFF2-40B4-BE49-F238E27FC236}">
                <a16:creationId xmlns:a16="http://schemas.microsoft.com/office/drawing/2014/main" xmlns="" id="{23E85C67-7818-411F-A7D7-B4F4B0217B6D}"/>
              </a:ext>
            </a:extLst>
          </p:cNvPr>
          <p:cNvSpPr/>
          <p:nvPr/>
        </p:nvSpPr>
        <p:spPr>
          <a:xfrm rot="5400000">
            <a:off x="6937077" y="1434883"/>
            <a:ext cx="2711612" cy="3988234"/>
          </a:xfrm>
          <a:prstGeom prst="wedgeRoundRectCallout">
            <a:avLst>
              <a:gd name="adj1" fmla="val -30411"/>
              <a:gd name="adj2" fmla="val 61975"/>
              <a:gd name="adj3" fmla="val 16667"/>
            </a:avLst>
          </a:prstGeom>
          <a:solidFill>
            <a:srgbClr val="2A99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重复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语句级控制结构讨论</a:t>
            </a:r>
          </a:p>
        </p:txBody>
      </p:sp>
    </p:spTree>
    <p:extLst>
      <p:ext uri="{BB962C8B-B14F-4D97-AF65-F5344CB8AC3E}">
        <p14:creationId xmlns:p14="http://schemas.microsoft.com/office/powerpoint/2010/main" xmlns="" val="8747691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顺序、选择、重复是一定意义的</a:t>
            </a:r>
            <a:r>
              <a:rPr lang="zh-CN" altLang="en-US" dirty="0">
                <a:solidFill>
                  <a:srgbClr val="EE853E"/>
                </a:solidFill>
              </a:rPr>
              <a:t>抽象</a:t>
            </a:r>
            <a:r>
              <a:rPr lang="zh-CN" altLang="en-US" dirty="0"/>
              <a:t>。</a:t>
            </a:r>
          </a:p>
          <a:p>
            <a:r>
              <a:rPr lang="zh-CN" altLang="en-US" dirty="0">
                <a:solidFill>
                  <a:srgbClr val="EE853E"/>
                </a:solidFill>
              </a:rPr>
              <a:t>顺序、选择、重复</a:t>
            </a:r>
            <a:r>
              <a:rPr lang="zh-CN" altLang="en-US" dirty="0"/>
              <a:t>可以帮助程序员组织语句的控制流程。</a:t>
            </a:r>
          </a:p>
          <a:p>
            <a:r>
              <a:rPr lang="zh-CN" altLang="en-US" dirty="0"/>
              <a:t>顺序、选择、重复是</a:t>
            </a:r>
            <a:r>
              <a:rPr lang="zh-CN" altLang="en-US" dirty="0">
                <a:solidFill>
                  <a:srgbClr val="EE853E"/>
                </a:solidFill>
              </a:rPr>
              <a:t>基本的语句级控制结构</a:t>
            </a:r>
            <a:r>
              <a:rPr lang="zh-CN" altLang="en-US" dirty="0"/>
              <a:t>。</a:t>
            </a:r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语句级控制结构讨论</a:t>
            </a:r>
          </a:p>
        </p:txBody>
      </p:sp>
    </p:spTree>
    <p:extLst>
      <p:ext uri="{BB962C8B-B14F-4D97-AF65-F5344CB8AC3E}">
        <p14:creationId xmlns:p14="http://schemas.microsoft.com/office/powerpoint/2010/main" xmlns="" val="20024897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抽象控制结构，控制既简单又有效。</a:t>
            </a:r>
            <a:endParaRPr lang="en-US" altLang="zh-CN" dirty="0"/>
          </a:p>
          <a:p>
            <a:r>
              <a:rPr lang="zh-CN" altLang="en-US" dirty="0"/>
              <a:t>抽象控制结构是对</a:t>
            </a:r>
            <a:r>
              <a:rPr lang="zh-CN" altLang="en-US" dirty="0">
                <a:solidFill>
                  <a:srgbClr val="EE853E"/>
                </a:solidFill>
              </a:rPr>
              <a:t>程序计数器（</a:t>
            </a:r>
            <a:r>
              <a:rPr lang="en-US" altLang="zh-CN" dirty="0">
                <a:solidFill>
                  <a:srgbClr val="EE853E"/>
                </a:solidFill>
              </a:rPr>
              <a:t>PC</a:t>
            </a:r>
            <a:r>
              <a:rPr lang="zh-CN" altLang="en-US" dirty="0">
                <a:solidFill>
                  <a:srgbClr val="EE853E"/>
                </a:solidFill>
              </a:rPr>
              <a:t>）</a:t>
            </a:r>
            <a:r>
              <a:rPr lang="zh-CN" altLang="en-US" dirty="0"/>
              <a:t>的值进行修改的</a:t>
            </a:r>
            <a:r>
              <a:rPr lang="zh-CN" altLang="en-US" dirty="0">
                <a:solidFill>
                  <a:srgbClr val="EE853E"/>
                </a:solidFill>
              </a:rPr>
              <a:t>抽象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顺序：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EE853E"/>
                </a:solidFill>
              </a:rPr>
              <a:t>PC</a:t>
            </a:r>
            <a:r>
              <a:rPr lang="zh-CN" altLang="en-US" dirty="0"/>
              <a:t>（自动）</a:t>
            </a:r>
            <a:r>
              <a:rPr lang="en-US" altLang="zh-CN" dirty="0">
                <a:solidFill>
                  <a:srgbClr val="EE853E"/>
                </a:solidFill>
              </a:rPr>
              <a:t>+1</a:t>
            </a:r>
            <a:r>
              <a:rPr lang="zh-CN" altLang="en-US" dirty="0"/>
              <a:t>的抽象。</a:t>
            </a:r>
            <a:endParaRPr lang="en-US" altLang="zh-CN" dirty="0"/>
          </a:p>
          <a:p>
            <a:r>
              <a:rPr lang="zh-CN" altLang="en-US" dirty="0"/>
              <a:t>选择和重复：</a:t>
            </a:r>
            <a:r>
              <a:rPr lang="zh-CN" altLang="en-US" dirty="0">
                <a:solidFill>
                  <a:srgbClr val="EE853E"/>
                </a:solidFill>
              </a:rPr>
              <a:t>显式修改</a:t>
            </a:r>
            <a:r>
              <a:rPr lang="en-US" altLang="zh-CN" dirty="0"/>
              <a:t>PC</a:t>
            </a:r>
            <a:r>
              <a:rPr lang="zh-CN" altLang="en-US" dirty="0"/>
              <a:t>值的抽象；</a:t>
            </a:r>
            <a:endParaRPr lang="en-US" altLang="zh-CN" dirty="0"/>
          </a:p>
          <a:p>
            <a:r>
              <a:rPr lang="zh-CN" altLang="en-US" dirty="0"/>
              <a:t>通过</a:t>
            </a:r>
            <a:r>
              <a:rPr lang="zh-CN" altLang="en-US" dirty="0">
                <a:solidFill>
                  <a:srgbClr val="EE853E"/>
                </a:solidFill>
              </a:rPr>
              <a:t>无条件转移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EE853E"/>
                </a:solidFill>
              </a:rPr>
              <a:t>条件转移</a:t>
            </a:r>
            <a:r>
              <a:rPr lang="zh-CN" altLang="en-US" dirty="0"/>
              <a:t>指令实现。</a:t>
            </a:r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语句级控制结构讨论</a:t>
            </a:r>
          </a:p>
        </p:txBody>
      </p:sp>
    </p:spTree>
    <p:extLst>
      <p:ext uri="{BB962C8B-B14F-4D97-AF65-F5344CB8AC3E}">
        <p14:creationId xmlns:p14="http://schemas.microsoft.com/office/powerpoint/2010/main" xmlns="" val="8060090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显式控制结构：通过</a:t>
            </a:r>
            <a:r>
              <a:rPr lang="zh-CN" altLang="en-US" dirty="0">
                <a:solidFill>
                  <a:srgbClr val="EE853E"/>
                </a:solidFill>
              </a:rPr>
              <a:t>无条件转移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EE853E"/>
                </a:solidFill>
              </a:rPr>
              <a:t>条件转移</a:t>
            </a:r>
            <a:r>
              <a:rPr lang="zh-CN" altLang="en-US" dirty="0"/>
              <a:t>指令修改</a:t>
            </a:r>
            <a:r>
              <a:rPr lang="en-US" altLang="zh-CN" dirty="0">
                <a:solidFill>
                  <a:srgbClr val="EE853E"/>
                </a:solidFill>
              </a:rPr>
              <a:t>PC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EE853E"/>
                </a:solidFill>
              </a:rPr>
              <a:t>低级控制机制 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抽象控制结构</a:t>
            </a:r>
            <a:r>
              <a:rPr lang="zh-CN" altLang="en-US" dirty="0"/>
              <a:t>比显式控制结构</a:t>
            </a:r>
            <a:r>
              <a:rPr lang="zh-CN" altLang="en-US" dirty="0">
                <a:solidFill>
                  <a:srgbClr val="EE853E"/>
                </a:solidFill>
              </a:rPr>
              <a:t>更好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程序员通过使用顺序、选择和</a:t>
            </a:r>
            <a:r>
              <a:rPr lang="zh-CN" altLang="en-US" dirty="0" smtClean="0"/>
              <a:t>重复就</a:t>
            </a:r>
            <a:r>
              <a:rPr lang="zh-CN" altLang="en-US" dirty="0"/>
              <a:t>能表达控制语句执行的意图。 </a:t>
            </a:r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语句级控制结构讨论</a:t>
            </a:r>
          </a:p>
        </p:txBody>
      </p:sp>
    </p:spTree>
    <p:extLst>
      <p:ext uri="{BB962C8B-B14F-4D97-AF65-F5344CB8AC3E}">
        <p14:creationId xmlns:p14="http://schemas.microsoft.com/office/powerpoint/2010/main" xmlns="" val="9226157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采用</a:t>
            </a:r>
            <a:r>
              <a:rPr lang="zh-CN" altLang="en-US" dirty="0">
                <a:solidFill>
                  <a:srgbClr val="EE853E"/>
                </a:solidFill>
              </a:rPr>
              <a:t>抽象控制结构</a:t>
            </a:r>
            <a:r>
              <a:rPr lang="zh-CN" altLang="en-US" dirty="0"/>
              <a:t>有利于</a:t>
            </a:r>
            <a:r>
              <a:rPr lang="zh-CN" altLang="en-US" dirty="0">
                <a:solidFill>
                  <a:srgbClr val="EE853E"/>
                </a:solidFill>
              </a:rPr>
              <a:t>程序设计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高级语言</a:t>
            </a:r>
            <a:r>
              <a:rPr lang="zh-CN" altLang="en-US" dirty="0">
                <a:solidFill>
                  <a:srgbClr val="EE853E"/>
                </a:solidFill>
              </a:rPr>
              <a:t>控制结构</a:t>
            </a:r>
            <a:r>
              <a:rPr lang="zh-CN" altLang="en-US" dirty="0"/>
              <a:t>最终要由</a:t>
            </a:r>
            <a:r>
              <a:rPr lang="zh-CN" altLang="en-US" dirty="0">
                <a:solidFill>
                  <a:srgbClr val="EE853E"/>
                </a:solidFill>
              </a:rPr>
              <a:t>条件转移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EE853E"/>
                </a:solidFill>
              </a:rPr>
              <a:t>无条件转移</a:t>
            </a:r>
            <a:r>
              <a:rPr lang="zh-CN" altLang="en-US" dirty="0"/>
              <a:t>的低级代码实现：</a:t>
            </a:r>
          </a:p>
          <a:p>
            <a:r>
              <a:rPr lang="zh-CN" altLang="en-US" dirty="0"/>
              <a:t>由</a:t>
            </a:r>
            <a:r>
              <a:rPr lang="zh-CN" altLang="en-US" dirty="0">
                <a:solidFill>
                  <a:srgbClr val="EE853E"/>
                </a:solidFill>
              </a:rPr>
              <a:t>编译器</a:t>
            </a:r>
            <a:r>
              <a:rPr lang="zh-CN" altLang="en-US" dirty="0"/>
              <a:t>生成</a:t>
            </a:r>
            <a:r>
              <a:rPr lang="zh-CN" altLang="en-US" dirty="0">
                <a:solidFill>
                  <a:srgbClr val="EE853E"/>
                </a:solidFill>
              </a:rPr>
              <a:t>有效</a:t>
            </a:r>
            <a:r>
              <a:rPr lang="zh-CN" altLang="en-US" dirty="0"/>
              <a:t>的低级代码（程序员不可见）。</a:t>
            </a:r>
            <a:endParaRPr lang="en-US" altLang="zh-CN" dirty="0"/>
          </a:p>
          <a:p>
            <a:r>
              <a:rPr lang="zh-CN" altLang="en-US" dirty="0"/>
              <a:t>     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xmlns="" id="{401A01CC-253A-4E7F-B126-AD01D7A12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语句级控制结构讨论</a:t>
            </a:r>
          </a:p>
        </p:txBody>
      </p:sp>
    </p:spTree>
    <p:extLst>
      <p:ext uri="{BB962C8B-B14F-4D97-AF65-F5344CB8AC3E}">
        <p14:creationId xmlns:p14="http://schemas.microsoft.com/office/powerpoint/2010/main" xmlns="" val="36902209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	</a:t>
            </a:r>
            <a:r>
              <a:rPr lang="en-US" altLang="zh-CN" dirty="0">
                <a:solidFill>
                  <a:srgbClr val="EE853E"/>
                </a:solidFill>
              </a:rPr>
              <a:t>if B </a:t>
            </a:r>
            <a:r>
              <a:rPr lang="en-US" altLang="zh-CN" dirty="0" err="1">
                <a:solidFill>
                  <a:srgbClr val="EE853E"/>
                </a:solidFill>
              </a:rPr>
              <a:t>goto</a:t>
            </a:r>
            <a:r>
              <a:rPr lang="en-US" altLang="zh-CN" dirty="0">
                <a:solidFill>
                  <a:srgbClr val="EE853E"/>
                </a:solidFill>
              </a:rPr>
              <a:t> </a:t>
            </a:r>
            <a:r>
              <a:rPr lang="en-US" altLang="zh-CN" dirty="0" err="1"/>
              <a:t>B.true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>
                <a:solidFill>
                  <a:srgbClr val="EE853E"/>
                </a:solidFill>
              </a:rPr>
              <a:t>goto</a:t>
            </a:r>
            <a:r>
              <a:rPr lang="en-US" altLang="zh-CN" dirty="0"/>
              <a:t> </a:t>
            </a:r>
            <a:r>
              <a:rPr lang="en-US" altLang="zh-CN" dirty="0" err="1"/>
              <a:t>S.next</a:t>
            </a:r>
            <a:endParaRPr lang="en-US" altLang="zh-CN" dirty="0"/>
          </a:p>
          <a:p>
            <a:r>
              <a:rPr lang="en-US" altLang="zh-CN" dirty="0" err="1"/>
              <a:t>B.true</a:t>
            </a:r>
            <a:r>
              <a:rPr lang="en-US" altLang="zh-CN" dirty="0"/>
              <a:t>: </a:t>
            </a:r>
          </a:p>
          <a:p>
            <a:r>
              <a:rPr lang="en-US" altLang="zh-CN" dirty="0"/>
              <a:t>	…  /* S</a:t>
            </a:r>
            <a:r>
              <a:rPr lang="zh-CN" altLang="en-US" dirty="0"/>
              <a:t>的代码 </a:t>
            </a:r>
            <a:r>
              <a:rPr lang="en-US" altLang="zh-CN" dirty="0"/>
              <a:t>*/</a:t>
            </a:r>
            <a:endParaRPr lang="zh-CN" altLang="en-US" dirty="0"/>
          </a:p>
          <a:p>
            <a:r>
              <a:rPr lang="en-US" altLang="zh-CN" dirty="0" err="1"/>
              <a:t>S.next</a:t>
            </a:r>
            <a:r>
              <a:rPr lang="en-US" altLang="zh-CN" dirty="0"/>
              <a:t>: </a:t>
            </a:r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if  B  then  S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xmlns="" id="{C879681F-F8A5-44F6-907F-BBBD97EE34B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91200" y="1143001"/>
            <a:ext cx="3124200" cy="3652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818820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15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915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500"/>
                                        <p:tgtEl>
                                          <p:spTgt spid="915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500"/>
                                        <p:tgtEl>
                                          <p:spTgt spid="915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500"/>
                                        <p:tgtEl>
                                          <p:spTgt spid="915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EE853E"/>
                </a:solidFill>
              </a:rPr>
              <a:t>	if B </a:t>
            </a:r>
            <a:r>
              <a:rPr lang="en-US" altLang="zh-CN" dirty="0" err="1">
                <a:solidFill>
                  <a:srgbClr val="EE853E"/>
                </a:solidFill>
              </a:rPr>
              <a:t>goto</a:t>
            </a:r>
            <a:r>
              <a:rPr lang="en-US" altLang="zh-CN" dirty="0">
                <a:solidFill>
                  <a:srgbClr val="EE853E"/>
                </a:solidFill>
              </a:rPr>
              <a:t> </a:t>
            </a:r>
            <a:r>
              <a:rPr lang="en-US" altLang="zh-CN" dirty="0" err="1"/>
              <a:t>B.true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>
                <a:solidFill>
                  <a:srgbClr val="EE853E"/>
                </a:solidFill>
              </a:rPr>
              <a:t>goto</a:t>
            </a:r>
            <a:r>
              <a:rPr lang="en-US" altLang="zh-CN" dirty="0"/>
              <a:t> </a:t>
            </a:r>
            <a:r>
              <a:rPr lang="en-US" altLang="zh-CN" dirty="0" err="1"/>
              <a:t>B.false</a:t>
            </a:r>
            <a:endParaRPr lang="en-US" altLang="zh-CN" dirty="0"/>
          </a:p>
          <a:p>
            <a:r>
              <a:rPr lang="en-US" altLang="zh-CN" dirty="0" err="1"/>
              <a:t>B.true</a:t>
            </a:r>
            <a:r>
              <a:rPr lang="en-US" altLang="zh-CN" dirty="0"/>
              <a:t>: </a:t>
            </a:r>
          </a:p>
          <a:p>
            <a:r>
              <a:rPr lang="en-US" altLang="zh-CN" dirty="0"/>
              <a:t>	…  /* S1</a:t>
            </a:r>
            <a:r>
              <a:rPr lang="zh-CN" altLang="en-US" dirty="0"/>
              <a:t>的代码 </a:t>
            </a:r>
            <a:r>
              <a:rPr lang="en-US" altLang="zh-CN" dirty="0"/>
              <a:t>*/</a:t>
            </a:r>
          </a:p>
          <a:p>
            <a:r>
              <a:rPr lang="en-US" altLang="zh-CN" dirty="0"/>
              <a:t>	</a:t>
            </a:r>
            <a:r>
              <a:rPr lang="en-US" altLang="zh-CN" dirty="0" err="1">
                <a:solidFill>
                  <a:srgbClr val="EE853E"/>
                </a:solidFill>
              </a:rPr>
              <a:t>goto</a:t>
            </a:r>
            <a:r>
              <a:rPr lang="en-US" altLang="zh-CN" dirty="0"/>
              <a:t>  </a:t>
            </a:r>
            <a:r>
              <a:rPr lang="en-US" altLang="zh-CN" dirty="0" err="1"/>
              <a:t>S.next</a:t>
            </a:r>
            <a:endParaRPr lang="en-US" altLang="zh-CN" dirty="0"/>
          </a:p>
          <a:p>
            <a:r>
              <a:rPr lang="en-US" altLang="zh-CN" dirty="0" err="1"/>
              <a:t>B.false</a:t>
            </a:r>
            <a:r>
              <a:rPr lang="en-US" altLang="zh-CN" dirty="0"/>
              <a:t>:</a:t>
            </a:r>
          </a:p>
          <a:p>
            <a:r>
              <a:rPr lang="en-US" altLang="zh-CN" dirty="0"/>
              <a:t>	…  /* S2</a:t>
            </a:r>
            <a:r>
              <a:rPr lang="zh-CN" altLang="en-US" dirty="0"/>
              <a:t>的代码 </a:t>
            </a:r>
            <a:r>
              <a:rPr lang="en-US" altLang="zh-CN" dirty="0"/>
              <a:t>*/</a:t>
            </a:r>
          </a:p>
          <a:p>
            <a:r>
              <a:rPr lang="en-US" altLang="zh-CN" dirty="0" err="1"/>
              <a:t>S.next</a:t>
            </a:r>
            <a:r>
              <a:rPr lang="en-US" altLang="zh-CN" dirty="0"/>
              <a:t>: </a:t>
            </a:r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if  B then S1  else  S2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537DA84A-659C-44F4-B3B5-F280C8F4C1F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91200" y="1148349"/>
            <a:ext cx="4373496" cy="3652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536317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795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500"/>
                                        <p:tgtEl>
                                          <p:spTgt spid="795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500"/>
                                        <p:tgtEl>
                                          <p:spTgt spid="795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500"/>
                                        <p:tgtEl>
                                          <p:spTgt spid="795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500"/>
                                        <p:tgtEl>
                                          <p:spTgt spid="795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500"/>
                                        <p:tgtEl>
                                          <p:spTgt spid="795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500"/>
                                        <p:tgtEl>
                                          <p:spTgt spid="795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500"/>
                                        <p:tgtEl>
                                          <p:spTgt spid="795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	i:=1</a:t>
            </a:r>
            <a:r>
              <a:rPr lang="zh-CN" altLang="en-US" dirty="0"/>
              <a:t>；</a:t>
            </a:r>
          </a:p>
          <a:p>
            <a:r>
              <a:rPr lang="en-US" altLang="zh-CN" dirty="0">
                <a:solidFill>
                  <a:srgbClr val="EE853E"/>
                </a:solidFill>
              </a:rPr>
              <a:t>again</a:t>
            </a:r>
            <a:r>
              <a:rPr lang="en-US" altLang="zh-CN" dirty="0"/>
              <a:t>:  </a:t>
            </a:r>
          </a:p>
          <a:p>
            <a:r>
              <a:rPr lang="en-US" altLang="zh-CN" dirty="0"/>
              <a:t>	</a:t>
            </a:r>
            <a:r>
              <a:rPr lang="en-US" altLang="zh-CN" dirty="0">
                <a:solidFill>
                  <a:srgbClr val="EE853E"/>
                </a:solidFill>
              </a:rPr>
              <a:t>if </a:t>
            </a:r>
            <a:r>
              <a:rPr lang="en-US" altLang="zh-CN" dirty="0" err="1">
                <a:solidFill>
                  <a:srgbClr val="EE853E"/>
                </a:solidFill>
              </a:rPr>
              <a:t>i</a:t>
            </a:r>
            <a:r>
              <a:rPr lang="en-US" altLang="zh-CN" dirty="0">
                <a:solidFill>
                  <a:srgbClr val="EE853E"/>
                </a:solidFill>
                <a:sym typeface="Symbol" pitchFamily="18" charset="2"/>
              </a:rPr>
              <a:t>&lt;</a:t>
            </a:r>
            <a:r>
              <a:rPr lang="en-US" altLang="zh-CN" dirty="0">
                <a:solidFill>
                  <a:srgbClr val="EE853E"/>
                </a:solidFill>
              </a:rPr>
              <a:t>N  </a:t>
            </a:r>
            <a:r>
              <a:rPr lang="en-US" altLang="zh-CN" dirty="0" err="1">
                <a:solidFill>
                  <a:srgbClr val="EE853E"/>
                </a:solidFill>
              </a:rPr>
              <a:t>goto</a:t>
            </a:r>
            <a:r>
              <a:rPr lang="en-US" altLang="zh-CN" dirty="0">
                <a:solidFill>
                  <a:srgbClr val="EE853E"/>
                </a:solidFill>
              </a:rPr>
              <a:t> </a:t>
            </a:r>
            <a:r>
              <a:rPr lang="en-US" altLang="zh-CN" dirty="0" err="1"/>
              <a:t>B.true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goto</a:t>
            </a:r>
            <a:r>
              <a:rPr lang="en-US" altLang="zh-CN" dirty="0"/>
              <a:t> </a:t>
            </a:r>
            <a:r>
              <a:rPr lang="en-US" altLang="zh-CN" dirty="0" err="1">
                <a:solidFill>
                  <a:srgbClr val="EE853E"/>
                </a:solidFill>
              </a:rPr>
              <a:t>S.next</a:t>
            </a:r>
            <a:r>
              <a:rPr lang="en-US" altLang="zh-CN" dirty="0">
                <a:solidFill>
                  <a:srgbClr val="EE853E"/>
                </a:solidFill>
              </a:rPr>
              <a:t> </a:t>
            </a:r>
          </a:p>
          <a:p>
            <a:r>
              <a:rPr lang="en-US" altLang="zh-CN" dirty="0" err="1"/>
              <a:t>B.true</a:t>
            </a:r>
            <a:r>
              <a:rPr lang="en-US" altLang="zh-CN" dirty="0"/>
              <a:t>:  </a:t>
            </a:r>
          </a:p>
          <a:p>
            <a:r>
              <a:rPr lang="en-US" altLang="zh-CN" dirty="0"/>
              <a:t>	…  /* </a:t>
            </a:r>
            <a:r>
              <a:rPr lang="en-US" altLang="zh-CN" dirty="0">
                <a:solidFill>
                  <a:srgbClr val="EE853E"/>
                </a:solidFill>
              </a:rPr>
              <a:t>S</a:t>
            </a:r>
            <a:r>
              <a:rPr lang="zh-CN" altLang="en-US" dirty="0">
                <a:solidFill>
                  <a:srgbClr val="EE853E"/>
                </a:solidFill>
              </a:rPr>
              <a:t>的代码 </a:t>
            </a:r>
            <a:r>
              <a:rPr lang="en-US" altLang="zh-CN" dirty="0"/>
              <a:t>*/</a:t>
            </a:r>
          </a:p>
          <a:p>
            <a:r>
              <a:rPr lang="en-US" altLang="zh-CN" dirty="0"/>
              <a:t>	</a:t>
            </a:r>
            <a:r>
              <a:rPr lang="en-US" altLang="zh-CN" dirty="0">
                <a:solidFill>
                  <a:srgbClr val="EE853E"/>
                </a:solidFill>
              </a:rPr>
              <a:t>i:=i+1</a:t>
            </a:r>
            <a:r>
              <a:rPr lang="zh-CN" altLang="en-US" dirty="0"/>
              <a:t>；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goto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EE853E"/>
                </a:solidFill>
              </a:rPr>
              <a:t>again</a:t>
            </a:r>
          </a:p>
          <a:p>
            <a:r>
              <a:rPr lang="en-US" altLang="zh-CN" dirty="0" err="1"/>
              <a:t>S.next</a:t>
            </a:r>
            <a:r>
              <a:rPr lang="en-US" altLang="zh-CN" dirty="0"/>
              <a:t>:</a:t>
            </a:r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for(</a:t>
            </a:r>
            <a:r>
              <a:rPr lang="en-US" altLang="zh-CN" dirty="0" err="1"/>
              <a:t>i</a:t>
            </a:r>
            <a:r>
              <a:rPr lang="en-US" altLang="zh-CN" dirty="0"/>
              <a:t>=1; </a:t>
            </a:r>
            <a:r>
              <a:rPr lang="en-US" altLang="zh-CN" dirty="0" err="1"/>
              <a:t>i</a:t>
            </a:r>
            <a:r>
              <a:rPr lang="en-US" altLang="zh-CN" dirty="0">
                <a:sym typeface="Symbol" pitchFamily="18" charset="2"/>
              </a:rPr>
              <a:t>&lt;</a:t>
            </a:r>
            <a:r>
              <a:rPr lang="en-US" altLang="zh-CN" dirty="0"/>
              <a:t>N; </a:t>
            </a:r>
            <a:r>
              <a:rPr lang="en-US" altLang="zh-CN" dirty="0" err="1"/>
              <a:t>i</a:t>
            </a:r>
            <a:r>
              <a:rPr lang="en-US" altLang="zh-CN" dirty="0"/>
              <a:t>++) S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1FCF41A5-A5D0-4678-8881-298D4A9ACD6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15000" y="892547"/>
            <a:ext cx="4019210" cy="459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677481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796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500"/>
                                        <p:tgtEl>
                                          <p:spTgt spid="796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500"/>
                                        <p:tgtEl>
                                          <p:spTgt spid="796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500"/>
                                        <p:tgtEl>
                                          <p:spTgt spid="796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500"/>
                                        <p:tgtEl>
                                          <p:spTgt spid="796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500"/>
                                        <p:tgtEl>
                                          <p:spTgt spid="796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500"/>
                                        <p:tgtEl>
                                          <p:spTgt spid="796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500"/>
                                        <p:tgtEl>
                                          <p:spTgt spid="796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500"/>
                                        <p:tgtEl>
                                          <p:spTgt spid="796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698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大多数程序设计语言提供</a:t>
            </a:r>
            <a:r>
              <a:rPr lang="en-US" altLang="zh-CN" dirty="0" err="1"/>
              <a:t>goto</a:t>
            </a:r>
            <a:r>
              <a:rPr lang="zh-CN" altLang="en-US" dirty="0"/>
              <a:t>语句，这是随意修改程序计数器值的抽象。 </a:t>
            </a:r>
          </a:p>
          <a:p>
            <a:r>
              <a:rPr lang="en-US" altLang="zh-CN" dirty="0">
                <a:solidFill>
                  <a:srgbClr val="EE853E"/>
                </a:solidFill>
              </a:rPr>
              <a:t>Dijkstra</a:t>
            </a:r>
            <a:r>
              <a:rPr lang="zh-CN" altLang="en-US" dirty="0"/>
              <a:t>于</a:t>
            </a:r>
            <a:r>
              <a:rPr lang="en-US" altLang="zh-CN" dirty="0">
                <a:solidFill>
                  <a:srgbClr val="EE853E"/>
                </a:solidFill>
              </a:rPr>
              <a:t>1968</a:t>
            </a:r>
            <a:r>
              <a:rPr lang="zh-CN" altLang="en-US" dirty="0"/>
              <a:t>年发表了著名论文，论述了</a:t>
            </a:r>
            <a:r>
              <a:rPr lang="en-US" altLang="zh-CN" dirty="0" err="1"/>
              <a:t>goto</a:t>
            </a:r>
            <a:r>
              <a:rPr lang="zh-CN" altLang="en-US" dirty="0"/>
              <a:t>语句对程序设计的影响。</a:t>
            </a:r>
          </a:p>
          <a:p>
            <a:r>
              <a:rPr lang="zh-CN" altLang="en-US" dirty="0"/>
              <a:t>结论：包含</a:t>
            </a:r>
            <a:r>
              <a:rPr lang="zh-CN" altLang="en-US" dirty="0">
                <a:solidFill>
                  <a:srgbClr val="EE853E"/>
                </a:solidFill>
              </a:rPr>
              <a:t>许多</a:t>
            </a:r>
            <a:r>
              <a:rPr lang="en-US" altLang="zh-CN" dirty="0" err="1">
                <a:solidFill>
                  <a:srgbClr val="EE853E"/>
                </a:solidFill>
              </a:rPr>
              <a:t>goto</a:t>
            </a:r>
            <a:r>
              <a:rPr lang="zh-CN" altLang="en-US" dirty="0">
                <a:solidFill>
                  <a:srgbClr val="EE853E"/>
                </a:solidFill>
              </a:rPr>
              <a:t>语句</a:t>
            </a:r>
            <a:r>
              <a:rPr lang="zh-CN" altLang="en-US" dirty="0"/>
              <a:t>的程序隐含许多出错的机会。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一些语言（</a:t>
            </a:r>
            <a:r>
              <a:rPr lang="en-US" altLang="zh-CN" dirty="0"/>
              <a:t> </a:t>
            </a:r>
            <a:r>
              <a:rPr lang="zh-CN" altLang="en-US" dirty="0"/>
              <a:t>如</a:t>
            </a:r>
            <a:r>
              <a:rPr lang="en-US" altLang="zh-CN" dirty="0"/>
              <a:t>Java </a:t>
            </a:r>
            <a:r>
              <a:rPr lang="zh-CN" altLang="en-US" dirty="0"/>
              <a:t>）吸取了 </a:t>
            </a:r>
            <a:r>
              <a:rPr lang="en-US" altLang="zh-CN" dirty="0" err="1" smtClean="0"/>
              <a:t>Dijkstra</a:t>
            </a:r>
            <a:r>
              <a:rPr lang="en-US" altLang="zh-CN" dirty="0" smtClean="0"/>
              <a:t> </a:t>
            </a:r>
            <a:r>
              <a:rPr lang="zh-CN" altLang="en-US" dirty="0"/>
              <a:t>的建议，</a:t>
            </a:r>
            <a:r>
              <a:rPr lang="zh-CN" altLang="en-US" dirty="0">
                <a:solidFill>
                  <a:srgbClr val="EE853E"/>
                </a:solidFill>
              </a:rPr>
              <a:t>废弃</a:t>
            </a:r>
            <a:r>
              <a:rPr lang="en-US" altLang="zh-CN" dirty="0" err="1">
                <a:solidFill>
                  <a:srgbClr val="EE853E"/>
                </a:solidFill>
              </a:rPr>
              <a:t>goto</a:t>
            </a:r>
            <a:r>
              <a:rPr lang="zh-CN" altLang="en-US" dirty="0">
                <a:solidFill>
                  <a:srgbClr val="EE853E"/>
                </a:solidFill>
              </a:rPr>
              <a:t>语句</a:t>
            </a:r>
            <a:r>
              <a:rPr lang="zh-CN" altLang="en-US" dirty="0"/>
              <a:t>，使</a:t>
            </a:r>
            <a:r>
              <a:rPr lang="zh-CN" altLang="en-US" dirty="0">
                <a:solidFill>
                  <a:srgbClr val="EE853E"/>
                </a:solidFill>
              </a:rPr>
              <a:t>程序逻辑更加清晰</a:t>
            </a:r>
            <a:r>
              <a:rPr lang="zh-CN" altLang="en-US" dirty="0"/>
              <a:t>。</a:t>
            </a:r>
            <a:r>
              <a:rPr lang="en-US" altLang="zh-CN" dirty="0"/>
              <a:t>C</a:t>
            </a:r>
            <a:r>
              <a:rPr lang="zh-CN" altLang="en-US" dirty="0"/>
              <a:t>语言为了实现控制转移，特别设计了 </a:t>
            </a:r>
            <a:r>
              <a:rPr lang="en-US" altLang="zh-CN" dirty="0">
                <a:solidFill>
                  <a:srgbClr val="EE853E"/>
                </a:solidFill>
              </a:rPr>
              <a:t>break</a:t>
            </a:r>
            <a:r>
              <a:rPr lang="en-US" altLang="zh-CN" dirty="0"/>
              <a:t> </a:t>
            </a:r>
            <a:r>
              <a:rPr lang="zh-CN" altLang="en-US" dirty="0"/>
              <a:t>语句和 </a:t>
            </a:r>
            <a:r>
              <a:rPr lang="en-US" altLang="zh-CN" dirty="0">
                <a:solidFill>
                  <a:srgbClr val="EE853E"/>
                </a:solidFill>
              </a:rPr>
              <a:t>continue</a:t>
            </a:r>
            <a:r>
              <a:rPr lang="en-US" altLang="zh-CN" dirty="0"/>
              <a:t> </a:t>
            </a:r>
            <a:r>
              <a:rPr lang="zh-CN" altLang="en-US" dirty="0"/>
              <a:t>语句，从而实现“</a:t>
            </a:r>
            <a:r>
              <a:rPr lang="zh-CN" altLang="en-US" dirty="0">
                <a:solidFill>
                  <a:srgbClr val="EE853E"/>
                </a:solidFill>
              </a:rPr>
              <a:t>有节制</a:t>
            </a:r>
            <a:r>
              <a:rPr lang="zh-CN" altLang="en-US" dirty="0"/>
              <a:t>”地使用 </a:t>
            </a:r>
            <a:r>
              <a:rPr lang="en-US" altLang="zh-CN" dirty="0" err="1"/>
              <a:t>goto</a:t>
            </a:r>
            <a:r>
              <a:rPr lang="en-US" altLang="zh-CN" dirty="0"/>
              <a:t> </a:t>
            </a:r>
            <a:r>
              <a:rPr lang="zh-CN" altLang="en-US" dirty="0"/>
              <a:t>语句。大多数语言提供了丰富的控制结构，通常也提供了</a:t>
            </a:r>
            <a:r>
              <a:rPr lang="en-US" altLang="zh-CN" dirty="0" err="1"/>
              <a:t>goto</a:t>
            </a:r>
            <a:r>
              <a:rPr lang="zh-CN" altLang="en-US" dirty="0"/>
              <a:t>语句。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</a:t>
            </a:r>
            <a:r>
              <a:rPr lang="en-US" dirty="0" err="1"/>
              <a:t>goto</a:t>
            </a:r>
            <a:r>
              <a:rPr lang="zh-CN" altLang="en-US" dirty="0"/>
              <a:t>语句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776675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7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Bohm</a:t>
            </a:r>
            <a:r>
              <a:rPr lang="zh-CN" altLang="en-US" dirty="0"/>
              <a:t>和</a:t>
            </a:r>
            <a:r>
              <a:rPr lang="en-US" altLang="zh-CN" dirty="0" err="1"/>
              <a:t>Jacopini</a:t>
            </a:r>
            <a:r>
              <a:rPr lang="zh-CN" altLang="en-US" dirty="0"/>
              <a:t>于</a:t>
            </a:r>
            <a:r>
              <a:rPr lang="en-US" altLang="zh-CN" dirty="0">
                <a:solidFill>
                  <a:srgbClr val="EE853E"/>
                </a:solidFill>
              </a:rPr>
              <a:t>1966</a:t>
            </a:r>
            <a:r>
              <a:rPr lang="zh-CN" altLang="en-US" dirty="0"/>
              <a:t>年在理论上证明，使用</a:t>
            </a:r>
            <a:r>
              <a:rPr lang="zh-CN" altLang="en-US" dirty="0">
                <a:solidFill>
                  <a:srgbClr val="EE853E"/>
                </a:solidFill>
              </a:rPr>
              <a:t>顺序、选择和重复</a:t>
            </a:r>
            <a:r>
              <a:rPr lang="zh-CN" altLang="en-US" dirty="0"/>
              <a:t>就可对计算机</a:t>
            </a:r>
            <a:r>
              <a:rPr lang="zh-CN" altLang="en-US" dirty="0">
                <a:solidFill>
                  <a:srgbClr val="EE853E"/>
                </a:solidFill>
              </a:rPr>
              <a:t>所有可能</a:t>
            </a:r>
            <a:r>
              <a:rPr lang="zh-CN" altLang="en-US" dirty="0"/>
              <a:t>的算法进行编码。因此，这</a:t>
            </a:r>
            <a:r>
              <a:rPr lang="en-US" altLang="zh-CN" dirty="0"/>
              <a:t>3</a:t>
            </a:r>
            <a:r>
              <a:rPr lang="zh-CN" altLang="en-US" dirty="0"/>
              <a:t>种结构组成了控制结构的有效集合。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然而，仅仅使用这 </a:t>
            </a:r>
            <a:r>
              <a:rPr lang="en-US" altLang="zh-CN" dirty="0"/>
              <a:t>3 </a:t>
            </a:r>
            <a:r>
              <a:rPr lang="zh-CN" altLang="en-US" dirty="0"/>
              <a:t>种控制结构写出的程序</a:t>
            </a:r>
            <a:r>
              <a:rPr lang="zh-CN" altLang="en-US" dirty="0">
                <a:solidFill>
                  <a:srgbClr val="EE853E"/>
                </a:solidFill>
              </a:rPr>
              <a:t>不太直观</a:t>
            </a:r>
            <a:r>
              <a:rPr lang="zh-CN" altLang="en-US" dirty="0"/>
              <a:t>。</a:t>
            </a:r>
            <a:r>
              <a:rPr lang="zh-CN" altLang="en-US" dirty="0">
                <a:solidFill>
                  <a:srgbClr val="EE853E"/>
                </a:solidFill>
              </a:rPr>
              <a:t>增加</a:t>
            </a:r>
            <a:r>
              <a:rPr lang="zh-CN" altLang="en-US" dirty="0"/>
              <a:t>一些控制结构的</a:t>
            </a:r>
            <a:r>
              <a:rPr lang="zh-CN" altLang="en-US" dirty="0">
                <a:solidFill>
                  <a:srgbClr val="EE853E"/>
                </a:solidFill>
              </a:rPr>
              <a:t>表达方式</a:t>
            </a:r>
            <a:r>
              <a:rPr lang="zh-CN" altLang="en-US" dirty="0"/>
              <a:t>（如：增加多重选择 </a:t>
            </a:r>
            <a:r>
              <a:rPr lang="en-US" altLang="zh-CN" dirty="0"/>
              <a:t>case</a:t>
            </a:r>
            <a:r>
              <a:rPr lang="zh-CN" altLang="en-US" dirty="0"/>
              <a:t>，</a:t>
            </a:r>
            <a:r>
              <a:rPr lang="en-US" altLang="zh-CN" dirty="0"/>
              <a:t>do-while</a:t>
            </a:r>
            <a:r>
              <a:rPr lang="zh-CN" altLang="en-US" dirty="0"/>
              <a:t>，</a:t>
            </a:r>
            <a:r>
              <a:rPr lang="en-US" altLang="zh-CN" dirty="0"/>
              <a:t>repeat-until</a:t>
            </a:r>
            <a:r>
              <a:rPr lang="zh-CN" altLang="en-US" dirty="0"/>
              <a:t>等），虽然在</a:t>
            </a:r>
            <a:r>
              <a:rPr lang="zh-CN" altLang="en-US" dirty="0">
                <a:solidFill>
                  <a:srgbClr val="EE853E"/>
                </a:solidFill>
              </a:rPr>
              <a:t>理论</a:t>
            </a:r>
            <a:r>
              <a:rPr lang="zh-CN" altLang="en-US" dirty="0"/>
              <a:t>上是多余的，但这样的确能提高程序的</a:t>
            </a:r>
            <a:r>
              <a:rPr lang="zh-CN" altLang="en-US" dirty="0">
                <a:solidFill>
                  <a:srgbClr val="EE853E"/>
                </a:solidFill>
              </a:rPr>
              <a:t>可写性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EE853E"/>
                </a:solidFill>
              </a:rPr>
              <a:t>可读性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语言提供怎样的控制结构，才能更好地满足程序设计的所有需要？对这个问题</a:t>
            </a:r>
            <a:r>
              <a:rPr lang="zh-CN" altLang="en-US" smtClean="0">
                <a:solidFill>
                  <a:srgbClr val="EE853E"/>
                </a:solidFill>
              </a:rPr>
              <a:t>仍在讨论</a:t>
            </a:r>
            <a:r>
              <a:rPr lang="zh-CN" altLang="en-US" smtClean="0"/>
              <a:t>。</a:t>
            </a:r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xmlns="" id="{34C0AAAC-0DDC-4238-99FC-2E9DBFE56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语句级控制结构讨论</a:t>
            </a:r>
          </a:p>
        </p:txBody>
      </p:sp>
    </p:spTree>
    <p:extLst>
      <p:ext uri="{BB962C8B-B14F-4D97-AF65-F5344CB8AC3E}">
        <p14:creationId xmlns:p14="http://schemas.microsoft.com/office/powerpoint/2010/main" xmlns="" val="907997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5737</TotalTime>
  <Words>454</Words>
  <Application>Microsoft Office PowerPoint</Application>
  <PresentationFormat>自定义</PresentationFormat>
  <Paragraphs>63</Paragraphs>
  <Slides>10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1" baseType="lpstr">
      <vt:lpstr>环保</vt:lpstr>
      <vt:lpstr>第三章 控制结构</vt:lpstr>
      <vt:lpstr>语句级控制结构讨论</vt:lpstr>
      <vt:lpstr>语句级控制结构讨论</vt:lpstr>
      <vt:lpstr>语句级控制结构讨论</vt:lpstr>
      <vt:lpstr>语句级控制结构讨论</vt:lpstr>
      <vt:lpstr>if  B  then  S</vt:lpstr>
      <vt:lpstr>if  B then S1  else  S2</vt:lpstr>
      <vt:lpstr>for(i=1; i&lt;N; i++) S</vt:lpstr>
      <vt:lpstr>关于goto语句</vt:lpstr>
      <vt:lpstr>语句级控制结构讨论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</dc:creator>
  <cp:lastModifiedBy>陈文宇</cp:lastModifiedBy>
  <cp:revision>1040</cp:revision>
  <cp:lastPrinted>1601-01-01T00:00:00Z</cp:lastPrinted>
  <dcterms:created xsi:type="dcterms:W3CDTF">1601-01-01T00:00:00Z</dcterms:created>
  <dcterms:modified xsi:type="dcterms:W3CDTF">2019-11-29T00:44:13Z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