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01" r:id="rId1"/>
  </p:sldMasterIdLst>
  <p:notesMasterIdLst>
    <p:notesMasterId r:id="rId31"/>
  </p:notesMasterIdLst>
  <p:handoutMasterIdLst>
    <p:handoutMasterId r:id="rId32"/>
  </p:handoutMasterIdLst>
  <p:sldIdLst>
    <p:sldId id="924" r:id="rId2"/>
    <p:sldId id="708" r:id="rId3"/>
    <p:sldId id="709" r:id="rId4"/>
    <p:sldId id="710" r:id="rId5"/>
    <p:sldId id="711" r:id="rId6"/>
    <p:sldId id="712" r:id="rId7"/>
    <p:sldId id="713" r:id="rId8"/>
    <p:sldId id="715" r:id="rId9"/>
    <p:sldId id="716" r:id="rId10"/>
    <p:sldId id="718" r:id="rId11"/>
    <p:sldId id="720" r:id="rId12"/>
    <p:sldId id="722" r:id="rId13"/>
    <p:sldId id="723" r:id="rId14"/>
    <p:sldId id="724" r:id="rId15"/>
    <p:sldId id="725" r:id="rId16"/>
    <p:sldId id="727" r:id="rId17"/>
    <p:sldId id="729" r:id="rId18"/>
    <p:sldId id="741" r:id="rId19"/>
    <p:sldId id="742" r:id="rId20"/>
    <p:sldId id="743" r:id="rId21"/>
    <p:sldId id="744" r:id="rId22"/>
    <p:sldId id="892" r:id="rId23"/>
    <p:sldId id="893" r:id="rId24"/>
    <p:sldId id="894" r:id="rId25"/>
    <p:sldId id="898" r:id="rId26"/>
    <p:sldId id="899" r:id="rId27"/>
    <p:sldId id="901" r:id="rId28"/>
    <p:sldId id="907" r:id="rId29"/>
    <p:sldId id="908" r:id="rId30"/>
  </p:sldIdLst>
  <p:sldSz cx="12192000" cy="6858000"/>
  <p:notesSz cx="2782888" cy="3717925"/>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853E"/>
    <a:srgbClr val="A18D60"/>
    <a:srgbClr val="EE8A3E"/>
    <a:srgbClr val="E98A3E"/>
    <a:srgbClr val="04141B"/>
    <a:srgbClr val="D9B247"/>
    <a:srgbClr val="2A9995"/>
    <a:srgbClr val="54D0CA"/>
    <a:srgbClr val="0000FF"/>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13" autoAdjust="0"/>
    <p:restoredTop sz="91606" autoAdjust="0"/>
  </p:normalViewPr>
  <p:slideViewPr>
    <p:cSldViewPr>
      <p:cViewPr varScale="1">
        <p:scale>
          <a:sx n="62" d="100"/>
          <a:sy n="62" d="100"/>
        </p:scale>
        <p:origin x="27" y="19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2148"/>
    </p:cViewPr>
  </p:sorterViewPr>
  <p:notesViewPr>
    <p:cSldViewPr>
      <p:cViewPr varScale="1">
        <p:scale>
          <a:sx n="183" d="100"/>
          <a:sy n="183" d="100"/>
        </p:scale>
        <p:origin x="2668"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4594" name="Rectangle 2"/>
          <p:cNvSpPr>
            <a:spLocks noGrp="1" noChangeArrowheads="1"/>
          </p:cNvSpPr>
          <p:nvPr>
            <p:ph type="hdr" sz="quarter"/>
          </p:nvPr>
        </p:nvSpPr>
        <p:spPr bwMode="auto">
          <a:xfrm>
            <a:off x="0" y="0"/>
            <a:ext cx="1206500"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494595" name="Rectangle 3"/>
          <p:cNvSpPr>
            <a:spLocks noGrp="1" noChangeArrowheads="1"/>
          </p:cNvSpPr>
          <p:nvPr>
            <p:ph type="dt" sz="quarter" idx="1"/>
          </p:nvPr>
        </p:nvSpPr>
        <p:spPr bwMode="auto">
          <a:xfrm>
            <a:off x="1576388" y="0"/>
            <a:ext cx="1206500"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ea typeface="宋体" pitchFamily="2" charset="-122"/>
              </a:defRPr>
            </a:lvl1pPr>
          </a:lstStyle>
          <a:p>
            <a:pPr>
              <a:defRPr/>
            </a:pPr>
            <a:endParaRPr lang="en-US" altLang="zh-CN"/>
          </a:p>
        </p:txBody>
      </p:sp>
      <p:sp>
        <p:nvSpPr>
          <p:cNvPr id="494596" name="Rectangle 4"/>
          <p:cNvSpPr>
            <a:spLocks noGrp="1" noChangeArrowheads="1"/>
          </p:cNvSpPr>
          <p:nvPr>
            <p:ph type="ftr" sz="quarter" idx="2"/>
          </p:nvPr>
        </p:nvSpPr>
        <p:spPr bwMode="auto">
          <a:xfrm>
            <a:off x="0" y="3530600"/>
            <a:ext cx="1206500"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494597" name="Rectangle 5"/>
          <p:cNvSpPr>
            <a:spLocks noGrp="1" noChangeArrowheads="1"/>
          </p:cNvSpPr>
          <p:nvPr>
            <p:ph type="sldNum" sz="quarter" idx="3"/>
          </p:nvPr>
        </p:nvSpPr>
        <p:spPr bwMode="auto">
          <a:xfrm>
            <a:off x="1576388" y="3530600"/>
            <a:ext cx="1206500"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DF22DA3B-951B-42A7-9A91-80A8B753C47B}" type="slidenum">
              <a:rPr lang="en-US" altLang="zh-CN"/>
              <a:pPr/>
              <a:t>‹#›</a:t>
            </a:fld>
            <a:endParaRPr lang="en-US" altLang="zh-CN"/>
          </a:p>
        </p:txBody>
      </p:sp>
    </p:spTree>
    <p:extLst>
      <p:ext uri="{BB962C8B-B14F-4D97-AF65-F5344CB8AC3E}">
        <p14:creationId xmlns:p14="http://schemas.microsoft.com/office/powerpoint/2010/main" val="116196182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4786" name="Rectangle 2"/>
          <p:cNvSpPr>
            <a:spLocks noGrp="1" noChangeArrowheads="1"/>
          </p:cNvSpPr>
          <p:nvPr>
            <p:ph type="hdr" sz="quarter"/>
          </p:nvPr>
        </p:nvSpPr>
        <p:spPr bwMode="auto">
          <a:xfrm>
            <a:off x="0" y="0"/>
            <a:ext cx="1206500"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t" anchorCtr="0" compatLnSpc="1">
            <a:prstTxWarp prst="textNoShape">
              <a:avLst/>
            </a:prstTxWarp>
          </a:bodyPr>
          <a:lstStyle>
            <a:lvl1pPr defTabSz="371475">
              <a:defRPr sz="500">
                <a:latin typeface="Arial" charset="0"/>
                <a:ea typeface="宋体" pitchFamily="2" charset="-122"/>
              </a:defRPr>
            </a:lvl1pPr>
          </a:lstStyle>
          <a:p>
            <a:pPr>
              <a:defRPr/>
            </a:pPr>
            <a:endParaRPr lang="en-US" altLang="zh-CN"/>
          </a:p>
        </p:txBody>
      </p:sp>
      <p:sp>
        <p:nvSpPr>
          <p:cNvPr id="374787" name="Rectangle 3"/>
          <p:cNvSpPr>
            <a:spLocks noGrp="1" noChangeArrowheads="1"/>
          </p:cNvSpPr>
          <p:nvPr>
            <p:ph type="dt" idx="1"/>
          </p:nvPr>
        </p:nvSpPr>
        <p:spPr bwMode="auto">
          <a:xfrm>
            <a:off x="1576388" y="0"/>
            <a:ext cx="1206500"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t" anchorCtr="0" compatLnSpc="1">
            <a:prstTxWarp prst="textNoShape">
              <a:avLst/>
            </a:prstTxWarp>
          </a:bodyPr>
          <a:lstStyle>
            <a:lvl1pPr algn="r" defTabSz="371475">
              <a:defRPr sz="500">
                <a:latin typeface="Arial" charset="0"/>
                <a:ea typeface="宋体" pitchFamily="2" charset="-122"/>
              </a:defRPr>
            </a:lvl1pPr>
          </a:lstStyle>
          <a:p>
            <a:pPr>
              <a:defRPr/>
            </a:pPr>
            <a:endParaRPr lang="en-US" altLang="zh-CN"/>
          </a:p>
        </p:txBody>
      </p:sp>
      <p:sp>
        <p:nvSpPr>
          <p:cNvPr id="58372" name="Rectangle 4"/>
          <p:cNvSpPr>
            <a:spLocks noGrp="1" noRot="1" noChangeAspect="1" noChangeArrowheads="1" noTextEdit="1"/>
          </p:cNvSpPr>
          <p:nvPr>
            <p:ph type="sldImg" idx="2"/>
          </p:nvPr>
        </p:nvSpPr>
        <p:spPr bwMode="auto">
          <a:xfrm>
            <a:off x="153988" y="279400"/>
            <a:ext cx="2474912" cy="1393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74789" name="Rectangle 5"/>
          <p:cNvSpPr>
            <a:spLocks noGrp="1" noChangeArrowheads="1"/>
          </p:cNvSpPr>
          <p:nvPr>
            <p:ph type="body" sz="quarter" idx="3"/>
          </p:nvPr>
        </p:nvSpPr>
        <p:spPr bwMode="auto">
          <a:xfrm>
            <a:off x="277813" y="1765300"/>
            <a:ext cx="2227262" cy="167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74790" name="Rectangle 6"/>
          <p:cNvSpPr>
            <a:spLocks noGrp="1" noChangeArrowheads="1"/>
          </p:cNvSpPr>
          <p:nvPr>
            <p:ph type="ftr" sz="quarter" idx="4"/>
          </p:nvPr>
        </p:nvSpPr>
        <p:spPr bwMode="auto">
          <a:xfrm>
            <a:off x="0" y="3530600"/>
            <a:ext cx="1206500"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b" anchorCtr="0" compatLnSpc="1">
            <a:prstTxWarp prst="textNoShape">
              <a:avLst/>
            </a:prstTxWarp>
          </a:bodyPr>
          <a:lstStyle>
            <a:lvl1pPr defTabSz="371475">
              <a:defRPr sz="500">
                <a:latin typeface="Arial" charset="0"/>
                <a:ea typeface="宋体" pitchFamily="2" charset="-122"/>
              </a:defRPr>
            </a:lvl1pPr>
          </a:lstStyle>
          <a:p>
            <a:pPr>
              <a:defRPr/>
            </a:pPr>
            <a:endParaRPr lang="en-US" altLang="zh-CN"/>
          </a:p>
        </p:txBody>
      </p:sp>
      <p:sp>
        <p:nvSpPr>
          <p:cNvPr id="374791" name="Rectangle 7"/>
          <p:cNvSpPr>
            <a:spLocks noGrp="1" noChangeArrowheads="1"/>
          </p:cNvSpPr>
          <p:nvPr>
            <p:ph type="sldNum" sz="quarter" idx="5"/>
          </p:nvPr>
        </p:nvSpPr>
        <p:spPr bwMode="auto">
          <a:xfrm>
            <a:off x="1576388" y="3530600"/>
            <a:ext cx="1206500"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b" anchorCtr="0" compatLnSpc="1">
            <a:prstTxWarp prst="textNoShape">
              <a:avLst/>
            </a:prstTxWarp>
          </a:bodyPr>
          <a:lstStyle>
            <a:lvl1pPr algn="r" defTabSz="371475">
              <a:defRPr sz="500"/>
            </a:lvl1pPr>
          </a:lstStyle>
          <a:p>
            <a:fld id="{7C94B347-5D95-4F16-91F2-C12A0B20C48C}" type="slidenum">
              <a:rPr lang="en-US" altLang="zh-CN"/>
              <a:pPr/>
              <a:t>‹#›</a:t>
            </a:fld>
            <a:endParaRPr lang="en-US" altLang="zh-CN"/>
          </a:p>
        </p:txBody>
      </p:sp>
    </p:spTree>
    <p:extLst>
      <p:ext uri="{BB962C8B-B14F-4D97-AF65-F5344CB8AC3E}">
        <p14:creationId xmlns:p14="http://schemas.microsoft.com/office/powerpoint/2010/main" val="2842771468"/>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iki.ccw.com.cn/%E5%A7%9A%E6%9C%9F%E6%99%BA"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p:spPr>
        <p:txBody>
          <a:bodyPr/>
          <a:lstStyle/>
          <a:p>
            <a:fld id="{868F599D-87DA-4D7D-9C75-3A3B92B76793}" type="slidenum">
              <a:rPr lang="en-US" altLang="zh-CN" smtClean="0"/>
              <a:pPr/>
              <a:t>9</a:t>
            </a:fld>
            <a:endParaRPr lang="en-US" altLang="zh-CN"/>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a:ln/>
        </p:spPr>
        <p:txBody>
          <a:bodyPr/>
          <a:lstStyle/>
          <a:p>
            <a:pPr eaLnBrk="1" hangingPunct="1"/>
            <a:r>
              <a:rPr lang="zh-CN" altLang="en-US" dirty="0"/>
              <a:t>图灵奖，是国际计算机协会（</a:t>
            </a:r>
            <a:r>
              <a:rPr lang="en-US" altLang="zh-CN" dirty="0"/>
              <a:t>ACM</a:t>
            </a:r>
            <a:r>
              <a:rPr lang="zh-CN" altLang="en-US" dirty="0"/>
              <a:t>）于</a:t>
            </a:r>
            <a:r>
              <a:rPr lang="en-US" altLang="zh-CN" dirty="0"/>
              <a:t>1966</a:t>
            </a:r>
            <a:r>
              <a:rPr lang="zh-CN" altLang="en-US" dirty="0"/>
              <a:t>年设立的，又叫“</a:t>
            </a:r>
            <a:r>
              <a:rPr lang="en-US" altLang="zh-CN" dirty="0"/>
              <a:t>A.M. </a:t>
            </a:r>
            <a:r>
              <a:rPr lang="zh-CN" altLang="en-US" dirty="0"/>
              <a:t>图灵奖”，专门奖励那些对计算机事业作出重要贡献的个人。其名称取自计算机科学的先驱、英国科学家阿兰</a:t>
            </a:r>
            <a:r>
              <a:rPr lang="en-US" altLang="zh-CN" dirty="0"/>
              <a:t>·</a:t>
            </a:r>
            <a:r>
              <a:rPr lang="zh-CN" altLang="en-US" dirty="0"/>
              <a:t>图灵，这个奖设立目的之一是纪念这位科学家。</a:t>
            </a:r>
            <a:br>
              <a:rPr lang="zh-CN" altLang="en-US" dirty="0"/>
            </a:br>
            <a:r>
              <a:rPr lang="zh-CN" altLang="en-US" dirty="0"/>
              <a:t>图灵奖是计算机界最负盛名的奖项，有“计算机界诺贝尔奖”之称。图灵奖对获奖者的要求极高，评奖程序也极严，一般每年只奖励一名计算机科学家，只有极少数年度有两名以上在同一方向上做出贡献的科学家同时获奖。 </a:t>
            </a:r>
          </a:p>
          <a:p>
            <a:pPr eaLnBrk="1" hangingPunct="1"/>
            <a:endParaRPr lang="zh-CN" altLang="en-US" dirty="0"/>
          </a:p>
          <a:p>
            <a:pPr eaLnBrk="1" hangingPunct="1"/>
            <a:endParaRPr lang="zh-CN" altLang="en-US" dirty="0"/>
          </a:p>
          <a:p>
            <a:pPr eaLnBrk="1" hangingPunct="1"/>
            <a:r>
              <a:rPr lang="en-US" altLang="zh-CN" dirty="0"/>
              <a:t>FORTRAN</a:t>
            </a:r>
            <a:r>
              <a:rPr lang="zh-CN" altLang="en-US" dirty="0"/>
              <a:t>的发明者约翰</a:t>
            </a:r>
            <a:r>
              <a:rPr lang="en-US" altLang="zh-CN" dirty="0"/>
              <a:t>·</a:t>
            </a:r>
            <a:r>
              <a:rPr lang="zh-CN" altLang="en-US" dirty="0"/>
              <a:t>华纳</a:t>
            </a:r>
            <a:r>
              <a:rPr lang="en-US" altLang="zh-CN" dirty="0"/>
              <a:t>·</a:t>
            </a:r>
            <a:r>
              <a:rPr lang="zh-CN" altLang="en-US" b="1" dirty="0"/>
              <a:t>巴科斯</a:t>
            </a:r>
            <a:r>
              <a:rPr lang="zh-CN" altLang="en-US" dirty="0"/>
              <a:t>（</a:t>
            </a:r>
            <a:r>
              <a:rPr lang="en-US" altLang="zh-CN" dirty="0"/>
              <a:t>John Warner Backus</a:t>
            </a:r>
            <a:r>
              <a:rPr lang="zh-CN" altLang="en-US" dirty="0"/>
              <a:t>）于</a:t>
            </a:r>
            <a:r>
              <a:rPr lang="en-US" altLang="zh-CN" dirty="0"/>
              <a:t>2007</a:t>
            </a:r>
            <a:r>
              <a:rPr lang="zh-CN" altLang="en-US" dirty="0"/>
              <a:t>年</a:t>
            </a:r>
            <a:r>
              <a:rPr lang="en-US" altLang="zh-CN" dirty="0"/>
              <a:t>3</a:t>
            </a:r>
            <a:r>
              <a:rPr lang="zh-CN" altLang="en-US" dirty="0"/>
              <a:t>月</a:t>
            </a:r>
            <a:r>
              <a:rPr lang="en-US" altLang="zh-CN" dirty="0"/>
              <a:t>17</a:t>
            </a:r>
            <a:r>
              <a:rPr lang="zh-CN" altLang="en-US" dirty="0"/>
              <a:t>日在他位于俄勒冈州</a:t>
            </a:r>
            <a:r>
              <a:rPr lang="en-US" altLang="zh-CN" dirty="0"/>
              <a:t>Ashland</a:t>
            </a:r>
            <a:r>
              <a:rPr lang="zh-CN" altLang="en-US" dirty="0"/>
              <a:t>的家中去世，享年</a:t>
            </a:r>
            <a:r>
              <a:rPr lang="en-US" altLang="zh-CN" dirty="0"/>
              <a:t>82</a:t>
            </a:r>
            <a:r>
              <a:rPr lang="zh-CN" altLang="en-US" dirty="0"/>
              <a:t>岁。维基百科上是这样描述</a:t>
            </a:r>
            <a:r>
              <a:rPr lang="zh-CN" altLang="en-US" b="1" dirty="0"/>
              <a:t>巴科斯</a:t>
            </a:r>
            <a:r>
              <a:rPr lang="zh-CN" altLang="en-US" dirty="0"/>
              <a:t>的：</a:t>
            </a:r>
          </a:p>
          <a:p>
            <a:pPr eaLnBrk="1" hangingPunct="1"/>
            <a:r>
              <a:rPr lang="zh-CN" altLang="en-US" dirty="0"/>
              <a:t>约翰</a:t>
            </a:r>
            <a:r>
              <a:rPr lang="en-US" altLang="zh-CN" dirty="0"/>
              <a:t>·</a:t>
            </a:r>
            <a:r>
              <a:rPr lang="zh-CN" altLang="en-US" dirty="0"/>
              <a:t>华纳</a:t>
            </a:r>
            <a:r>
              <a:rPr lang="en-US" altLang="zh-CN" dirty="0"/>
              <a:t>·</a:t>
            </a:r>
            <a:r>
              <a:rPr lang="zh-CN" altLang="en-US" b="1" dirty="0"/>
              <a:t>巴科斯</a:t>
            </a:r>
            <a:r>
              <a:rPr lang="zh-CN" altLang="en-US" dirty="0"/>
              <a:t>（</a:t>
            </a:r>
            <a:r>
              <a:rPr lang="en-US" altLang="zh-CN" dirty="0"/>
              <a:t>1924</a:t>
            </a:r>
            <a:r>
              <a:rPr lang="zh-CN" altLang="en-US" dirty="0"/>
              <a:t>年</a:t>
            </a:r>
            <a:r>
              <a:rPr lang="en-US" altLang="zh-CN" dirty="0"/>
              <a:t>12</a:t>
            </a:r>
            <a:r>
              <a:rPr lang="zh-CN" altLang="en-US" dirty="0"/>
              <a:t>月</a:t>
            </a:r>
            <a:r>
              <a:rPr lang="en-US" altLang="zh-CN" dirty="0"/>
              <a:t>3</a:t>
            </a:r>
            <a:r>
              <a:rPr lang="zh-CN" altLang="en-US" dirty="0"/>
              <a:t>日</a:t>
            </a:r>
            <a:r>
              <a:rPr lang="en-US" altLang="zh-CN" dirty="0"/>
              <a:t>—2007</a:t>
            </a:r>
            <a:r>
              <a:rPr lang="zh-CN" altLang="en-US" dirty="0"/>
              <a:t>年</a:t>
            </a:r>
            <a:r>
              <a:rPr lang="en-US" altLang="zh-CN" dirty="0"/>
              <a:t>3</a:t>
            </a:r>
            <a:r>
              <a:rPr lang="zh-CN" altLang="en-US" dirty="0"/>
              <a:t>月</a:t>
            </a:r>
            <a:r>
              <a:rPr lang="en-US" altLang="zh-CN" dirty="0"/>
              <a:t>17</a:t>
            </a:r>
            <a:r>
              <a:rPr lang="zh-CN" altLang="en-US" dirty="0"/>
              <a:t>日），美国计算机科学家。他以发明第一个高级程序设计语言（</a:t>
            </a:r>
            <a:r>
              <a:rPr lang="en-US" altLang="zh-CN" dirty="0"/>
              <a:t>FORTRAN</a:t>
            </a:r>
            <a:r>
              <a:rPr lang="zh-CN" altLang="en-US" dirty="0"/>
              <a:t>）的小组的领导者而知名。他还是</a:t>
            </a:r>
            <a:r>
              <a:rPr lang="en-US" altLang="zh-CN" dirty="0"/>
              <a:t>BNF</a:t>
            </a:r>
            <a:r>
              <a:rPr lang="zh-CN" altLang="en-US" dirty="0"/>
              <a:t>范式（一种几乎被所有研究者采用的、用来定义形式语言语法的计法）的发明人，也是提出函数式程序设计概念的肇始者。</a:t>
            </a:r>
          </a:p>
          <a:p>
            <a:pPr eaLnBrk="1" hangingPunct="1"/>
            <a:r>
              <a:rPr lang="zh-CN" altLang="en-US" dirty="0"/>
              <a:t>“特别因为在</a:t>
            </a:r>
            <a:r>
              <a:rPr lang="en-US" altLang="zh-CN" dirty="0"/>
              <a:t>FORTRAN</a:t>
            </a:r>
            <a:r>
              <a:rPr lang="zh-CN" altLang="en-US" dirty="0"/>
              <a:t>语言上所作的工作，以及在程序设计语言规范的形式化过程的开创性论文，</a:t>
            </a:r>
            <a:r>
              <a:rPr lang="zh-CN" altLang="en-US" b="1" dirty="0"/>
              <a:t>巴科斯</a:t>
            </a:r>
            <a:r>
              <a:rPr lang="zh-CN" altLang="en-US" dirty="0"/>
              <a:t>在实际的、高级程序设计语言系统的设计方面，有着深远的、有影响的和持久的贡献”。</a:t>
            </a:r>
            <a:r>
              <a:rPr lang="zh-CN" altLang="en-US" b="1" dirty="0"/>
              <a:t>巴科斯</a:t>
            </a:r>
            <a:r>
              <a:rPr lang="zh-CN" altLang="en-US" dirty="0"/>
              <a:t>因此于</a:t>
            </a:r>
            <a:r>
              <a:rPr lang="en-US" altLang="zh-CN" dirty="0"/>
              <a:t>1977</a:t>
            </a:r>
            <a:r>
              <a:rPr lang="zh-CN" altLang="en-US" dirty="0"/>
              <a:t>年获得了</a:t>
            </a:r>
            <a:r>
              <a:rPr lang="en-US" altLang="zh-CN" dirty="0"/>
              <a:t>ACM</a:t>
            </a:r>
            <a:r>
              <a:rPr lang="zh-CN" altLang="en-US" dirty="0"/>
              <a:t>图灵奖。 </a:t>
            </a:r>
          </a:p>
          <a:p>
            <a:pPr eaLnBrk="1" hangingPunct="1"/>
            <a:endParaRPr lang="zh-CN" altLang="en-US" dirty="0"/>
          </a:p>
          <a:p>
            <a:pPr eaLnBrk="1" hangingPunct="1"/>
            <a:r>
              <a:rPr lang="en-US" altLang="zh-CN" dirty="0"/>
              <a:t>BNF </a:t>
            </a:r>
            <a:r>
              <a:rPr lang="zh-CN" altLang="en-US" dirty="0"/>
              <a:t>代表 </a:t>
            </a:r>
            <a:r>
              <a:rPr lang="zh-CN" altLang="en-US" b="1" i="1" dirty="0"/>
              <a:t>巴科斯</a:t>
            </a:r>
            <a:r>
              <a:rPr lang="en-US" altLang="zh-CN" i="1" dirty="0"/>
              <a:t>-</a:t>
            </a:r>
            <a:r>
              <a:rPr lang="zh-CN" altLang="en-US" b="1" i="1" dirty="0"/>
              <a:t>诺尔</a:t>
            </a:r>
            <a:r>
              <a:rPr lang="zh-CN" altLang="en-US" i="1" dirty="0"/>
              <a:t>范式（</a:t>
            </a:r>
            <a:r>
              <a:rPr lang="en-US" altLang="zh-CN" i="1" dirty="0"/>
              <a:t>Backus </a:t>
            </a:r>
            <a:r>
              <a:rPr lang="en-US" altLang="zh-CN" i="1" dirty="0" err="1"/>
              <a:t>Naur</a:t>
            </a:r>
            <a:r>
              <a:rPr lang="en-US" altLang="zh-CN" i="1" dirty="0"/>
              <a:t> Form</a:t>
            </a:r>
            <a:r>
              <a:rPr lang="zh-CN" altLang="en-US" i="1" dirty="0"/>
              <a:t>）</a:t>
            </a:r>
            <a:r>
              <a:rPr lang="zh-CN" altLang="en-US" dirty="0"/>
              <a:t>，该范式是以 </a:t>
            </a:r>
            <a:r>
              <a:rPr lang="en-US" altLang="zh-CN" dirty="0"/>
              <a:t>John Backus </a:t>
            </a:r>
            <a:r>
              <a:rPr lang="zh-CN" altLang="en-US" dirty="0"/>
              <a:t>和 </a:t>
            </a:r>
            <a:r>
              <a:rPr lang="en-US" altLang="zh-CN" dirty="0"/>
              <a:t>Peter </a:t>
            </a:r>
            <a:r>
              <a:rPr lang="en-US" altLang="zh-CN" dirty="0" err="1"/>
              <a:t>Naur</a:t>
            </a:r>
            <a:r>
              <a:rPr lang="en-US" altLang="zh-CN" dirty="0"/>
              <a:t> </a:t>
            </a:r>
            <a:r>
              <a:rPr lang="zh-CN" altLang="en-US" dirty="0"/>
              <a:t>的名字命名的， 他们在 </a:t>
            </a:r>
            <a:r>
              <a:rPr lang="en-US" altLang="zh-CN" dirty="0"/>
              <a:t>1959 </a:t>
            </a:r>
            <a:r>
              <a:rPr lang="zh-CN" altLang="en-US" dirty="0"/>
              <a:t>最先引进了描述给定语言语法的正式符号（最初，是为了描述 </a:t>
            </a:r>
            <a:r>
              <a:rPr lang="en-US" altLang="zh-CN" dirty="0"/>
              <a:t>ALGOL 60 </a:t>
            </a:r>
            <a:r>
              <a:rPr lang="zh-CN" altLang="en-US" dirty="0"/>
              <a:t>编程语言）。 </a:t>
            </a:r>
          </a:p>
          <a:p>
            <a:pPr eaLnBrk="1" hangingPunct="1"/>
            <a:endParaRPr lang="zh-CN" altLang="en-US" dirty="0"/>
          </a:p>
          <a:p>
            <a:pPr eaLnBrk="1" hangingPunct="1"/>
            <a:r>
              <a:rPr lang="en-US" altLang="zh-CN" b="1" dirty="0"/>
              <a:t>( 2005</a:t>
            </a:r>
            <a:r>
              <a:rPr lang="zh-CN" altLang="en-US" b="1" dirty="0"/>
              <a:t>年授 予</a:t>
            </a:r>
            <a:r>
              <a:rPr lang="en-US" altLang="zh-CN" b="1" dirty="0"/>
              <a:t>Peter </a:t>
            </a:r>
            <a:r>
              <a:rPr lang="en-US" altLang="zh-CN" b="1" dirty="0" err="1"/>
              <a:t>Naur</a:t>
            </a:r>
            <a:r>
              <a:rPr lang="zh-CN" altLang="en-US" b="1" dirty="0"/>
              <a:t>图 灵 奖（第</a:t>
            </a:r>
            <a:r>
              <a:rPr lang="en-US" altLang="zh-CN" b="1" dirty="0"/>
              <a:t>40</a:t>
            </a:r>
            <a:r>
              <a:rPr lang="zh-CN" altLang="en-US" b="1" dirty="0"/>
              <a:t>位</a:t>
            </a:r>
            <a:r>
              <a:rPr lang="zh-CN" altLang="en-US" dirty="0"/>
              <a:t> </a:t>
            </a:r>
            <a:r>
              <a:rPr lang="zh-CN" altLang="en-US" b="1" dirty="0"/>
              <a:t>） 以 表 彰 其</a:t>
            </a:r>
            <a:r>
              <a:rPr lang="en-US" altLang="zh-CN" b="1" dirty="0"/>
              <a:t>)</a:t>
            </a:r>
            <a:r>
              <a:rPr lang="zh-CN" altLang="en-US" b="1" dirty="0"/>
              <a:t>对</a:t>
            </a:r>
            <a:r>
              <a:rPr lang="en-US" altLang="zh-CN" b="1" dirty="0" err="1"/>
              <a:t>Algol</a:t>
            </a:r>
            <a:r>
              <a:rPr lang="en-US" altLang="zh-CN" b="1" dirty="0"/>
              <a:t> 60</a:t>
            </a:r>
            <a:r>
              <a:rPr lang="zh-CN" altLang="en-US" b="1" dirty="0"/>
              <a:t>编程语言的设计与定义，对编译器设计和计算机编程领域的理论与实践的基础性贡献。</a:t>
            </a:r>
            <a:r>
              <a:rPr lang="de-DE" altLang="zh-CN" b="1" dirty="0"/>
              <a:t>1928</a:t>
            </a:r>
            <a:r>
              <a:rPr lang="en-US" altLang="zh-CN" dirty="0"/>
              <a:t> ~</a:t>
            </a:r>
            <a:r>
              <a:rPr lang="zh-CN" altLang="en-US" dirty="0"/>
              <a:t>今，天文学博士。</a:t>
            </a:r>
            <a:r>
              <a:rPr lang="en-US" altLang="zh-CN" b="1" dirty="0"/>
              <a:t>1</a:t>
            </a:r>
          </a:p>
          <a:p>
            <a:pPr eaLnBrk="1" hangingPunct="1"/>
            <a:r>
              <a:rPr lang="en-US" altLang="zh-CN" b="1" dirty="0"/>
              <a:t>959</a:t>
            </a:r>
            <a:r>
              <a:rPr lang="zh-CN" altLang="en-US" b="1" dirty="0"/>
              <a:t>年，</a:t>
            </a:r>
            <a:r>
              <a:rPr lang="en-US" altLang="zh-CN" b="1" dirty="0" err="1"/>
              <a:t>Naur</a:t>
            </a:r>
            <a:r>
              <a:rPr lang="zh-CN" altLang="en-US" b="1" dirty="0"/>
              <a:t>加盟丹麦第一个计算机公司</a:t>
            </a:r>
            <a:r>
              <a:rPr lang="en-US" altLang="zh-CN" b="1" dirty="0"/>
              <a:t>--</a:t>
            </a:r>
            <a:r>
              <a:rPr lang="en-US" altLang="zh-CN" b="1" dirty="0" err="1"/>
              <a:t>Regnecentralen</a:t>
            </a:r>
            <a:r>
              <a:rPr lang="zh-CN" altLang="en-US" b="1" dirty="0"/>
              <a:t>。并且领导了</a:t>
            </a:r>
            <a:r>
              <a:rPr lang="en-US" altLang="zh-CN" b="1" dirty="0" err="1"/>
              <a:t>Algol</a:t>
            </a:r>
            <a:r>
              <a:rPr lang="en-US" altLang="zh-CN" b="1" dirty="0"/>
              <a:t> 60</a:t>
            </a:r>
            <a:r>
              <a:rPr lang="zh-CN" altLang="en-US" b="1" dirty="0"/>
              <a:t>语言的定义。</a:t>
            </a:r>
          </a:p>
          <a:p>
            <a:pPr eaLnBrk="1" hangingPunct="1"/>
            <a:endParaRPr lang="zh-CN" altLang="en-US" b="1" dirty="0"/>
          </a:p>
          <a:p>
            <a:pPr eaLnBrk="1" hangingPunct="1"/>
            <a:r>
              <a:rPr lang="zh-CN" altLang="en-US" b="1" dirty="0"/>
              <a:t>截止至</a:t>
            </a:r>
            <a:r>
              <a:rPr lang="en-US" altLang="zh-CN" b="1" dirty="0"/>
              <a:t>2005</a:t>
            </a:r>
            <a:r>
              <a:rPr lang="zh-CN" altLang="en-US" b="1" dirty="0"/>
              <a:t>年，获此殊荣的（美籍）华人仅有一位，他是</a:t>
            </a:r>
            <a:r>
              <a:rPr lang="en-US" altLang="zh-CN" b="1" dirty="0"/>
              <a:t>2000</a:t>
            </a:r>
            <a:r>
              <a:rPr lang="zh-CN" altLang="en-US" b="1" dirty="0"/>
              <a:t>年图灵奖得主姚期智。姚期智是迄今为止获得此项殊荣的唯一亚裔计算机科学家，</a:t>
            </a:r>
            <a:r>
              <a:rPr lang="en-US" altLang="zh-CN" b="1" dirty="0"/>
              <a:t>2000</a:t>
            </a:r>
            <a:r>
              <a:rPr lang="zh-CN" altLang="en-US" b="1" dirty="0"/>
              <a:t>年获此奖项的只有姚期智一人。目前是清华大学教授。</a:t>
            </a:r>
            <a:r>
              <a:rPr lang="zh-CN" altLang="en-US" dirty="0">
                <a:ea typeface="PMingLiU" pitchFamily="18" charset="-120"/>
              </a:rPr>
              <a:t>正部 </a:t>
            </a:r>
            <a:br>
              <a:rPr lang="zh-CN" altLang="en-US" dirty="0">
                <a:ea typeface="PMingLiU" pitchFamily="18" charset="-120"/>
              </a:rPr>
            </a:br>
            <a:r>
              <a:rPr lang="zh-CN" altLang="en-US" dirty="0">
                <a:ea typeface="PMingLiU" pitchFamily="18" charset="-120"/>
              </a:rPr>
              <a:t>　　级待遇。</a:t>
            </a:r>
            <a:r>
              <a:rPr lang="zh-CN" altLang="en-US" dirty="0"/>
              <a:t> </a:t>
            </a:r>
            <a:endParaRPr lang="zh-CN" altLang="en-US" b="1" dirty="0"/>
          </a:p>
          <a:p>
            <a:pPr eaLnBrk="1" hangingPunct="1"/>
            <a:r>
              <a:rPr lang="zh-CN" altLang="en-US" b="1" dirty="0"/>
              <a:t>取自</a:t>
            </a:r>
            <a:r>
              <a:rPr lang="en-US" altLang="zh-CN" b="1" dirty="0"/>
              <a:t>"</a:t>
            </a:r>
            <a:r>
              <a:rPr lang="en-US" altLang="zh-CN" b="1" dirty="0">
                <a:hlinkClick r:id="rId3"/>
              </a:rPr>
              <a:t>http://wiki.ccw.com.cn/%E5%A7%9A%E6%9C%9F%E6%99%BA</a:t>
            </a:r>
            <a:r>
              <a:rPr lang="en-US" altLang="zh-CN" b="1" dirty="0"/>
              <a:t>"</a:t>
            </a:r>
            <a:r>
              <a:rPr lang="en-US" altLang="zh-CN" dirty="0"/>
              <a:t> </a:t>
            </a:r>
            <a:endParaRPr lang="en-US" altLang="zh-CN" b="1" dirty="0"/>
          </a:p>
          <a:p>
            <a:pPr eaLnBrk="1" hangingPunct="1"/>
            <a:r>
              <a:rPr lang="en-US" altLang="zh-CN" b="1" dirty="0"/>
              <a:t> 2000</a:t>
            </a:r>
            <a:r>
              <a:rPr lang="zh-CN" altLang="en-US" b="1" dirty="0"/>
              <a:t>年</a:t>
            </a:r>
            <a:r>
              <a:rPr lang="en-US" altLang="zh-CN" b="1" dirty="0"/>
              <a:t>Andrew Chi-</a:t>
            </a:r>
            <a:r>
              <a:rPr lang="en-US" altLang="zh-CN" b="1" dirty="0" err="1"/>
              <a:t>Chih</a:t>
            </a:r>
            <a:r>
              <a:rPr lang="en-US" altLang="zh-CN" b="1" dirty="0"/>
              <a:t> Yao(</a:t>
            </a:r>
            <a:r>
              <a:rPr lang="zh-CN" altLang="en-US" b="1" dirty="0"/>
              <a:t>姚期智</a:t>
            </a:r>
            <a:r>
              <a:rPr lang="en-US" altLang="zh-CN" b="1" dirty="0"/>
              <a:t>)</a:t>
            </a:r>
            <a:br>
              <a:rPr lang="en-US" altLang="zh-CN" b="1" dirty="0"/>
            </a:br>
            <a:r>
              <a:rPr lang="zh-CN" altLang="en-US" b="1" dirty="0"/>
              <a:t>获奖原因：由于在计算理论方面的贡献而获奖，包括伪随机数的生成算法、加密算法和通讯复杂性。</a:t>
            </a:r>
            <a:r>
              <a:rPr lang="zh-CN" altLang="en-US" dirty="0"/>
              <a:t> </a:t>
            </a:r>
          </a:p>
          <a:p>
            <a:pPr eaLnBrk="1" hangingPunct="1"/>
            <a:endParaRPr lang="zh-CN" altLang="en-US" dirty="0"/>
          </a:p>
          <a:p>
            <a:pPr eaLnBrk="1" hangingPunct="1"/>
            <a:r>
              <a:rPr lang="zh-CN" altLang="en-US" dirty="0"/>
              <a:t>图灵奖</a:t>
            </a:r>
            <a:r>
              <a:rPr lang="en-US" altLang="zh-CN" dirty="0"/>
              <a:t>40</a:t>
            </a:r>
            <a:r>
              <a:rPr lang="zh-CN" altLang="en-US" dirty="0"/>
              <a:t>年来首次授予女科学家 </a:t>
            </a:r>
          </a:p>
          <a:p>
            <a:pPr eaLnBrk="1" hangingPunct="1"/>
            <a:r>
              <a:rPr lang="en-US" altLang="zh-CN" dirty="0"/>
              <a:t>2006</a:t>
            </a:r>
            <a:r>
              <a:rPr lang="zh-CN" altLang="en-US" dirty="0"/>
              <a:t>年的图灵奖于</a:t>
            </a:r>
            <a:r>
              <a:rPr lang="en-US" altLang="zh-CN" dirty="0"/>
              <a:t>07</a:t>
            </a:r>
            <a:r>
              <a:rPr lang="zh-CN" altLang="en-US" dirty="0"/>
              <a:t>年</a:t>
            </a:r>
            <a:r>
              <a:rPr lang="en-US" altLang="zh-CN" dirty="0"/>
              <a:t>2</a:t>
            </a:r>
            <a:r>
              <a:rPr lang="zh-CN" altLang="en-US" dirty="0"/>
              <a:t>月</a:t>
            </a:r>
            <a:r>
              <a:rPr lang="en-US" altLang="zh-CN" dirty="0"/>
              <a:t>21</a:t>
            </a:r>
            <a:r>
              <a:rPr lang="zh-CN" altLang="en-US" dirty="0"/>
              <a:t>日给了</a:t>
            </a:r>
            <a:r>
              <a:rPr lang="en-US" altLang="zh-CN" dirty="0"/>
              <a:t>75</a:t>
            </a:r>
            <a:r>
              <a:rPr lang="zh-CN" altLang="en-US" dirty="0"/>
              <a:t>岁的</a:t>
            </a:r>
            <a:r>
              <a:rPr lang="en-US" altLang="zh-CN" dirty="0"/>
              <a:t>IBM</a:t>
            </a:r>
            <a:r>
              <a:rPr lang="zh-CN" altLang="en-US" dirty="0"/>
              <a:t>终生院士</a:t>
            </a:r>
            <a:r>
              <a:rPr lang="en-US" altLang="zh-CN" dirty="0"/>
              <a:t>(IBM Fellow </a:t>
            </a:r>
            <a:r>
              <a:rPr lang="en-US" altLang="zh-CN" dirty="0" err="1"/>
              <a:t>Emerita</a:t>
            </a:r>
            <a:r>
              <a:rPr lang="en-US" altLang="zh-CN" dirty="0"/>
              <a:t>)</a:t>
            </a:r>
            <a:r>
              <a:rPr lang="zh-CN" altLang="en-US" dirty="0"/>
              <a:t>，</a:t>
            </a:r>
            <a:r>
              <a:rPr lang="en-US" altLang="zh-CN" dirty="0"/>
              <a:t>Frances E. Allen</a:t>
            </a:r>
            <a:r>
              <a:rPr lang="zh-CN" altLang="en-US" dirty="0"/>
              <a:t>。</a:t>
            </a:r>
            <a:r>
              <a:rPr lang="en-US" altLang="zh-CN" dirty="0"/>
              <a:t>ACM</a:t>
            </a:r>
            <a:r>
              <a:rPr lang="zh-CN" altLang="en-US" dirty="0"/>
              <a:t>的官方声明说</a:t>
            </a:r>
            <a:r>
              <a:rPr lang="en-US" altLang="zh-CN" dirty="0"/>
              <a:t>Frances</a:t>
            </a:r>
            <a:r>
              <a:rPr lang="zh-CN" altLang="en-US" dirty="0"/>
              <a:t>因为在编译器优化的理论和实践方面做出的开创性贡献而获奖。她的工作奠定了现代优化编译器和自动并行化执行的基础。 </a:t>
            </a:r>
            <a:br>
              <a:rPr lang="zh-CN" altLang="en-US" dirty="0"/>
            </a:br>
            <a:endParaRPr lang="zh-CN" altLang="en-US" dirty="0"/>
          </a:p>
        </p:txBody>
      </p:sp>
    </p:spTree>
    <p:extLst>
      <p:ext uri="{BB962C8B-B14F-4D97-AF65-F5344CB8AC3E}">
        <p14:creationId xmlns:p14="http://schemas.microsoft.com/office/powerpoint/2010/main" val="2784226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幻灯片图像占位符 1"/>
          <p:cNvSpPr>
            <a:spLocks noGrp="1" noRot="1" noChangeAspect="1" noTextEdit="1"/>
          </p:cNvSpPr>
          <p:nvPr>
            <p:ph type="sldImg"/>
          </p:nvPr>
        </p:nvSpPr>
        <p:spPr>
          <a:ln/>
        </p:spPr>
      </p:sp>
      <p:sp>
        <p:nvSpPr>
          <p:cNvPr id="191491" name="备注占位符 2"/>
          <p:cNvSpPr>
            <a:spLocks noGrp="1"/>
          </p:cNvSpPr>
          <p:nvPr>
            <p:ph type="body" idx="1"/>
          </p:nvPr>
        </p:nvSpPr>
        <p:spPr>
          <a:noFill/>
          <a:ln/>
        </p:spPr>
        <p:txBody>
          <a:bodyPr/>
          <a:lstStyle/>
          <a:p>
            <a:pPr eaLnBrk="1" hangingPunct="1">
              <a:buFont typeface="Wingdings" pitchFamily="2" charset="2"/>
              <a:buNone/>
            </a:pPr>
            <a:r>
              <a:rPr lang="en-US" altLang="zh-CN" b="1">
                <a:solidFill>
                  <a:srgbClr val="0000CC"/>
                </a:solidFill>
              </a:rPr>
              <a:t>I→</a:t>
            </a:r>
            <a:r>
              <a:rPr lang="en-US" altLang="zh-CN" b="1">
                <a:solidFill>
                  <a:srgbClr val="000000"/>
                </a:solidFill>
              </a:rPr>
              <a:t>L</a:t>
            </a:r>
          </a:p>
          <a:p>
            <a:pPr eaLnBrk="1" hangingPunct="1">
              <a:buFont typeface="Wingdings" pitchFamily="2" charset="2"/>
              <a:buNone/>
            </a:pPr>
            <a:r>
              <a:rPr lang="en-US" altLang="zh-CN" b="1">
                <a:solidFill>
                  <a:srgbClr val="0000CC"/>
                </a:solidFill>
              </a:rPr>
              <a:t>I→L</a:t>
            </a:r>
            <a:r>
              <a:rPr lang="en-US" altLang="zh-CN" b="1">
                <a:solidFill>
                  <a:srgbClr val="000000"/>
                </a:solidFill>
              </a:rPr>
              <a:t>S</a:t>
            </a:r>
          </a:p>
          <a:p>
            <a:pPr eaLnBrk="1" hangingPunct="1">
              <a:buFont typeface="Wingdings" pitchFamily="2" charset="2"/>
              <a:buNone/>
            </a:pPr>
            <a:r>
              <a:rPr lang="en-US" altLang="zh-CN" b="1">
                <a:solidFill>
                  <a:srgbClr val="000000"/>
                </a:solidFill>
              </a:rPr>
              <a:t>S-&gt;L|D|SS</a:t>
            </a:r>
            <a:endParaRPr lang="zh-CN" altLang="en-US"/>
          </a:p>
        </p:txBody>
      </p:sp>
      <p:sp>
        <p:nvSpPr>
          <p:cNvPr id="191492" name="灯片编号占位符 3"/>
          <p:cNvSpPr>
            <a:spLocks noGrp="1"/>
          </p:cNvSpPr>
          <p:nvPr>
            <p:ph type="sldNum" sz="quarter" idx="5"/>
          </p:nvPr>
        </p:nvSpPr>
        <p:spPr>
          <a:noFill/>
        </p:spPr>
        <p:txBody>
          <a:bodyPr/>
          <a:lstStyle/>
          <a:p>
            <a:fld id="{0B933EA2-6E5C-4AAF-B2BC-09C3DE561576}" type="slidenum">
              <a:rPr lang="en-US" altLang="zh-CN" smtClean="0"/>
              <a:pPr/>
              <a:t>20</a:t>
            </a:fld>
            <a:endParaRPr lang="en-US" altLang="zh-CN"/>
          </a:p>
        </p:txBody>
      </p:sp>
    </p:spTree>
    <p:extLst>
      <p:ext uri="{BB962C8B-B14F-4D97-AF65-F5344CB8AC3E}">
        <p14:creationId xmlns:p14="http://schemas.microsoft.com/office/powerpoint/2010/main" val="3643267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幻灯片图像占位符 1"/>
          <p:cNvSpPr>
            <a:spLocks noGrp="1" noRot="1" noChangeAspect="1" noTextEdit="1"/>
          </p:cNvSpPr>
          <p:nvPr>
            <p:ph type="sldImg"/>
          </p:nvPr>
        </p:nvSpPr>
        <p:spPr>
          <a:ln/>
        </p:spPr>
      </p:sp>
      <p:sp>
        <p:nvSpPr>
          <p:cNvPr id="192515" name="备注占位符 2"/>
          <p:cNvSpPr>
            <a:spLocks noGrp="1"/>
          </p:cNvSpPr>
          <p:nvPr>
            <p:ph type="body" idx="1"/>
          </p:nvPr>
        </p:nvSpPr>
        <p:spPr>
          <a:noFill/>
          <a:ln/>
        </p:spPr>
        <p:txBody>
          <a:bodyPr/>
          <a:lstStyle/>
          <a:p>
            <a:endParaRPr lang="zh-CN" altLang="en-US"/>
          </a:p>
        </p:txBody>
      </p:sp>
      <p:sp>
        <p:nvSpPr>
          <p:cNvPr id="192516" name="灯片编号占位符 3"/>
          <p:cNvSpPr>
            <a:spLocks noGrp="1"/>
          </p:cNvSpPr>
          <p:nvPr>
            <p:ph type="sldNum" sz="quarter" idx="5"/>
          </p:nvPr>
        </p:nvSpPr>
        <p:spPr>
          <a:noFill/>
        </p:spPr>
        <p:txBody>
          <a:bodyPr/>
          <a:lstStyle/>
          <a:p>
            <a:fld id="{009FB33E-5364-4799-A24F-9700F569707D}" type="slidenum">
              <a:rPr lang="en-US" altLang="zh-CN" smtClean="0"/>
              <a:pPr/>
              <a:t>21</a:t>
            </a:fld>
            <a:endParaRPr lang="en-US" altLang="zh-CN"/>
          </a:p>
        </p:txBody>
      </p:sp>
    </p:spTree>
    <p:extLst>
      <p:ext uri="{BB962C8B-B14F-4D97-AF65-F5344CB8AC3E}">
        <p14:creationId xmlns:p14="http://schemas.microsoft.com/office/powerpoint/2010/main" val="3332570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692398" y="3623737"/>
            <a:ext cx="6815669" cy="948260"/>
          </a:xfrm>
          <a:prstGeom prst="rect">
            <a:avLst/>
          </a:prstGeom>
        </p:spPr>
        <p:txBody>
          <a:bodyPr anchor="ctr">
            <a:normAutofit/>
          </a:bodyPr>
          <a:lstStyle>
            <a:lvl1pPr marL="0" indent="0" algn="ctr">
              <a:lnSpc>
                <a:spcPct val="100000"/>
              </a:lnSpc>
              <a:buNone/>
              <a:defRPr sz="3200" b="1">
                <a:solidFill>
                  <a:schemeClr val="bg1"/>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单击此处添加副标题</a:t>
            </a:r>
            <a:endParaRPr lang="en-US" dirty="0"/>
          </a:p>
        </p:txBody>
      </p:sp>
      <p:sp>
        <p:nvSpPr>
          <p:cNvPr id="2" name="标题 1"/>
          <p:cNvSpPr>
            <a:spLocks noGrp="1"/>
          </p:cNvSpPr>
          <p:nvPr>
            <p:ph type="title" hasCustomPrompt="1"/>
          </p:nvPr>
        </p:nvSpPr>
        <p:spPr>
          <a:xfrm>
            <a:off x="2692398" y="2057406"/>
            <a:ext cx="6815669" cy="1329259"/>
          </a:xfrm>
          <a:prstGeom prst="rect">
            <a:avLst/>
          </a:prstGeom>
        </p:spPr>
        <p:txBody>
          <a:bodyPr anchor="ctr"/>
          <a:lstStyle>
            <a:lvl1pPr>
              <a:defRPr sz="6000" b="1">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cxnSp>
        <p:nvCxnSpPr>
          <p:cNvPr id="5" name="直接连接符 4">
            <a:extLst>
              <a:ext uri="{FF2B5EF4-FFF2-40B4-BE49-F238E27FC236}">
                <a16:creationId xmlns:a16="http://schemas.microsoft.com/office/drawing/2014/main" id="{78557376-49C6-4381-B102-72EEC70D751A}"/>
              </a:ext>
            </a:extLst>
          </p:cNvPr>
          <p:cNvCxnSpPr>
            <a:cxnSpLocks/>
          </p:cNvCxnSpPr>
          <p:nvPr userDrawn="1"/>
        </p:nvCxnSpPr>
        <p:spPr>
          <a:xfrm>
            <a:off x="2692398" y="3505200"/>
            <a:ext cx="6815669" cy="0"/>
          </a:xfrm>
          <a:prstGeom prst="line">
            <a:avLst/>
          </a:prstGeom>
          <a:ln w="12700">
            <a:gradFill flip="none" rotWithShape="1">
              <a:gsLst>
                <a:gs pos="59000">
                  <a:schemeClr val="bg1">
                    <a:alpha val="21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678469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5" name="内容占位符 2">
            <a:extLst>
              <a:ext uri="{FF2B5EF4-FFF2-40B4-BE49-F238E27FC236}">
                <a16:creationId xmlns:a16="http://schemas.microsoft.com/office/drawing/2014/main" id="{4CDCAD84-E465-486F-85C0-B8CA0688ED29}"/>
              </a:ext>
            </a:extLst>
          </p:cNvPr>
          <p:cNvSpPr>
            <a:spLocks noGrp="1"/>
          </p:cNvSpPr>
          <p:nvPr>
            <p:ph idx="1" hasCustomPrompt="1"/>
          </p:nvPr>
        </p:nvSpPr>
        <p:spPr>
          <a:xfrm>
            <a:off x="720000" y="900000"/>
            <a:ext cx="10751844" cy="5237998"/>
          </a:xfrm>
          <a:prstGeom prst="rect">
            <a:avLst/>
          </a:prstGeom>
        </p:spPr>
        <p:txBody>
          <a:bodyPr/>
          <a:lstStyle>
            <a:lvl1pPr marL="0" marR="0" indent="0" algn="l" defTabSz="457200" rtl="0" eaLnBrk="1" fontAlgn="auto" latinLnBrk="0" hangingPunct="1">
              <a:lnSpc>
                <a:spcPct val="150000"/>
              </a:lnSpc>
              <a:spcBef>
                <a:spcPts val="0"/>
              </a:spcBef>
              <a:spcAft>
                <a:spcPts val="0"/>
              </a:spcAft>
              <a:buClr>
                <a:schemeClr val="accent1"/>
              </a:buClr>
              <a:buSzPct val="115000"/>
              <a:buFontTx/>
              <a:buNone/>
              <a:tabLst/>
              <a:defRPr sz="2400" b="1">
                <a:latin typeface="微软雅黑" panose="020B0503020204020204" pitchFamily="34" charset="-122"/>
                <a:ea typeface="微软雅黑" panose="020B0503020204020204" pitchFamily="34" charset="-122"/>
              </a:defRPr>
            </a:lvl1pPr>
            <a:lvl2pPr marL="457200" indent="0">
              <a:lnSpc>
                <a:spcPct val="150000"/>
              </a:lnSpc>
              <a:spcBef>
                <a:spcPts val="0"/>
              </a:spcBef>
              <a:spcAft>
                <a:spcPts val="0"/>
              </a:spcAft>
              <a:buFontTx/>
              <a:buNone/>
              <a:defRPr sz="2000" b="1">
                <a:latin typeface="微软雅黑" panose="020B0503020204020204" pitchFamily="34" charset="-122"/>
                <a:ea typeface="微软雅黑" panose="020B0503020204020204" pitchFamily="34" charset="-122"/>
              </a:defRPr>
            </a:lvl2pPr>
            <a:lvl3pPr marL="914400" indent="0">
              <a:lnSpc>
                <a:spcPct val="150000"/>
              </a:lnSpc>
              <a:spcBef>
                <a:spcPts val="0"/>
              </a:spcBef>
              <a:spcAft>
                <a:spcPts val="0"/>
              </a:spcAft>
              <a:buFontTx/>
              <a:buNone/>
              <a:defRPr sz="1800" b="1">
                <a:latin typeface="微软雅黑" panose="020B0503020204020204" pitchFamily="34" charset="-122"/>
                <a:ea typeface="微软雅黑" panose="020B0503020204020204" pitchFamily="34" charset="-122"/>
              </a:defRPr>
            </a:lvl3pPr>
            <a:lvl4pPr marL="1371600" indent="0">
              <a:lnSpc>
                <a:spcPct val="150000"/>
              </a:lnSpc>
              <a:spcBef>
                <a:spcPts val="0"/>
              </a:spcBef>
              <a:spcAft>
                <a:spcPts val="0"/>
              </a:spcAft>
              <a:buFontTx/>
              <a:buNone/>
              <a:defRPr sz="1600" b="1">
                <a:latin typeface="微软雅黑" panose="020B0503020204020204" pitchFamily="34" charset="-122"/>
                <a:ea typeface="微软雅黑" panose="020B0503020204020204" pitchFamily="34" charset="-122"/>
              </a:defRPr>
            </a:lvl4pPr>
            <a:lvl5pPr marL="1828800" marR="0" indent="0" algn="l" defTabSz="457200" rtl="0" eaLnBrk="1" fontAlgn="auto" latinLnBrk="0" hangingPunct="1">
              <a:lnSpc>
                <a:spcPct val="150000"/>
              </a:lnSpc>
              <a:spcBef>
                <a:spcPts val="0"/>
              </a:spcBef>
              <a:spcAft>
                <a:spcPts val="0"/>
              </a:spcAft>
              <a:buClr>
                <a:schemeClr val="accent1"/>
              </a:buClr>
              <a:buSzPct val="115000"/>
              <a:buFontTx/>
              <a:buNone/>
              <a:tabLst/>
              <a:defRPr sz="1400" b="1">
                <a:latin typeface="微软雅黑" panose="020B0503020204020204" pitchFamily="34" charset="-122"/>
                <a:ea typeface="微软雅黑" panose="020B0503020204020204" pitchFamily="34" charset="-122"/>
              </a:defRPr>
            </a:lvl5pPr>
          </a:lstStyle>
          <a:p>
            <a:pPr lvl="0"/>
            <a:r>
              <a:rPr lang="zh-CN" altLang="en-US" dirty="0"/>
              <a:t>单击此处添加正文</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7" name="标题 1">
            <a:extLst>
              <a:ext uri="{FF2B5EF4-FFF2-40B4-BE49-F238E27FC236}">
                <a16:creationId xmlns:a16="http://schemas.microsoft.com/office/drawing/2014/main" id="{A8E36B22-94F4-4875-8A46-5B092EAFACD4}"/>
              </a:ext>
            </a:extLst>
          </p:cNvPr>
          <p:cNvSpPr>
            <a:spLocks noGrp="1"/>
          </p:cNvSpPr>
          <p:nvPr>
            <p:ph type="title" hasCustomPrompt="1"/>
          </p:nvPr>
        </p:nvSpPr>
        <p:spPr>
          <a:xfrm>
            <a:off x="0" y="0"/>
            <a:ext cx="12192000" cy="900000"/>
          </a:xfrm>
          <a:prstGeom prst="rect">
            <a:avLst/>
          </a:prstGeom>
        </p:spPr>
        <p:txBody>
          <a:bodyPr anchor="ctr"/>
          <a:lstStyle>
            <a:lvl1pPr marL="0" indent="0" algn="ctr">
              <a:buFont typeface="Wingdings" panose="05000000000000000000" pitchFamily="2" charset="2"/>
              <a:buNone/>
              <a:defRPr lang="zh-CN" altLang="en-US" sz="2800" b="1" kern="1200" cap="none" dirty="0">
                <a:ln w="3175" cmpd="sng">
                  <a:noFill/>
                </a:ln>
                <a:solidFill>
                  <a:schemeClr val="bg1"/>
                </a:solidFill>
                <a:effectLst>
                  <a:glow rad="88900">
                    <a:srgbClr val="073780">
                      <a:alpha val="58000"/>
                    </a:srgbClr>
                  </a:glow>
                </a:effectLst>
                <a:latin typeface="微软雅黑" panose="020B0503020204020204" pitchFamily="34" charset="-122"/>
                <a:ea typeface="微软雅黑" panose="020B0503020204020204" pitchFamily="34" charset="-122"/>
                <a:cs typeface="+mj-cs"/>
              </a:defRPr>
            </a:lvl1pPr>
          </a:lstStyle>
          <a:p>
            <a:r>
              <a:rPr lang="zh-CN" altLang="en-US" dirty="0"/>
              <a:t>单击此处添加标题</a:t>
            </a:r>
            <a:endParaRPr lang="en-US" dirty="0"/>
          </a:p>
        </p:txBody>
      </p:sp>
      <p:cxnSp>
        <p:nvCxnSpPr>
          <p:cNvPr id="7" name="直接连接符 6">
            <a:extLst>
              <a:ext uri="{FF2B5EF4-FFF2-40B4-BE49-F238E27FC236}">
                <a16:creationId xmlns:a16="http://schemas.microsoft.com/office/drawing/2014/main" id="{2E0F09CF-38EF-40AF-8852-E6AA05DD2C4C}"/>
              </a:ext>
            </a:extLst>
          </p:cNvPr>
          <p:cNvCxnSpPr/>
          <p:nvPr userDrawn="1"/>
        </p:nvCxnSpPr>
        <p:spPr>
          <a:xfrm>
            <a:off x="0" y="900000"/>
            <a:ext cx="11273869" cy="0"/>
          </a:xfrm>
          <a:prstGeom prst="line">
            <a:avLst/>
          </a:prstGeom>
          <a:ln w="12700">
            <a:gradFill flip="none" rotWithShape="1">
              <a:gsLst>
                <a:gs pos="60000">
                  <a:schemeClr val="bg1">
                    <a:alpha val="40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4E725819-6F84-4DA7-A045-AF9FEFD8BDE3}"/>
              </a:ext>
            </a:extLst>
          </p:cNvPr>
          <p:cNvGrpSpPr/>
          <p:nvPr userDrawn="1"/>
        </p:nvGrpSpPr>
        <p:grpSpPr>
          <a:xfrm>
            <a:off x="0" y="759581"/>
            <a:ext cx="5800195" cy="78378"/>
            <a:chOff x="-1" y="759581"/>
            <a:chExt cx="5800195" cy="78378"/>
          </a:xfrm>
        </p:grpSpPr>
        <p:sp>
          <p:nvSpPr>
            <p:cNvPr id="9" name="任意多边形 41">
              <a:extLst>
                <a:ext uri="{FF2B5EF4-FFF2-40B4-BE49-F238E27FC236}">
                  <a16:creationId xmlns:a16="http://schemas.microsoft.com/office/drawing/2014/main" id="{9E81EAE9-575A-411E-ACBB-AB8DB96140AB}"/>
                </a:ext>
              </a:extLst>
            </p:cNvPr>
            <p:cNvSpPr/>
            <p:nvPr/>
          </p:nvSpPr>
          <p:spPr>
            <a:xfrm flipV="1">
              <a:off x="-1" y="759581"/>
              <a:ext cx="2052000" cy="78378"/>
            </a:xfrm>
            <a:custGeom>
              <a:avLst/>
              <a:gdLst>
                <a:gd name="connsiteX0" fmla="*/ 1585578 w 1713495"/>
                <a:gd name="connsiteY0" fmla="*/ 78378 h 78378"/>
                <a:gd name="connsiteX1" fmla="*/ 0 w 1713495"/>
                <a:gd name="connsiteY1" fmla="*/ 78378 h 78378"/>
                <a:gd name="connsiteX2" fmla="*/ 0 w 1713495"/>
                <a:gd name="connsiteY2" fmla="*/ 0 h 78378"/>
                <a:gd name="connsiteX3" fmla="*/ 1713495 w 1713495"/>
                <a:gd name="connsiteY3" fmla="*/ 0 h 78378"/>
              </a:gdLst>
              <a:ahLst/>
              <a:cxnLst>
                <a:cxn ang="0">
                  <a:pos x="connsiteX0" y="connsiteY0"/>
                </a:cxn>
                <a:cxn ang="0">
                  <a:pos x="connsiteX1" y="connsiteY1"/>
                </a:cxn>
                <a:cxn ang="0">
                  <a:pos x="connsiteX2" y="connsiteY2"/>
                </a:cxn>
                <a:cxn ang="0">
                  <a:pos x="connsiteX3" y="connsiteY3"/>
                </a:cxn>
              </a:cxnLst>
              <a:rect l="l" t="t" r="r" b="b"/>
              <a:pathLst>
                <a:path w="1713495" h="78378">
                  <a:moveTo>
                    <a:pt x="1585578" y="78378"/>
                  </a:moveTo>
                  <a:lnTo>
                    <a:pt x="0" y="78378"/>
                  </a:lnTo>
                  <a:lnTo>
                    <a:pt x="0" y="0"/>
                  </a:lnTo>
                  <a:lnTo>
                    <a:pt x="1713495" y="0"/>
                  </a:lnTo>
                  <a:close/>
                </a:path>
              </a:pathLst>
            </a:custGeom>
            <a:solidFill>
              <a:srgbClr val="61D6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a:extLst>
                <a:ext uri="{FF2B5EF4-FFF2-40B4-BE49-F238E27FC236}">
                  <a16:creationId xmlns:a16="http://schemas.microsoft.com/office/drawing/2014/main" id="{C33C9AF3-5E2C-4CED-9B65-BB1F009F74CA}"/>
                </a:ext>
              </a:extLst>
            </p:cNvPr>
            <p:cNvSpPr/>
            <p:nvPr/>
          </p:nvSpPr>
          <p:spPr>
            <a:xfrm flipV="1">
              <a:off x="2017888" y="759581"/>
              <a:ext cx="1488141" cy="78378"/>
            </a:xfrm>
            <a:prstGeom prst="parallelogram">
              <a:avLst>
                <a:gd name="adj" fmla="val 163205"/>
              </a:avLst>
            </a:prstGeom>
            <a:solidFill>
              <a:srgbClr val="61D6F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平行四边形 10">
              <a:extLst>
                <a:ext uri="{FF2B5EF4-FFF2-40B4-BE49-F238E27FC236}">
                  <a16:creationId xmlns:a16="http://schemas.microsoft.com/office/drawing/2014/main" id="{11923961-9316-450E-8E0C-6159462127C6}"/>
                </a:ext>
              </a:extLst>
            </p:cNvPr>
            <p:cNvSpPr/>
            <p:nvPr/>
          </p:nvSpPr>
          <p:spPr>
            <a:xfrm flipV="1">
              <a:off x="3480184" y="759581"/>
              <a:ext cx="1033430" cy="78378"/>
            </a:xfrm>
            <a:prstGeom prst="parallelogram">
              <a:avLst>
                <a:gd name="adj" fmla="val 163205"/>
              </a:avLst>
            </a:prstGeom>
            <a:solidFill>
              <a:srgbClr val="61D6FE">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a:extLst>
                <a:ext uri="{FF2B5EF4-FFF2-40B4-BE49-F238E27FC236}">
                  <a16:creationId xmlns:a16="http://schemas.microsoft.com/office/drawing/2014/main" id="{26317C85-12BB-4EC9-8CD4-FE3D7DB6AB10}"/>
                </a:ext>
              </a:extLst>
            </p:cNvPr>
            <p:cNvSpPr/>
            <p:nvPr/>
          </p:nvSpPr>
          <p:spPr>
            <a:xfrm flipV="1">
              <a:off x="4487765" y="759581"/>
              <a:ext cx="454710" cy="78378"/>
            </a:xfrm>
            <a:prstGeom prst="parallelogram">
              <a:avLst>
                <a:gd name="adj" fmla="val 163205"/>
              </a:avLst>
            </a:prstGeom>
            <a:solidFill>
              <a:srgbClr val="61D6F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a:extLst>
                <a:ext uri="{FF2B5EF4-FFF2-40B4-BE49-F238E27FC236}">
                  <a16:creationId xmlns:a16="http://schemas.microsoft.com/office/drawing/2014/main" id="{4EC1B1CD-714D-4D4C-AA93-7517ADCCDF65}"/>
                </a:ext>
              </a:extLst>
            </p:cNvPr>
            <p:cNvSpPr/>
            <p:nvPr/>
          </p:nvSpPr>
          <p:spPr>
            <a:xfrm flipV="1">
              <a:off x="4916628" y="759581"/>
              <a:ext cx="454710" cy="78378"/>
            </a:xfrm>
            <a:prstGeom prst="parallelogram">
              <a:avLst>
                <a:gd name="adj" fmla="val 163205"/>
              </a:avLst>
            </a:prstGeom>
            <a:solidFill>
              <a:srgbClr val="61D6F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a:extLst>
                <a:ext uri="{FF2B5EF4-FFF2-40B4-BE49-F238E27FC236}">
                  <a16:creationId xmlns:a16="http://schemas.microsoft.com/office/drawing/2014/main" id="{4E566B63-83F1-4353-B6DA-291D2A2431AE}"/>
                </a:ext>
              </a:extLst>
            </p:cNvPr>
            <p:cNvSpPr/>
            <p:nvPr/>
          </p:nvSpPr>
          <p:spPr>
            <a:xfrm flipV="1">
              <a:off x="5345484" y="759581"/>
              <a:ext cx="454710" cy="78378"/>
            </a:xfrm>
            <a:prstGeom prst="parallelogram">
              <a:avLst>
                <a:gd name="adj" fmla="val 163205"/>
              </a:avLst>
            </a:prstGeom>
            <a:solidFill>
              <a:srgbClr val="61D6F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9292872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5E28B1FC-3605-4CC3-A226-94C02D2641C3}"/>
              </a:ext>
            </a:extLst>
          </p:cNvPr>
          <p:cNvSpPr>
            <a:spLocks noGrp="1"/>
          </p:cNvSpPr>
          <p:nvPr>
            <p:ph type="title" hasCustomPrompt="1"/>
          </p:nvPr>
        </p:nvSpPr>
        <p:spPr>
          <a:xfrm>
            <a:off x="0" y="0"/>
            <a:ext cx="12192000" cy="900000"/>
          </a:xfrm>
          <a:prstGeom prst="rect">
            <a:avLst/>
          </a:prstGeom>
        </p:spPr>
        <p:txBody>
          <a:bodyPr anchor="ctr"/>
          <a:lstStyle>
            <a:lvl1pPr marL="0" indent="0" algn="ctr">
              <a:buFont typeface="Wingdings" panose="05000000000000000000" pitchFamily="2" charset="2"/>
              <a:buNone/>
              <a:defRPr lang="zh-CN" altLang="en-US" sz="2800" b="1" kern="1200" cap="none" dirty="0">
                <a:ln w="3175" cmpd="sng">
                  <a:noFill/>
                </a:ln>
                <a:solidFill>
                  <a:schemeClr val="bg1"/>
                </a:solidFill>
                <a:effectLst>
                  <a:glow rad="88900">
                    <a:srgbClr val="073780">
                      <a:alpha val="58000"/>
                    </a:srgbClr>
                  </a:glow>
                </a:effectLst>
                <a:latin typeface="微软雅黑" panose="020B0503020204020204" pitchFamily="34" charset="-122"/>
                <a:ea typeface="微软雅黑" panose="020B0503020204020204" pitchFamily="34" charset="-122"/>
                <a:cs typeface="+mj-cs"/>
              </a:defRPr>
            </a:lvl1pPr>
          </a:lstStyle>
          <a:p>
            <a:r>
              <a:rPr lang="zh-CN" altLang="en-US" dirty="0"/>
              <a:t>单击此处添加标题</a:t>
            </a:r>
            <a:endParaRPr lang="en-US" dirty="0"/>
          </a:p>
        </p:txBody>
      </p:sp>
      <p:cxnSp>
        <p:nvCxnSpPr>
          <p:cNvPr id="6" name="直接连接符 5">
            <a:extLst>
              <a:ext uri="{FF2B5EF4-FFF2-40B4-BE49-F238E27FC236}">
                <a16:creationId xmlns:a16="http://schemas.microsoft.com/office/drawing/2014/main" id="{8A153692-77AD-465A-A07A-1F236B045846}"/>
              </a:ext>
            </a:extLst>
          </p:cNvPr>
          <p:cNvCxnSpPr/>
          <p:nvPr userDrawn="1"/>
        </p:nvCxnSpPr>
        <p:spPr>
          <a:xfrm>
            <a:off x="0" y="900000"/>
            <a:ext cx="11273869" cy="0"/>
          </a:xfrm>
          <a:prstGeom prst="line">
            <a:avLst/>
          </a:prstGeom>
          <a:ln w="12700">
            <a:gradFill flip="none" rotWithShape="1">
              <a:gsLst>
                <a:gs pos="60000">
                  <a:schemeClr val="bg1">
                    <a:alpha val="40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7" name="组合 6">
            <a:extLst>
              <a:ext uri="{FF2B5EF4-FFF2-40B4-BE49-F238E27FC236}">
                <a16:creationId xmlns:a16="http://schemas.microsoft.com/office/drawing/2014/main" id="{1A30A995-568B-4288-A1AE-69EE8DAF081C}"/>
              </a:ext>
            </a:extLst>
          </p:cNvPr>
          <p:cNvGrpSpPr/>
          <p:nvPr userDrawn="1"/>
        </p:nvGrpSpPr>
        <p:grpSpPr>
          <a:xfrm>
            <a:off x="0" y="759581"/>
            <a:ext cx="5800195" cy="78378"/>
            <a:chOff x="-1" y="759581"/>
            <a:chExt cx="5800195" cy="78378"/>
          </a:xfrm>
        </p:grpSpPr>
        <p:sp>
          <p:nvSpPr>
            <p:cNvPr id="8" name="任意多边形 41">
              <a:extLst>
                <a:ext uri="{FF2B5EF4-FFF2-40B4-BE49-F238E27FC236}">
                  <a16:creationId xmlns:a16="http://schemas.microsoft.com/office/drawing/2014/main" id="{548C9EB0-9642-44C5-B2B7-07F802F76B58}"/>
                </a:ext>
              </a:extLst>
            </p:cNvPr>
            <p:cNvSpPr/>
            <p:nvPr/>
          </p:nvSpPr>
          <p:spPr>
            <a:xfrm flipV="1">
              <a:off x="-1" y="759581"/>
              <a:ext cx="2052000" cy="78378"/>
            </a:xfrm>
            <a:custGeom>
              <a:avLst/>
              <a:gdLst>
                <a:gd name="connsiteX0" fmla="*/ 1585578 w 1713495"/>
                <a:gd name="connsiteY0" fmla="*/ 78378 h 78378"/>
                <a:gd name="connsiteX1" fmla="*/ 0 w 1713495"/>
                <a:gd name="connsiteY1" fmla="*/ 78378 h 78378"/>
                <a:gd name="connsiteX2" fmla="*/ 0 w 1713495"/>
                <a:gd name="connsiteY2" fmla="*/ 0 h 78378"/>
                <a:gd name="connsiteX3" fmla="*/ 1713495 w 1713495"/>
                <a:gd name="connsiteY3" fmla="*/ 0 h 78378"/>
              </a:gdLst>
              <a:ahLst/>
              <a:cxnLst>
                <a:cxn ang="0">
                  <a:pos x="connsiteX0" y="connsiteY0"/>
                </a:cxn>
                <a:cxn ang="0">
                  <a:pos x="connsiteX1" y="connsiteY1"/>
                </a:cxn>
                <a:cxn ang="0">
                  <a:pos x="connsiteX2" y="connsiteY2"/>
                </a:cxn>
                <a:cxn ang="0">
                  <a:pos x="connsiteX3" y="connsiteY3"/>
                </a:cxn>
              </a:cxnLst>
              <a:rect l="l" t="t" r="r" b="b"/>
              <a:pathLst>
                <a:path w="1713495" h="78378">
                  <a:moveTo>
                    <a:pt x="1585578" y="78378"/>
                  </a:moveTo>
                  <a:lnTo>
                    <a:pt x="0" y="78378"/>
                  </a:lnTo>
                  <a:lnTo>
                    <a:pt x="0" y="0"/>
                  </a:lnTo>
                  <a:lnTo>
                    <a:pt x="1713495" y="0"/>
                  </a:lnTo>
                  <a:close/>
                </a:path>
              </a:pathLst>
            </a:custGeom>
            <a:solidFill>
              <a:srgbClr val="61D6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a:extLst>
                <a:ext uri="{FF2B5EF4-FFF2-40B4-BE49-F238E27FC236}">
                  <a16:creationId xmlns:a16="http://schemas.microsoft.com/office/drawing/2014/main" id="{19E95DC8-161D-40C4-9683-31996CC1D0AF}"/>
                </a:ext>
              </a:extLst>
            </p:cNvPr>
            <p:cNvSpPr/>
            <p:nvPr/>
          </p:nvSpPr>
          <p:spPr>
            <a:xfrm flipV="1">
              <a:off x="2017888" y="759581"/>
              <a:ext cx="1488141" cy="78378"/>
            </a:xfrm>
            <a:prstGeom prst="parallelogram">
              <a:avLst>
                <a:gd name="adj" fmla="val 163205"/>
              </a:avLst>
            </a:prstGeom>
            <a:solidFill>
              <a:srgbClr val="61D6F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a:extLst>
                <a:ext uri="{FF2B5EF4-FFF2-40B4-BE49-F238E27FC236}">
                  <a16:creationId xmlns:a16="http://schemas.microsoft.com/office/drawing/2014/main" id="{1F05C3C9-12CA-416C-9887-3B295CCCFB74}"/>
                </a:ext>
              </a:extLst>
            </p:cNvPr>
            <p:cNvSpPr/>
            <p:nvPr/>
          </p:nvSpPr>
          <p:spPr>
            <a:xfrm flipV="1">
              <a:off x="3480184" y="759581"/>
              <a:ext cx="1033430" cy="78378"/>
            </a:xfrm>
            <a:prstGeom prst="parallelogram">
              <a:avLst>
                <a:gd name="adj" fmla="val 163205"/>
              </a:avLst>
            </a:prstGeom>
            <a:solidFill>
              <a:srgbClr val="61D6FE">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平行四边形 10">
              <a:extLst>
                <a:ext uri="{FF2B5EF4-FFF2-40B4-BE49-F238E27FC236}">
                  <a16:creationId xmlns:a16="http://schemas.microsoft.com/office/drawing/2014/main" id="{F7FFC115-1EE8-42CC-B656-23881B4B180E}"/>
                </a:ext>
              </a:extLst>
            </p:cNvPr>
            <p:cNvSpPr/>
            <p:nvPr/>
          </p:nvSpPr>
          <p:spPr>
            <a:xfrm flipV="1">
              <a:off x="4487765" y="759581"/>
              <a:ext cx="454710" cy="78378"/>
            </a:xfrm>
            <a:prstGeom prst="parallelogram">
              <a:avLst>
                <a:gd name="adj" fmla="val 163205"/>
              </a:avLst>
            </a:prstGeom>
            <a:solidFill>
              <a:srgbClr val="61D6F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a:extLst>
                <a:ext uri="{FF2B5EF4-FFF2-40B4-BE49-F238E27FC236}">
                  <a16:creationId xmlns:a16="http://schemas.microsoft.com/office/drawing/2014/main" id="{0214CFBE-9CFB-4E8F-ACC6-A52DE709F3F1}"/>
                </a:ext>
              </a:extLst>
            </p:cNvPr>
            <p:cNvSpPr/>
            <p:nvPr/>
          </p:nvSpPr>
          <p:spPr>
            <a:xfrm flipV="1">
              <a:off x="4916628" y="759581"/>
              <a:ext cx="454710" cy="78378"/>
            </a:xfrm>
            <a:prstGeom prst="parallelogram">
              <a:avLst>
                <a:gd name="adj" fmla="val 163205"/>
              </a:avLst>
            </a:prstGeom>
            <a:solidFill>
              <a:srgbClr val="61D6F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a:extLst>
                <a:ext uri="{FF2B5EF4-FFF2-40B4-BE49-F238E27FC236}">
                  <a16:creationId xmlns:a16="http://schemas.microsoft.com/office/drawing/2014/main" id="{898DDCA7-1785-41D9-A6F9-240A9B2251D5}"/>
                </a:ext>
              </a:extLst>
            </p:cNvPr>
            <p:cNvSpPr/>
            <p:nvPr/>
          </p:nvSpPr>
          <p:spPr>
            <a:xfrm flipV="1">
              <a:off x="5345484" y="759581"/>
              <a:ext cx="454710" cy="78378"/>
            </a:xfrm>
            <a:prstGeom prst="parallelogram">
              <a:avLst>
                <a:gd name="adj" fmla="val 163205"/>
              </a:avLst>
            </a:prstGeom>
            <a:solidFill>
              <a:srgbClr val="61D6F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57316799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5404091"/>
      </p:ext>
    </p:extLst>
  </p:cSld>
  <p:clrMap bg1="lt1" tx1="dk1" bg2="lt2" tx2="dk2" accent1="accent1" accent2="accent2" accent3="accent3" accent4="accent4" accent5="accent5" accent6="accent6" hlink="hlink" folHlink="folHlink"/>
  <p:sldLayoutIdLst>
    <p:sldLayoutId id="2147484302" r:id="rId1"/>
    <p:sldLayoutId id="2147484303" r:id="rId2"/>
    <p:sldLayoutId id="2147484308" r:id="rId3"/>
  </p:sldLayoutIdLst>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hf sldNum="0" hdr="0" ftr="0" dt="0"/>
  <p:txStyles>
    <p:titleStyle>
      <a:lvl1pPr algn="ctr" defTabSz="457200" rtl="0" eaLnBrk="1" latinLnBrk="0" hangingPunct="1">
        <a:spcBef>
          <a:spcPct val="0"/>
        </a:spcBef>
        <a:buNone/>
        <a:defRPr sz="3600" kern="1200" cap="none">
          <a:ln w="3175" cmpd="sng">
            <a:noFill/>
          </a:ln>
          <a:solidFill>
            <a:schemeClr val="bg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457200" rtl="0" eaLnBrk="1" latinLnBrk="0" hangingPunct="1">
        <a:spcBef>
          <a:spcPct val="20000"/>
        </a:spcBef>
        <a:spcAft>
          <a:spcPts val="600"/>
        </a:spcAft>
        <a:buClr>
          <a:schemeClr val="accent1"/>
        </a:buClr>
        <a:buSzPct val="115000"/>
        <a:buFont typeface="Arial"/>
        <a:buNone/>
        <a:defRPr sz="2800" kern="1200" cap="none">
          <a:solidFill>
            <a:schemeClr val="bg1"/>
          </a:solidFill>
          <a:effectLst/>
          <a:latin typeface="+mn-lt"/>
          <a:ea typeface="+mn-ea"/>
          <a:cs typeface="+mn-cs"/>
        </a:defRPr>
      </a:lvl1pPr>
      <a:lvl2pPr marL="457200" indent="0" algn="l" defTabSz="457200" rtl="0" eaLnBrk="1" latinLnBrk="0" hangingPunct="1">
        <a:spcBef>
          <a:spcPct val="20000"/>
        </a:spcBef>
        <a:spcAft>
          <a:spcPts val="600"/>
        </a:spcAft>
        <a:buClr>
          <a:schemeClr val="accent1"/>
        </a:buClr>
        <a:buSzPct val="115000"/>
        <a:buFont typeface="Arial"/>
        <a:buNone/>
        <a:defRPr sz="2400" kern="1200" cap="none">
          <a:solidFill>
            <a:schemeClr val="bg1"/>
          </a:solidFill>
          <a:effectLst/>
          <a:latin typeface="+mn-lt"/>
          <a:ea typeface="+mn-ea"/>
          <a:cs typeface="+mn-cs"/>
        </a:defRPr>
      </a:lvl2pPr>
      <a:lvl3pPr marL="914400" indent="0" algn="l" defTabSz="457200" rtl="0" eaLnBrk="1" latinLnBrk="0" hangingPunct="1">
        <a:spcBef>
          <a:spcPct val="20000"/>
        </a:spcBef>
        <a:spcAft>
          <a:spcPts val="600"/>
        </a:spcAft>
        <a:buClr>
          <a:schemeClr val="accent1"/>
        </a:buClr>
        <a:buSzPct val="115000"/>
        <a:buFont typeface="Arial"/>
        <a:buNone/>
        <a:defRPr sz="2000" kern="1200" cap="none">
          <a:solidFill>
            <a:schemeClr val="bg1"/>
          </a:solidFill>
          <a:effectLst/>
          <a:latin typeface="+mn-lt"/>
          <a:ea typeface="+mn-ea"/>
          <a:cs typeface="+mn-cs"/>
        </a:defRPr>
      </a:lvl3pPr>
      <a:lvl4pPr marL="1371600" indent="0" algn="l" defTabSz="457200" rtl="0" eaLnBrk="1" latinLnBrk="0" hangingPunct="1">
        <a:spcBef>
          <a:spcPct val="20000"/>
        </a:spcBef>
        <a:spcAft>
          <a:spcPts val="600"/>
        </a:spcAft>
        <a:buClr>
          <a:schemeClr val="accent1"/>
        </a:buClr>
        <a:buSzPct val="115000"/>
        <a:buFont typeface="Arial"/>
        <a:buNone/>
        <a:defRPr sz="1800" kern="1200" cap="none">
          <a:solidFill>
            <a:schemeClr val="bg1"/>
          </a:solidFill>
          <a:effectLst/>
          <a:latin typeface="+mn-lt"/>
          <a:ea typeface="+mn-ea"/>
          <a:cs typeface="+mn-cs"/>
        </a:defRPr>
      </a:lvl4pPr>
      <a:lvl5pPr marL="1828800" indent="0" algn="l" defTabSz="457200" rtl="0" eaLnBrk="1" latinLnBrk="0" hangingPunct="1">
        <a:spcBef>
          <a:spcPct val="20000"/>
        </a:spcBef>
        <a:spcAft>
          <a:spcPts val="600"/>
        </a:spcAft>
        <a:buClr>
          <a:schemeClr val="accent1"/>
        </a:buClr>
        <a:buSzPct val="115000"/>
        <a:buFont typeface="Arial"/>
        <a:buNone/>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25">
            <a:extLst>
              <a:ext uri="{FF2B5EF4-FFF2-40B4-BE49-F238E27FC236}">
                <a16:creationId xmlns:a16="http://schemas.microsoft.com/office/drawing/2014/main" id="{6DBCB7D3-3664-448E-8AFB-2F9803AB2839}"/>
              </a:ext>
            </a:extLst>
          </p:cNvPr>
          <p:cNvSpPr>
            <a:spLocks noGrp="1"/>
          </p:cNvSpPr>
          <p:nvPr>
            <p:ph type="title"/>
          </p:nvPr>
        </p:nvSpPr>
        <p:spPr/>
        <p:txBody>
          <a:bodyPr/>
          <a:lstStyle/>
          <a:p>
            <a:r>
              <a:rPr lang="zh-CN" altLang="en-US" dirty="0"/>
              <a:t>第四章 程序语言的设计</a:t>
            </a:r>
          </a:p>
        </p:txBody>
      </p:sp>
      <p:sp>
        <p:nvSpPr>
          <p:cNvPr id="27" name="对话气泡: 圆角矩形 26">
            <a:extLst>
              <a:ext uri="{FF2B5EF4-FFF2-40B4-BE49-F238E27FC236}">
                <a16:creationId xmlns:a16="http://schemas.microsoft.com/office/drawing/2014/main" id="{84EDB7F6-2829-4A95-9DAE-8DCE8BE9FF43}"/>
              </a:ext>
            </a:extLst>
          </p:cNvPr>
          <p:cNvSpPr/>
          <p:nvPr/>
        </p:nvSpPr>
        <p:spPr>
          <a:xfrm rot="5400000">
            <a:off x="7268166" y="1519988"/>
            <a:ext cx="2101101" cy="3988234"/>
          </a:xfrm>
          <a:prstGeom prst="wedgeRoundRectCallout">
            <a:avLst>
              <a:gd name="adj1" fmla="val -20514"/>
              <a:gd name="adj2" fmla="val 60093"/>
              <a:gd name="adj3" fmla="val 16667"/>
            </a:avLst>
          </a:prstGeom>
          <a:solidFill>
            <a:srgbClr val="2A9995"/>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t" anchorCtr="0"/>
          <a:lstStyle/>
          <a:p>
            <a:pPr>
              <a:lnSpc>
                <a:spcPct val="150000"/>
              </a:lnSpc>
            </a:pPr>
            <a:r>
              <a:rPr lang="en-US" altLang="zh-CN" sz="2400" b="1" dirty="0">
                <a:solidFill>
                  <a:schemeClr val="bg1"/>
                </a:solidFill>
                <a:latin typeface="微软雅黑" panose="020B0503020204020204" pitchFamily="34" charset="-122"/>
                <a:ea typeface="微软雅黑" panose="020B0503020204020204" pitchFamily="34" charset="-122"/>
              </a:rPr>
              <a:t>1. </a:t>
            </a:r>
            <a:r>
              <a:rPr lang="zh-CN" altLang="en-US" sz="2400" b="1" dirty="0">
                <a:solidFill>
                  <a:schemeClr val="bg1"/>
                </a:solidFill>
                <a:latin typeface="微软雅黑" panose="020B0503020204020204" pitchFamily="34" charset="-122"/>
                <a:ea typeface="微软雅黑" panose="020B0503020204020204" pitchFamily="34" charset="-122"/>
              </a:rPr>
              <a:t>形式语言与自动机理论</a:t>
            </a:r>
          </a:p>
          <a:p>
            <a:pPr>
              <a:lnSpc>
                <a:spcPct val="150000"/>
              </a:lnSpc>
            </a:pPr>
            <a:r>
              <a:rPr lang="en-US" altLang="zh-CN" sz="2400" b="1" dirty="0">
                <a:solidFill>
                  <a:srgbClr val="EE853E"/>
                </a:solidFill>
                <a:latin typeface="微软雅黑" panose="020B0503020204020204" pitchFamily="34" charset="-122"/>
                <a:ea typeface="微软雅黑" panose="020B0503020204020204" pitchFamily="34" charset="-122"/>
              </a:rPr>
              <a:t>2. </a:t>
            </a:r>
            <a:r>
              <a:rPr lang="zh-CN" altLang="en-US" sz="2400" b="1" dirty="0">
                <a:solidFill>
                  <a:srgbClr val="EE853E"/>
                </a:solidFill>
                <a:latin typeface="微软雅黑" panose="020B0503020204020204" pitchFamily="34" charset="-122"/>
                <a:ea typeface="微软雅黑" panose="020B0503020204020204" pitchFamily="34" charset="-122"/>
              </a:rPr>
              <a:t>语言的形式定义</a:t>
            </a:r>
          </a:p>
          <a:p>
            <a:pPr>
              <a:lnSpc>
                <a:spcPct val="150000"/>
              </a:lnSpc>
            </a:pPr>
            <a:r>
              <a:rPr lang="en-US" altLang="zh-CN" sz="2400" b="1" dirty="0">
                <a:solidFill>
                  <a:schemeClr val="bg1"/>
                </a:solidFill>
                <a:latin typeface="微软雅黑" panose="020B0503020204020204" pitchFamily="34" charset="-122"/>
                <a:ea typeface="微软雅黑" panose="020B0503020204020204" pitchFamily="34" charset="-122"/>
              </a:rPr>
              <a:t>3. </a:t>
            </a:r>
            <a:r>
              <a:rPr lang="zh-CN" altLang="en-US" sz="2400" b="1" dirty="0">
                <a:solidFill>
                  <a:schemeClr val="bg1"/>
                </a:solidFill>
                <a:latin typeface="微软雅黑" panose="020B0503020204020204" pitchFamily="34" charset="-122"/>
                <a:ea typeface="微软雅黑" panose="020B0503020204020204" pitchFamily="34" charset="-122"/>
              </a:rPr>
              <a:t>文法和语言</a:t>
            </a:r>
            <a:endParaRPr lang="zh-CN" altLang="en-US" sz="2400" b="1" dirty="0">
              <a:latin typeface="微软雅黑" panose="020B0503020204020204" pitchFamily="34" charset="-122"/>
              <a:ea typeface="微软雅黑" panose="020B0503020204020204" pitchFamily="34" charset="-122"/>
            </a:endParaRPr>
          </a:p>
        </p:txBody>
      </p:sp>
      <p:grpSp>
        <p:nvGrpSpPr>
          <p:cNvPr id="28" name="组合 27">
            <a:extLst>
              <a:ext uri="{FF2B5EF4-FFF2-40B4-BE49-F238E27FC236}">
                <a16:creationId xmlns:a16="http://schemas.microsoft.com/office/drawing/2014/main" id="{A563D2E1-5945-4393-9A28-DF176DB229F3}"/>
              </a:ext>
            </a:extLst>
          </p:cNvPr>
          <p:cNvGrpSpPr>
            <a:grpSpLocks noChangeAspect="1"/>
          </p:cNvGrpSpPr>
          <p:nvPr/>
        </p:nvGrpSpPr>
        <p:grpSpPr>
          <a:xfrm>
            <a:off x="927033" y="2073194"/>
            <a:ext cx="4966203" cy="2711612"/>
            <a:chOff x="1449652" y="2320203"/>
            <a:chExt cx="4724869" cy="2719152"/>
          </a:xfrm>
        </p:grpSpPr>
        <p:grpSp>
          <p:nvGrpSpPr>
            <p:cNvPr id="30" name="Group 78" descr="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
              <a:extLst>
                <a:ext uri="{FF2B5EF4-FFF2-40B4-BE49-F238E27FC236}">
                  <a16:creationId xmlns:a16="http://schemas.microsoft.com/office/drawing/2014/main" id="{74B834B1-7E11-4152-A77C-15A0BB93CFFA}"/>
                </a:ext>
              </a:extLst>
            </p:cNvPr>
            <p:cNvGrpSpPr/>
            <p:nvPr/>
          </p:nvGrpSpPr>
          <p:grpSpPr>
            <a:xfrm>
              <a:off x="1449652" y="2320203"/>
              <a:ext cx="4724869" cy="2719152"/>
              <a:chOff x="8440747" y="4796156"/>
              <a:chExt cx="2786063" cy="1603375"/>
            </a:xfrm>
          </p:grpSpPr>
          <p:sp>
            <p:nvSpPr>
              <p:cNvPr id="35" name="Freeform 45">
                <a:extLst>
                  <a:ext uri="{FF2B5EF4-FFF2-40B4-BE49-F238E27FC236}">
                    <a16:creationId xmlns:a16="http://schemas.microsoft.com/office/drawing/2014/main" id="{E63B6474-B2BF-43F4-AB6D-9FC2C2C138C8}"/>
                  </a:ext>
                </a:extLst>
              </p:cNvPr>
              <p:cNvSpPr>
                <a:spLocks/>
              </p:cNvSpPr>
              <p:nvPr/>
            </p:nvSpPr>
            <p:spPr bwMode="auto">
              <a:xfrm>
                <a:off x="8440747" y="6337618"/>
                <a:ext cx="1403350" cy="61913"/>
              </a:xfrm>
              <a:custGeom>
                <a:avLst/>
                <a:gdLst>
                  <a:gd name="T0" fmla="*/ 0 w 885"/>
                  <a:gd name="T1" fmla="*/ 16 h 39"/>
                  <a:gd name="T2" fmla="*/ 78 w 885"/>
                  <a:gd name="T3" fmla="*/ 39 h 39"/>
                  <a:gd name="T4" fmla="*/ 885 w 885"/>
                  <a:gd name="T5" fmla="*/ 39 h 39"/>
                  <a:gd name="T6" fmla="*/ 885 w 885"/>
                  <a:gd name="T7" fmla="*/ 0 h 39"/>
                  <a:gd name="T8" fmla="*/ 0 w 885"/>
                  <a:gd name="T9" fmla="*/ 0 h 39"/>
                  <a:gd name="T10" fmla="*/ 0 w 885"/>
                  <a:gd name="T11" fmla="*/ 16 h 39"/>
                </a:gdLst>
                <a:ahLst/>
                <a:cxnLst>
                  <a:cxn ang="0">
                    <a:pos x="T0" y="T1"/>
                  </a:cxn>
                  <a:cxn ang="0">
                    <a:pos x="T2" y="T3"/>
                  </a:cxn>
                  <a:cxn ang="0">
                    <a:pos x="T4" y="T5"/>
                  </a:cxn>
                  <a:cxn ang="0">
                    <a:pos x="T6" y="T7"/>
                  </a:cxn>
                  <a:cxn ang="0">
                    <a:pos x="T8" y="T9"/>
                  </a:cxn>
                  <a:cxn ang="0">
                    <a:pos x="T10" y="T11"/>
                  </a:cxn>
                </a:cxnLst>
                <a:rect l="0" t="0" r="r" b="b"/>
                <a:pathLst>
                  <a:path w="885" h="39">
                    <a:moveTo>
                      <a:pt x="0" y="16"/>
                    </a:moveTo>
                    <a:cubicBezTo>
                      <a:pt x="0" y="23"/>
                      <a:pt x="30" y="39"/>
                      <a:pt x="78" y="39"/>
                    </a:cubicBezTo>
                    <a:cubicBezTo>
                      <a:pt x="126" y="39"/>
                      <a:pt x="885" y="39"/>
                      <a:pt x="885" y="39"/>
                    </a:cubicBezTo>
                    <a:cubicBezTo>
                      <a:pt x="885" y="0"/>
                      <a:pt x="885" y="0"/>
                      <a:pt x="885" y="0"/>
                    </a:cubicBezTo>
                    <a:cubicBezTo>
                      <a:pt x="0" y="0"/>
                      <a:pt x="0" y="0"/>
                      <a:pt x="0" y="0"/>
                    </a:cubicBezTo>
                    <a:lnTo>
                      <a:pt x="0" y="16"/>
                    </a:lnTo>
                    <a:close/>
                  </a:path>
                </a:pathLst>
              </a:custGeom>
              <a:solidFill>
                <a:srgbClr val="B3B4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b="1">
                  <a:solidFill>
                    <a:schemeClr val="bg1"/>
                  </a:solidFill>
                  <a:latin typeface="+mj-ea"/>
                  <a:ea typeface="+mj-ea"/>
                </a:endParaRPr>
              </a:p>
            </p:txBody>
          </p:sp>
          <p:sp>
            <p:nvSpPr>
              <p:cNvPr id="36" name="Freeform 46">
                <a:extLst>
                  <a:ext uri="{FF2B5EF4-FFF2-40B4-BE49-F238E27FC236}">
                    <a16:creationId xmlns:a16="http://schemas.microsoft.com/office/drawing/2014/main" id="{3B26680D-10AD-4347-97AF-106000B60DE7}"/>
                  </a:ext>
                </a:extLst>
              </p:cNvPr>
              <p:cNvSpPr>
                <a:spLocks/>
              </p:cNvSpPr>
              <p:nvPr/>
            </p:nvSpPr>
            <p:spPr bwMode="auto">
              <a:xfrm>
                <a:off x="9823459" y="6337618"/>
                <a:ext cx="1403350" cy="61913"/>
              </a:xfrm>
              <a:custGeom>
                <a:avLst/>
                <a:gdLst>
                  <a:gd name="T0" fmla="*/ 884 w 884"/>
                  <a:gd name="T1" fmla="*/ 16 h 39"/>
                  <a:gd name="T2" fmla="*/ 806 w 884"/>
                  <a:gd name="T3" fmla="*/ 39 h 39"/>
                  <a:gd name="T4" fmla="*/ 0 w 884"/>
                  <a:gd name="T5" fmla="*/ 39 h 39"/>
                  <a:gd name="T6" fmla="*/ 0 w 884"/>
                  <a:gd name="T7" fmla="*/ 0 h 39"/>
                  <a:gd name="T8" fmla="*/ 884 w 884"/>
                  <a:gd name="T9" fmla="*/ 0 h 39"/>
                  <a:gd name="T10" fmla="*/ 884 w 884"/>
                  <a:gd name="T11" fmla="*/ 16 h 39"/>
                </a:gdLst>
                <a:ahLst/>
                <a:cxnLst>
                  <a:cxn ang="0">
                    <a:pos x="T0" y="T1"/>
                  </a:cxn>
                  <a:cxn ang="0">
                    <a:pos x="T2" y="T3"/>
                  </a:cxn>
                  <a:cxn ang="0">
                    <a:pos x="T4" y="T5"/>
                  </a:cxn>
                  <a:cxn ang="0">
                    <a:pos x="T6" y="T7"/>
                  </a:cxn>
                  <a:cxn ang="0">
                    <a:pos x="T8" y="T9"/>
                  </a:cxn>
                  <a:cxn ang="0">
                    <a:pos x="T10" y="T11"/>
                  </a:cxn>
                </a:cxnLst>
                <a:rect l="0" t="0" r="r" b="b"/>
                <a:pathLst>
                  <a:path w="884" h="39">
                    <a:moveTo>
                      <a:pt x="884" y="16"/>
                    </a:moveTo>
                    <a:cubicBezTo>
                      <a:pt x="884" y="23"/>
                      <a:pt x="854" y="39"/>
                      <a:pt x="806" y="39"/>
                    </a:cubicBezTo>
                    <a:cubicBezTo>
                      <a:pt x="758" y="39"/>
                      <a:pt x="0" y="39"/>
                      <a:pt x="0" y="39"/>
                    </a:cubicBezTo>
                    <a:cubicBezTo>
                      <a:pt x="0" y="0"/>
                      <a:pt x="0" y="0"/>
                      <a:pt x="0" y="0"/>
                    </a:cubicBezTo>
                    <a:cubicBezTo>
                      <a:pt x="884" y="0"/>
                      <a:pt x="884" y="0"/>
                      <a:pt x="884" y="0"/>
                    </a:cubicBezTo>
                    <a:lnTo>
                      <a:pt x="884" y="16"/>
                    </a:lnTo>
                    <a:close/>
                  </a:path>
                </a:pathLst>
              </a:custGeom>
              <a:solidFill>
                <a:srgbClr val="B3B4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b="1">
                  <a:solidFill>
                    <a:schemeClr val="bg1"/>
                  </a:solidFill>
                  <a:latin typeface="+mj-ea"/>
                  <a:ea typeface="+mj-ea"/>
                </a:endParaRPr>
              </a:p>
            </p:txBody>
          </p:sp>
          <p:sp>
            <p:nvSpPr>
              <p:cNvPr id="37" name="Freeform 47">
                <a:extLst>
                  <a:ext uri="{FF2B5EF4-FFF2-40B4-BE49-F238E27FC236}">
                    <a16:creationId xmlns:a16="http://schemas.microsoft.com/office/drawing/2014/main" id="{5731EF02-7BFE-495F-A3B3-0E34DAB39143}"/>
                  </a:ext>
                </a:extLst>
              </p:cNvPr>
              <p:cNvSpPr>
                <a:spLocks/>
              </p:cNvSpPr>
              <p:nvPr/>
            </p:nvSpPr>
            <p:spPr bwMode="auto">
              <a:xfrm>
                <a:off x="8715384" y="4796156"/>
                <a:ext cx="2257425" cy="1546225"/>
              </a:xfrm>
              <a:custGeom>
                <a:avLst/>
                <a:gdLst>
                  <a:gd name="T0" fmla="*/ 1378 w 1423"/>
                  <a:gd name="T1" fmla="*/ 0 h 974"/>
                  <a:gd name="T2" fmla="*/ 45 w 1423"/>
                  <a:gd name="T3" fmla="*/ 0 h 974"/>
                  <a:gd name="T4" fmla="*/ 0 w 1423"/>
                  <a:gd name="T5" fmla="*/ 45 h 974"/>
                  <a:gd name="T6" fmla="*/ 0 w 1423"/>
                  <a:gd name="T7" fmla="*/ 218 h 974"/>
                  <a:gd name="T8" fmla="*/ 0 w 1423"/>
                  <a:gd name="T9" fmla="*/ 929 h 974"/>
                  <a:gd name="T10" fmla="*/ 45 w 1423"/>
                  <a:gd name="T11" fmla="*/ 974 h 974"/>
                  <a:gd name="T12" fmla="*/ 1378 w 1423"/>
                  <a:gd name="T13" fmla="*/ 974 h 974"/>
                  <a:gd name="T14" fmla="*/ 1423 w 1423"/>
                  <a:gd name="T15" fmla="*/ 929 h 974"/>
                  <a:gd name="T16" fmla="*/ 1423 w 1423"/>
                  <a:gd name="T17" fmla="*/ 45 h 974"/>
                  <a:gd name="T18" fmla="*/ 1378 w 1423"/>
                  <a:gd name="T19"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3" h="974">
                    <a:moveTo>
                      <a:pt x="1378" y="0"/>
                    </a:moveTo>
                    <a:cubicBezTo>
                      <a:pt x="45" y="0"/>
                      <a:pt x="45" y="0"/>
                      <a:pt x="45" y="0"/>
                    </a:cubicBezTo>
                    <a:cubicBezTo>
                      <a:pt x="20" y="0"/>
                      <a:pt x="0" y="20"/>
                      <a:pt x="0" y="45"/>
                    </a:cubicBezTo>
                    <a:cubicBezTo>
                      <a:pt x="0" y="218"/>
                      <a:pt x="0" y="218"/>
                      <a:pt x="0" y="218"/>
                    </a:cubicBezTo>
                    <a:cubicBezTo>
                      <a:pt x="0" y="929"/>
                      <a:pt x="0" y="929"/>
                      <a:pt x="0" y="929"/>
                    </a:cubicBezTo>
                    <a:cubicBezTo>
                      <a:pt x="0" y="954"/>
                      <a:pt x="20" y="974"/>
                      <a:pt x="45" y="974"/>
                    </a:cubicBezTo>
                    <a:cubicBezTo>
                      <a:pt x="1378" y="974"/>
                      <a:pt x="1378" y="974"/>
                      <a:pt x="1378" y="974"/>
                    </a:cubicBezTo>
                    <a:cubicBezTo>
                      <a:pt x="1403" y="974"/>
                      <a:pt x="1423" y="954"/>
                      <a:pt x="1423" y="929"/>
                    </a:cubicBezTo>
                    <a:cubicBezTo>
                      <a:pt x="1423" y="45"/>
                      <a:pt x="1423" y="45"/>
                      <a:pt x="1423" y="45"/>
                    </a:cubicBezTo>
                    <a:cubicBezTo>
                      <a:pt x="1423" y="20"/>
                      <a:pt x="1403" y="0"/>
                      <a:pt x="1378" y="0"/>
                    </a:cubicBezTo>
                    <a:close/>
                  </a:path>
                </a:pathLst>
              </a:custGeom>
              <a:solidFill>
                <a:srgbClr val="D2D3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b="1">
                  <a:solidFill>
                    <a:schemeClr val="bg1"/>
                  </a:solidFill>
                  <a:latin typeface="+mj-ea"/>
                  <a:ea typeface="+mj-ea"/>
                </a:endParaRPr>
              </a:p>
            </p:txBody>
          </p:sp>
          <p:sp>
            <p:nvSpPr>
              <p:cNvPr id="38" name="Freeform 48">
                <a:extLst>
                  <a:ext uri="{FF2B5EF4-FFF2-40B4-BE49-F238E27FC236}">
                    <a16:creationId xmlns:a16="http://schemas.microsoft.com/office/drawing/2014/main" id="{B4DF4346-11BC-428E-867D-B270CD26ACDC}"/>
                  </a:ext>
                </a:extLst>
              </p:cNvPr>
              <p:cNvSpPr>
                <a:spLocks/>
              </p:cNvSpPr>
              <p:nvPr/>
            </p:nvSpPr>
            <p:spPr bwMode="auto">
              <a:xfrm>
                <a:off x="8723322" y="4804093"/>
                <a:ext cx="2243138" cy="1530350"/>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b="1">
                  <a:solidFill>
                    <a:schemeClr val="bg1"/>
                  </a:solidFill>
                  <a:latin typeface="+mj-ea"/>
                  <a:ea typeface="+mj-ea"/>
                </a:endParaRPr>
              </a:p>
            </p:txBody>
          </p:sp>
          <p:sp>
            <p:nvSpPr>
              <p:cNvPr id="39" name="Freeform 49">
                <a:extLst>
                  <a:ext uri="{FF2B5EF4-FFF2-40B4-BE49-F238E27FC236}">
                    <a16:creationId xmlns:a16="http://schemas.microsoft.com/office/drawing/2014/main" id="{AC6E8CA7-61FA-4DF0-AA94-5829712D5AA1}"/>
                  </a:ext>
                </a:extLst>
              </p:cNvPr>
              <p:cNvSpPr>
                <a:spLocks/>
              </p:cNvSpPr>
              <p:nvPr/>
            </p:nvSpPr>
            <p:spPr bwMode="auto">
              <a:xfrm>
                <a:off x="8723322" y="6269356"/>
                <a:ext cx="2243138" cy="65088"/>
              </a:xfrm>
              <a:custGeom>
                <a:avLst/>
                <a:gdLst>
                  <a:gd name="T0" fmla="*/ 1414 w 1414"/>
                  <a:gd name="T1" fmla="*/ 0 h 41"/>
                  <a:gd name="T2" fmla="*/ 1396 w 1414"/>
                  <a:gd name="T3" fmla="*/ 9 h 41"/>
                  <a:gd name="T4" fmla="*/ 18 w 1414"/>
                  <a:gd name="T5" fmla="*/ 9 h 41"/>
                  <a:gd name="T6" fmla="*/ 0 w 1414"/>
                  <a:gd name="T7" fmla="*/ 0 h 41"/>
                  <a:gd name="T8" fmla="*/ 0 w 1414"/>
                  <a:gd name="T9" fmla="*/ 1 h 41"/>
                  <a:gd name="T10" fmla="*/ 40 w 1414"/>
                  <a:gd name="T11" fmla="*/ 41 h 41"/>
                  <a:gd name="T12" fmla="*/ 1373 w 1414"/>
                  <a:gd name="T13" fmla="*/ 41 h 41"/>
                  <a:gd name="T14" fmla="*/ 1414 w 1414"/>
                  <a:gd name="T15" fmla="*/ 1 h 41"/>
                  <a:gd name="T16" fmla="*/ 1414 w 1414"/>
                  <a:gd name="T1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41">
                    <a:moveTo>
                      <a:pt x="1414" y="0"/>
                    </a:moveTo>
                    <a:cubicBezTo>
                      <a:pt x="1409" y="6"/>
                      <a:pt x="1403" y="9"/>
                      <a:pt x="1396" y="9"/>
                    </a:cubicBezTo>
                    <a:cubicBezTo>
                      <a:pt x="18" y="9"/>
                      <a:pt x="18" y="9"/>
                      <a:pt x="18" y="9"/>
                    </a:cubicBezTo>
                    <a:cubicBezTo>
                      <a:pt x="10" y="9"/>
                      <a:pt x="4" y="6"/>
                      <a:pt x="0" y="0"/>
                    </a:cubicBezTo>
                    <a:cubicBezTo>
                      <a:pt x="0" y="1"/>
                      <a:pt x="0" y="1"/>
                      <a:pt x="0" y="1"/>
                    </a:cubicBezTo>
                    <a:cubicBezTo>
                      <a:pt x="0" y="23"/>
                      <a:pt x="18" y="41"/>
                      <a:pt x="40" y="41"/>
                    </a:cubicBezTo>
                    <a:cubicBezTo>
                      <a:pt x="1373" y="41"/>
                      <a:pt x="1373" y="41"/>
                      <a:pt x="1373" y="41"/>
                    </a:cubicBezTo>
                    <a:cubicBezTo>
                      <a:pt x="1396" y="41"/>
                      <a:pt x="1414" y="23"/>
                      <a:pt x="1414" y="1"/>
                    </a:cubicBezTo>
                    <a:lnTo>
                      <a:pt x="1414" y="0"/>
                    </a:lnTo>
                    <a:close/>
                  </a:path>
                </a:pathLst>
              </a:custGeom>
              <a:solidFill>
                <a:srgbClr val="0C0D1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b="1">
                  <a:solidFill>
                    <a:schemeClr val="bg1"/>
                  </a:solidFill>
                  <a:latin typeface="+mj-ea"/>
                  <a:ea typeface="+mj-ea"/>
                </a:endParaRPr>
              </a:p>
            </p:txBody>
          </p:sp>
          <p:sp>
            <p:nvSpPr>
              <p:cNvPr id="40" name="Rectangle 50">
                <a:extLst>
                  <a:ext uri="{FF2B5EF4-FFF2-40B4-BE49-F238E27FC236}">
                    <a16:creationId xmlns:a16="http://schemas.microsoft.com/office/drawing/2014/main" id="{11903CBC-A7AA-4A96-BC39-7DAE0E80A93E}"/>
                  </a:ext>
                </a:extLst>
              </p:cNvPr>
              <p:cNvSpPr>
                <a:spLocks noChangeArrowheads="1"/>
              </p:cNvSpPr>
              <p:nvPr/>
            </p:nvSpPr>
            <p:spPr bwMode="auto">
              <a:xfrm>
                <a:off x="8440747" y="6312218"/>
                <a:ext cx="2786063" cy="50800"/>
              </a:xfrm>
              <a:prstGeom prst="rect">
                <a:avLst/>
              </a:prstGeom>
              <a:solidFill>
                <a:srgbClr val="D2D6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b="1">
                  <a:solidFill>
                    <a:schemeClr val="bg1"/>
                  </a:solidFill>
                  <a:latin typeface="+mj-ea"/>
                  <a:ea typeface="+mj-ea"/>
                </a:endParaRPr>
              </a:p>
            </p:txBody>
          </p:sp>
          <p:sp>
            <p:nvSpPr>
              <p:cNvPr id="41" name="Freeform 51">
                <a:extLst>
                  <a:ext uri="{FF2B5EF4-FFF2-40B4-BE49-F238E27FC236}">
                    <a16:creationId xmlns:a16="http://schemas.microsoft.com/office/drawing/2014/main" id="{749349CF-9E4A-4EC3-8D29-303642B7FFFE}"/>
                  </a:ext>
                </a:extLst>
              </p:cNvPr>
              <p:cNvSpPr>
                <a:spLocks/>
              </p:cNvSpPr>
              <p:nvPr/>
            </p:nvSpPr>
            <p:spPr bwMode="auto">
              <a:xfrm>
                <a:off x="9632959" y="6312218"/>
                <a:ext cx="400050" cy="28575"/>
              </a:xfrm>
              <a:custGeom>
                <a:avLst/>
                <a:gdLst>
                  <a:gd name="T0" fmla="*/ 0 w 252"/>
                  <a:gd name="T1" fmla="*/ 0 h 18"/>
                  <a:gd name="T2" fmla="*/ 22 w 252"/>
                  <a:gd name="T3" fmla="*/ 18 h 18"/>
                  <a:gd name="T4" fmla="*/ 230 w 252"/>
                  <a:gd name="T5" fmla="*/ 18 h 18"/>
                  <a:gd name="T6" fmla="*/ 252 w 252"/>
                  <a:gd name="T7" fmla="*/ 0 h 18"/>
                  <a:gd name="T8" fmla="*/ 0 w 252"/>
                  <a:gd name="T9" fmla="*/ 0 h 18"/>
                </a:gdLst>
                <a:ahLst/>
                <a:cxnLst>
                  <a:cxn ang="0">
                    <a:pos x="T0" y="T1"/>
                  </a:cxn>
                  <a:cxn ang="0">
                    <a:pos x="T2" y="T3"/>
                  </a:cxn>
                  <a:cxn ang="0">
                    <a:pos x="T4" y="T5"/>
                  </a:cxn>
                  <a:cxn ang="0">
                    <a:pos x="T6" y="T7"/>
                  </a:cxn>
                  <a:cxn ang="0">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B3B4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b="1">
                  <a:solidFill>
                    <a:schemeClr val="bg1"/>
                  </a:solidFill>
                  <a:latin typeface="+mj-ea"/>
                  <a:ea typeface="+mj-ea"/>
                </a:endParaRPr>
              </a:p>
            </p:txBody>
          </p:sp>
          <p:sp>
            <p:nvSpPr>
              <p:cNvPr id="42" name="Rectangle 52">
                <a:extLst>
                  <a:ext uri="{FF2B5EF4-FFF2-40B4-BE49-F238E27FC236}">
                    <a16:creationId xmlns:a16="http://schemas.microsoft.com/office/drawing/2014/main" id="{AB6DB606-C911-4FDD-AAC5-E9FD614D6239}"/>
                  </a:ext>
                </a:extLst>
              </p:cNvPr>
              <p:cNvSpPr>
                <a:spLocks noChangeArrowheads="1"/>
              </p:cNvSpPr>
              <p:nvPr/>
            </p:nvSpPr>
            <p:spPr bwMode="auto">
              <a:xfrm>
                <a:off x="8797934" y="4900931"/>
                <a:ext cx="2093913" cy="1322388"/>
              </a:xfrm>
              <a:prstGeom prst="rect">
                <a:avLst/>
              </a:prstGeom>
              <a:solidFill>
                <a:srgbClr val="0C0D1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b="1">
                  <a:solidFill>
                    <a:schemeClr val="bg1"/>
                  </a:solidFill>
                  <a:latin typeface="+mj-ea"/>
                  <a:ea typeface="+mj-ea"/>
                </a:endParaRPr>
              </a:p>
            </p:txBody>
          </p:sp>
          <p:sp>
            <p:nvSpPr>
              <p:cNvPr id="43" name="Rectangle 53">
                <a:extLst>
                  <a:ext uri="{FF2B5EF4-FFF2-40B4-BE49-F238E27FC236}">
                    <a16:creationId xmlns:a16="http://schemas.microsoft.com/office/drawing/2014/main" id="{4BEF50C3-030A-42CA-9EA7-FED5BB98EFF2}"/>
                  </a:ext>
                </a:extLst>
              </p:cNvPr>
              <p:cNvSpPr>
                <a:spLocks noChangeArrowheads="1"/>
              </p:cNvSpPr>
              <p:nvPr/>
            </p:nvSpPr>
            <p:spPr bwMode="auto">
              <a:xfrm>
                <a:off x="8804284" y="4908868"/>
                <a:ext cx="2079625" cy="1308100"/>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b="1">
                  <a:solidFill>
                    <a:schemeClr val="bg1"/>
                  </a:solidFill>
                  <a:latin typeface="+mj-ea"/>
                  <a:ea typeface="+mj-ea"/>
                </a:endParaRPr>
              </a:p>
            </p:txBody>
          </p:sp>
          <p:sp>
            <p:nvSpPr>
              <p:cNvPr id="44" name="Oval 54">
                <a:extLst>
                  <a:ext uri="{FF2B5EF4-FFF2-40B4-BE49-F238E27FC236}">
                    <a16:creationId xmlns:a16="http://schemas.microsoft.com/office/drawing/2014/main" id="{3027579F-95E4-40B4-BB39-536B72BF54E0}"/>
                  </a:ext>
                </a:extLst>
              </p:cNvPr>
              <p:cNvSpPr>
                <a:spLocks noChangeArrowheads="1"/>
              </p:cNvSpPr>
              <p:nvPr/>
            </p:nvSpPr>
            <p:spPr bwMode="auto">
              <a:xfrm>
                <a:off x="9831397" y="4845368"/>
                <a:ext cx="23813" cy="23813"/>
              </a:xfrm>
              <a:prstGeom prst="ellipse">
                <a:avLst/>
              </a:prstGeom>
              <a:solidFill>
                <a:srgbClr val="2C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b="1">
                  <a:solidFill>
                    <a:schemeClr val="bg1"/>
                  </a:solidFill>
                  <a:latin typeface="+mj-ea"/>
                  <a:ea typeface="+mj-ea"/>
                </a:endParaRPr>
              </a:p>
            </p:txBody>
          </p:sp>
          <p:sp>
            <p:nvSpPr>
              <p:cNvPr id="45" name="Oval 55">
                <a:extLst>
                  <a:ext uri="{FF2B5EF4-FFF2-40B4-BE49-F238E27FC236}">
                    <a16:creationId xmlns:a16="http://schemas.microsoft.com/office/drawing/2014/main" id="{B3C5433E-CAF5-4271-B352-F7292659985A}"/>
                  </a:ext>
                </a:extLst>
              </p:cNvPr>
              <p:cNvSpPr>
                <a:spLocks noChangeArrowheads="1"/>
              </p:cNvSpPr>
              <p:nvPr/>
            </p:nvSpPr>
            <p:spPr bwMode="auto">
              <a:xfrm>
                <a:off x="9831397" y="4843781"/>
                <a:ext cx="23813" cy="22225"/>
              </a:xfrm>
              <a:prstGeom prst="ellipse">
                <a:avLst/>
              </a:prstGeom>
              <a:solidFill>
                <a:srgbClr val="0A0A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b="1">
                  <a:solidFill>
                    <a:schemeClr val="bg1"/>
                  </a:solidFill>
                  <a:latin typeface="+mj-ea"/>
                  <a:ea typeface="+mj-ea"/>
                </a:endParaRPr>
              </a:p>
            </p:txBody>
          </p:sp>
          <p:sp>
            <p:nvSpPr>
              <p:cNvPr id="46" name="Oval 56">
                <a:extLst>
                  <a:ext uri="{FF2B5EF4-FFF2-40B4-BE49-F238E27FC236}">
                    <a16:creationId xmlns:a16="http://schemas.microsoft.com/office/drawing/2014/main" id="{EEEBA92F-A6C6-4839-8CAC-4C200EBE7E71}"/>
                  </a:ext>
                </a:extLst>
              </p:cNvPr>
              <p:cNvSpPr>
                <a:spLocks noChangeArrowheads="1"/>
              </p:cNvSpPr>
              <p:nvPr/>
            </p:nvSpPr>
            <p:spPr bwMode="auto">
              <a:xfrm>
                <a:off x="9836159" y="4846956"/>
                <a:ext cx="14288" cy="158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b="1">
                  <a:solidFill>
                    <a:schemeClr val="bg1"/>
                  </a:solidFill>
                  <a:latin typeface="+mj-ea"/>
                  <a:ea typeface="+mj-ea"/>
                </a:endParaRPr>
              </a:p>
            </p:txBody>
          </p:sp>
          <p:sp>
            <p:nvSpPr>
              <p:cNvPr id="47" name="Oval 57">
                <a:extLst>
                  <a:ext uri="{FF2B5EF4-FFF2-40B4-BE49-F238E27FC236}">
                    <a16:creationId xmlns:a16="http://schemas.microsoft.com/office/drawing/2014/main" id="{4628FB61-1CFF-4BAE-9C59-BF9B9987212F}"/>
                  </a:ext>
                </a:extLst>
              </p:cNvPr>
              <p:cNvSpPr>
                <a:spLocks noChangeArrowheads="1"/>
              </p:cNvSpPr>
              <p:nvPr/>
            </p:nvSpPr>
            <p:spPr bwMode="auto">
              <a:xfrm>
                <a:off x="9839334" y="4851718"/>
                <a:ext cx="7938" cy="7938"/>
              </a:xfrm>
              <a:prstGeom prst="ellipse">
                <a:avLst/>
              </a:prstGeom>
              <a:solidFill>
                <a:srgbClr val="2C99B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b="1">
                  <a:solidFill>
                    <a:schemeClr val="bg1"/>
                  </a:solidFill>
                  <a:latin typeface="+mj-ea"/>
                  <a:ea typeface="+mj-ea"/>
                </a:endParaRPr>
              </a:p>
            </p:txBody>
          </p:sp>
          <p:sp>
            <p:nvSpPr>
              <p:cNvPr id="48" name="Freeform 58">
                <a:extLst>
                  <a:ext uri="{FF2B5EF4-FFF2-40B4-BE49-F238E27FC236}">
                    <a16:creationId xmlns:a16="http://schemas.microsoft.com/office/drawing/2014/main" id="{64089EE7-97A8-4FB6-8B97-0E58315399B2}"/>
                  </a:ext>
                </a:extLst>
              </p:cNvPr>
              <p:cNvSpPr>
                <a:spLocks/>
              </p:cNvSpPr>
              <p:nvPr/>
            </p:nvSpPr>
            <p:spPr bwMode="auto">
              <a:xfrm>
                <a:off x="9842509" y="4853306"/>
                <a:ext cx="1588" cy="3175"/>
              </a:xfrm>
              <a:custGeom>
                <a:avLst/>
                <a:gdLst>
                  <a:gd name="T0" fmla="*/ 1 w 1"/>
                  <a:gd name="T1" fmla="*/ 1 h 2"/>
                  <a:gd name="T2" fmla="*/ 1 w 1"/>
                  <a:gd name="T3" fmla="*/ 2 h 2"/>
                  <a:gd name="T4" fmla="*/ 0 w 1"/>
                  <a:gd name="T5" fmla="*/ 1 h 2"/>
                  <a:gd name="T6" fmla="*/ 1 w 1"/>
                  <a:gd name="T7" fmla="*/ 0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lnTo>
                      <a:pt x="1" y="2"/>
                    </a:lnTo>
                    <a:lnTo>
                      <a:pt x="0" y="1"/>
                    </a:lnTo>
                    <a:lnTo>
                      <a:pt x="1" y="0"/>
                    </a:lnTo>
                    <a:lnTo>
                      <a:pt x="1"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b="1">
                  <a:solidFill>
                    <a:schemeClr val="bg1"/>
                  </a:solidFill>
                  <a:latin typeface="+mj-ea"/>
                  <a:ea typeface="+mj-ea"/>
                </a:endParaRPr>
              </a:p>
            </p:txBody>
          </p:sp>
        </p:grpSp>
        <p:sp>
          <p:nvSpPr>
            <p:cNvPr id="31" name="Rectangle 93" descr="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
              <a:extLst>
                <a:ext uri="{FF2B5EF4-FFF2-40B4-BE49-F238E27FC236}">
                  <a16:creationId xmlns:a16="http://schemas.microsoft.com/office/drawing/2014/main" id="{B4C88D07-2866-44EB-B2C1-1BBE36E2280F}"/>
                </a:ext>
              </a:extLst>
            </p:cNvPr>
            <p:cNvSpPr/>
            <p:nvPr/>
          </p:nvSpPr>
          <p:spPr>
            <a:xfrm>
              <a:off x="2066172" y="2508657"/>
              <a:ext cx="3526826" cy="555507"/>
            </a:xfrm>
            <a:prstGeom prst="rect">
              <a:avLst/>
            </a:prstGeom>
            <a:solidFill>
              <a:srgbClr val="2A9995"/>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r>
                <a:rPr lang="zh-CN" altLang="en-US" b="1" dirty="0">
                  <a:solidFill>
                    <a:schemeClr val="bg1"/>
                  </a:solidFill>
                  <a:latin typeface="+mj-ea"/>
                  <a:ea typeface="+mj-ea"/>
                </a:rPr>
                <a:t>第一节 高级程序设计语言的定义</a:t>
              </a:r>
            </a:p>
          </p:txBody>
        </p:sp>
        <p:sp>
          <p:nvSpPr>
            <p:cNvPr id="32" name="Rectangle 94" descr="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
              <a:extLst>
                <a:ext uri="{FF2B5EF4-FFF2-40B4-BE49-F238E27FC236}">
                  <a16:creationId xmlns:a16="http://schemas.microsoft.com/office/drawing/2014/main" id="{4423708C-E27D-44F0-B9FB-832A09AF8B86}"/>
                </a:ext>
              </a:extLst>
            </p:cNvPr>
            <p:cNvSpPr/>
            <p:nvPr/>
          </p:nvSpPr>
          <p:spPr>
            <a:xfrm>
              <a:off x="2066172" y="3064164"/>
              <a:ext cx="3526826" cy="555507"/>
            </a:xfrm>
            <a:prstGeom prst="rect">
              <a:avLst/>
            </a:prstGeom>
            <a:solidFill>
              <a:srgbClr val="54D0CA"/>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r>
                <a:rPr lang="zh-CN" altLang="en-US" b="1" dirty="0">
                  <a:solidFill>
                    <a:srgbClr val="EE853E"/>
                  </a:solidFill>
                  <a:latin typeface="+mj-ea"/>
                  <a:ea typeface="+mj-ea"/>
                </a:rPr>
                <a:t>第二节 形式语言与文法</a:t>
              </a:r>
            </a:p>
          </p:txBody>
        </p:sp>
        <p:sp>
          <p:nvSpPr>
            <p:cNvPr id="33" name="Rectangle 95" descr="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
              <a:extLst>
                <a:ext uri="{FF2B5EF4-FFF2-40B4-BE49-F238E27FC236}">
                  <a16:creationId xmlns:a16="http://schemas.microsoft.com/office/drawing/2014/main" id="{21F40BA5-235C-4276-95B4-ADDF952547C7}"/>
                </a:ext>
              </a:extLst>
            </p:cNvPr>
            <p:cNvSpPr/>
            <p:nvPr/>
          </p:nvSpPr>
          <p:spPr>
            <a:xfrm>
              <a:off x="2066172" y="3618735"/>
              <a:ext cx="3526826" cy="555507"/>
            </a:xfrm>
            <a:prstGeom prst="rect">
              <a:avLst/>
            </a:prstGeom>
            <a:solidFill>
              <a:srgbClr val="2A9995"/>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r>
                <a:rPr lang="zh-CN" altLang="en-US" b="1" dirty="0">
                  <a:solidFill>
                    <a:schemeClr val="bg1"/>
                  </a:solidFill>
                  <a:latin typeface="+mj-ea"/>
                  <a:ea typeface="+mj-ea"/>
                  <a:cs typeface="Clear Sans" panose="020B0503030202020304" pitchFamily="34" charset="0"/>
                </a:rPr>
                <a:t>第三节 高级程序设计语言的设计</a:t>
              </a:r>
            </a:p>
          </p:txBody>
        </p:sp>
        <p:sp>
          <p:nvSpPr>
            <p:cNvPr id="34" name="Rectangle 96" descr="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
              <a:extLst>
                <a:ext uri="{FF2B5EF4-FFF2-40B4-BE49-F238E27FC236}">
                  <a16:creationId xmlns:a16="http://schemas.microsoft.com/office/drawing/2014/main" id="{AFEE4512-A224-4160-9322-8C132C2CBCBF}"/>
                </a:ext>
              </a:extLst>
            </p:cNvPr>
            <p:cNvSpPr/>
            <p:nvPr/>
          </p:nvSpPr>
          <p:spPr>
            <a:xfrm>
              <a:off x="2066172" y="4174241"/>
              <a:ext cx="3526826" cy="555507"/>
            </a:xfrm>
            <a:prstGeom prst="rect">
              <a:avLst/>
            </a:prstGeom>
            <a:solidFill>
              <a:srgbClr val="54D0CA"/>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r>
                <a:rPr lang="zh-CN" altLang="en-US" b="1" dirty="0">
                  <a:solidFill>
                    <a:schemeClr val="bg1"/>
                  </a:solidFill>
                  <a:latin typeface="+mj-ea"/>
                  <a:ea typeface="+mj-ea"/>
                  <a:cs typeface="Clear Sans" panose="020B0503030202020304" pitchFamily="34" charset="0"/>
                </a:rPr>
                <a:t>第四节 高级程序设计语言实例</a:t>
              </a:r>
            </a:p>
          </p:txBody>
        </p:sp>
      </p:grpSp>
    </p:spTree>
    <p:extLst>
      <p:ext uri="{BB962C8B-B14F-4D97-AF65-F5344CB8AC3E}">
        <p14:creationId xmlns:p14="http://schemas.microsoft.com/office/powerpoint/2010/main" val="231385020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1" name="Rectangle 2051"/>
          <p:cNvSpPr>
            <a:spLocks noGrp="1" noChangeArrowheads="1"/>
          </p:cNvSpPr>
          <p:nvPr>
            <p:ph idx="1"/>
          </p:nvPr>
        </p:nvSpPr>
        <p:spPr/>
        <p:txBody>
          <a:bodyPr/>
          <a:lstStyle/>
          <a:p>
            <a:r>
              <a:rPr lang="zh-CN" altLang="en-US" dirty="0"/>
              <a:t>设</a:t>
            </a:r>
            <a:r>
              <a:rPr lang="zh-CN" altLang="en-US" dirty="0">
                <a:sym typeface="Symbol" pitchFamily="18" charset="2"/>
              </a:rPr>
              <a:t>是一个</a:t>
            </a:r>
            <a:r>
              <a:rPr lang="zh-CN" altLang="en-US" dirty="0">
                <a:solidFill>
                  <a:srgbClr val="EE853E"/>
                </a:solidFill>
                <a:sym typeface="Symbol" pitchFamily="18" charset="2"/>
              </a:rPr>
              <a:t>字母表</a:t>
            </a:r>
            <a:r>
              <a:rPr lang="zh-CN" altLang="en-US" dirty="0">
                <a:sym typeface="Symbol" pitchFamily="18" charset="2"/>
              </a:rPr>
              <a:t>，</a:t>
            </a:r>
          </a:p>
          <a:p>
            <a:r>
              <a:rPr lang="zh-CN" altLang="en-US" dirty="0">
                <a:sym typeface="Symbol" pitchFamily="18" charset="2"/>
              </a:rPr>
              <a:t></a:t>
            </a:r>
            <a:r>
              <a:rPr lang="en-US" altLang="zh-CN" dirty="0">
                <a:sym typeface="Symbol" pitchFamily="18" charset="2"/>
              </a:rPr>
              <a:t>L</a:t>
            </a:r>
            <a:r>
              <a:rPr lang="en-US" altLang="zh-CN" baseline="30000" dirty="0">
                <a:sym typeface="Symbol" pitchFamily="18" charset="2"/>
              </a:rPr>
              <a:t>*</a:t>
            </a:r>
            <a:r>
              <a:rPr lang="zh-CN" altLang="en-US" dirty="0">
                <a:sym typeface="Symbol" pitchFamily="18" charset="2"/>
              </a:rPr>
              <a:t>，</a:t>
            </a:r>
            <a:r>
              <a:rPr lang="en-US" altLang="zh-CN" dirty="0">
                <a:sym typeface="Symbol" pitchFamily="18" charset="2"/>
              </a:rPr>
              <a:t>L</a:t>
            </a:r>
            <a:r>
              <a:rPr lang="zh-CN" altLang="en-US" dirty="0">
                <a:sym typeface="Symbol" pitchFamily="18" charset="2"/>
              </a:rPr>
              <a:t>称为</a:t>
            </a:r>
            <a:r>
              <a:rPr lang="zh-CN" altLang="en-US" dirty="0">
                <a:solidFill>
                  <a:srgbClr val="EE853E"/>
                </a:solidFill>
                <a:sym typeface="Symbol" pitchFamily="18" charset="2"/>
              </a:rPr>
              <a:t>字母表</a:t>
            </a:r>
            <a:r>
              <a:rPr lang="zh-CN" altLang="en-US" dirty="0">
                <a:sym typeface="Symbol" pitchFamily="18" charset="2"/>
              </a:rPr>
              <a:t>上的一个</a:t>
            </a:r>
            <a:r>
              <a:rPr lang="zh-CN" altLang="en-US" dirty="0">
                <a:solidFill>
                  <a:srgbClr val="EE853E"/>
                </a:solidFill>
                <a:sym typeface="Symbol" pitchFamily="18" charset="2"/>
              </a:rPr>
              <a:t>语言</a:t>
            </a:r>
            <a:r>
              <a:rPr lang="zh-CN" altLang="en-US" dirty="0">
                <a:sym typeface="Symbol" pitchFamily="18" charset="2"/>
              </a:rPr>
              <a:t>，</a:t>
            </a:r>
            <a:endParaRPr lang="en-US" altLang="zh-CN" dirty="0">
              <a:sym typeface="Symbol" pitchFamily="18" charset="2"/>
            </a:endParaRPr>
          </a:p>
          <a:p>
            <a:r>
              <a:rPr lang="en-US" altLang="zh-CN" dirty="0">
                <a:sym typeface="Symbol" pitchFamily="18" charset="2"/>
              </a:rPr>
              <a:t></a:t>
            </a:r>
            <a:r>
              <a:rPr lang="en-US" altLang="zh-CN" dirty="0" err="1">
                <a:sym typeface="Symbol" pitchFamily="18" charset="2"/>
              </a:rPr>
              <a:t>wL</a:t>
            </a:r>
            <a:r>
              <a:rPr lang="zh-CN" altLang="en-US" dirty="0">
                <a:sym typeface="Symbol" pitchFamily="18" charset="2"/>
              </a:rPr>
              <a:t>，</a:t>
            </a:r>
            <a:r>
              <a:rPr lang="en-US" altLang="zh-CN" dirty="0">
                <a:sym typeface="Symbol" pitchFamily="18" charset="2"/>
              </a:rPr>
              <a:t>w</a:t>
            </a:r>
            <a:r>
              <a:rPr lang="zh-CN" altLang="en-US" dirty="0">
                <a:sym typeface="Symbol" pitchFamily="18" charset="2"/>
              </a:rPr>
              <a:t>称为语言</a:t>
            </a:r>
            <a:r>
              <a:rPr lang="en-US" altLang="zh-CN" dirty="0">
                <a:sym typeface="Symbol" pitchFamily="18" charset="2"/>
              </a:rPr>
              <a:t>L</a:t>
            </a:r>
            <a:r>
              <a:rPr lang="zh-CN" altLang="en-US" dirty="0">
                <a:sym typeface="Symbol" pitchFamily="18" charset="2"/>
              </a:rPr>
              <a:t>的一个</a:t>
            </a:r>
            <a:r>
              <a:rPr lang="zh-CN" altLang="en-US" dirty="0">
                <a:solidFill>
                  <a:srgbClr val="EE853E"/>
                </a:solidFill>
                <a:sym typeface="Symbol" pitchFamily="18" charset="2"/>
              </a:rPr>
              <a:t>句子</a:t>
            </a:r>
            <a:r>
              <a:rPr lang="zh-CN" altLang="en-US" dirty="0">
                <a:sym typeface="Symbol" pitchFamily="18" charset="2"/>
              </a:rPr>
              <a:t>。</a:t>
            </a:r>
          </a:p>
        </p:txBody>
      </p:sp>
      <p:sp>
        <p:nvSpPr>
          <p:cNvPr id="58370" name="Rectangle 2050"/>
          <p:cNvSpPr>
            <a:spLocks noGrp="1" noChangeArrowheads="1"/>
          </p:cNvSpPr>
          <p:nvPr>
            <p:ph type="title"/>
          </p:nvPr>
        </p:nvSpPr>
        <p:spPr/>
        <p:txBody>
          <a:bodyPr/>
          <a:lstStyle/>
          <a:p>
            <a:r>
              <a:rPr lang="zh-CN" altLang="en-US" dirty="0"/>
              <a:t>语言的形式定义</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p:cNvSpPr>
            <a:spLocks noGrp="1" noChangeArrowheads="1"/>
          </p:cNvSpPr>
          <p:nvPr>
            <p:ph idx="1"/>
          </p:nvPr>
        </p:nvSpPr>
        <p:spPr/>
        <p:txBody>
          <a:bodyPr/>
          <a:lstStyle/>
          <a:p>
            <a:r>
              <a:rPr lang="zh-CN" altLang="en-US" dirty="0">
                <a:solidFill>
                  <a:srgbClr val="EE853E"/>
                </a:solidFill>
              </a:rPr>
              <a:t>括号匹配串的语言</a:t>
            </a:r>
          </a:p>
          <a:p>
            <a:r>
              <a:rPr lang="zh-CN" altLang="en-US" dirty="0"/>
              <a:t>该语言是指所有的左括号和右括号相匹配的串的集合。</a:t>
            </a:r>
          </a:p>
          <a:p>
            <a:r>
              <a:rPr lang="en-US" altLang="zh-CN" dirty="0"/>
              <a:t>( )</a:t>
            </a:r>
            <a:r>
              <a:rPr lang="zh-CN" altLang="en-US" dirty="0"/>
              <a:t>，</a:t>
            </a:r>
            <a:r>
              <a:rPr lang="en-US" altLang="zh-CN" dirty="0"/>
              <a:t>(( ))</a:t>
            </a:r>
            <a:r>
              <a:rPr lang="zh-CN" altLang="en-US" dirty="0"/>
              <a:t>，</a:t>
            </a:r>
            <a:r>
              <a:rPr lang="en-US" altLang="zh-CN" dirty="0"/>
              <a:t>( )( )</a:t>
            </a:r>
            <a:r>
              <a:rPr lang="zh-CN" altLang="en-US" dirty="0"/>
              <a:t>等等都是该语言的句子。</a:t>
            </a:r>
          </a:p>
          <a:p>
            <a:r>
              <a:rPr lang="en-US" altLang="zh-CN" dirty="0"/>
              <a:t>)( </a:t>
            </a:r>
            <a:r>
              <a:rPr lang="zh-CN" altLang="en-US" dirty="0"/>
              <a:t>，</a:t>
            </a:r>
            <a:r>
              <a:rPr lang="en-US" altLang="zh-CN" dirty="0"/>
              <a:t>( ))</a:t>
            </a:r>
            <a:r>
              <a:rPr lang="zh-CN" altLang="en-US" dirty="0"/>
              <a:t>等等不是该语言的句子。</a:t>
            </a:r>
          </a:p>
        </p:txBody>
      </p:sp>
      <p:sp>
        <p:nvSpPr>
          <p:cNvPr id="59394" name="Rectangle 2"/>
          <p:cNvSpPr>
            <a:spLocks noGrp="1" noChangeArrowheads="1"/>
          </p:cNvSpPr>
          <p:nvPr>
            <p:ph type="title"/>
          </p:nvPr>
        </p:nvSpPr>
        <p:spPr/>
        <p:txBody>
          <a:bodyPr/>
          <a:lstStyle/>
          <a:p>
            <a:r>
              <a:rPr lang="zh-CN" altLang="en-US" dirty="0"/>
              <a:t>括号匹配串的语言</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19" name="Rectangle 3"/>
          <p:cNvSpPr>
            <a:spLocks noGrp="1" noChangeArrowheads="1"/>
          </p:cNvSpPr>
          <p:nvPr>
            <p:ph idx="1"/>
          </p:nvPr>
        </p:nvSpPr>
        <p:spPr/>
        <p:txBody>
          <a:bodyPr/>
          <a:lstStyle/>
          <a:p>
            <a:r>
              <a:rPr lang="zh-CN" altLang="en-US" dirty="0"/>
              <a:t>如何</a:t>
            </a:r>
            <a:r>
              <a:rPr lang="zh-CN" altLang="en-US" dirty="0">
                <a:solidFill>
                  <a:srgbClr val="EE853E"/>
                </a:solidFill>
              </a:rPr>
              <a:t>产生</a:t>
            </a:r>
            <a:r>
              <a:rPr lang="zh-CN" altLang="en-US" dirty="0"/>
              <a:t>这个语言呢？</a:t>
            </a:r>
            <a:endParaRPr lang="en-US" altLang="zh-CN" dirty="0"/>
          </a:p>
          <a:p>
            <a:r>
              <a:rPr lang="zh-CN" altLang="en-US" dirty="0"/>
              <a:t>即如何</a:t>
            </a:r>
            <a:r>
              <a:rPr lang="zh-CN" altLang="en-US" dirty="0">
                <a:solidFill>
                  <a:srgbClr val="EE853E"/>
                </a:solidFill>
              </a:rPr>
              <a:t>产生</a:t>
            </a:r>
            <a:r>
              <a:rPr lang="zh-CN" altLang="en-US" dirty="0"/>
              <a:t>该语言所有句子呢？</a:t>
            </a:r>
            <a:endParaRPr lang="en-US" altLang="zh-CN" dirty="0"/>
          </a:p>
          <a:p>
            <a:r>
              <a:rPr lang="zh-CN" altLang="en-US" dirty="0">
                <a:solidFill>
                  <a:srgbClr val="EE853E"/>
                </a:solidFill>
              </a:rPr>
              <a:t>递归方法</a:t>
            </a:r>
            <a:r>
              <a:rPr lang="zh-CN" altLang="en-US" dirty="0"/>
              <a:t>提供了语言良好的定义方式。</a:t>
            </a:r>
          </a:p>
          <a:p>
            <a:endParaRPr lang="en-US" altLang="zh-CN" dirty="0"/>
          </a:p>
        </p:txBody>
      </p:sp>
      <p:sp>
        <p:nvSpPr>
          <p:cNvPr id="5" name="标题 4">
            <a:extLst>
              <a:ext uri="{FF2B5EF4-FFF2-40B4-BE49-F238E27FC236}">
                <a16:creationId xmlns:a16="http://schemas.microsoft.com/office/drawing/2014/main" id="{DBC611A8-27BA-4020-9985-2403D516AEF1}"/>
              </a:ext>
            </a:extLst>
          </p:cNvPr>
          <p:cNvSpPr>
            <a:spLocks noGrp="1"/>
          </p:cNvSpPr>
          <p:nvPr>
            <p:ph type="title"/>
          </p:nvPr>
        </p:nvSpPr>
        <p:spPr/>
        <p:txBody>
          <a:bodyPr/>
          <a:lstStyle/>
          <a:p>
            <a:r>
              <a:rPr lang="zh-CN" altLang="en-US" dirty="0"/>
              <a:t>括号匹配串的语言</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9" name="Rectangle 3"/>
          <p:cNvSpPr>
            <a:spLocks noGrp="1" noChangeArrowheads="1"/>
          </p:cNvSpPr>
          <p:nvPr>
            <p:ph idx="1"/>
          </p:nvPr>
        </p:nvSpPr>
        <p:spPr/>
        <p:txBody>
          <a:bodyPr/>
          <a:lstStyle/>
          <a:p>
            <a:r>
              <a:rPr lang="zh-CN" altLang="en-US" dirty="0"/>
              <a:t>除基本句子外，其它句子按照相同的方法（可能不止一种方法）产生，</a:t>
            </a:r>
            <a:endParaRPr lang="en-US" altLang="zh-CN" dirty="0"/>
          </a:p>
          <a:p>
            <a:r>
              <a:rPr lang="zh-CN" altLang="en-US" dirty="0"/>
              <a:t>实际上，就是需要给出语言中所有句子的</a:t>
            </a:r>
            <a:r>
              <a:rPr lang="zh-CN" altLang="en-US" dirty="0">
                <a:solidFill>
                  <a:srgbClr val="EE853E"/>
                </a:solidFill>
              </a:rPr>
              <a:t>形成规则（语法规则），</a:t>
            </a:r>
            <a:endParaRPr lang="en-US" altLang="zh-CN" dirty="0">
              <a:solidFill>
                <a:srgbClr val="EE853E"/>
              </a:solidFill>
            </a:endParaRPr>
          </a:p>
          <a:p>
            <a:r>
              <a:rPr lang="zh-CN" altLang="en-US" dirty="0"/>
              <a:t>可以使用多种方法</a:t>
            </a:r>
            <a:r>
              <a:rPr lang="zh-CN" altLang="en-US" dirty="0">
                <a:solidFill>
                  <a:srgbClr val="EE853E"/>
                </a:solidFill>
              </a:rPr>
              <a:t>描述</a:t>
            </a:r>
            <a:r>
              <a:rPr lang="zh-CN" altLang="en-US" dirty="0"/>
              <a:t>形成规则。</a:t>
            </a:r>
          </a:p>
        </p:txBody>
      </p:sp>
      <p:sp>
        <p:nvSpPr>
          <p:cNvPr id="5" name="标题 4">
            <a:extLst>
              <a:ext uri="{FF2B5EF4-FFF2-40B4-BE49-F238E27FC236}">
                <a16:creationId xmlns:a16="http://schemas.microsoft.com/office/drawing/2014/main" id="{EA3079C8-5E31-43A1-9E0E-FEB50A61FA15}"/>
              </a:ext>
            </a:extLst>
          </p:cNvPr>
          <p:cNvSpPr>
            <a:spLocks noGrp="1"/>
          </p:cNvSpPr>
          <p:nvPr>
            <p:ph type="title"/>
          </p:nvPr>
        </p:nvSpPr>
        <p:spPr/>
        <p:txBody>
          <a:bodyPr/>
          <a:lstStyle/>
          <a:p>
            <a:r>
              <a:rPr lang="zh-CN" altLang="en-US" dirty="0"/>
              <a:t>括号匹配串的语言</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5" name="Rectangle 1027"/>
          <p:cNvSpPr>
            <a:spLocks noGrp="1" noChangeArrowheads="1"/>
          </p:cNvSpPr>
          <p:nvPr>
            <p:ph idx="1"/>
          </p:nvPr>
        </p:nvSpPr>
        <p:spPr/>
        <p:txBody>
          <a:bodyPr/>
          <a:lstStyle/>
          <a:p>
            <a:r>
              <a:rPr lang="zh-CN" altLang="en-US" dirty="0">
                <a:solidFill>
                  <a:srgbClr val="EE853E"/>
                </a:solidFill>
              </a:rPr>
              <a:t>自然语言</a:t>
            </a:r>
            <a:r>
              <a:rPr lang="zh-CN" altLang="en-US" dirty="0"/>
              <a:t>的描述方式，采用如下的递归规则：</a:t>
            </a:r>
          </a:p>
          <a:p>
            <a:r>
              <a:rPr lang="en-US" altLang="zh-CN" dirty="0"/>
              <a:t>(1) </a:t>
            </a:r>
            <a:r>
              <a:rPr lang="en-US" altLang="zh-CN" dirty="0">
                <a:solidFill>
                  <a:srgbClr val="EE853E"/>
                </a:solidFill>
              </a:rPr>
              <a:t>( )</a:t>
            </a:r>
            <a:r>
              <a:rPr lang="zh-CN" altLang="en-US" dirty="0"/>
              <a:t>是该语言的最基本的句子；</a:t>
            </a:r>
          </a:p>
          <a:p>
            <a:r>
              <a:rPr lang="en-US" altLang="zh-CN" dirty="0"/>
              <a:t>(2) </a:t>
            </a:r>
            <a:r>
              <a:rPr lang="zh-CN" altLang="en-US" dirty="0"/>
              <a:t>若</a:t>
            </a:r>
            <a:r>
              <a:rPr lang="en-US" altLang="zh-CN" dirty="0">
                <a:solidFill>
                  <a:srgbClr val="EE853E"/>
                </a:solidFill>
              </a:rPr>
              <a:t>S</a:t>
            </a:r>
            <a:r>
              <a:rPr lang="zh-CN" altLang="en-US" dirty="0"/>
              <a:t>是句子</a:t>
            </a:r>
            <a:r>
              <a:rPr lang="en-US" altLang="zh-CN" dirty="0"/>
              <a:t>,</a:t>
            </a:r>
            <a:r>
              <a:rPr lang="zh-CN" altLang="en-US" dirty="0"/>
              <a:t>则</a:t>
            </a:r>
            <a:r>
              <a:rPr lang="en-US" altLang="zh-CN" dirty="0">
                <a:solidFill>
                  <a:srgbClr val="EE853E"/>
                </a:solidFill>
              </a:rPr>
              <a:t>(S)</a:t>
            </a:r>
            <a:r>
              <a:rPr lang="zh-CN" altLang="en-US" dirty="0"/>
              <a:t>是句子；</a:t>
            </a:r>
          </a:p>
          <a:p>
            <a:r>
              <a:rPr lang="en-US" altLang="zh-CN" dirty="0"/>
              <a:t>(3) </a:t>
            </a:r>
            <a:r>
              <a:rPr lang="zh-CN" altLang="en-US" dirty="0"/>
              <a:t>若</a:t>
            </a:r>
            <a:r>
              <a:rPr lang="en-US" altLang="zh-CN" dirty="0">
                <a:solidFill>
                  <a:srgbClr val="EE853E"/>
                </a:solidFill>
              </a:rPr>
              <a:t>S</a:t>
            </a:r>
            <a:r>
              <a:rPr lang="zh-CN" altLang="en-US" dirty="0"/>
              <a:t>是句子</a:t>
            </a:r>
            <a:r>
              <a:rPr lang="en-US" altLang="zh-CN" dirty="0"/>
              <a:t>,</a:t>
            </a:r>
            <a:r>
              <a:rPr lang="zh-CN" altLang="en-US" dirty="0"/>
              <a:t>则</a:t>
            </a:r>
            <a:r>
              <a:rPr lang="en-US" altLang="zh-CN" dirty="0">
                <a:solidFill>
                  <a:srgbClr val="EE853E"/>
                </a:solidFill>
              </a:rPr>
              <a:t>SS</a:t>
            </a:r>
            <a:r>
              <a:rPr lang="zh-CN" altLang="en-US" dirty="0"/>
              <a:t>是句子。</a:t>
            </a:r>
          </a:p>
        </p:txBody>
      </p:sp>
      <p:sp>
        <p:nvSpPr>
          <p:cNvPr id="5" name="标题 4">
            <a:extLst>
              <a:ext uri="{FF2B5EF4-FFF2-40B4-BE49-F238E27FC236}">
                <a16:creationId xmlns:a16="http://schemas.microsoft.com/office/drawing/2014/main" id="{3057FD64-BAF8-4473-A88C-D6D3B004648C}"/>
              </a:ext>
            </a:extLst>
          </p:cNvPr>
          <p:cNvSpPr>
            <a:spLocks noGrp="1"/>
          </p:cNvSpPr>
          <p:nvPr>
            <p:ph type="title"/>
          </p:nvPr>
        </p:nvSpPr>
        <p:spPr/>
        <p:txBody>
          <a:bodyPr/>
          <a:lstStyle/>
          <a:p>
            <a:r>
              <a:rPr lang="zh-CN" altLang="en-US" dirty="0"/>
              <a:t>括号匹配串的语言</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9" name="Rectangle 3"/>
          <p:cNvSpPr>
            <a:spLocks noGrp="1" noChangeArrowheads="1"/>
          </p:cNvSpPr>
          <p:nvPr>
            <p:ph idx="1"/>
          </p:nvPr>
        </p:nvSpPr>
        <p:spPr/>
        <p:txBody>
          <a:bodyPr/>
          <a:lstStyle/>
          <a:p>
            <a:r>
              <a:rPr lang="zh-CN" altLang="en-US" dirty="0"/>
              <a:t>根据</a:t>
            </a:r>
            <a:r>
              <a:rPr lang="zh-CN" altLang="en-US" dirty="0">
                <a:solidFill>
                  <a:srgbClr val="EE853E"/>
                </a:solidFill>
              </a:rPr>
              <a:t>形成规则</a:t>
            </a:r>
            <a:r>
              <a:rPr lang="zh-CN" altLang="en-US" dirty="0"/>
              <a:t>，可以</a:t>
            </a:r>
          </a:p>
          <a:p>
            <a:r>
              <a:rPr lang="zh-CN" altLang="en-US" dirty="0"/>
              <a:t>产生该语言的任意的句子；</a:t>
            </a:r>
          </a:p>
          <a:p>
            <a:r>
              <a:rPr lang="zh-CN" altLang="en-US" dirty="0"/>
              <a:t>判断某个</a:t>
            </a:r>
            <a:r>
              <a:rPr lang="zh-CN" altLang="en-US" dirty="0">
                <a:solidFill>
                  <a:srgbClr val="EE853E"/>
                </a:solidFill>
              </a:rPr>
              <a:t>串</a:t>
            </a:r>
            <a:r>
              <a:rPr lang="zh-CN" altLang="en-US" dirty="0"/>
              <a:t>是否是该语言的句子 </a:t>
            </a:r>
            <a:r>
              <a:rPr lang="en-US" altLang="zh-CN" dirty="0"/>
              <a:t>—— </a:t>
            </a:r>
            <a:r>
              <a:rPr lang="zh-CN" altLang="en-US" dirty="0">
                <a:solidFill>
                  <a:srgbClr val="EE853E"/>
                </a:solidFill>
              </a:rPr>
              <a:t>语法分析</a:t>
            </a:r>
            <a:r>
              <a:rPr lang="zh-CN" altLang="en-US" dirty="0"/>
              <a:t>。</a:t>
            </a:r>
            <a:endParaRPr lang="en-US" altLang="zh-CN" dirty="0"/>
          </a:p>
          <a:p>
            <a:r>
              <a:rPr lang="zh-CN" altLang="en-US" dirty="0"/>
              <a:t>例如：</a:t>
            </a:r>
            <a:r>
              <a:rPr lang="en-US" altLang="zh-CN" dirty="0"/>
              <a:t>	</a:t>
            </a:r>
            <a:r>
              <a:rPr lang="zh-CN" altLang="en-US" dirty="0"/>
              <a:t>可以产生句子</a:t>
            </a:r>
            <a:r>
              <a:rPr lang="zh-CN" altLang="en-US" dirty="0">
                <a:solidFill>
                  <a:srgbClr val="EE853E"/>
                </a:solidFill>
              </a:rPr>
              <a:t>（（））</a:t>
            </a:r>
          </a:p>
          <a:p>
            <a:r>
              <a:rPr lang="en-US" altLang="zh-CN" dirty="0"/>
              <a:t>			</a:t>
            </a:r>
            <a:r>
              <a:rPr lang="zh-CN" altLang="en-US" dirty="0"/>
              <a:t>而推断串</a:t>
            </a:r>
            <a:r>
              <a:rPr lang="zh-CN" altLang="en-US" dirty="0">
                <a:solidFill>
                  <a:srgbClr val="EE853E"/>
                </a:solidFill>
              </a:rPr>
              <a:t>（（）））</a:t>
            </a:r>
          </a:p>
          <a:p>
            <a:r>
              <a:rPr lang="en-US" altLang="zh-CN" dirty="0"/>
              <a:t>			</a:t>
            </a:r>
            <a:r>
              <a:rPr lang="zh-CN" altLang="en-US" dirty="0"/>
              <a:t>不是句子。</a:t>
            </a:r>
          </a:p>
          <a:p>
            <a:endParaRPr lang="zh-CN" altLang="en-US" dirty="0"/>
          </a:p>
        </p:txBody>
      </p:sp>
      <p:sp>
        <p:nvSpPr>
          <p:cNvPr id="5" name="标题 4">
            <a:extLst>
              <a:ext uri="{FF2B5EF4-FFF2-40B4-BE49-F238E27FC236}">
                <a16:creationId xmlns:a16="http://schemas.microsoft.com/office/drawing/2014/main" id="{A27F0A51-E273-4A8E-B28A-16ECE22F99F3}"/>
              </a:ext>
            </a:extLst>
          </p:cNvPr>
          <p:cNvSpPr>
            <a:spLocks noGrp="1"/>
          </p:cNvSpPr>
          <p:nvPr>
            <p:ph type="title"/>
          </p:nvPr>
        </p:nvSpPr>
        <p:spPr/>
        <p:txBody>
          <a:bodyPr/>
          <a:lstStyle/>
          <a:p>
            <a:r>
              <a:rPr lang="zh-CN" altLang="en-US" dirty="0"/>
              <a:t>括号匹配串的语言</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3" name="Rectangle 3"/>
          <p:cNvSpPr>
            <a:spLocks noGrp="1" noChangeArrowheads="1"/>
          </p:cNvSpPr>
          <p:nvPr>
            <p:ph idx="1"/>
          </p:nvPr>
        </p:nvSpPr>
        <p:spPr/>
        <p:txBody>
          <a:bodyPr/>
          <a:lstStyle/>
          <a:p>
            <a:r>
              <a:rPr lang="zh-CN" altLang="en-US" dirty="0"/>
              <a:t>规则（的个数）是有限的，但可以产生</a:t>
            </a:r>
            <a:r>
              <a:rPr lang="zh-CN" altLang="en-US" dirty="0">
                <a:solidFill>
                  <a:srgbClr val="EE853E"/>
                </a:solidFill>
              </a:rPr>
              <a:t>无限个句子</a:t>
            </a:r>
            <a:r>
              <a:rPr lang="zh-CN" altLang="en-US" dirty="0"/>
              <a:t>，甚至</a:t>
            </a:r>
            <a:r>
              <a:rPr lang="zh-CN" altLang="en-US" dirty="0">
                <a:solidFill>
                  <a:srgbClr val="EE853E"/>
                </a:solidFill>
              </a:rPr>
              <a:t>长度无限的句子</a:t>
            </a:r>
            <a:r>
              <a:rPr lang="zh-CN" altLang="en-US" dirty="0"/>
              <a:t>，</a:t>
            </a:r>
          </a:p>
          <a:p>
            <a:r>
              <a:rPr lang="zh-CN" altLang="en-US" dirty="0"/>
              <a:t>因为规则是</a:t>
            </a:r>
            <a:r>
              <a:rPr lang="zh-CN" altLang="en-US" dirty="0">
                <a:solidFill>
                  <a:srgbClr val="EE853E"/>
                </a:solidFill>
              </a:rPr>
              <a:t>递归</a:t>
            </a:r>
            <a:r>
              <a:rPr lang="zh-CN" altLang="en-US" dirty="0"/>
              <a:t>的。</a:t>
            </a:r>
          </a:p>
        </p:txBody>
      </p:sp>
      <p:sp>
        <p:nvSpPr>
          <p:cNvPr id="5" name="标题 4">
            <a:extLst>
              <a:ext uri="{FF2B5EF4-FFF2-40B4-BE49-F238E27FC236}">
                <a16:creationId xmlns:a16="http://schemas.microsoft.com/office/drawing/2014/main" id="{0A3A132D-FE6F-4345-AD2E-45B175E0BEF9}"/>
              </a:ext>
            </a:extLst>
          </p:cNvPr>
          <p:cNvSpPr>
            <a:spLocks noGrp="1"/>
          </p:cNvSpPr>
          <p:nvPr>
            <p:ph type="title"/>
          </p:nvPr>
        </p:nvSpPr>
        <p:spPr/>
        <p:txBody>
          <a:bodyPr/>
          <a:lstStyle/>
          <a:p>
            <a:r>
              <a:rPr lang="zh-CN" altLang="en-US" dirty="0"/>
              <a:t>括号匹配串的语言</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5" name="Rectangle 3"/>
          <p:cNvSpPr>
            <a:spLocks noGrp="1" noChangeArrowheads="1"/>
          </p:cNvSpPr>
          <p:nvPr>
            <p:ph idx="1"/>
          </p:nvPr>
        </p:nvSpPr>
        <p:spPr/>
        <p:txBody>
          <a:bodyPr/>
          <a:lstStyle/>
          <a:p>
            <a:r>
              <a:rPr lang="en-US" altLang="zh-CN" dirty="0"/>
              <a:t>BNF</a:t>
            </a:r>
            <a:r>
              <a:rPr lang="zh-CN" altLang="en-US" dirty="0"/>
              <a:t>的描述方式</a:t>
            </a:r>
            <a:endParaRPr lang="en-US" altLang="zh-CN" dirty="0"/>
          </a:p>
          <a:p>
            <a:r>
              <a:rPr lang="zh-CN" altLang="en-US" dirty="0"/>
              <a:t>巴科斯和诺尔采用的</a:t>
            </a:r>
            <a:r>
              <a:rPr lang="zh-CN" altLang="en-US" dirty="0">
                <a:solidFill>
                  <a:srgbClr val="EE853E"/>
                </a:solidFill>
              </a:rPr>
              <a:t>巴科斯</a:t>
            </a:r>
            <a:r>
              <a:rPr lang="en-US" altLang="zh-CN" dirty="0">
                <a:solidFill>
                  <a:srgbClr val="EE853E"/>
                </a:solidFill>
              </a:rPr>
              <a:t>-</a:t>
            </a:r>
            <a:r>
              <a:rPr lang="zh-CN" altLang="en-US" dirty="0">
                <a:solidFill>
                  <a:srgbClr val="EE853E"/>
                </a:solidFill>
              </a:rPr>
              <a:t>诺尔范式</a:t>
            </a:r>
            <a:r>
              <a:rPr lang="en-US" altLang="zh-CN" dirty="0"/>
              <a:t>(</a:t>
            </a:r>
            <a:r>
              <a:rPr lang="en-US" altLang="zh-CN" dirty="0">
                <a:solidFill>
                  <a:srgbClr val="EE853E"/>
                </a:solidFill>
              </a:rPr>
              <a:t>BNF</a:t>
            </a:r>
            <a:r>
              <a:rPr lang="zh-CN" altLang="en-US" dirty="0"/>
              <a:t>：</a:t>
            </a:r>
            <a:r>
              <a:rPr lang="en-US" altLang="zh-CN" dirty="0"/>
              <a:t>Backus-Naur Form</a:t>
            </a:r>
            <a:r>
              <a:rPr lang="zh-CN" altLang="en-US" dirty="0"/>
              <a:t>）描述规则：</a:t>
            </a:r>
          </a:p>
          <a:p>
            <a:r>
              <a:rPr lang="en-US" altLang="zh-CN" dirty="0"/>
              <a:t>&lt;</a:t>
            </a:r>
            <a:r>
              <a:rPr lang="zh-CN" altLang="en-US" dirty="0"/>
              <a:t>括号匹配串</a:t>
            </a:r>
            <a:r>
              <a:rPr lang="en-US" altLang="zh-CN" dirty="0"/>
              <a:t>&gt;::= </a:t>
            </a:r>
            <a:r>
              <a:rPr lang="en-US" altLang="zh-CN" dirty="0">
                <a:solidFill>
                  <a:srgbClr val="FF0000"/>
                </a:solidFill>
              </a:rPr>
              <a:t>( )</a:t>
            </a:r>
          </a:p>
          <a:p>
            <a:r>
              <a:rPr lang="en-US" altLang="zh-CN" dirty="0"/>
              <a:t>&lt;</a:t>
            </a:r>
            <a:r>
              <a:rPr lang="zh-CN" altLang="en-US" dirty="0"/>
              <a:t>括号匹配串</a:t>
            </a:r>
            <a:r>
              <a:rPr lang="en-US" altLang="zh-CN" dirty="0"/>
              <a:t>&gt;::=</a:t>
            </a:r>
            <a:r>
              <a:rPr lang="en-US" altLang="zh-CN" dirty="0">
                <a:solidFill>
                  <a:srgbClr val="FF0000"/>
                </a:solidFill>
              </a:rPr>
              <a:t>(</a:t>
            </a:r>
            <a:r>
              <a:rPr lang="en-US" altLang="zh-CN" dirty="0"/>
              <a:t>&lt;</a:t>
            </a:r>
            <a:r>
              <a:rPr lang="zh-CN" altLang="en-US" dirty="0"/>
              <a:t>括号匹配串</a:t>
            </a:r>
            <a:r>
              <a:rPr lang="en-US" altLang="zh-CN" dirty="0"/>
              <a:t>&gt;</a:t>
            </a:r>
            <a:r>
              <a:rPr lang="en-US" altLang="zh-CN" dirty="0">
                <a:solidFill>
                  <a:srgbClr val="FF0000"/>
                </a:solidFill>
              </a:rPr>
              <a:t>)</a:t>
            </a:r>
          </a:p>
          <a:p>
            <a:r>
              <a:rPr lang="en-US" altLang="zh-CN" dirty="0"/>
              <a:t>&lt;</a:t>
            </a:r>
            <a:r>
              <a:rPr lang="zh-CN" altLang="en-US" dirty="0"/>
              <a:t>括号匹配串</a:t>
            </a:r>
            <a:r>
              <a:rPr lang="en-US" altLang="zh-CN" dirty="0"/>
              <a:t>&gt;::=&lt;</a:t>
            </a:r>
            <a:r>
              <a:rPr lang="zh-CN" altLang="en-US" dirty="0"/>
              <a:t>括号匹配串</a:t>
            </a:r>
            <a:r>
              <a:rPr lang="en-US" altLang="zh-CN" dirty="0"/>
              <a:t>&gt;&lt;</a:t>
            </a:r>
            <a:r>
              <a:rPr lang="zh-CN" altLang="en-US" dirty="0"/>
              <a:t>括号匹配串</a:t>
            </a:r>
            <a:r>
              <a:rPr lang="en-US" altLang="zh-CN" dirty="0"/>
              <a:t>&gt; </a:t>
            </a:r>
          </a:p>
        </p:txBody>
      </p:sp>
      <p:sp>
        <p:nvSpPr>
          <p:cNvPr id="66562" name="Rectangle 2"/>
          <p:cNvSpPr>
            <a:spLocks noGrp="1" noChangeArrowheads="1"/>
          </p:cNvSpPr>
          <p:nvPr>
            <p:ph type="title"/>
          </p:nvPr>
        </p:nvSpPr>
        <p:spPr/>
        <p:txBody>
          <a:bodyPr/>
          <a:lstStyle/>
          <a:p>
            <a:r>
              <a:rPr lang="zh-CN" altLang="en-US" dirty="0"/>
              <a:t>括号匹配串的语言</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720000" y="900000"/>
            <a:ext cx="10751844" cy="5237998"/>
          </a:xfrm>
        </p:spPr>
        <p:txBody>
          <a:bodyPr/>
          <a:lstStyle/>
          <a:p>
            <a:r>
              <a:rPr lang="en-US" altLang="zh-CN" dirty="0">
                <a:solidFill>
                  <a:srgbClr val="EE853E"/>
                </a:solidFill>
              </a:rPr>
              <a:t>Chomsky</a:t>
            </a:r>
            <a:r>
              <a:rPr lang="zh-CN" altLang="en-US" dirty="0"/>
              <a:t>采用的符号化（形式化）的描述方式，运用规则（称为</a:t>
            </a:r>
            <a:r>
              <a:rPr lang="zh-CN" altLang="en-US" dirty="0">
                <a:solidFill>
                  <a:srgbClr val="EE853E"/>
                </a:solidFill>
              </a:rPr>
              <a:t>产生式</a:t>
            </a:r>
            <a:r>
              <a:rPr lang="zh-CN" altLang="en-US" dirty="0"/>
              <a:t>）：　</a:t>
            </a:r>
          </a:p>
          <a:p>
            <a:r>
              <a:rPr lang="en-US" altLang="zh-CN" dirty="0"/>
              <a:t>(1) S→( )</a:t>
            </a:r>
          </a:p>
          <a:p>
            <a:r>
              <a:rPr lang="en-US" altLang="zh-CN" dirty="0"/>
              <a:t>(2) S→(S)</a:t>
            </a:r>
          </a:p>
          <a:p>
            <a:r>
              <a:rPr lang="en-US" altLang="zh-CN" dirty="0"/>
              <a:t>(3) S→SS</a:t>
            </a:r>
          </a:p>
          <a:p>
            <a:r>
              <a:rPr lang="zh-CN" altLang="en-US" dirty="0"/>
              <a:t>“</a:t>
            </a:r>
            <a:r>
              <a:rPr lang="en-US" altLang="zh-CN" dirty="0">
                <a:solidFill>
                  <a:srgbClr val="FF0000"/>
                </a:solidFill>
              </a:rPr>
              <a:t>→</a:t>
            </a:r>
            <a:r>
              <a:rPr lang="en-US" altLang="zh-CN" dirty="0"/>
              <a:t>”</a:t>
            </a:r>
            <a:r>
              <a:rPr lang="zh-CN" altLang="en-US" dirty="0"/>
              <a:t>代表“定义为”或者“是”，</a:t>
            </a:r>
          </a:p>
          <a:p>
            <a:r>
              <a:rPr lang="zh-CN" altLang="en-US" dirty="0"/>
              <a:t>它的左边和右边分别称为该产生式的</a:t>
            </a:r>
            <a:r>
              <a:rPr lang="zh-CN" altLang="en-US" dirty="0">
                <a:solidFill>
                  <a:srgbClr val="EE853E"/>
                </a:solidFill>
              </a:rPr>
              <a:t>左边</a:t>
            </a:r>
            <a:r>
              <a:rPr lang="zh-CN" altLang="en-US" dirty="0"/>
              <a:t>和</a:t>
            </a:r>
            <a:r>
              <a:rPr lang="zh-CN" altLang="en-US" dirty="0">
                <a:solidFill>
                  <a:srgbClr val="EE853E"/>
                </a:solidFill>
              </a:rPr>
              <a:t>右边</a:t>
            </a:r>
            <a:r>
              <a:rPr lang="zh-CN" altLang="en-US" dirty="0"/>
              <a:t>。</a:t>
            </a:r>
          </a:p>
          <a:p>
            <a:endParaRPr lang="en-US" altLang="zh-CN" dirty="0"/>
          </a:p>
        </p:txBody>
      </p:sp>
      <p:sp>
        <p:nvSpPr>
          <p:cNvPr id="5" name="标题 4">
            <a:extLst>
              <a:ext uri="{FF2B5EF4-FFF2-40B4-BE49-F238E27FC236}">
                <a16:creationId xmlns:a16="http://schemas.microsoft.com/office/drawing/2014/main" id="{0F07D877-0364-402B-9C1C-3FDAB647B688}"/>
              </a:ext>
            </a:extLst>
          </p:cNvPr>
          <p:cNvSpPr>
            <a:spLocks noGrp="1"/>
          </p:cNvSpPr>
          <p:nvPr>
            <p:ph type="title"/>
          </p:nvPr>
        </p:nvSpPr>
        <p:spPr/>
        <p:txBody>
          <a:bodyPr/>
          <a:lstStyle/>
          <a:p>
            <a:r>
              <a:rPr lang="zh-CN" altLang="en-US" dirty="0"/>
              <a:t>括号匹配串的语言</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1" name="Rectangle 3"/>
          <p:cNvSpPr>
            <a:spLocks noGrp="1" noChangeArrowheads="1"/>
          </p:cNvSpPr>
          <p:nvPr>
            <p:ph idx="1"/>
          </p:nvPr>
        </p:nvSpPr>
        <p:spPr/>
        <p:txBody>
          <a:bodyPr/>
          <a:lstStyle/>
          <a:p>
            <a:r>
              <a:rPr lang="zh-CN" altLang="en-US" dirty="0"/>
              <a:t>根据</a:t>
            </a:r>
            <a:r>
              <a:rPr lang="zh-CN" altLang="en-US" dirty="0">
                <a:solidFill>
                  <a:srgbClr val="EE853E"/>
                </a:solidFill>
              </a:rPr>
              <a:t>产生式</a:t>
            </a:r>
            <a:r>
              <a:rPr lang="zh-CN" altLang="en-US" dirty="0"/>
              <a:t>可以生成任意句子；</a:t>
            </a:r>
          </a:p>
          <a:p>
            <a:r>
              <a:rPr lang="zh-CN" altLang="en-US" dirty="0"/>
              <a:t>可以判断一个</a:t>
            </a:r>
            <a:r>
              <a:rPr lang="zh-CN" altLang="en-US" dirty="0">
                <a:solidFill>
                  <a:srgbClr val="EE853E"/>
                </a:solidFill>
              </a:rPr>
              <a:t>串</a:t>
            </a:r>
            <a:r>
              <a:rPr lang="zh-CN" altLang="en-US" dirty="0"/>
              <a:t>是否为</a:t>
            </a:r>
            <a:r>
              <a:rPr lang="zh-CN" altLang="en-US" dirty="0">
                <a:solidFill>
                  <a:srgbClr val="EE853E"/>
                </a:solidFill>
              </a:rPr>
              <a:t>句子</a:t>
            </a:r>
            <a:r>
              <a:rPr lang="zh-CN" altLang="en-US" dirty="0"/>
              <a:t>。</a:t>
            </a:r>
            <a:endParaRPr lang="en-US" altLang="zh-CN" dirty="0"/>
          </a:p>
          <a:p>
            <a:r>
              <a:rPr lang="zh-CN" altLang="en-US" dirty="0"/>
              <a:t>产生句子的过程：从</a:t>
            </a:r>
            <a:r>
              <a:rPr lang="en-US" altLang="zh-CN" dirty="0"/>
              <a:t>S</a:t>
            </a:r>
            <a:r>
              <a:rPr lang="zh-CN" altLang="en-US" dirty="0"/>
              <a:t>开始，反复利用产生式的右边</a:t>
            </a:r>
            <a:r>
              <a:rPr lang="zh-CN" altLang="en-US" dirty="0">
                <a:solidFill>
                  <a:srgbClr val="EE853E"/>
                </a:solidFill>
              </a:rPr>
              <a:t>代替</a:t>
            </a:r>
            <a:r>
              <a:rPr lang="zh-CN" altLang="en-US" dirty="0"/>
              <a:t>产生式的左边（</a:t>
            </a:r>
            <a:r>
              <a:rPr lang="zh-CN" altLang="en-US" dirty="0">
                <a:solidFill>
                  <a:srgbClr val="EE853E"/>
                </a:solidFill>
              </a:rPr>
              <a:t>推导过程</a:t>
            </a:r>
            <a:r>
              <a:rPr lang="zh-CN" altLang="en-US" dirty="0"/>
              <a:t>），最终可以产生括号匹配的句子。</a:t>
            </a:r>
          </a:p>
          <a:p>
            <a:endParaRPr lang="zh-CN" altLang="en-US" dirty="0"/>
          </a:p>
        </p:txBody>
      </p:sp>
      <p:sp>
        <p:nvSpPr>
          <p:cNvPr id="7" name="标题 6">
            <a:extLst>
              <a:ext uri="{FF2B5EF4-FFF2-40B4-BE49-F238E27FC236}">
                <a16:creationId xmlns:a16="http://schemas.microsoft.com/office/drawing/2014/main" id="{B7BD71CC-FB57-48C9-82C6-6E96CEC7553F}"/>
              </a:ext>
            </a:extLst>
          </p:cNvPr>
          <p:cNvSpPr>
            <a:spLocks noGrp="1"/>
          </p:cNvSpPr>
          <p:nvPr>
            <p:ph type="title"/>
          </p:nvPr>
        </p:nvSpPr>
        <p:spPr/>
        <p:txBody>
          <a:bodyPr/>
          <a:lstStyle/>
          <a:p>
            <a:r>
              <a:rPr lang="zh-CN" altLang="en-US" dirty="0"/>
              <a:t>括号匹配串的语言</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1843" name="Rectangle 1027"/>
          <p:cNvSpPr>
            <a:spLocks noGrp="1" noChangeArrowheads="1"/>
          </p:cNvSpPr>
          <p:nvPr>
            <p:ph idx="1"/>
          </p:nvPr>
        </p:nvSpPr>
        <p:spPr/>
        <p:txBody>
          <a:bodyPr/>
          <a:lstStyle/>
          <a:p>
            <a:r>
              <a:rPr lang="zh-CN" altLang="en-US" dirty="0"/>
              <a:t>例：句子</a:t>
            </a:r>
            <a:r>
              <a:rPr lang="en-US" altLang="zh-CN" dirty="0"/>
              <a:t>(( ))(( )( ))</a:t>
            </a:r>
            <a:r>
              <a:rPr lang="zh-CN" altLang="en-US" dirty="0"/>
              <a:t>的推导过程</a:t>
            </a:r>
            <a:endParaRPr lang="en-US" altLang="zh-CN" dirty="0"/>
          </a:p>
          <a:p>
            <a:r>
              <a:rPr lang="en-US" altLang="zh-CN" dirty="0"/>
              <a:t>S	</a:t>
            </a:r>
            <a:r>
              <a:rPr lang="en-US" altLang="zh-CN" dirty="0">
                <a:solidFill>
                  <a:srgbClr val="FF0000"/>
                </a:solidFill>
                <a:sym typeface="Symbol" pitchFamily="18" charset="2"/>
              </a:rPr>
              <a:t></a:t>
            </a:r>
            <a:r>
              <a:rPr lang="en-US" altLang="zh-CN" dirty="0"/>
              <a:t> SS</a:t>
            </a:r>
          </a:p>
          <a:p>
            <a:r>
              <a:rPr lang="en-US" altLang="zh-CN" dirty="0"/>
              <a:t>	</a:t>
            </a:r>
            <a:r>
              <a:rPr lang="en-US" altLang="zh-CN" dirty="0">
                <a:sym typeface="Symbol" pitchFamily="18" charset="2"/>
              </a:rPr>
              <a:t></a:t>
            </a:r>
            <a:r>
              <a:rPr lang="en-US" altLang="zh-CN" dirty="0"/>
              <a:t> (S)S</a:t>
            </a:r>
          </a:p>
          <a:p>
            <a:r>
              <a:rPr lang="en-US" altLang="zh-CN" dirty="0"/>
              <a:t>	</a:t>
            </a:r>
            <a:r>
              <a:rPr lang="en-US" altLang="zh-CN" dirty="0">
                <a:sym typeface="Symbol" pitchFamily="18" charset="2"/>
              </a:rPr>
              <a:t></a:t>
            </a:r>
            <a:r>
              <a:rPr lang="en-US" altLang="zh-CN" dirty="0"/>
              <a:t> (( ))S</a:t>
            </a:r>
          </a:p>
          <a:p>
            <a:r>
              <a:rPr lang="en-US" altLang="zh-CN" dirty="0"/>
              <a:t>	</a:t>
            </a:r>
            <a:r>
              <a:rPr lang="en-US" altLang="zh-CN" dirty="0">
                <a:sym typeface="Symbol" pitchFamily="18" charset="2"/>
              </a:rPr>
              <a:t></a:t>
            </a:r>
            <a:r>
              <a:rPr lang="en-US" altLang="zh-CN" dirty="0"/>
              <a:t> (( ))(S)</a:t>
            </a:r>
          </a:p>
          <a:p>
            <a:r>
              <a:rPr lang="en-US" altLang="zh-CN" dirty="0"/>
              <a:t>	</a:t>
            </a:r>
            <a:r>
              <a:rPr lang="en-US" altLang="zh-CN" dirty="0">
                <a:sym typeface="Symbol" pitchFamily="18" charset="2"/>
              </a:rPr>
              <a:t></a:t>
            </a:r>
            <a:r>
              <a:rPr lang="en-US" altLang="zh-CN" dirty="0"/>
              <a:t> (( ))(SS)</a:t>
            </a:r>
          </a:p>
          <a:p>
            <a:r>
              <a:rPr lang="en-US" altLang="zh-CN" dirty="0"/>
              <a:t>	</a:t>
            </a:r>
            <a:r>
              <a:rPr lang="en-US" altLang="zh-CN" dirty="0">
                <a:sym typeface="Symbol" pitchFamily="18" charset="2"/>
              </a:rPr>
              <a:t></a:t>
            </a:r>
            <a:r>
              <a:rPr lang="en-US" altLang="zh-CN" dirty="0"/>
              <a:t> (( ))(( )S)</a:t>
            </a:r>
          </a:p>
          <a:p>
            <a:r>
              <a:rPr lang="en-US" altLang="zh-CN" dirty="0"/>
              <a:t>	</a:t>
            </a:r>
            <a:r>
              <a:rPr lang="en-US" altLang="zh-CN" dirty="0">
                <a:sym typeface="Symbol" pitchFamily="18" charset="2"/>
              </a:rPr>
              <a:t></a:t>
            </a:r>
            <a:r>
              <a:rPr lang="en-US" altLang="zh-CN" dirty="0"/>
              <a:t> (( ))(( )( ))</a:t>
            </a:r>
          </a:p>
        </p:txBody>
      </p:sp>
      <p:sp>
        <p:nvSpPr>
          <p:cNvPr id="71682" name="Rectangle 1026"/>
          <p:cNvSpPr>
            <a:spLocks noGrp="1" noChangeArrowheads="1"/>
          </p:cNvSpPr>
          <p:nvPr>
            <p:ph type="title"/>
          </p:nvPr>
        </p:nvSpPr>
        <p:spPr/>
        <p:txBody>
          <a:bodyPr/>
          <a:lstStyle/>
          <a:p>
            <a:r>
              <a:rPr lang="zh-CN" altLang="en-US" dirty="0"/>
              <a:t>括号匹配串的语言</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91843">
                                            <p:txEl>
                                              <p:pRg st="0" end="0"/>
                                            </p:txEl>
                                          </p:spTgt>
                                        </p:tgtEl>
                                        <p:attrNameLst>
                                          <p:attrName>style.visibility</p:attrName>
                                        </p:attrNameLst>
                                      </p:cBhvr>
                                      <p:to>
                                        <p:strVal val="visible"/>
                                      </p:to>
                                    </p:set>
                                    <p:animEffect transition="in" filter="circle(in)">
                                      <p:cBhvr>
                                        <p:cTn id="7" dur="750"/>
                                        <p:tgtEl>
                                          <p:spTgt spid="291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91843">
                                            <p:txEl>
                                              <p:pRg st="1" end="1"/>
                                            </p:txEl>
                                          </p:spTgt>
                                        </p:tgtEl>
                                        <p:attrNameLst>
                                          <p:attrName>style.visibility</p:attrName>
                                        </p:attrNameLst>
                                      </p:cBhvr>
                                      <p:to>
                                        <p:strVal val="visible"/>
                                      </p:to>
                                    </p:set>
                                    <p:animEffect transition="in" filter="circle(in)">
                                      <p:cBhvr>
                                        <p:cTn id="12" dur="750"/>
                                        <p:tgtEl>
                                          <p:spTgt spid="2918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291843">
                                            <p:txEl>
                                              <p:pRg st="2" end="2"/>
                                            </p:txEl>
                                          </p:spTgt>
                                        </p:tgtEl>
                                        <p:attrNameLst>
                                          <p:attrName>style.visibility</p:attrName>
                                        </p:attrNameLst>
                                      </p:cBhvr>
                                      <p:to>
                                        <p:strVal val="visible"/>
                                      </p:to>
                                    </p:set>
                                    <p:animEffect transition="in" filter="circle(in)">
                                      <p:cBhvr>
                                        <p:cTn id="17" dur="750"/>
                                        <p:tgtEl>
                                          <p:spTgt spid="2918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291843">
                                            <p:txEl>
                                              <p:pRg st="3" end="3"/>
                                            </p:txEl>
                                          </p:spTgt>
                                        </p:tgtEl>
                                        <p:attrNameLst>
                                          <p:attrName>style.visibility</p:attrName>
                                        </p:attrNameLst>
                                      </p:cBhvr>
                                      <p:to>
                                        <p:strVal val="visible"/>
                                      </p:to>
                                    </p:set>
                                    <p:animEffect transition="in" filter="circle(in)">
                                      <p:cBhvr>
                                        <p:cTn id="22" dur="750"/>
                                        <p:tgtEl>
                                          <p:spTgt spid="2918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291843">
                                            <p:txEl>
                                              <p:pRg st="4" end="4"/>
                                            </p:txEl>
                                          </p:spTgt>
                                        </p:tgtEl>
                                        <p:attrNameLst>
                                          <p:attrName>style.visibility</p:attrName>
                                        </p:attrNameLst>
                                      </p:cBhvr>
                                      <p:to>
                                        <p:strVal val="visible"/>
                                      </p:to>
                                    </p:set>
                                    <p:animEffect transition="in" filter="circle(in)">
                                      <p:cBhvr>
                                        <p:cTn id="27" dur="750"/>
                                        <p:tgtEl>
                                          <p:spTgt spid="29184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291843">
                                            <p:txEl>
                                              <p:pRg st="5" end="5"/>
                                            </p:txEl>
                                          </p:spTgt>
                                        </p:tgtEl>
                                        <p:attrNameLst>
                                          <p:attrName>style.visibility</p:attrName>
                                        </p:attrNameLst>
                                      </p:cBhvr>
                                      <p:to>
                                        <p:strVal val="visible"/>
                                      </p:to>
                                    </p:set>
                                    <p:animEffect transition="in" filter="circle(in)">
                                      <p:cBhvr>
                                        <p:cTn id="32" dur="750"/>
                                        <p:tgtEl>
                                          <p:spTgt spid="29184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291843">
                                            <p:txEl>
                                              <p:pRg st="6" end="6"/>
                                            </p:txEl>
                                          </p:spTgt>
                                        </p:tgtEl>
                                        <p:attrNameLst>
                                          <p:attrName>style.visibility</p:attrName>
                                        </p:attrNameLst>
                                      </p:cBhvr>
                                      <p:to>
                                        <p:strVal val="visible"/>
                                      </p:to>
                                    </p:set>
                                    <p:animEffect transition="in" filter="circle(in)">
                                      <p:cBhvr>
                                        <p:cTn id="37" dur="750"/>
                                        <p:tgtEl>
                                          <p:spTgt spid="29184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291843">
                                            <p:txEl>
                                              <p:pRg st="7" end="7"/>
                                            </p:txEl>
                                          </p:spTgt>
                                        </p:tgtEl>
                                        <p:attrNameLst>
                                          <p:attrName>style.visibility</p:attrName>
                                        </p:attrNameLst>
                                      </p:cBhvr>
                                      <p:to>
                                        <p:strVal val="visible"/>
                                      </p:to>
                                    </p:set>
                                    <p:animEffect transition="in" filter="circle(in)">
                                      <p:cBhvr>
                                        <p:cTn id="42" dur="750"/>
                                        <p:tgtEl>
                                          <p:spTgt spid="2918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3"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0819" name="Rectangle 1027"/>
          <p:cNvSpPr>
            <a:spLocks noGrp="1" noChangeArrowheads="1"/>
          </p:cNvSpPr>
          <p:nvPr>
            <p:ph idx="1"/>
          </p:nvPr>
        </p:nvSpPr>
        <p:spPr/>
        <p:txBody>
          <a:bodyPr/>
          <a:lstStyle/>
          <a:p>
            <a:r>
              <a:rPr lang="zh-CN" altLang="en-US" dirty="0"/>
              <a:t>产生式的个数是有限的，规则是递归的，所有的</a:t>
            </a:r>
            <a:r>
              <a:rPr lang="zh-CN" altLang="en-US" dirty="0">
                <a:solidFill>
                  <a:srgbClr val="EE853E"/>
                </a:solidFill>
              </a:rPr>
              <a:t>小括号匹配的串</a:t>
            </a:r>
            <a:r>
              <a:rPr lang="zh-CN" altLang="en-US" dirty="0"/>
              <a:t>，都可以由产生式产生；</a:t>
            </a:r>
          </a:p>
          <a:p>
            <a:r>
              <a:rPr lang="zh-CN" altLang="en-US" dirty="0"/>
              <a:t>它们组成的集合就称为一个语言。</a:t>
            </a:r>
          </a:p>
        </p:txBody>
      </p:sp>
      <p:sp>
        <p:nvSpPr>
          <p:cNvPr id="5" name="标题 4">
            <a:extLst>
              <a:ext uri="{FF2B5EF4-FFF2-40B4-BE49-F238E27FC236}">
                <a16:creationId xmlns:a16="http://schemas.microsoft.com/office/drawing/2014/main" id="{EB4E4ACE-61D3-448A-80D9-62DA11EFC4DC}"/>
              </a:ext>
            </a:extLst>
          </p:cNvPr>
          <p:cNvSpPr>
            <a:spLocks noGrp="1"/>
          </p:cNvSpPr>
          <p:nvPr>
            <p:ph type="title"/>
          </p:nvPr>
        </p:nvSpPr>
        <p:spPr/>
        <p:txBody>
          <a:bodyPr/>
          <a:lstStyle/>
          <a:p>
            <a:r>
              <a:rPr lang="zh-CN" altLang="en-US" dirty="0"/>
              <a:t>括号匹配串的语言</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9" name="Rectangle 3"/>
          <p:cNvSpPr>
            <a:spLocks noGrp="1" noChangeArrowheads="1"/>
          </p:cNvSpPr>
          <p:nvPr>
            <p:ph idx="1"/>
          </p:nvPr>
        </p:nvSpPr>
        <p:spPr/>
        <p:txBody>
          <a:bodyPr/>
          <a:lstStyle/>
          <a:p>
            <a:r>
              <a:rPr lang="en-US" altLang="zh-CN" dirty="0"/>
              <a:t>S</a:t>
            </a:r>
            <a:r>
              <a:rPr lang="zh-CN" altLang="en-US" dirty="0"/>
              <a:t>称为</a:t>
            </a:r>
            <a:r>
              <a:rPr lang="zh-CN" altLang="en-US" dirty="0">
                <a:solidFill>
                  <a:srgbClr val="EE853E"/>
                </a:solidFill>
              </a:rPr>
              <a:t>非终结符</a:t>
            </a:r>
            <a:r>
              <a:rPr lang="zh-CN" altLang="en-US" dirty="0"/>
              <a:t>，在推导过程中，可以被代替的符号。</a:t>
            </a:r>
          </a:p>
          <a:p>
            <a:r>
              <a:rPr lang="en-US" altLang="zh-CN" dirty="0"/>
              <a:t>( </a:t>
            </a:r>
            <a:r>
              <a:rPr lang="zh-CN" altLang="en-US" dirty="0"/>
              <a:t>和 </a:t>
            </a:r>
            <a:r>
              <a:rPr lang="en-US" altLang="zh-CN" dirty="0"/>
              <a:t>) </a:t>
            </a:r>
            <a:r>
              <a:rPr lang="zh-CN" altLang="en-US" dirty="0"/>
              <a:t>称为</a:t>
            </a:r>
            <a:r>
              <a:rPr lang="zh-CN" altLang="en-US" dirty="0">
                <a:solidFill>
                  <a:srgbClr val="EE853E"/>
                </a:solidFill>
              </a:rPr>
              <a:t>终结符</a:t>
            </a:r>
            <a:r>
              <a:rPr lang="zh-CN" altLang="en-US" dirty="0"/>
              <a:t>，在推导过程中，不可以被代替的符号。</a:t>
            </a:r>
          </a:p>
          <a:p>
            <a:r>
              <a:rPr lang="zh-CN" altLang="en-US" dirty="0"/>
              <a:t>→ 是产生式系统的</a:t>
            </a:r>
            <a:r>
              <a:rPr lang="zh-CN" altLang="en-US" dirty="0">
                <a:solidFill>
                  <a:srgbClr val="EE853E"/>
                </a:solidFill>
              </a:rPr>
              <a:t>元符号</a:t>
            </a:r>
            <a:r>
              <a:rPr lang="zh-CN" altLang="en-US" dirty="0"/>
              <a:t>，不属于终结符，也不属于非终结符。</a:t>
            </a:r>
          </a:p>
        </p:txBody>
      </p:sp>
      <p:sp>
        <p:nvSpPr>
          <p:cNvPr id="5" name="标题 4">
            <a:extLst>
              <a:ext uri="{FF2B5EF4-FFF2-40B4-BE49-F238E27FC236}">
                <a16:creationId xmlns:a16="http://schemas.microsoft.com/office/drawing/2014/main" id="{B2114FCA-FDEB-425E-B46E-9D50DF903B7D}"/>
              </a:ext>
            </a:extLst>
          </p:cNvPr>
          <p:cNvSpPr>
            <a:spLocks noGrp="1"/>
          </p:cNvSpPr>
          <p:nvPr>
            <p:ph type="title"/>
          </p:nvPr>
        </p:nvSpPr>
        <p:spPr/>
        <p:txBody>
          <a:bodyPr/>
          <a:lstStyle/>
          <a:p>
            <a:r>
              <a:rPr lang="zh-CN" altLang="en-US" dirty="0"/>
              <a:t>括号匹配串的语言</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7" name="Rectangle 3"/>
          <p:cNvSpPr>
            <a:spLocks noGrp="1" noChangeArrowheads="1"/>
          </p:cNvSpPr>
          <p:nvPr>
            <p:ph idx="1"/>
          </p:nvPr>
        </p:nvSpPr>
        <p:spPr/>
        <p:txBody>
          <a:bodyPr/>
          <a:lstStyle/>
          <a:p>
            <a:r>
              <a:rPr lang="zh-CN" altLang="en-US" dirty="0"/>
              <a:t>偶数个</a:t>
            </a:r>
            <a:r>
              <a:rPr lang="en-US" altLang="zh-CN" dirty="0"/>
              <a:t>0</a:t>
            </a:r>
            <a:r>
              <a:rPr lang="zh-CN" altLang="en-US" dirty="0"/>
              <a:t>组成的串的语言。</a:t>
            </a:r>
          </a:p>
          <a:p>
            <a:r>
              <a:rPr lang="zh-CN" altLang="en-US" dirty="0"/>
              <a:t>规则的自然语言描述方式：</a:t>
            </a:r>
          </a:p>
          <a:p>
            <a:r>
              <a:rPr lang="en-US" altLang="zh-CN" dirty="0"/>
              <a:t>(1) </a:t>
            </a:r>
            <a:r>
              <a:rPr lang="en-US" altLang="zh-CN" dirty="0">
                <a:solidFill>
                  <a:srgbClr val="EE853E"/>
                </a:solidFill>
              </a:rPr>
              <a:t>00</a:t>
            </a:r>
            <a:r>
              <a:rPr lang="zh-CN" altLang="en-US" dirty="0"/>
              <a:t>是该语言的基本的句子；</a:t>
            </a:r>
          </a:p>
          <a:p>
            <a:r>
              <a:rPr lang="en-US" altLang="zh-CN" dirty="0"/>
              <a:t>(2) </a:t>
            </a:r>
            <a:r>
              <a:rPr lang="zh-CN" altLang="en-US" dirty="0"/>
              <a:t>若</a:t>
            </a:r>
            <a:r>
              <a:rPr lang="en-US" altLang="zh-CN" dirty="0">
                <a:solidFill>
                  <a:srgbClr val="EE853E"/>
                </a:solidFill>
              </a:rPr>
              <a:t>S</a:t>
            </a:r>
            <a:r>
              <a:rPr lang="zh-CN" altLang="en-US" dirty="0"/>
              <a:t>是句子</a:t>
            </a:r>
            <a:r>
              <a:rPr lang="en-US" altLang="zh-CN" dirty="0"/>
              <a:t>,</a:t>
            </a:r>
            <a:r>
              <a:rPr lang="zh-CN" altLang="en-US" dirty="0"/>
              <a:t>则</a:t>
            </a:r>
            <a:r>
              <a:rPr lang="en-US" altLang="zh-CN" dirty="0">
                <a:solidFill>
                  <a:srgbClr val="EE853E"/>
                </a:solidFill>
              </a:rPr>
              <a:t>00S</a:t>
            </a:r>
            <a:r>
              <a:rPr lang="zh-CN" altLang="en-US" dirty="0"/>
              <a:t>是句子。</a:t>
            </a:r>
            <a:endParaRPr lang="en-US" altLang="zh-CN" dirty="0"/>
          </a:p>
          <a:p>
            <a:r>
              <a:rPr lang="zh-CN" altLang="en-US" dirty="0"/>
              <a:t>形式化的描述方式：</a:t>
            </a:r>
          </a:p>
          <a:p>
            <a:r>
              <a:rPr lang="en-US" altLang="zh-CN" dirty="0">
                <a:solidFill>
                  <a:srgbClr val="EE853E"/>
                </a:solidFill>
              </a:rPr>
              <a:t>S→00</a:t>
            </a:r>
          </a:p>
          <a:p>
            <a:r>
              <a:rPr lang="en-US" altLang="zh-CN" dirty="0">
                <a:solidFill>
                  <a:srgbClr val="EE853E"/>
                </a:solidFill>
              </a:rPr>
              <a:t>S→00S </a:t>
            </a:r>
          </a:p>
        </p:txBody>
      </p:sp>
      <p:sp>
        <p:nvSpPr>
          <p:cNvPr id="74754" name="Rectangle 2"/>
          <p:cNvSpPr>
            <a:spLocks noGrp="1" noChangeArrowheads="1"/>
          </p:cNvSpPr>
          <p:nvPr>
            <p:ph type="title"/>
          </p:nvPr>
        </p:nvSpPr>
        <p:spPr/>
        <p:txBody>
          <a:bodyPr/>
          <a:lstStyle/>
          <a:p>
            <a:r>
              <a:rPr lang="zh-CN" altLang="en-US" dirty="0"/>
              <a:t>偶数个</a:t>
            </a:r>
            <a:r>
              <a:rPr lang="en-US" altLang="zh-CN" dirty="0"/>
              <a:t>0</a:t>
            </a:r>
            <a:r>
              <a:rPr lang="zh-CN" altLang="en-US" dirty="0"/>
              <a:t>组成的串的语言</a:t>
            </a:r>
            <a:endParaRPr lang="zh-CN" altLang="zh-CN" dirty="0"/>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1" name="Rectangle 3"/>
          <p:cNvSpPr>
            <a:spLocks noGrp="1" noChangeArrowheads="1"/>
          </p:cNvSpPr>
          <p:nvPr>
            <p:ph idx="1"/>
          </p:nvPr>
        </p:nvSpPr>
        <p:spPr/>
        <p:txBody>
          <a:bodyPr/>
          <a:lstStyle/>
          <a:p>
            <a:r>
              <a:rPr lang="zh-CN" altLang="en-US" dirty="0"/>
              <a:t>问题：</a:t>
            </a:r>
            <a:endParaRPr lang="en-US" altLang="zh-CN" dirty="0"/>
          </a:p>
          <a:p>
            <a:r>
              <a:rPr lang="zh-CN" altLang="en-US" dirty="0"/>
              <a:t>将产生式</a:t>
            </a:r>
            <a:r>
              <a:rPr lang="en-US" altLang="zh-CN" dirty="0"/>
              <a:t>S→00S</a:t>
            </a:r>
            <a:r>
              <a:rPr lang="zh-CN" altLang="en-US" dirty="0"/>
              <a:t>换成</a:t>
            </a:r>
          </a:p>
          <a:p>
            <a:r>
              <a:rPr lang="en-US" altLang="zh-CN" dirty="0">
                <a:solidFill>
                  <a:srgbClr val="EE853E"/>
                </a:solidFill>
              </a:rPr>
              <a:t>S→0S0</a:t>
            </a:r>
            <a:r>
              <a:rPr lang="zh-CN" altLang="en-US" dirty="0"/>
              <a:t>或</a:t>
            </a:r>
            <a:r>
              <a:rPr lang="en-US" altLang="zh-CN" dirty="0">
                <a:solidFill>
                  <a:srgbClr val="EE853E"/>
                </a:solidFill>
              </a:rPr>
              <a:t>S→S00</a:t>
            </a:r>
            <a:r>
              <a:rPr lang="zh-CN" altLang="en-US" dirty="0"/>
              <a:t>或</a:t>
            </a:r>
            <a:r>
              <a:rPr lang="en-US" altLang="zh-CN" dirty="0">
                <a:solidFill>
                  <a:srgbClr val="EE853E"/>
                </a:solidFill>
              </a:rPr>
              <a:t>S→SS</a:t>
            </a:r>
          </a:p>
          <a:p>
            <a:r>
              <a:rPr lang="zh-CN" altLang="en-US" dirty="0"/>
              <a:t>是否还产生相同的语言？</a:t>
            </a:r>
            <a:endParaRPr lang="en-US" altLang="zh-CN" dirty="0"/>
          </a:p>
          <a:p>
            <a:endParaRPr lang="en-US" altLang="zh-CN" dirty="0"/>
          </a:p>
          <a:p>
            <a:r>
              <a:rPr lang="zh-CN" altLang="en-US" dirty="0"/>
              <a:t>结论： </a:t>
            </a:r>
            <a:endParaRPr lang="en-US" altLang="zh-CN" dirty="0"/>
          </a:p>
          <a:p>
            <a:r>
              <a:rPr lang="zh-CN" altLang="en-US" dirty="0"/>
              <a:t>一个语言，可以使用不同的产生式组合来产生。</a:t>
            </a:r>
          </a:p>
          <a:p>
            <a:endParaRPr lang="en-US" altLang="zh-CN" dirty="0"/>
          </a:p>
          <a:p>
            <a:endParaRPr lang="zh-CN" altLang="en-US" dirty="0"/>
          </a:p>
        </p:txBody>
      </p:sp>
      <p:sp>
        <p:nvSpPr>
          <p:cNvPr id="4" name="标题 3">
            <a:extLst>
              <a:ext uri="{FF2B5EF4-FFF2-40B4-BE49-F238E27FC236}">
                <a16:creationId xmlns:a16="http://schemas.microsoft.com/office/drawing/2014/main" id="{4B390C12-7485-484C-A599-5EE8569D9D23}"/>
              </a:ext>
            </a:extLst>
          </p:cNvPr>
          <p:cNvSpPr>
            <a:spLocks noGrp="1"/>
          </p:cNvSpPr>
          <p:nvPr>
            <p:ph type="title"/>
          </p:nvPr>
        </p:nvSpPr>
        <p:spPr/>
        <p:txBody>
          <a:bodyPr/>
          <a:lstStyle/>
          <a:p>
            <a:r>
              <a:rPr lang="zh-CN" altLang="en-US" dirty="0"/>
              <a:t>偶数个</a:t>
            </a:r>
            <a:r>
              <a:rPr lang="en-US" altLang="zh-CN" dirty="0"/>
              <a:t>0</a:t>
            </a:r>
            <a:r>
              <a:rPr lang="zh-CN" altLang="en-US" dirty="0"/>
              <a:t>组成的串的语言</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idx="1"/>
          </p:nvPr>
        </p:nvSpPr>
        <p:spPr/>
        <p:txBody>
          <a:bodyPr/>
          <a:lstStyle/>
          <a:p>
            <a:r>
              <a:rPr lang="zh-CN" altLang="en-US" dirty="0"/>
              <a:t>由奇数个</a:t>
            </a:r>
            <a:r>
              <a:rPr lang="en-US" altLang="zh-CN" dirty="0"/>
              <a:t>1</a:t>
            </a:r>
            <a:r>
              <a:rPr lang="zh-CN" altLang="en-US" dirty="0"/>
              <a:t>组成串的语言的形成规则。</a:t>
            </a:r>
            <a:endParaRPr lang="en-US" altLang="zh-CN" dirty="0"/>
          </a:p>
          <a:p>
            <a:r>
              <a:rPr lang="en-US" altLang="zh-CN" dirty="0"/>
              <a:t>S→1</a:t>
            </a:r>
          </a:p>
          <a:p>
            <a:r>
              <a:rPr lang="en-US" altLang="zh-CN" dirty="0"/>
              <a:t>S→11S </a:t>
            </a:r>
          </a:p>
          <a:p>
            <a:endParaRPr lang="zh-CN" altLang="en-US" dirty="0"/>
          </a:p>
          <a:p>
            <a:endParaRPr lang="en-US" altLang="zh-CN" dirty="0"/>
          </a:p>
        </p:txBody>
      </p:sp>
      <p:sp>
        <p:nvSpPr>
          <p:cNvPr id="78850" name="Rectangle 2"/>
          <p:cNvSpPr>
            <a:spLocks noGrp="1" noChangeArrowheads="1"/>
          </p:cNvSpPr>
          <p:nvPr>
            <p:ph type="title"/>
          </p:nvPr>
        </p:nvSpPr>
        <p:spPr/>
        <p:txBody>
          <a:bodyPr/>
          <a:lstStyle/>
          <a:p>
            <a:r>
              <a:rPr lang="zh-CN" altLang="en-US"/>
              <a:t>思考</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8851">
                                            <p:txEl>
                                              <p:pRg st="1" end="1"/>
                                            </p:txEl>
                                          </p:spTgt>
                                        </p:tgtEl>
                                        <p:attrNameLst>
                                          <p:attrName>style.visibility</p:attrName>
                                        </p:attrNameLst>
                                      </p:cBhvr>
                                      <p:to>
                                        <p:strVal val="visible"/>
                                      </p:to>
                                    </p:set>
                                    <p:animEffect transition="in" filter="circle(in)">
                                      <p:cBhvr>
                                        <p:cTn id="7" dur="500"/>
                                        <p:tgtEl>
                                          <p:spTgt spid="78851">
                                            <p:txEl>
                                              <p:pRg st="1" end="1"/>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78851">
                                            <p:txEl>
                                              <p:pRg st="2" end="2"/>
                                            </p:txEl>
                                          </p:spTgt>
                                        </p:tgtEl>
                                        <p:attrNameLst>
                                          <p:attrName>style.visibility</p:attrName>
                                        </p:attrNameLst>
                                      </p:cBhvr>
                                      <p:to>
                                        <p:strVal val="visible"/>
                                      </p:to>
                                    </p:set>
                                    <p:animEffect transition="in" filter="circle(in)">
                                      <p:cBhvr>
                                        <p:cTn id="10" dur="500"/>
                                        <p:tgtEl>
                                          <p:spTgt spid="788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1" name="Rectangle 2051"/>
          <p:cNvSpPr>
            <a:spLocks noGrp="1" noChangeArrowheads="1"/>
          </p:cNvSpPr>
          <p:nvPr>
            <p:ph idx="1"/>
          </p:nvPr>
        </p:nvSpPr>
        <p:spPr/>
        <p:txBody>
          <a:bodyPr/>
          <a:lstStyle/>
          <a:p>
            <a:r>
              <a:rPr lang="zh-CN" altLang="en-US" dirty="0"/>
              <a:t>标识符（以字母开头的字母、数字的串）的产生（仅考虑小写字母）。 </a:t>
            </a:r>
          </a:p>
        </p:txBody>
      </p:sp>
      <p:sp>
        <p:nvSpPr>
          <p:cNvPr id="79874" name="Rectangle 2050"/>
          <p:cNvSpPr>
            <a:spLocks noGrp="1" noChangeArrowheads="1"/>
          </p:cNvSpPr>
          <p:nvPr>
            <p:ph type="title"/>
          </p:nvPr>
        </p:nvSpPr>
        <p:spPr/>
        <p:txBody>
          <a:bodyPr/>
          <a:lstStyle/>
          <a:p>
            <a:r>
              <a:rPr lang="zh-CN" altLang="en-US" dirty="0"/>
              <a:t>例子</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5" name="Rectangle 3"/>
          <p:cNvSpPr>
            <a:spLocks noGrp="1" noChangeArrowheads="1"/>
          </p:cNvSpPr>
          <p:nvPr>
            <p:ph idx="1"/>
          </p:nvPr>
        </p:nvSpPr>
        <p:spPr/>
        <p:txBody>
          <a:bodyPr/>
          <a:lstStyle/>
          <a:p>
            <a:r>
              <a:rPr lang="en-US" altLang="zh-CN" dirty="0"/>
              <a:t>I   →   </a:t>
            </a:r>
            <a:r>
              <a:rPr lang="en-US" altLang="zh-CN" dirty="0">
                <a:solidFill>
                  <a:srgbClr val="EE853E"/>
                </a:solidFill>
              </a:rPr>
              <a:t>L</a:t>
            </a:r>
          </a:p>
          <a:p>
            <a:r>
              <a:rPr lang="en-US" altLang="zh-CN" dirty="0"/>
              <a:t>I   →   </a:t>
            </a:r>
            <a:r>
              <a:rPr lang="en-US" altLang="zh-CN" dirty="0">
                <a:solidFill>
                  <a:srgbClr val="EE853E"/>
                </a:solidFill>
              </a:rPr>
              <a:t>IL</a:t>
            </a:r>
          </a:p>
          <a:p>
            <a:r>
              <a:rPr lang="en-US" altLang="zh-CN" dirty="0"/>
              <a:t>I   →   </a:t>
            </a:r>
            <a:r>
              <a:rPr lang="en-US" altLang="zh-CN" dirty="0">
                <a:solidFill>
                  <a:srgbClr val="EE853E"/>
                </a:solidFill>
              </a:rPr>
              <a:t>ID</a:t>
            </a:r>
          </a:p>
          <a:p>
            <a:r>
              <a:rPr lang="en-US" altLang="zh-CN" dirty="0"/>
              <a:t>L  → 	a | b | c | d | e | f | g | h | </a:t>
            </a:r>
            <a:r>
              <a:rPr lang="en-US" altLang="zh-CN" dirty="0" err="1"/>
              <a:t>i</a:t>
            </a:r>
            <a:r>
              <a:rPr lang="en-US" altLang="zh-CN" dirty="0"/>
              <a:t> | j | k | l | m | n | o | p | q | r | s | t</a:t>
            </a:r>
          </a:p>
          <a:p>
            <a:r>
              <a:rPr lang="en-US" altLang="zh-CN" dirty="0"/>
              <a:t>		u | v | w | x | y | z</a:t>
            </a:r>
          </a:p>
          <a:p>
            <a:r>
              <a:rPr lang="en-US" altLang="zh-CN" dirty="0"/>
              <a:t>D → 	0 | 1 | 2 | 3 | 4 | 5 | 6 | 7 | 8 | 9</a:t>
            </a:r>
          </a:p>
        </p:txBody>
      </p:sp>
      <p:sp>
        <p:nvSpPr>
          <p:cNvPr id="80898" name="Rectangle 2"/>
          <p:cNvSpPr>
            <a:spLocks noGrp="1" noChangeArrowheads="1"/>
          </p:cNvSpPr>
          <p:nvPr>
            <p:ph type="title"/>
          </p:nvPr>
        </p:nvSpPr>
        <p:spPr/>
        <p:txBody>
          <a:bodyPr/>
          <a:lstStyle/>
          <a:p>
            <a:r>
              <a:rPr lang="zh-CN" altLang="en-US"/>
              <a:t>从标识符的形成角度考虑</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animEffect transition="in" filter="circle(in)">
                                      <p:cBhvr>
                                        <p:cTn id="7" dur="500"/>
                                        <p:tgtEl>
                                          <p:spTgt spid="952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95235">
                                            <p:txEl>
                                              <p:pRg st="1" end="1"/>
                                            </p:txEl>
                                          </p:spTgt>
                                        </p:tgtEl>
                                        <p:attrNameLst>
                                          <p:attrName>style.visibility</p:attrName>
                                        </p:attrNameLst>
                                      </p:cBhvr>
                                      <p:to>
                                        <p:strVal val="visible"/>
                                      </p:to>
                                    </p:set>
                                    <p:animEffect transition="in" filter="circle(in)">
                                      <p:cBhvr>
                                        <p:cTn id="12" dur="500"/>
                                        <p:tgtEl>
                                          <p:spTgt spid="952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95235">
                                            <p:txEl>
                                              <p:pRg st="2" end="2"/>
                                            </p:txEl>
                                          </p:spTgt>
                                        </p:tgtEl>
                                        <p:attrNameLst>
                                          <p:attrName>style.visibility</p:attrName>
                                        </p:attrNameLst>
                                      </p:cBhvr>
                                      <p:to>
                                        <p:strVal val="visible"/>
                                      </p:to>
                                    </p:set>
                                    <p:animEffect transition="in" filter="circle(in)">
                                      <p:cBhvr>
                                        <p:cTn id="17" dur="500"/>
                                        <p:tgtEl>
                                          <p:spTgt spid="952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95235">
                                            <p:txEl>
                                              <p:pRg st="3" end="3"/>
                                            </p:txEl>
                                          </p:spTgt>
                                        </p:tgtEl>
                                        <p:attrNameLst>
                                          <p:attrName>style.visibility</p:attrName>
                                        </p:attrNameLst>
                                      </p:cBhvr>
                                      <p:to>
                                        <p:strVal val="visible"/>
                                      </p:to>
                                    </p:set>
                                    <p:animEffect transition="in" filter="circle(in)">
                                      <p:cBhvr>
                                        <p:cTn id="22" dur="500"/>
                                        <p:tgtEl>
                                          <p:spTgt spid="952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95235">
                                            <p:txEl>
                                              <p:pRg st="4" end="4"/>
                                            </p:txEl>
                                          </p:spTgt>
                                        </p:tgtEl>
                                        <p:attrNameLst>
                                          <p:attrName>style.visibility</p:attrName>
                                        </p:attrNameLst>
                                      </p:cBhvr>
                                      <p:to>
                                        <p:strVal val="visible"/>
                                      </p:to>
                                    </p:set>
                                    <p:animEffect transition="in" filter="circle(in)">
                                      <p:cBhvr>
                                        <p:cTn id="27" dur="500"/>
                                        <p:tgtEl>
                                          <p:spTgt spid="952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95235">
                                            <p:txEl>
                                              <p:pRg st="5" end="5"/>
                                            </p:txEl>
                                          </p:spTgt>
                                        </p:tgtEl>
                                        <p:attrNameLst>
                                          <p:attrName>style.visibility</p:attrName>
                                        </p:attrNameLst>
                                      </p:cBhvr>
                                      <p:to>
                                        <p:strVal val="visible"/>
                                      </p:to>
                                    </p:set>
                                    <p:animEffect transition="in" filter="circle(in)">
                                      <p:cBhvr>
                                        <p:cTn id="32" dur="500"/>
                                        <p:tgtEl>
                                          <p:spTgt spid="952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7" name="Rectangle 3"/>
          <p:cNvSpPr>
            <a:spLocks noGrp="1" noChangeArrowheads="1"/>
          </p:cNvSpPr>
          <p:nvPr>
            <p:ph idx="1"/>
          </p:nvPr>
        </p:nvSpPr>
        <p:spPr/>
        <p:txBody>
          <a:bodyPr/>
          <a:lstStyle/>
          <a:p>
            <a:r>
              <a:rPr lang="zh-CN" altLang="en-US" dirty="0"/>
              <a:t>上例是从标识符的</a:t>
            </a:r>
            <a:r>
              <a:rPr lang="zh-CN" altLang="en-US" dirty="0">
                <a:solidFill>
                  <a:srgbClr val="EE853E"/>
                </a:solidFill>
              </a:rPr>
              <a:t>形成角度</a:t>
            </a:r>
            <a:r>
              <a:rPr lang="zh-CN" altLang="en-US" dirty="0"/>
              <a:t>思考问题。</a:t>
            </a:r>
          </a:p>
          <a:p>
            <a:r>
              <a:rPr lang="zh-CN" altLang="en-US" dirty="0"/>
              <a:t>从标识符的</a:t>
            </a:r>
            <a:r>
              <a:rPr lang="zh-CN" altLang="en-US" dirty="0">
                <a:solidFill>
                  <a:srgbClr val="EE853E"/>
                </a:solidFill>
              </a:rPr>
              <a:t>定义</a:t>
            </a:r>
            <a:r>
              <a:rPr lang="zh-CN" altLang="en-US" dirty="0"/>
              <a:t>角度考虑，则？</a:t>
            </a:r>
          </a:p>
        </p:txBody>
      </p:sp>
      <p:sp>
        <p:nvSpPr>
          <p:cNvPr id="81922" name="Rectangle 2"/>
          <p:cNvSpPr>
            <a:spLocks noGrp="1" noChangeArrowheads="1"/>
          </p:cNvSpPr>
          <p:nvPr>
            <p:ph type="title"/>
          </p:nvPr>
        </p:nvSpPr>
        <p:spPr/>
        <p:txBody>
          <a:bodyPr/>
          <a:lstStyle/>
          <a:p>
            <a:r>
              <a:rPr lang="zh-CN" altLang="en-US" dirty="0"/>
              <a:t>思考</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7" name="Rectangle 3"/>
          <p:cNvSpPr>
            <a:spLocks noGrp="1" noChangeArrowheads="1"/>
          </p:cNvSpPr>
          <p:nvPr>
            <p:ph idx="1"/>
          </p:nvPr>
        </p:nvSpPr>
        <p:spPr/>
        <p:txBody>
          <a:bodyPr/>
          <a:lstStyle/>
          <a:p>
            <a:r>
              <a:rPr lang="en-US" altLang="zh-CN" dirty="0"/>
              <a:t>D → 0 | 1 | 2 | 3 | 4 | 5 | 6 | 7 | 8 | 9</a:t>
            </a:r>
          </a:p>
          <a:p>
            <a:r>
              <a:rPr lang="zh-CN" altLang="en-US" dirty="0"/>
              <a:t>不能简写为</a:t>
            </a:r>
          </a:p>
          <a:p>
            <a:r>
              <a:rPr lang="en-US" altLang="zh-CN" dirty="0"/>
              <a:t>D → 0 | … | 9</a:t>
            </a:r>
          </a:p>
          <a:p>
            <a:endParaRPr lang="en-US" altLang="zh-CN" dirty="0"/>
          </a:p>
        </p:txBody>
      </p:sp>
      <p:sp>
        <p:nvSpPr>
          <p:cNvPr id="82946" name="Rectangle 2"/>
          <p:cNvSpPr>
            <a:spLocks noGrp="1" noChangeArrowheads="1"/>
          </p:cNvSpPr>
          <p:nvPr>
            <p:ph type="title"/>
          </p:nvPr>
        </p:nvSpPr>
        <p:spPr/>
        <p:txBody>
          <a:bodyPr/>
          <a:lstStyle/>
          <a:p>
            <a:r>
              <a:rPr lang="zh-CN" altLang="en-US" dirty="0"/>
              <a:t>注意</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5" name="Rectangle 3"/>
          <p:cNvSpPr>
            <a:spLocks noGrp="1" noChangeArrowheads="1"/>
          </p:cNvSpPr>
          <p:nvPr>
            <p:ph idx="1"/>
          </p:nvPr>
        </p:nvSpPr>
        <p:spPr/>
        <p:txBody>
          <a:bodyPr/>
          <a:lstStyle/>
          <a:p>
            <a:r>
              <a:rPr lang="zh-CN" altLang="en-US" dirty="0"/>
              <a:t>高级程序设计语言中的算术表达式的形成规则。</a:t>
            </a:r>
          </a:p>
        </p:txBody>
      </p:sp>
      <p:sp>
        <p:nvSpPr>
          <p:cNvPr id="31746" name="Rectangle 2"/>
          <p:cNvSpPr>
            <a:spLocks noGrp="1" noChangeArrowheads="1"/>
          </p:cNvSpPr>
          <p:nvPr>
            <p:ph type="title"/>
          </p:nvPr>
        </p:nvSpPr>
        <p:spPr/>
        <p:txBody>
          <a:bodyPr/>
          <a:lstStyle/>
          <a:p>
            <a:r>
              <a:rPr lang="zh-CN" altLang="en-US" dirty="0"/>
              <a:t>例子</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3891" name="Rectangle 2051"/>
          <p:cNvSpPr>
            <a:spLocks noGrp="1" noChangeArrowheads="1"/>
          </p:cNvSpPr>
          <p:nvPr>
            <p:ph idx="1"/>
          </p:nvPr>
        </p:nvSpPr>
        <p:spPr/>
        <p:txBody>
          <a:bodyPr/>
          <a:lstStyle/>
          <a:p>
            <a:r>
              <a:rPr lang="en-US" altLang="zh-CN" dirty="0"/>
              <a:t>(1) </a:t>
            </a:r>
            <a:r>
              <a:rPr lang="zh-CN" altLang="en-US" dirty="0"/>
              <a:t>单个变量是最基本的句子；</a:t>
            </a:r>
          </a:p>
          <a:p>
            <a:r>
              <a:rPr lang="en-US" altLang="zh-CN" dirty="0"/>
              <a:t>(2) </a:t>
            </a:r>
            <a:r>
              <a:rPr lang="zh-CN" altLang="en-US" dirty="0"/>
              <a:t>若</a:t>
            </a:r>
            <a:r>
              <a:rPr lang="en-US" altLang="zh-CN" dirty="0"/>
              <a:t>E</a:t>
            </a:r>
            <a:r>
              <a:rPr lang="zh-CN" altLang="en-US" dirty="0"/>
              <a:t>是一个句子，则</a:t>
            </a:r>
            <a:r>
              <a:rPr lang="en-US" altLang="zh-CN" dirty="0">
                <a:solidFill>
                  <a:srgbClr val="EE853E"/>
                </a:solidFill>
              </a:rPr>
              <a:t>EAE</a:t>
            </a:r>
            <a:r>
              <a:rPr lang="zh-CN" altLang="en-US" dirty="0"/>
              <a:t>是一个句子（其中</a:t>
            </a:r>
            <a:r>
              <a:rPr lang="en-US" altLang="zh-CN" dirty="0"/>
              <a:t>A</a:t>
            </a:r>
            <a:r>
              <a:rPr lang="zh-CN" altLang="en-US" dirty="0"/>
              <a:t>代表运算符</a:t>
            </a:r>
            <a:r>
              <a:rPr lang="en-US" altLang="zh-CN" dirty="0"/>
              <a:t>+</a:t>
            </a:r>
            <a:r>
              <a:rPr lang="zh-CN" altLang="en-US" dirty="0"/>
              <a:t>、</a:t>
            </a:r>
            <a:r>
              <a:rPr lang="en-US" altLang="zh-CN" dirty="0"/>
              <a:t>-</a:t>
            </a:r>
            <a:r>
              <a:rPr lang="zh-CN" altLang="en-US" dirty="0"/>
              <a:t>、*、</a:t>
            </a:r>
            <a:r>
              <a:rPr lang="en-US" altLang="zh-CN" dirty="0"/>
              <a:t>/</a:t>
            </a:r>
            <a:r>
              <a:rPr lang="zh-CN" altLang="en-US" dirty="0"/>
              <a:t>）</a:t>
            </a:r>
          </a:p>
          <a:p>
            <a:r>
              <a:rPr lang="en-US" altLang="zh-CN" dirty="0"/>
              <a:t>(3) </a:t>
            </a:r>
            <a:r>
              <a:rPr lang="zh-CN" altLang="en-US" dirty="0"/>
              <a:t>若</a:t>
            </a:r>
            <a:r>
              <a:rPr lang="en-US" altLang="zh-CN" dirty="0"/>
              <a:t>E</a:t>
            </a:r>
            <a:r>
              <a:rPr lang="zh-CN" altLang="en-US" dirty="0"/>
              <a:t>是一个句子，则</a:t>
            </a:r>
            <a:r>
              <a:rPr lang="en-US" altLang="zh-CN" dirty="0"/>
              <a:t>(E)</a:t>
            </a:r>
            <a:r>
              <a:rPr lang="zh-CN" altLang="en-US" dirty="0"/>
              <a:t>是句子。</a:t>
            </a:r>
          </a:p>
        </p:txBody>
      </p:sp>
      <p:sp>
        <p:nvSpPr>
          <p:cNvPr id="32770" name="Rectangle 2050"/>
          <p:cNvSpPr>
            <a:spLocks noGrp="1" noChangeArrowheads="1"/>
          </p:cNvSpPr>
          <p:nvPr>
            <p:ph type="title"/>
          </p:nvPr>
        </p:nvSpPr>
        <p:spPr/>
        <p:txBody>
          <a:bodyPr/>
          <a:lstStyle/>
          <a:p>
            <a:r>
              <a:rPr lang="zh-CN" altLang="en-US"/>
              <a:t>自然语言的描述方式</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9" name="Rectangle 3"/>
          <p:cNvSpPr>
            <a:spLocks noGrp="1" noChangeArrowheads="1"/>
          </p:cNvSpPr>
          <p:nvPr>
            <p:ph idx="1"/>
          </p:nvPr>
        </p:nvSpPr>
        <p:spPr/>
        <p:txBody>
          <a:bodyPr/>
          <a:lstStyle/>
          <a:p>
            <a:r>
              <a:rPr lang="en-US" altLang="zh-CN" dirty="0"/>
              <a:t>(1) E→ </a:t>
            </a:r>
            <a:r>
              <a:rPr lang="en-US" altLang="zh-CN" dirty="0" err="1"/>
              <a:t>i</a:t>
            </a:r>
            <a:r>
              <a:rPr lang="en-US" altLang="zh-CN" dirty="0"/>
              <a:t>    	</a:t>
            </a:r>
            <a:r>
              <a:rPr lang="zh-CN" altLang="en-US" dirty="0"/>
              <a:t>（</a:t>
            </a:r>
            <a:r>
              <a:rPr lang="en-US" altLang="zh-CN" dirty="0" err="1"/>
              <a:t>i</a:t>
            </a:r>
            <a:r>
              <a:rPr lang="zh-CN" altLang="en-US" dirty="0"/>
              <a:t>代表单个变量）</a:t>
            </a:r>
          </a:p>
          <a:p>
            <a:r>
              <a:rPr lang="en-US" altLang="zh-CN" dirty="0"/>
              <a:t>(2)</a:t>
            </a:r>
            <a:r>
              <a:rPr lang="zh-CN" altLang="en-US" dirty="0"/>
              <a:t> </a:t>
            </a:r>
            <a:r>
              <a:rPr lang="en-US" altLang="zh-CN" dirty="0"/>
              <a:t>E→</a:t>
            </a:r>
            <a:r>
              <a:rPr lang="en-US" altLang="zh-CN" dirty="0">
                <a:solidFill>
                  <a:srgbClr val="EE853E"/>
                </a:solidFill>
              </a:rPr>
              <a:t>EAE</a:t>
            </a:r>
          </a:p>
          <a:p>
            <a:r>
              <a:rPr lang="en-US" altLang="zh-CN" dirty="0"/>
              <a:t>(3)</a:t>
            </a:r>
            <a:r>
              <a:rPr lang="zh-CN" altLang="en-US" dirty="0"/>
              <a:t> </a:t>
            </a:r>
            <a:r>
              <a:rPr lang="en-US" altLang="zh-CN" dirty="0"/>
              <a:t>E→(E)</a:t>
            </a:r>
          </a:p>
          <a:p>
            <a:r>
              <a:rPr lang="en-US" altLang="zh-CN" dirty="0"/>
              <a:t>(4)</a:t>
            </a:r>
            <a:r>
              <a:rPr lang="zh-CN" altLang="en-US" dirty="0"/>
              <a:t> </a:t>
            </a:r>
            <a:r>
              <a:rPr lang="en-US" altLang="zh-CN" dirty="0"/>
              <a:t>A→+</a:t>
            </a:r>
          </a:p>
          <a:p>
            <a:r>
              <a:rPr lang="en-US" altLang="zh-CN" dirty="0"/>
              <a:t>(5)</a:t>
            </a:r>
            <a:r>
              <a:rPr lang="zh-CN" altLang="en-US" dirty="0"/>
              <a:t> </a:t>
            </a:r>
            <a:r>
              <a:rPr lang="en-US" altLang="zh-CN" dirty="0"/>
              <a:t>A→-</a:t>
            </a:r>
          </a:p>
          <a:p>
            <a:r>
              <a:rPr lang="en-US" altLang="zh-CN" dirty="0"/>
              <a:t>(6)</a:t>
            </a:r>
            <a:r>
              <a:rPr lang="zh-CN" altLang="en-US" dirty="0"/>
              <a:t> </a:t>
            </a:r>
            <a:r>
              <a:rPr lang="en-US" altLang="zh-CN" dirty="0"/>
              <a:t>A→* </a:t>
            </a:r>
          </a:p>
          <a:p>
            <a:r>
              <a:rPr lang="en-US" altLang="zh-CN" dirty="0"/>
              <a:t>(7)</a:t>
            </a:r>
            <a:r>
              <a:rPr lang="zh-CN" altLang="en-US" dirty="0"/>
              <a:t> </a:t>
            </a:r>
            <a:r>
              <a:rPr lang="en-US" altLang="zh-CN" dirty="0"/>
              <a:t> A→/</a:t>
            </a:r>
          </a:p>
        </p:txBody>
      </p:sp>
      <p:sp>
        <p:nvSpPr>
          <p:cNvPr id="33794" name="Rectangle 2"/>
          <p:cNvSpPr>
            <a:spLocks noGrp="1" noChangeArrowheads="1"/>
          </p:cNvSpPr>
          <p:nvPr>
            <p:ph type="title"/>
          </p:nvPr>
        </p:nvSpPr>
        <p:spPr/>
        <p:txBody>
          <a:bodyPr/>
          <a:lstStyle/>
          <a:p>
            <a:r>
              <a:rPr lang="zh-CN" altLang="en-US" dirty="0"/>
              <a:t>形式语言的描述方式</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5" name="Rectangle 2051"/>
          <p:cNvSpPr>
            <a:spLocks noGrp="1" noChangeArrowheads="1"/>
          </p:cNvSpPr>
          <p:nvPr>
            <p:ph idx="1"/>
          </p:nvPr>
        </p:nvSpPr>
        <p:spPr/>
        <p:txBody>
          <a:bodyPr/>
          <a:lstStyle/>
          <a:p>
            <a:r>
              <a:rPr lang="zh-CN" altLang="en-US" dirty="0"/>
              <a:t>这组产生式</a:t>
            </a:r>
          </a:p>
          <a:p>
            <a:r>
              <a:rPr lang="zh-CN" altLang="en-US" dirty="0"/>
              <a:t>没有表示出运算符的</a:t>
            </a:r>
            <a:r>
              <a:rPr lang="zh-CN" altLang="en-US" dirty="0">
                <a:solidFill>
                  <a:srgbClr val="EE853E"/>
                </a:solidFill>
              </a:rPr>
              <a:t>优先级</a:t>
            </a:r>
            <a:r>
              <a:rPr lang="zh-CN" altLang="en-US" dirty="0"/>
              <a:t>。</a:t>
            </a:r>
          </a:p>
        </p:txBody>
      </p:sp>
      <p:sp>
        <p:nvSpPr>
          <p:cNvPr id="37890" name="Rectangle 2050"/>
          <p:cNvSpPr>
            <a:spLocks noGrp="1" noChangeArrowheads="1"/>
          </p:cNvSpPr>
          <p:nvPr>
            <p:ph type="title"/>
          </p:nvPr>
        </p:nvSpPr>
        <p:spPr/>
        <p:txBody>
          <a:bodyPr/>
          <a:lstStyle/>
          <a:p>
            <a:r>
              <a:rPr lang="zh-CN" altLang="en-US" dirty="0"/>
              <a:t>注意</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1" name="Rectangle 3"/>
          <p:cNvSpPr>
            <a:spLocks noGrp="1" noChangeArrowheads="1"/>
          </p:cNvSpPr>
          <p:nvPr>
            <p:ph idx="1"/>
          </p:nvPr>
        </p:nvSpPr>
        <p:spPr/>
        <p:txBody>
          <a:bodyPr/>
          <a:lstStyle/>
          <a:p>
            <a:r>
              <a:rPr lang="zh-CN" altLang="en-US" dirty="0"/>
              <a:t>表示出运算符的优先级的产生式：</a:t>
            </a:r>
          </a:p>
          <a:p>
            <a:r>
              <a:rPr lang="en-US" altLang="zh-CN" dirty="0"/>
              <a:t>E → E+T | E-T | T</a:t>
            </a:r>
          </a:p>
          <a:p>
            <a:r>
              <a:rPr lang="en-US" altLang="zh-CN" dirty="0"/>
              <a:t>T → T*F | T/F | F</a:t>
            </a:r>
          </a:p>
          <a:p>
            <a:r>
              <a:rPr lang="en-US" altLang="zh-CN" dirty="0"/>
              <a:t>F → (E) | </a:t>
            </a:r>
            <a:r>
              <a:rPr lang="en-US" altLang="zh-CN" dirty="0" err="1"/>
              <a:t>i</a:t>
            </a:r>
            <a:endParaRPr lang="en-US" altLang="zh-CN" dirty="0"/>
          </a:p>
          <a:p>
            <a:r>
              <a:rPr lang="zh-CN" altLang="en-US" dirty="0"/>
              <a:t>其中：</a:t>
            </a:r>
            <a:r>
              <a:rPr lang="en-US" altLang="zh-CN" dirty="0"/>
              <a:t>E</a:t>
            </a:r>
            <a:r>
              <a:rPr lang="zh-CN" altLang="en-US" dirty="0"/>
              <a:t>代表表达式，</a:t>
            </a:r>
            <a:r>
              <a:rPr lang="en-US" altLang="zh-CN" dirty="0"/>
              <a:t>T</a:t>
            </a:r>
            <a:r>
              <a:rPr lang="zh-CN" altLang="en-US" dirty="0"/>
              <a:t>代表项，</a:t>
            </a:r>
            <a:r>
              <a:rPr lang="en-US" altLang="zh-CN" dirty="0"/>
              <a:t>F</a:t>
            </a:r>
            <a:r>
              <a:rPr lang="zh-CN" altLang="en-US" dirty="0"/>
              <a:t>代表因子，</a:t>
            </a:r>
            <a:r>
              <a:rPr lang="en-US" altLang="zh-CN" dirty="0"/>
              <a:t>(E)</a:t>
            </a:r>
            <a:r>
              <a:rPr lang="zh-CN" altLang="en-US" dirty="0"/>
              <a:t>代表的是带小括号的表达式；</a:t>
            </a:r>
          </a:p>
          <a:p>
            <a:r>
              <a:rPr lang="zh-CN" altLang="en-US" dirty="0"/>
              <a:t>表示：先因子，再*、</a:t>
            </a:r>
            <a:r>
              <a:rPr lang="en-US" altLang="zh-CN" dirty="0"/>
              <a:t>/</a:t>
            </a:r>
            <a:r>
              <a:rPr lang="zh-CN" altLang="en-US" dirty="0"/>
              <a:t>，最后</a:t>
            </a:r>
            <a:r>
              <a:rPr lang="en-US" altLang="zh-CN" dirty="0"/>
              <a:t>+</a:t>
            </a:r>
            <a:r>
              <a:rPr lang="zh-CN" altLang="en-US" dirty="0"/>
              <a:t>、</a:t>
            </a:r>
            <a:r>
              <a:rPr lang="en-US" altLang="zh-CN" dirty="0"/>
              <a:t>-</a:t>
            </a:r>
          </a:p>
          <a:p>
            <a:endParaRPr lang="en-US" altLang="zh-CN" dirty="0"/>
          </a:p>
        </p:txBody>
      </p:sp>
      <p:sp>
        <p:nvSpPr>
          <p:cNvPr id="3" name="标题 2">
            <a:extLst>
              <a:ext uri="{FF2B5EF4-FFF2-40B4-BE49-F238E27FC236}">
                <a16:creationId xmlns:a16="http://schemas.microsoft.com/office/drawing/2014/main" id="{40903E5B-F4D6-477A-AF83-18AC16786887}"/>
              </a:ext>
            </a:extLst>
          </p:cNvPr>
          <p:cNvSpPr>
            <a:spLocks noGrp="1"/>
          </p:cNvSpPr>
          <p:nvPr>
            <p:ph type="title"/>
          </p:nvPr>
        </p:nvSpPr>
        <p:spPr>
          <a:xfrm>
            <a:off x="0" y="0"/>
            <a:ext cx="12192000" cy="900000"/>
          </a:xfrm>
        </p:spPr>
        <p:txBody>
          <a:bodyPr/>
          <a:lstStyle/>
          <a:p>
            <a:r>
              <a:rPr lang="zh-CN" altLang="en-US" dirty="0"/>
              <a:t>增加优先级</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4211">
                                            <p:txEl>
                                              <p:pRg st="1" end="1"/>
                                            </p:txEl>
                                          </p:spTgt>
                                        </p:tgtEl>
                                        <p:attrNameLst>
                                          <p:attrName>style.visibility</p:attrName>
                                        </p:attrNameLst>
                                      </p:cBhvr>
                                      <p:to>
                                        <p:strVal val="visible"/>
                                      </p:to>
                                    </p:set>
                                    <p:animEffect transition="in" filter="circle(in)">
                                      <p:cBhvr>
                                        <p:cTn id="7" dur="500"/>
                                        <p:tgtEl>
                                          <p:spTgt spid="94211">
                                            <p:txEl>
                                              <p:pRg st="1" end="1"/>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94211">
                                            <p:txEl>
                                              <p:pRg st="2" end="2"/>
                                            </p:txEl>
                                          </p:spTgt>
                                        </p:tgtEl>
                                        <p:attrNameLst>
                                          <p:attrName>style.visibility</p:attrName>
                                        </p:attrNameLst>
                                      </p:cBhvr>
                                      <p:to>
                                        <p:strVal val="visible"/>
                                      </p:to>
                                    </p:set>
                                    <p:animEffect transition="in" filter="circle(in)">
                                      <p:cBhvr>
                                        <p:cTn id="10" dur="500"/>
                                        <p:tgtEl>
                                          <p:spTgt spid="94211">
                                            <p:txEl>
                                              <p:pRg st="2" end="2"/>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94211">
                                            <p:txEl>
                                              <p:pRg st="3" end="3"/>
                                            </p:txEl>
                                          </p:spTgt>
                                        </p:tgtEl>
                                        <p:attrNameLst>
                                          <p:attrName>style.visibility</p:attrName>
                                        </p:attrNameLst>
                                      </p:cBhvr>
                                      <p:to>
                                        <p:strVal val="visible"/>
                                      </p:to>
                                    </p:set>
                                    <p:animEffect transition="in" filter="circle(in)">
                                      <p:cBhvr>
                                        <p:cTn id="13" dur="500"/>
                                        <p:tgtEl>
                                          <p:spTgt spid="94211">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94211">
                                            <p:txEl>
                                              <p:pRg st="4" end="4"/>
                                            </p:txEl>
                                          </p:spTgt>
                                        </p:tgtEl>
                                        <p:attrNameLst>
                                          <p:attrName>style.visibility</p:attrName>
                                        </p:attrNameLst>
                                      </p:cBhvr>
                                      <p:to>
                                        <p:strVal val="visible"/>
                                      </p:to>
                                    </p:set>
                                    <p:animEffect transition="in" filter="circle(in)">
                                      <p:cBhvr>
                                        <p:cTn id="18" dur="500"/>
                                        <p:tgtEl>
                                          <p:spTgt spid="94211">
                                            <p:txEl>
                                              <p:pRg st="4" end="4"/>
                                            </p:txEl>
                                          </p:spTgt>
                                        </p:tgtEl>
                                      </p:cBhvr>
                                    </p:animEffect>
                                  </p:childTnLst>
                                </p:cTn>
                              </p:par>
                              <p:par>
                                <p:cTn id="19" presetID="6" presetClass="entr" presetSubtype="16" fill="hold" nodeType="withEffect">
                                  <p:stCondLst>
                                    <p:cond delay="0"/>
                                  </p:stCondLst>
                                  <p:childTnLst>
                                    <p:set>
                                      <p:cBhvr>
                                        <p:cTn id="20" dur="1" fill="hold">
                                          <p:stCondLst>
                                            <p:cond delay="0"/>
                                          </p:stCondLst>
                                        </p:cTn>
                                        <p:tgtEl>
                                          <p:spTgt spid="94211">
                                            <p:txEl>
                                              <p:pRg st="5" end="5"/>
                                            </p:txEl>
                                          </p:spTgt>
                                        </p:tgtEl>
                                        <p:attrNameLst>
                                          <p:attrName>style.visibility</p:attrName>
                                        </p:attrNameLst>
                                      </p:cBhvr>
                                      <p:to>
                                        <p:strVal val="visible"/>
                                      </p:to>
                                    </p:set>
                                    <p:animEffect transition="in" filter="circle(in)">
                                      <p:cBhvr>
                                        <p:cTn id="21" dur="500"/>
                                        <p:tgtEl>
                                          <p:spTgt spid="942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3" name="Rectangle 2051"/>
          <p:cNvSpPr>
            <a:spLocks noGrp="1" noChangeArrowheads="1"/>
          </p:cNvSpPr>
          <p:nvPr>
            <p:ph idx="1"/>
          </p:nvPr>
        </p:nvSpPr>
        <p:spPr>
          <a:xfrm>
            <a:off x="381000" y="1066800"/>
            <a:ext cx="10751844" cy="5237998"/>
          </a:xfrm>
        </p:spPr>
        <p:txBody>
          <a:bodyPr/>
          <a:lstStyle/>
          <a:p>
            <a:r>
              <a:rPr lang="zh-CN" altLang="en-US" dirty="0"/>
              <a:t>如果使用</a:t>
            </a:r>
            <a:r>
              <a:rPr lang="en-US" altLang="zh-CN" dirty="0"/>
              <a:t>%</a:t>
            </a:r>
            <a:r>
              <a:rPr lang="zh-CN" altLang="en-US" dirty="0"/>
              <a:t>代表模运算（即取余数运算）、使用</a:t>
            </a:r>
            <a:r>
              <a:rPr lang="en-US" altLang="zh-CN" dirty="0"/>
              <a:t>^</a:t>
            </a:r>
            <a:r>
              <a:rPr lang="zh-CN" altLang="en-US" dirty="0"/>
              <a:t>代表指数运算，则有</a:t>
            </a:r>
          </a:p>
          <a:p>
            <a:r>
              <a:rPr lang="en-US" altLang="zh-CN" dirty="0"/>
              <a:t>E → E+T | E-T | T</a:t>
            </a:r>
          </a:p>
          <a:p>
            <a:r>
              <a:rPr lang="en-US" altLang="zh-CN" dirty="0"/>
              <a:t>T → T*F | T/F | T%F | A</a:t>
            </a:r>
          </a:p>
          <a:p>
            <a:r>
              <a:rPr lang="en-US" altLang="zh-CN" dirty="0">
                <a:solidFill>
                  <a:srgbClr val="EE853E"/>
                </a:solidFill>
              </a:rPr>
              <a:t>A → F^A | F                           </a:t>
            </a:r>
          </a:p>
          <a:p>
            <a:r>
              <a:rPr lang="en-US" altLang="zh-CN" dirty="0"/>
              <a:t>F → (E) | </a:t>
            </a:r>
            <a:r>
              <a:rPr lang="en-US" altLang="zh-CN" dirty="0" err="1"/>
              <a:t>i</a:t>
            </a:r>
            <a:endParaRPr lang="en-US" altLang="zh-CN" dirty="0"/>
          </a:p>
          <a:p>
            <a:endParaRPr lang="en-US" altLang="zh-CN" dirty="0"/>
          </a:p>
        </p:txBody>
      </p:sp>
      <p:sp>
        <p:nvSpPr>
          <p:cNvPr id="5" name="标题 4">
            <a:extLst>
              <a:ext uri="{FF2B5EF4-FFF2-40B4-BE49-F238E27FC236}">
                <a16:creationId xmlns:a16="http://schemas.microsoft.com/office/drawing/2014/main" id="{A5D43260-8AA0-49DB-932A-1D6F397E155E}"/>
              </a:ext>
            </a:extLst>
          </p:cNvPr>
          <p:cNvSpPr>
            <a:spLocks noGrp="1"/>
          </p:cNvSpPr>
          <p:nvPr>
            <p:ph type="title"/>
          </p:nvPr>
        </p:nvSpPr>
        <p:spPr/>
        <p:txBody>
          <a:bodyPr/>
          <a:lstStyle/>
          <a:p>
            <a:r>
              <a:rPr lang="zh-CN" altLang="en-US" dirty="0"/>
              <a:t>增加模和指数运算</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379" name="Rectangle 3"/>
          <p:cNvSpPr>
            <a:spLocks noGrp="1" noChangeArrowheads="1"/>
          </p:cNvSpPr>
          <p:nvPr>
            <p:ph idx="1"/>
          </p:nvPr>
        </p:nvSpPr>
        <p:spPr/>
        <p:txBody>
          <a:bodyPr/>
          <a:lstStyle/>
          <a:p>
            <a:r>
              <a:rPr lang="en-US" altLang="zh-CN" dirty="0"/>
              <a:t>E → E+T | E-T | T</a:t>
            </a:r>
          </a:p>
          <a:p>
            <a:r>
              <a:rPr lang="en-US" altLang="zh-CN" dirty="0"/>
              <a:t>T → T*F | T/F | F</a:t>
            </a:r>
          </a:p>
          <a:p>
            <a:r>
              <a:rPr lang="en-US" altLang="zh-CN" dirty="0"/>
              <a:t>F → (E) | </a:t>
            </a:r>
            <a:r>
              <a:rPr lang="en-US" altLang="zh-CN" dirty="0">
                <a:solidFill>
                  <a:srgbClr val="EE853E"/>
                </a:solidFill>
              </a:rPr>
              <a:t>I</a:t>
            </a:r>
          </a:p>
          <a:p>
            <a:r>
              <a:rPr lang="en-US" altLang="zh-CN" dirty="0">
                <a:solidFill>
                  <a:srgbClr val="EE853E"/>
                </a:solidFill>
              </a:rPr>
              <a:t>I</a:t>
            </a:r>
            <a:r>
              <a:rPr lang="en-US" altLang="zh-CN" dirty="0"/>
              <a:t> → L | IL | ID        </a:t>
            </a:r>
          </a:p>
          <a:p>
            <a:r>
              <a:rPr lang="en-US" altLang="zh-CN" dirty="0"/>
              <a:t>L → </a:t>
            </a:r>
            <a:r>
              <a:rPr lang="en-GB" altLang="zh-CN" dirty="0"/>
              <a:t>…</a:t>
            </a:r>
            <a:r>
              <a:rPr lang="en-US" altLang="zh-CN" dirty="0"/>
              <a:t>  </a:t>
            </a:r>
          </a:p>
          <a:p>
            <a:r>
              <a:rPr lang="en-US" altLang="zh-CN" dirty="0"/>
              <a:t>D → …</a:t>
            </a:r>
          </a:p>
        </p:txBody>
      </p:sp>
      <p:sp>
        <p:nvSpPr>
          <p:cNvPr id="47106" name="Rectangle 2"/>
          <p:cNvSpPr>
            <a:spLocks noGrp="1" noChangeArrowheads="1"/>
          </p:cNvSpPr>
          <p:nvPr>
            <p:ph type="title"/>
          </p:nvPr>
        </p:nvSpPr>
        <p:spPr/>
        <p:txBody>
          <a:bodyPr/>
          <a:lstStyle/>
          <a:p>
            <a:r>
              <a:rPr lang="zh-CN" altLang="en-US" dirty="0"/>
              <a:t>将</a:t>
            </a:r>
            <a:r>
              <a:rPr lang="en-US" altLang="zh-CN" dirty="0"/>
              <a:t>I</a:t>
            </a:r>
            <a:r>
              <a:rPr lang="zh-CN" altLang="en-US" dirty="0"/>
              <a:t>的定义加入到表达式中</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3" name="Rectangle 3"/>
          <p:cNvSpPr>
            <a:spLocks noGrp="1" noChangeArrowheads="1"/>
          </p:cNvSpPr>
          <p:nvPr>
            <p:ph idx="1"/>
          </p:nvPr>
        </p:nvSpPr>
        <p:spPr/>
        <p:txBody>
          <a:bodyPr/>
          <a:lstStyle/>
          <a:p>
            <a:r>
              <a:rPr lang="zh-CN" altLang="en-US" dirty="0"/>
              <a:t>其他类型的表达式（如关系表达式等）的定义：</a:t>
            </a:r>
            <a:r>
              <a:rPr lang="en-US" altLang="zh-CN" dirty="0"/>
              <a:t>&lt;</a:t>
            </a:r>
            <a:r>
              <a:rPr lang="zh-CN" altLang="en-US" dirty="0"/>
              <a:t>、</a:t>
            </a:r>
            <a:r>
              <a:rPr lang="en-US" altLang="zh-CN" dirty="0"/>
              <a:t>&lt;=</a:t>
            </a:r>
            <a:r>
              <a:rPr lang="zh-CN" altLang="en-US" dirty="0"/>
              <a:t>、</a:t>
            </a:r>
            <a:r>
              <a:rPr lang="en-US" altLang="zh-CN" dirty="0"/>
              <a:t>&gt;</a:t>
            </a:r>
            <a:r>
              <a:rPr lang="zh-CN" altLang="en-US" dirty="0"/>
              <a:t>、</a:t>
            </a:r>
            <a:r>
              <a:rPr lang="en-US" altLang="zh-CN" dirty="0"/>
              <a:t>&gt;=</a:t>
            </a:r>
            <a:r>
              <a:rPr lang="zh-CN" altLang="en-US" dirty="0"/>
              <a:t>、</a:t>
            </a:r>
            <a:r>
              <a:rPr lang="en-US" altLang="zh-CN" dirty="0"/>
              <a:t>&lt; &gt;</a:t>
            </a:r>
            <a:r>
              <a:rPr lang="zh-CN" altLang="en-US" dirty="0"/>
              <a:t>、</a:t>
            </a:r>
            <a:r>
              <a:rPr lang="en-US" altLang="zh-CN" dirty="0"/>
              <a:t>=</a:t>
            </a:r>
          </a:p>
          <a:p>
            <a:r>
              <a:rPr lang="zh-CN" altLang="en-US" dirty="0"/>
              <a:t>标识符（以</a:t>
            </a:r>
            <a:r>
              <a:rPr lang="zh-CN" altLang="en-US" dirty="0">
                <a:solidFill>
                  <a:srgbClr val="EE853E"/>
                </a:solidFill>
              </a:rPr>
              <a:t>下划线</a:t>
            </a:r>
            <a:r>
              <a:rPr lang="zh-CN" altLang="en-US" dirty="0"/>
              <a:t>或字母开头的字母、下划线和数字的串）的产生。</a:t>
            </a:r>
          </a:p>
        </p:txBody>
      </p:sp>
      <p:sp>
        <p:nvSpPr>
          <p:cNvPr id="48130" name="Rectangle 2"/>
          <p:cNvSpPr>
            <a:spLocks noGrp="1" noChangeArrowheads="1"/>
          </p:cNvSpPr>
          <p:nvPr>
            <p:ph type="title"/>
          </p:nvPr>
        </p:nvSpPr>
        <p:spPr/>
        <p:txBody>
          <a:bodyPr/>
          <a:lstStyle/>
          <a:p>
            <a:r>
              <a:rPr lang="zh-CN" altLang="en-US" dirty="0"/>
              <a:t>思考</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环保">
  <a:themeElements>
    <a:clrScheme name="环保">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环保">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5833</TotalTime>
  <Words>2001</Words>
  <Application>Microsoft Office PowerPoint</Application>
  <PresentationFormat>宽屏</PresentationFormat>
  <Paragraphs>173</Paragraphs>
  <Slides>29</Slides>
  <Notes>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29</vt:i4>
      </vt:variant>
    </vt:vector>
  </HeadingPairs>
  <TitlesOfParts>
    <vt:vector size="33" baseType="lpstr">
      <vt:lpstr>微软雅黑</vt:lpstr>
      <vt:lpstr>Arial</vt:lpstr>
      <vt:lpstr>Wingdings</vt:lpstr>
      <vt:lpstr>环保</vt:lpstr>
      <vt:lpstr>第四章 程序语言的设计</vt:lpstr>
      <vt:lpstr>语言的形式定义</vt:lpstr>
      <vt:lpstr>括号匹配串的语言</vt:lpstr>
      <vt:lpstr>括号匹配串的语言</vt:lpstr>
      <vt:lpstr>括号匹配串的语言</vt:lpstr>
      <vt:lpstr>括号匹配串的语言</vt:lpstr>
      <vt:lpstr>括号匹配串的语言</vt:lpstr>
      <vt:lpstr>括号匹配串的语言</vt:lpstr>
      <vt:lpstr>括号匹配串的语言</vt:lpstr>
      <vt:lpstr>括号匹配串的语言</vt:lpstr>
      <vt:lpstr>括号匹配串的语言</vt:lpstr>
      <vt:lpstr>括号匹配串的语言</vt:lpstr>
      <vt:lpstr>括号匹配串的语言</vt:lpstr>
      <vt:lpstr>括号匹配串的语言</vt:lpstr>
      <vt:lpstr>偶数个0组成的串的语言</vt:lpstr>
      <vt:lpstr>偶数个0组成的串的语言</vt:lpstr>
      <vt:lpstr>思考</vt:lpstr>
      <vt:lpstr>例子</vt:lpstr>
      <vt:lpstr>从标识符的形成角度考虑</vt:lpstr>
      <vt:lpstr>思考</vt:lpstr>
      <vt:lpstr>注意</vt:lpstr>
      <vt:lpstr>例子</vt:lpstr>
      <vt:lpstr>自然语言的描述方式</vt:lpstr>
      <vt:lpstr>形式语言的描述方式</vt:lpstr>
      <vt:lpstr>注意</vt:lpstr>
      <vt:lpstr>增加优先级</vt:lpstr>
      <vt:lpstr>增加模和指数运算</vt:lpstr>
      <vt:lpstr>将I的定义加入到表达式中</vt:lpstr>
      <vt:lpstr>思考</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TEST</dc:creator>
  <cp:lastModifiedBy>TEST</cp:lastModifiedBy>
  <cp:revision>1071</cp:revision>
  <cp:lastPrinted>1601-01-01T00:00:00Z</cp:lastPrinted>
  <dcterms:created xsi:type="dcterms:W3CDTF">1601-01-01T00:00:00Z</dcterms:created>
  <dcterms:modified xsi:type="dcterms:W3CDTF">2019-12-24T08:50:44Z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