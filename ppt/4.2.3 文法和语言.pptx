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38"/>
  </p:notesMasterIdLst>
  <p:handoutMasterIdLst>
    <p:handoutMasterId r:id="rId39"/>
  </p:handoutMasterIdLst>
  <p:sldIdLst>
    <p:sldId id="925" r:id="rId2"/>
    <p:sldId id="914" r:id="rId3"/>
    <p:sldId id="888" r:id="rId4"/>
    <p:sldId id="891" r:id="rId5"/>
    <p:sldId id="285" r:id="rId6"/>
    <p:sldId id="286" r:id="rId7"/>
    <p:sldId id="287" r:id="rId8"/>
    <p:sldId id="288" r:id="rId9"/>
    <p:sldId id="289" r:id="rId10"/>
    <p:sldId id="758" r:id="rId11"/>
    <p:sldId id="759" r:id="rId12"/>
    <p:sldId id="762" r:id="rId13"/>
    <p:sldId id="763" r:id="rId14"/>
    <p:sldId id="291" r:id="rId15"/>
    <p:sldId id="765" r:id="rId16"/>
    <p:sldId id="766" r:id="rId17"/>
    <p:sldId id="779" r:id="rId18"/>
    <p:sldId id="767" r:id="rId19"/>
    <p:sldId id="822" r:id="rId20"/>
    <p:sldId id="834" r:id="rId21"/>
    <p:sldId id="837" r:id="rId22"/>
    <p:sldId id="838" r:id="rId23"/>
    <p:sldId id="839" r:id="rId24"/>
    <p:sldId id="840" r:id="rId25"/>
    <p:sldId id="842" r:id="rId26"/>
    <p:sldId id="843" r:id="rId27"/>
    <p:sldId id="856" r:id="rId28"/>
    <p:sldId id="931" r:id="rId29"/>
    <p:sldId id="857" r:id="rId30"/>
    <p:sldId id="858" r:id="rId31"/>
    <p:sldId id="860" r:id="rId32"/>
    <p:sldId id="926" r:id="rId33"/>
    <p:sldId id="927" r:id="rId34"/>
    <p:sldId id="928" r:id="rId35"/>
    <p:sldId id="929" r:id="rId36"/>
    <p:sldId id="930" r:id="rId37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3" autoAdjust="0"/>
    <p:restoredTop sz="91606" autoAdjust="0"/>
  </p:normalViewPr>
  <p:slideViewPr>
    <p:cSldViewPr>
      <p:cViewPr varScale="1">
        <p:scale>
          <a:sx n="62" d="100"/>
          <a:sy n="62" d="100"/>
        </p:scale>
        <p:origin x="27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8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51844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8" r:id="rId3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第四章 程序语言的设计</a:t>
            </a:r>
          </a:p>
        </p:txBody>
      </p:sp>
      <p:sp>
        <p:nvSpPr>
          <p:cNvPr id="27" name="对话气泡: 圆角矩形 26">
            <a:extLst>
              <a:ext uri="{FF2B5EF4-FFF2-40B4-BE49-F238E27FC236}">
                <a16:creationId xmlns:a16="http://schemas.microsoft.com/office/drawing/2014/main" id="{84EDB7F6-2829-4A95-9DAE-8DCE8BE9FF43}"/>
              </a:ext>
            </a:extLst>
          </p:cNvPr>
          <p:cNvSpPr/>
          <p:nvPr/>
        </p:nvSpPr>
        <p:spPr>
          <a:xfrm rot="5400000">
            <a:off x="7268166" y="1519988"/>
            <a:ext cx="2101101" cy="3988234"/>
          </a:xfrm>
          <a:prstGeom prst="wedgeRoundRectCallout">
            <a:avLst>
              <a:gd name="adj1" fmla="val -20514"/>
              <a:gd name="adj2" fmla="val 60093"/>
              <a:gd name="adj3" fmla="val 16667"/>
            </a:avLst>
          </a:prstGeom>
          <a:solidFill>
            <a:srgbClr val="2A99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形式语言与自动机理论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语言的形式定义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EE853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文法和语言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563D2E1-5945-4393-9A28-DF176DB229F3}"/>
              </a:ext>
            </a:extLst>
          </p:cNvPr>
          <p:cNvGrpSpPr>
            <a:grpSpLocks noChangeAspect="1"/>
          </p:cNvGrpSpPr>
          <p:nvPr/>
        </p:nvGrpSpPr>
        <p:grpSpPr>
          <a:xfrm>
            <a:off x="927033" y="2073194"/>
            <a:ext cx="4966203" cy="2711612"/>
            <a:chOff x="1449652" y="2320203"/>
            <a:chExt cx="4724869" cy="2719152"/>
          </a:xfrm>
        </p:grpSpPr>
        <p:grpSp>
          <p:nvGrpSpPr>
            <p:cNvPr id="30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4B834B1-7E11-4152-A77C-15A0BB93CFFA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35" name="Freeform 45">
                <a:extLst>
                  <a:ext uri="{FF2B5EF4-FFF2-40B4-BE49-F238E27FC236}">
                    <a16:creationId xmlns:a16="http://schemas.microsoft.com/office/drawing/2014/main" id="{E63B6474-B2BF-43F4-AB6D-9FC2C2C13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6" name="Freeform 46">
                <a:extLst>
                  <a:ext uri="{FF2B5EF4-FFF2-40B4-BE49-F238E27FC236}">
                    <a16:creationId xmlns:a16="http://schemas.microsoft.com/office/drawing/2014/main" id="{3B26680D-10AD-4347-97AF-106000B60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Freeform 47">
                <a:extLst>
                  <a:ext uri="{FF2B5EF4-FFF2-40B4-BE49-F238E27FC236}">
                    <a16:creationId xmlns:a16="http://schemas.microsoft.com/office/drawing/2014/main" id="{5731EF02-7BFE-495F-A3B3-0E34DAB39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Freeform 48">
                <a:extLst>
                  <a:ext uri="{FF2B5EF4-FFF2-40B4-BE49-F238E27FC236}">
                    <a16:creationId xmlns:a16="http://schemas.microsoft.com/office/drawing/2014/main" id="{B4DF4346-11BC-428E-867D-B270CD26A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9" name="Freeform 49">
                <a:extLst>
                  <a:ext uri="{FF2B5EF4-FFF2-40B4-BE49-F238E27FC236}">
                    <a16:creationId xmlns:a16="http://schemas.microsoft.com/office/drawing/2014/main" id="{AC6E8CA7-61FA-4DF0-AA94-5829712D5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0" name="Rectangle 50">
                <a:extLst>
                  <a:ext uri="{FF2B5EF4-FFF2-40B4-BE49-F238E27FC236}">
                    <a16:creationId xmlns:a16="http://schemas.microsoft.com/office/drawing/2014/main" id="{11903CBC-A7AA-4A96-BC39-7DAE0E80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1" name="Freeform 51">
                <a:extLst>
                  <a:ext uri="{FF2B5EF4-FFF2-40B4-BE49-F238E27FC236}">
                    <a16:creationId xmlns:a16="http://schemas.microsoft.com/office/drawing/2014/main" id="{749349CF-9E4A-4EC3-8D29-303642B7F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2" name="Rectangle 52">
                <a:extLst>
                  <a:ext uri="{FF2B5EF4-FFF2-40B4-BE49-F238E27FC236}">
                    <a16:creationId xmlns:a16="http://schemas.microsoft.com/office/drawing/2014/main" id="{AB6DB606-C911-4FDD-AAC5-E9FD614D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3" name="Rectangle 53">
                <a:extLst>
                  <a:ext uri="{FF2B5EF4-FFF2-40B4-BE49-F238E27FC236}">
                    <a16:creationId xmlns:a16="http://schemas.microsoft.com/office/drawing/2014/main" id="{4BEF50C3-030A-42CA-9EA7-FED5BB98E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4" name="Oval 54">
                <a:extLst>
                  <a:ext uri="{FF2B5EF4-FFF2-40B4-BE49-F238E27FC236}">
                    <a16:creationId xmlns:a16="http://schemas.microsoft.com/office/drawing/2014/main" id="{3027579F-95E4-40B4-BB39-536B72BF5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5" name="Oval 55">
                <a:extLst>
                  <a:ext uri="{FF2B5EF4-FFF2-40B4-BE49-F238E27FC236}">
                    <a16:creationId xmlns:a16="http://schemas.microsoft.com/office/drawing/2014/main" id="{B3C5433E-CAF5-4271-B352-F7292659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6" name="Oval 56">
                <a:extLst>
                  <a:ext uri="{FF2B5EF4-FFF2-40B4-BE49-F238E27FC236}">
                    <a16:creationId xmlns:a16="http://schemas.microsoft.com/office/drawing/2014/main" id="{EEEBA92F-A6C6-4839-8CAC-4C200EBE7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7" name="Oval 57">
                <a:extLst>
                  <a:ext uri="{FF2B5EF4-FFF2-40B4-BE49-F238E27FC236}">
                    <a16:creationId xmlns:a16="http://schemas.microsoft.com/office/drawing/2014/main" id="{4628FB61-1CFF-4BAE-9C59-BF9B998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id="{64089EE7-97A8-4FB6-8B97-0E583153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31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B4C88D07-2866-44EB-B2C1-1BBE36E2280F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第一节 高级程序设计语言的定义</a:t>
              </a:r>
            </a:p>
          </p:txBody>
        </p:sp>
        <p:sp>
          <p:nvSpPr>
            <p:cNvPr id="32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423708C-E27D-44F0-B9FB-832A09AF8B86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rgbClr val="EE853E"/>
                  </a:solidFill>
                  <a:latin typeface="+mj-ea"/>
                  <a:ea typeface="+mj-ea"/>
                </a:rPr>
                <a:t>第二节 形式语言与文法</a:t>
              </a:r>
            </a:p>
          </p:txBody>
        </p:sp>
        <p:sp>
          <p:nvSpPr>
            <p:cNvPr id="33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21F40BA5-235C-4276-95B4-ADDF952547C7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高级程序设计语言的设计</a:t>
              </a:r>
            </a:p>
          </p:txBody>
        </p:sp>
        <p:sp>
          <p:nvSpPr>
            <p:cNvPr id="34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AFEE4512-A224-4160-9322-8C132C2CBCBF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高级程序设计语言实例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93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9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对于语言，根据语言句子的结构特点，可以定义一个产生该语言的</a:t>
            </a:r>
            <a:r>
              <a:rPr lang="zh-CN" altLang="en-US" dirty="0">
                <a:solidFill>
                  <a:srgbClr val="EE853E"/>
                </a:solidFill>
              </a:rPr>
              <a:t>文法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EE853E"/>
                </a:solidFill>
              </a:rPr>
              <a:t>文法</a:t>
            </a:r>
            <a:r>
              <a:rPr lang="zh-CN" altLang="en-US" dirty="0"/>
              <a:t>作为语言的有穷描述，不仅可以描述出语言的</a:t>
            </a:r>
            <a:r>
              <a:rPr lang="zh-CN" altLang="en-US" dirty="0">
                <a:solidFill>
                  <a:srgbClr val="EE853E"/>
                </a:solidFill>
              </a:rPr>
              <a:t>结构特征</a:t>
            </a:r>
            <a:r>
              <a:rPr lang="zh-CN" altLang="en-US" dirty="0"/>
              <a:t>，而且可以</a:t>
            </a:r>
            <a:r>
              <a:rPr lang="zh-CN" altLang="en-US" dirty="0">
                <a:solidFill>
                  <a:srgbClr val="EE853E"/>
                </a:solidFill>
              </a:rPr>
              <a:t>产生</a:t>
            </a:r>
            <a:r>
              <a:rPr lang="zh-CN" altLang="en-US" dirty="0"/>
              <a:t>这个语言的</a:t>
            </a:r>
            <a:r>
              <a:rPr lang="zh-CN" altLang="en-US" dirty="0">
                <a:solidFill>
                  <a:srgbClr val="EE853E"/>
                </a:solidFill>
              </a:rPr>
              <a:t>所有句子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文法是描述语言语法结构的形式规则。</a:t>
            </a:r>
          </a:p>
          <a:p>
            <a:r>
              <a:rPr lang="zh-CN" altLang="en-US" dirty="0"/>
              <a:t>通用，准确</a:t>
            </a:r>
            <a:r>
              <a:rPr lang="en-US" altLang="zh-CN" dirty="0"/>
              <a:t>,</a:t>
            </a:r>
            <a:r>
              <a:rPr lang="zh-CN" altLang="en-US" dirty="0"/>
              <a:t>易于理解</a:t>
            </a:r>
            <a:r>
              <a:rPr lang="en-US" altLang="zh-CN" dirty="0"/>
              <a:t>,</a:t>
            </a:r>
            <a:r>
              <a:rPr lang="zh-CN" altLang="en-US" dirty="0"/>
              <a:t> 描述能力强</a:t>
            </a:r>
          </a:p>
          <a:p>
            <a:endParaRPr lang="zh-CN" altLang="en-US" dirty="0"/>
          </a:p>
        </p:txBody>
      </p:sp>
      <p:sp>
        <p:nvSpPr>
          <p:cNvPr id="5427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文法和语言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</a:t>
            </a:r>
            <a:r>
              <a:rPr lang="zh-CN" altLang="en-US" dirty="0"/>
              <a:t>是一个四元式：</a:t>
            </a:r>
            <a:endParaRPr lang="en-US" altLang="zh-CN" dirty="0"/>
          </a:p>
          <a:p>
            <a:r>
              <a:rPr lang="en-US" altLang="zh-CN" dirty="0"/>
              <a:t>	G = (</a:t>
            </a:r>
            <a:r>
              <a:rPr lang="en-US" altLang="zh-CN" dirty="0">
                <a:sym typeface="Symbol" pitchFamily="18" charset="2"/>
              </a:rPr>
              <a:t>V</a:t>
            </a:r>
            <a:r>
              <a:rPr lang="en-US" altLang="zh-CN" baseline="-25000" dirty="0">
                <a:sym typeface="Symbol" pitchFamily="18" charset="2"/>
              </a:rPr>
              <a:t>T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P) </a:t>
            </a:r>
          </a:p>
          <a:p>
            <a:r>
              <a:rPr lang="en-US" altLang="zh-CN" dirty="0">
                <a:sym typeface="Symbol" pitchFamily="18" charset="2"/>
              </a:rPr>
              <a:t>V</a:t>
            </a:r>
            <a:r>
              <a:rPr lang="en-US" altLang="zh-CN" baseline="-25000" dirty="0">
                <a:sym typeface="Symbol" pitchFamily="18" charset="2"/>
              </a:rPr>
              <a:t>T</a:t>
            </a:r>
            <a:r>
              <a:rPr lang="zh-CN" altLang="en-US" dirty="0"/>
              <a:t>是有限字符的集合（字母表）， 元素称为字母或者</a:t>
            </a:r>
            <a:r>
              <a:rPr lang="zh-CN" altLang="en-US" dirty="0">
                <a:solidFill>
                  <a:srgbClr val="EE853E"/>
                </a:solidFill>
              </a:rPr>
              <a:t>终结符</a:t>
            </a:r>
            <a:r>
              <a:rPr lang="zh-CN" altLang="en-US" dirty="0"/>
              <a:t>； </a:t>
            </a:r>
          </a:p>
          <a:p>
            <a:r>
              <a:rPr lang="en-US" altLang="zh-CN" dirty="0"/>
              <a:t>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zh-CN" altLang="en-US" dirty="0"/>
              <a:t>是有限字符的集合 </a:t>
            </a:r>
            <a:r>
              <a:rPr lang="en-US" altLang="zh-CN" dirty="0"/>
              <a:t>—— </a:t>
            </a:r>
            <a:r>
              <a:rPr lang="zh-CN" altLang="en-US" dirty="0"/>
              <a:t>非终结符集合，元素称为变量或者</a:t>
            </a:r>
            <a:r>
              <a:rPr lang="zh-CN" altLang="en-US" dirty="0">
                <a:solidFill>
                  <a:srgbClr val="EE853E"/>
                </a:solidFill>
              </a:rPr>
              <a:t>非终结符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S∈V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zh-CN" altLang="en-US" dirty="0"/>
              <a:t>，称为文法的</a:t>
            </a:r>
            <a:r>
              <a:rPr lang="zh-CN" altLang="en-US" dirty="0">
                <a:solidFill>
                  <a:srgbClr val="EE853E"/>
                </a:solidFill>
              </a:rPr>
              <a:t>开始符号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EE853E"/>
                </a:solidFill>
              </a:rPr>
              <a:t>产生式</a:t>
            </a:r>
            <a:r>
              <a:rPr lang="en-US" altLang="zh-CN" dirty="0">
                <a:solidFill>
                  <a:srgbClr val="EE853E"/>
                </a:solidFill>
              </a:rPr>
              <a:t>α→β</a:t>
            </a:r>
            <a:r>
              <a:rPr lang="zh-CN" altLang="en-US" dirty="0">
                <a:solidFill>
                  <a:srgbClr val="EE853E"/>
                </a:solidFill>
              </a:rPr>
              <a:t>的集合</a:t>
            </a:r>
            <a:r>
              <a:rPr lang="zh-CN" altLang="en-US" dirty="0"/>
              <a:t>，其中：</a:t>
            </a:r>
          </a:p>
          <a:p>
            <a:endParaRPr lang="zh-CN" altLang="en-US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	α</a:t>
            </a:r>
            <a:r>
              <a:rPr lang="zh-CN" altLang="en-US" dirty="0"/>
              <a:t> ∈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V</a:t>
            </a:r>
            <a:r>
              <a:rPr lang="en-US" altLang="zh-CN" baseline="-25000" dirty="0">
                <a:sym typeface="Symbol" pitchFamily="18" charset="2"/>
              </a:rPr>
              <a:t>T</a:t>
            </a:r>
            <a:r>
              <a:rPr lang="en-US" altLang="zh-CN" dirty="0"/>
              <a:t>∪V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en-US" altLang="zh-CN" dirty="0"/>
              <a:t>)</a:t>
            </a:r>
            <a:r>
              <a:rPr lang="en-US" altLang="zh-CN" baseline="30000" dirty="0"/>
              <a:t>+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EE853E"/>
                </a:solidFill>
              </a:rPr>
              <a:t>至少包含一个非终结符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	β</a:t>
            </a:r>
            <a:r>
              <a:rPr lang="zh-CN" altLang="en-US" dirty="0"/>
              <a:t> ∈</a:t>
            </a:r>
            <a:r>
              <a:rPr lang="en-US" altLang="zh-CN" dirty="0"/>
              <a:t>(</a:t>
            </a:r>
            <a:r>
              <a:rPr lang="en-US" altLang="zh-CN" dirty="0">
                <a:sym typeface="Symbol" pitchFamily="18" charset="2"/>
              </a:rPr>
              <a:t>V</a:t>
            </a:r>
            <a:r>
              <a:rPr lang="en-US" altLang="zh-CN" baseline="-25000" dirty="0">
                <a:sym typeface="Symbol" pitchFamily="18" charset="2"/>
              </a:rPr>
              <a:t>T</a:t>
            </a:r>
            <a:r>
              <a:rPr lang="en-US" altLang="zh-CN" dirty="0"/>
              <a:t>∪V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en-US" altLang="zh-CN" dirty="0"/>
              <a:t>)</a:t>
            </a:r>
            <a:r>
              <a:rPr lang="en-US" altLang="zh-CN" baseline="30000" dirty="0"/>
              <a:t>*</a:t>
            </a:r>
            <a:endParaRPr lang="zh-CN" altLang="en-US" baseline="30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	α→ε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EE853E"/>
                </a:solidFill>
              </a:rPr>
              <a:t>空串产生式</a:t>
            </a:r>
            <a:r>
              <a:rPr lang="zh-CN" altLang="en-US" dirty="0"/>
              <a:t>或者</a:t>
            </a:r>
            <a:r>
              <a:rPr lang="en-US" altLang="zh-CN" dirty="0">
                <a:solidFill>
                  <a:srgbClr val="EE853E"/>
                </a:solidFill>
              </a:rPr>
              <a:t>ε</a:t>
            </a:r>
            <a:r>
              <a:rPr lang="zh-CN" altLang="en-US" dirty="0">
                <a:solidFill>
                  <a:srgbClr val="EE853E"/>
                </a:solidFill>
              </a:rPr>
              <a:t>产生式</a:t>
            </a:r>
            <a:r>
              <a:rPr lang="zh-CN" altLang="en-US" dirty="0"/>
              <a:t>；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	</a:t>
            </a:r>
            <a:r>
              <a:rPr lang="zh-CN" altLang="en-US" dirty="0"/>
              <a:t>第一个产生式的左边只能有一个符号，就是</a:t>
            </a:r>
            <a:r>
              <a:rPr lang="zh-CN" altLang="en-US" dirty="0">
                <a:solidFill>
                  <a:srgbClr val="EE853E"/>
                </a:solidFill>
              </a:rPr>
              <a:t>开始符号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dirty="0"/>
              <a:t>	</a:t>
            </a:r>
            <a:r>
              <a:rPr lang="zh-CN" altLang="en-US" dirty="0"/>
              <a:t>其他产生式的左边可以是串。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D2BE137-5F10-411B-8135-AF27A0A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α→β</a:t>
            </a:r>
            <a:r>
              <a:rPr lang="en-US" altLang="zh-CN" baseline="-25000" dirty="0"/>
              <a:t>1</a:t>
            </a:r>
          </a:p>
          <a:p>
            <a:r>
              <a:rPr lang="en-US" altLang="zh-CN" dirty="0"/>
              <a:t>α→β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endParaRPr lang="en-US" altLang="zh-CN" baseline="-25000" dirty="0"/>
          </a:p>
          <a:p>
            <a:r>
              <a:rPr lang="en-US" altLang="zh-CN" dirty="0"/>
              <a:t>…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/>
              <a:t>α→β</a:t>
            </a:r>
            <a:r>
              <a:rPr lang="en-US" altLang="zh-CN" baseline="-25000" dirty="0">
                <a:sym typeface="Symbol" pitchFamily="18" charset="2"/>
              </a:rPr>
              <a:t>n</a:t>
            </a:r>
            <a:endParaRPr lang="en-US" altLang="zh-CN" baseline="-25000" dirty="0"/>
          </a:p>
          <a:p>
            <a:r>
              <a:rPr lang="zh-CN" altLang="en-US" dirty="0">
                <a:sym typeface="Symbol" pitchFamily="18" charset="2"/>
              </a:rPr>
              <a:t>简化为：</a:t>
            </a:r>
            <a:r>
              <a:rPr lang="en-US" altLang="zh-CN" dirty="0"/>
              <a:t>α</a:t>
            </a:r>
            <a:r>
              <a:rPr lang="zh-CN" altLang="en-US" dirty="0"/>
              <a:t>→</a:t>
            </a:r>
            <a:r>
              <a:rPr lang="en-US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/>
              <a:t>|β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/>
              <a:t>|…|β</a:t>
            </a:r>
            <a:r>
              <a:rPr lang="en-US" altLang="zh-CN" baseline="-25000" dirty="0">
                <a:sym typeface="Symbol" pitchFamily="18" charset="2"/>
              </a:rPr>
              <a:t>n</a:t>
            </a:r>
            <a:endParaRPr lang="en-US" altLang="zh-CN" baseline="-25000" dirty="0"/>
          </a:p>
          <a:p>
            <a:r>
              <a:rPr lang="zh-CN" altLang="en-US" dirty="0"/>
              <a:t>其中：</a:t>
            </a:r>
            <a:r>
              <a:rPr lang="en-US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β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zh-CN" altLang="en-US" dirty="0"/>
              <a:t>称为</a:t>
            </a:r>
            <a:r>
              <a:rPr lang="en-US" altLang="zh-CN" dirty="0"/>
              <a:t>α</a:t>
            </a:r>
            <a:r>
              <a:rPr lang="zh-CN" altLang="en-US" dirty="0">
                <a:sym typeface="Symbol" pitchFamily="18" charset="2"/>
              </a:rPr>
              <a:t>的候选式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0000"/>
          </a:xfrm>
        </p:spPr>
        <p:txBody>
          <a:bodyPr/>
          <a:lstStyle/>
          <a:p>
            <a:r>
              <a:rPr lang="zh-CN" altLang="en-US" dirty="0"/>
              <a:t>产生式的简化</a:t>
            </a:r>
          </a:p>
        </p:txBody>
      </p:sp>
    </p:spTree>
    <p:extLst>
      <p:ext uri="{BB962C8B-B14F-4D97-AF65-F5344CB8AC3E}">
        <p14:creationId xmlns:p14="http://schemas.microsoft.com/office/powerpoint/2010/main" val="18142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描述文法，直接给出产生式集合即可。</a:t>
            </a:r>
          </a:p>
          <a:p>
            <a:r>
              <a:rPr lang="zh-CN" altLang="en-US" dirty="0"/>
              <a:t>例：算术表达式文法</a:t>
            </a:r>
            <a:r>
              <a:rPr lang="en-US" altLang="zh-CN" dirty="0"/>
              <a:t>G</a:t>
            </a:r>
          </a:p>
          <a:p>
            <a:r>
              <a:rPr lang="en-US" altLang="zh-CN" dirty="0"/>
              <a:t>E→  E+T | E-T |T</a:t>
            </a:r>
          </a:p>
          <a:p>
            <a:r>
              <a:rPr lang="en-US" altLang="zh-CN" dirty="0"/>
              <a:t>T → T*F | T/F | F</a:t>
            </a:r>
          </a:p>
          <a:p>
            <a:r>
              <a:rPr lang="en-US" altLang="zh-CN" dirty="0"/>
              <a:t>F → 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文法的描述</a:t>
            </a:r>
          </a:p>
        </p:txBody>
      </p:sp>
    </p:spTree>
    <p:extLst>
      <p:ext uri="{BB962C8B-B14F-4D97-AF65-F5344CB8AC3E}">
        <p14:creationId xmlns:p14="http://schemas.microsoft.com/office/powerpoint/2010/main" val="149838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0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Symbol" pitchFamily="18" charset="2"/>
              </a:rPr>
              <a:t>根据产生式的不同特征，分为以下几类：</a:t>
            </a:r>
            <a:endParaRPr lang="zh-CN" altLang="en-US" dirty="0"/>
          </a:p>
          <a:p>
            <a:r>
              <a:rPr lang="en-US" altLang="zh-CN" dirty="0"/>
              <a:t>(1) 0</a:t>
            </a:r>
            <a:r>
              <a:rPr lang="zh-CN" altLang="en-US" dirty="0"/>
              <a:t>型文法（</a:t>
            </a:r>
            <a:r>
              <a:rPr lang="zh-CN" altLang="en-US" dirty="0">
                <a:solidFill>
                  <a:srgbClr val="EE853E"/>
                </a:solidFill>
              </a:rPr>
              <a:t>无限制文法</a:t>
            </a:r>
            <a:r>
              <a:rPr lang="en-US" altLang="zh-CN" dirty="0"/>
              <a:t>PSG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α</a:t>
            </a:r>
            <a:r>
              <a:rPr lang="zh-CN" altLang="en-US" dirty="0"/>
              <a:t>→</a:t>
            </a:r>
            <a:r>
              <a:rPr lang="en-US" altLang="zh-CN" dirty="0"/>
              <a:t>β</a:t>
            </a:r>
            <a:endParaRPr lang="zh-CN" altLang="en-US" dirty="0"/>
          </a:p>
          <a:p>
            <a:r>
              <a:rPr lang="en-US" altLang="zh-CN" dirty="0"/>
              <a:t>(2) 1</a:t>
            </a:r>
            <a:r>
              <a:rPr lang="zh-CN" altLang="en-US" dirty="0"/>
              <a:t>型文法（</a:t>
            </a:r>
            <a:r>
              <a:rPr lang="zh-CN" altLang="en-US" dirty="0">
                <a:solidFill>
                  <a:srgbClr val="EE853E"/>
                </a:solidFill>
              </a:rPr>
              <a:t>上下文有关文法</a:t>
            </a:r>
            <a:r>
              <a:rPr lang="en-US" altLang="zh-CN" dirty="0"/>
              <a:t>CSG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|α|&lt;=|β|      </a:t>
            </a:r>
            <a:r>
              <a:rPr lang="zh-CN" altLang="en-US" dirty="0"/>
              <a:t>（</a:t>
            </a:r>
            <a:r>
              <a:rPr lang="en-US" altLang="zh-CN" dirty="0" err="1"/>
              <a:t>S→ε</a:t>
            </a:r>
            <a:r>
              <a:rPr lang="zh-CN" altLang="en-US" dirty="0">
                <a:sym typeface="Symbol" pitchFamily="18" charset="2"/>
              </a:rPr>
              <a:t>例外）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文法的分类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7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66800"/>
            <a:ext cx="10751844" cy="523799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型文法产生式的标准形式</a:t>
            </a:r>
            <a:endParaRPr lang="en-US" altLang="zh-CN" dirty="0"/>
          </a:p>
          <a:p>
            <a:r>
              <a:rPr lang="en-US" altLang="zh-CN" dirty="0" err="1"/>
              <a:t>yAz→yωz</a:t>
            </a:r>
            <a:endParaRPr lang="en-US" altLang="zh-CN" dirty="0"/>
          </a:p>
          <a:p>
            <a:r>
              <a:rPr lang="zh-CN" altLang="en-US" dirty="0"/>
              <a:t>其中：</a:t>
            </a:r>
            <a:r>
              <a:rPr lang="en-US" altLang="zh-CN" dirty="0"/>
              <a:t>A∈V</a:t>
            </a:r>
            <a:r>
              <a:rPr lang="en-US" altLang="zh-CN" baseline="-25000" dirty="0"/>
              <a:t>N</a:t>
            </a:r>
            <a:endParaRPr lang="zh-CN" altLang="en-US" baseline="-25000" dirty="0"/>
          </a:p>
          <a:p>
            <a:r>
              <a:rPr lang="en-US" altLang="zh-CN" dirty="0" err="1"/>
              <a:t>y,z</a:t>
            </a:r>
            <a:r>
              <a:rPr lang="en-US" altLang="zh-CN" dirty="0"/>
              <a:t>∈(V</a:t>
            </a:r>
            <a:r>
              <a:rPr lang="en-US" altLang="zh-CN" baseline="-25000" dirty="0"/>
              <a:t>T</a:t>
            </a:r>
            <a:r>
              <a:rPr lang="en-US" altLang="zh-CN" dirty="0"/>
              <a:t> ∪ V</a:t>
            </a:r>
            <a:r>
              <a:rPr lang="en-US" altLang="zh-CN" baseline="-25000" dirty="0"/>
              <a:t>N</a:t>
            </a:r>
            <a:r>
              <a:rPr lang="en-US" altLang="zh-CN" dirty="0"/>
              <a:t> )</a:t>
            </a:r>
            <a:r>
              <a:rPr lang="en-US" altLang="zh-CN" baseline="30000" dirty="0"/>
              <a:t>*</a:t>
            </a:r>
            <a:r>
              <a:rPr lang="zh-CN" altLang="en-US" dirty="0"/>
              <a:t>    </a:t>
            </a:r>
          </a:p>
          <a:p>
            <a:r>
              <a:rPr lang="en-US" altLang="zh-CN" dirty="0"/>
              <a:t>ω∈(V</a:t>
            </a:r>
            <a:r>
              <a:rPr lang="en-US" altLang="zh-CN" baseline="-25000" dirty="0"/>
              <a:t>T</a:t>
            </a:r>
            <a:r>
              <a:rPr lang="en-US" altLang="zh-CN" dirty="0"/>
              <a:t> ∪ V</a:t>
            </a:r>
            <a:r>
              <a:rPr lang="en-US" altLang="zh-CN" baseline="-25000" dirty="0"/>
              <a:t>N</a:t>
            </a:r>
            <a:r>
              <a:rPr lang="en-US" altLang="zh-CN" dirty="0"/>
              <a:t> )</a:t>
            </a:r>
            <a:r>
              <a:rPr lang="en-US" altLang="zh-CN" baseline="30000" dirty="0"/>
              <a:t>+</a:t>
            </a:r>
          </a:p>
          <a:p>
            <a:r>
              <a:rPr lang="en-US" altLang="zh-CN" dirty="0" err="1">
                <a:solidFill>
                  <a:srgbClr val="EE853E"/>
                </a:solidFill>
              </a:rPr>
              <a:t>S→ε</a:t>
            </a:r>
            <a:r>
              <a:rPr lang="zh-CN" altLang="en-US" dirty="0">
                <a:solidFill>
                  <a:srgbClr val="EE853E"/>
                </a:solidFill>
                <a:sym typeface="Symbol" pitchFamily="18" charset="2"/>
              </a:rPr>
              <a:t>例外 </a:t>
            </a:r>
            <a:endParaRPr lang="zh-CN" altLang="en-US" dirty="0">
              <a:solidFill>
                <a:srgbClr val="EE853E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1386D26-6B65-469F-A629-4ECCE334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文法的分类</a:t>
            </a:r>
          </a:p>
        </p:txBody>
      </p:sp>
    </p:spTree>
    <p:extLst>
      <p:ext uri="{BB962C8B-B14F-4D97-AF65-F5344CB8AC3E}">
        <p14:creationId xmlns:p14="http://schemas.microsoft.com/office/powerpoint/2010/main" val="171342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(3) 2</a:t>
            </a:r>
            <a:r>
              <a:rPr lang="zh-CN" altLang="en-US" dirty="0"/>
              <a:t>型文法（</a:t>
            </a:r>
            <a:r>
              <a:rPr lang="zh-CN" altLang="en-US" dirty="0">
                <a:solidFill>
                  <a:srgbClr val="EE853E"/>
                </a:solidFill>
              </a:rPr>
              <a:t>上下文无关文法</a:t>
            </a:r>
            <a:r>
              <a:rPr lang="en-US" altLang="zh-CN" dirty="0"/>
              <a:t>CFG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A→β</a:t>
            </a:r>
          </a:p>
          <a:p>
            <a:r>
              <a:rPr lang="en-US" altLang="zh-CN" dirty="0"/>
              <a:t>(4) 3</a:t>
            </a:r>
            <a:r>
              <a:rPr lang="zh-CN" altLang="en-US" dirty="0"/>
              <a:t>型文法（</a:t>
            </a:r>
            <a:r>
              <a:rPr lang="zh-CN" altLang="en-US" dirty="0">
                <a:solidFill>
                  <a:srgbClr val="EE853E"/>
                </a:solidFill>
              </a:rPr>
              <a:t>正则文法</a:t>
            </a:r>
            <a:r>
              <a:rPr lang="en-US" altLang="zh-CN" dirty="0"/>
              <a:t>RG</a:t>
            </a:r>
            <a:r>
              <a:rPr lang="zh-CN" altLang="en-US" dirty="0"/>
              <a:t>，或右线性文法</a:t>
            </a:r>
            <a:r>
              <a:rPr lang="en-US" altLang="zh-CN" dirty="0"/>
              <a:t>RLG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 err="1"/>
              <a:t>A→u</a:t>
            </a:r>
            <a:r>
              <a:rPr lang="zh-CN" altLang="en-US" dirty="0"/>
              <a:t>或</a:t>
            </a:r>
            <a:r>
              <a:rPr lang="en-US" altLang="zh-CN" dirty="0" err="1"/>
              <a:t>A→wB</a:t>
            </a:r>
            <a:r>
              <a:rPr lang="en-US" altLang="zh-CN" dirty="0"/>
              <a:t>        </a:t>
            </a:r>
          </a:p>
          <a:p>
            <a:r>
              <a:rPr lang="zh-CN" altLang="en-US" dirty="0">
                <a:sym typeface="Symbol" pitchFamily="18" charset="2"/>
              </a:rPr>
              <a:t>其中 </a:t>
            </a:r>
            <a:r>
              <a:rPr lang="en-US" altLang="zh-CN" dirty="0" err="1">
                <a:sym typeface="Symbol" pitchFamily="18" charset="2"/>
              </a:rPr>
              <a:t>uV</a:t>
            </a:r>
            <a:r>
              <a:rPr lang="en-US" altLang="zh-CN" baseline="-25000" dirty="0" err="1">
                <a:sym typeface="Symbol" pitchFamily="18" charset="2"/>
              </a:rPr>
              <a:t>T</a:t>
            </a:r>
            <a:r>
              <a:rPr lang="en-US" altLang="zh-CN" baseline="30000" dirty="0">
                <a:sym typeface="Symbol" pitchFamily="18" charset="2"/>
              </a:rPr>
              <a:t>*</a:t>
            </a:r>
            <a:r>
              <a:rPr lang="zh-CN" altLang="en-US" dirty="0">
                <a:sym typeface="Symbol" pitchFamily="18" charset="2"/>
              </a:rPr>
              <a:t> ，</a:t>
            </a:r>
            <a:r>
              <a:rPr lang="en-US" altLang="zh-CN" dirty="0" err="1">
                <a:sym typeface="Symbol" pitchFamily="18" charset="2"/>
              </a:rPr>
              <a:t>wV</a:t>
            </a:r>
            <a:r>
              <a:rPr lang="en-US" altLang="zh-CN" baseline="-25000" dirty="0" err="1">
                <a:sym typeface="Symbol" pitchFamily="18" charset="2"/>
              </a:rPr>
              <a:t>T</a:t>
            </a:r>
            <a:r>
              <a:rPr lang="en-US" altLang="zh-CN" baseline="30000" dirty="0">
                <a:sym typeface="Symbol" pitchFamily="18" charset="2"/>
              </a:rPr>
              <a:t>+</a:t>
            </a:r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B1CD5BD-2F39-430D-AD4C-03EAE02F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文法的分类</a:t>
            </a:r>
          </a:p>
        </p:txBody>
      </p:sp>
    </p:spTree>
    <p:extLst>
      <p:ext uri="{BB962C8B-B14F-4D97-AF65-F5344CB8AC3E}">
        <p14:creationId xmlns:p14="http://schemas.microsoft.com/office/powerpoint/2010/main" val="230359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</a:t>
            </a:r>
          </a:p>
          <a:p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是集合（</a:t>
            </a:r>
            <a:r>
              <a:rPr lang="en-US" altLang="zh-CN" dirty="0">
                <a:sym typeface="Symbol" pitchFamily="18" charset="2"/>
              </a:rPr>
              <a:t>V</a:t>
            </a:r>
            <a:r>
              <a:rPr lang="en-US" altLang="zh-CN" baseline="-25000" dirty="0">
                <a:sym typeface="Symbol" pitchFamily="18" charset="2"/>
              </a:rPr>
              <a:t>T</a:t>
            </a:r>
            <a:r>
              <a:rPr lang="en-US" altLang="zh-CN" dirty="0"/>
              <a:t>∪V</a:t>
            </a:r>
            <a:r>
              <a:rPr lang="en-US" altLang="zh-CN" baseline="-25000" dirty="0">
                <a:sym typeface="Symbol" pitchFamily="18" charset="2"/>
              </a:rPr>
              <a:t>N</a:t>
            </a:r>
            <a:r>
              <a:rPr lang="zh-CN" altLang="en-US" dirty="0"/>
              <a:t>）上的串，</a:t>
            </a:r>
          </a:p>
          <a:p>
            <a:r>
              <a:rPr lang="en-US" altLang="zh-CN" dirty="0"/>
              <a:t>α=</a:t>
            </a:r>
            <a:r>
              <a:rPr lang="en-US" altLang="zh-CN" dirty="0" err="1"/>
              <a:t>pvr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β=</a:t>
            </a:r>
            <a:r>
              <a:rPr lang="en-US" altLang="zh-CN" dirty="0" err="1"/>
              <a:t>pur</a:t>
            </a:r>
            <a:r>
              <a:rPr lang="zh-CN" altLang="en-US" dirty="0"/>
              <a:t>（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可能同时为</a:t>
            </a:r>
            <a:r>
              <a:rPr lang="en-US" altLang="zh-CN" dirty="0"/>
              <a:t>ε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而</a:t>
            </a:r>
            <a:r>
              <a:rPr lang="en-US" altLang="zh-CN" dirty="0" err="1">
                <a:solidFill>
                  <a:srgbClr val="EE853E"/>
                </a:solidFill>
              </a:rPr>
              <a:t>v→u</a:t>
            </a:r>
            <a:r>
              <a:rPr lang="zh-CN" altLang="en-US" dirty="0"/>
              <a:t>是一个产生式，</a:t>
            </a:r>
            <a:endParaRPr lang="en-US" altLang="zh-CN" dirty="0"/>
          </a:p>
          <a:p>
            <a:r>
              <a:rPr lang="zh-CN" altLang="en-US" dirty="0"/>
              <a:t>则称</a:t>
            </a:r>
            <a:r>
              <a:rPr lang="en-US" altLang="zh-CN" dirty="0"/>
              <a:t>α</a:t>
            </a:r>
            <a:r>
              <a:rPr lang="zh-CN" altLang="en-US" dirty="0"/>
              <a:t>直接推导出</a:t>
            </a:r>
            <a:r>
              <a:rPr lang="en-US" altLang="zh-CN" dirty="0"/>
              <a:t>β</a:t>
            </a:r>
            <a:r>
              <a:rPr lang="zh-CN" altLang="en-US" dirty="0"/>
              <a:t>，</a:t>
            </a:r>
          </a:p>
          <a:p>
            <a:r>
              <a:rPr lang="zh-CN" altLang="en-US" dirty="0"/>
              <a:t>记为</a:t>
            </a:r>
            <a:r>
              <a:rPr lang="en-US" altLang="zh-CN" dirty="0"/>
              <a:t>α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β </a:t>
            </a:r>
            <a:r>
              <a:rPr lang="zh-CN" altLang="en-US" dirty="0"/>
              <a:t>，即</a:t>
            </a:r>
            <a:r>
              <a:rPr lang="en-US" altLang="zh-CN" dirty="0" err="1"/>
              <a:t>p</a:t>
            </a:r>
            <a:r>
              <a:rPr lang="en-US" altLang="zh-CN" dirty="0" err="1">
                <a:solidFill>
                  <a:srgbClr val="EE853E"/>
                </a:solidFill>
              </a:rPr>
              <a:t>v</a:t>
            </a:r>
            <a:r>
              <a:rPr lang="en-US" altLang="zh-CN" dirty="0" err="1"/>
              <a:t>r</a:t>
            </a:r>
            <a:r>
              <a:rPr lang="en-US" altLang="zh-CN" dirty="0" err="1">
                <a:sym typeface="Symbol" pitchFamily="18" charset="2"/>
              </a:rPr>
              <a:t></a:t>
            </a:r>
            <a:r>
              <a:rPr lang="en-US" altLang="zh-CN" dirty="0" err="1"/>
              <a:t>p</a:t>
            </a:r>
            <a:r>
              <a:rPr lang="en-US" altLang="zh-CN" dirty="0" err="1">
                <a:solidFill>
                  <a:srgbClr val="EE853E"/>
                </a:solidFill>
              </a:rPr>
              <a:t>u</a:t>
            </a:r>
            <a:r>
              <a:rPr lang="en-US" altLang="zh-CN" dirty="0" err="1"/>
              <a:t>r</a:t>
            </a:r>
            <a:endParaRPr lang="zh-CN" altLang="en-US" dirty="0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推导的定义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推导的实质：</a:t>
            </a:r>
            <a:endParaRPr lang="en-US" altLang="zh-CN" dirty="0"/>
          </a:p>
          <a:p>
            <a:r>
              <a:rPr lang="zh-CN" altLang="en-US" dirty="0"/>
              <a:t>推导是用产生式的</a:t>
            </a:r>
            <a:r>
              <a:rPr lang="zh-CN" altLang="en-US" dirty="0">
                <a:solidFill>
                  <a:srgbClr val="EE853E"/>
                </a:solidFill>
              </a:rPr>
              <a:t>右边</a:t>
            </a:r>
            <a:r>
              <a:rPr lang="zh-CN" altLang="en-US" dirty="0"/>
              <a:t>替换产生式的</a:t>
            </a:r>
            <a:r>
              <a:rPr lang="zh-CN" altLang="en-US" dirty="0">
                <a:solidFill>
                  <a:srgbClr val="EE853E"/>
                </a:solidFill>
              </a:rPr>
              <a:t>左边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推导的逆过程 </a:t>
            </a:r>
            <a:r>
              <a:rPr lang="en-US" altLang="zh-CN"/>
              <a:t>—— </a:t>
            </a:r>
            <a:r>
              <a:rPr lang="zh-CN" altLang="en-US">
                <a:solidFill>
                  <a:srgbClr val="EE853E"/>
                </a:solidFill>
              </a:rPr>
              <a:t>归约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归约是用产生式的</a:t>
            </a:r>
            <a:r>
              <a:rPr lang="zh-CN" altLang="en-US" dirty="0">
                <a:solidFill>
                  <a:srgbClr val="EE853E"/>
                </a:solidFill>
              </a:rPr>
              <a:t>左端</a:t>
            </a:r>
            <a:r>
              <a:rPr lang="zh-CN" altLang="en-US" dirty="0"/>
              <a:t>替换产生式的</a:t>
            </a:r>
            <a:r>
              <a:rPr lang="zh-CN" altLang="en-US" dirty="0">
                <a:solidFill>
                  <a:srgbClr val="EE853E"/>
                </a:solidFill>
              </a:rPr>
              <a:t>右端</a:t>
            </a:r>
            <a:r>
              <a:rPr lang="zh-CN" altLang="en-US" dirty="0"/>
              <a:t>，是推导的</a:t>
            </a:r>
            <a:r>
              <a:rPr lang="zh-CN" altLang="en-US" dirty="0">
                <a:solidFill>
                  <a:srgbClr val="EE853E"/>
                </a:solidFill>
              </a:rPr>
              <a:t>逆过程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非终结符</a:t>
            </a:r>
            <a:r>
              <a:rPr lang="zh-CN" altLang="en-US" dirty="0"/>
              <a:t>代表在推导的过程中可以被替代的符号，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终结符</a:t>
            </a:r>
            <a:r>
              <a:rPr lang="zh-CN" altLang="en-US" dirty="0"/>
              <a:t>代表在推导的过程中不可以被替代的符号。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335B054-5663-46A7-8B3E-FED80B7E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推导的定义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373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y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z</a:t>
                </a:r>
              </a:p>
              <a:p>
                <a:r>
                  <a:rPr lang="zh-CN" altLang="en-US" dirty="0"/>
                  <a:t>表示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可以经过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多步</a:t>
                </a:r>
                <a:r>
                  <a:rPr lang="zh-CN" altLang="en-US" dirty="0"/>
                  <a:t>推导出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，即</a:t>
                </a:r>
              </a:p>
              <a:p>
                <a:r>
                  <a:rPr lang="zh-CN" altLang="en-US" dirty="0"/>
                  <a:t>存在串的序列</a:t>
                </a:r>
                <a:r>
                  <a:rPr lang="zh-CN" altLang="en-US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1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2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3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…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；</a:t>
                </a:r>
              </a:p>
              <a:p>
                <a:r>
                  <a:rPr lang="zh-CN" altLang="en-US" dirty="0"/>
                  <a:t>有</a:t>
                </a:r>
                <a:r>
                  <a:rPr lang="en-US" altLang="zh-CN" dirty="0"/>
                  <a:t>y=</a:t>
                </a:r>
                <a:r>
                  <a:rPr lang="en-US" altLang="zh-CN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z= </a:t>
                </a:r>
                <a:r>
                  <a:rPr lang="en-US" altLang="zh-CN" dirty="0">
                    <a:sym typeface="Symbol" pitchFamily="18" charset="2"/>
                  </a:rPr>
                  <a:t>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，</a:t>
                </a:r>
              </a:p>
              <a:p>
                <a:r>
                  <a:rPr lang="zh-CN" altLang="en-US" dirty="0"/>
                  <a:t>且</a:t>
                </a:r>
                <a:r>
                  <a:rPr lang="zh-CN" altLang="en-US" dirty="0">
                    <a:sym typeface="Symbol" pitchFamily="18" charset="2"/>
                  </a:rPr>
                  <a:t></a:t>
                </a:r>
                <a:r>
                  <a:rPr lang="en-US" altLang="zh-CN" baseline="-25000" dirty="0" err="1"/>
                  <a:t>i</a:t>
                </a:r>
                <a:r>
                  <a:rPr lang="en-US" altLang="zh-CN" dirty="0">
                    <a:sym typeface="Symbol" pitchFamily="18" charset="2"/>
                  </a:rPr>
                  <a:t></a:t>
                </a:r>
                <a:r>
                  <a:rPr lang="en-US" altLang="zh-CN" baseline="-25000" dirty="0"/>
                  <a:t>i+1</a:t>
                </a:r>
                <a:r>
                  <a:rPr lang="zh-CN" altLang="en-US" dirty="0"/>
                  <a:t>；对所有</a:t>
                </a:r>
                <a:r>
                  <a:rPr lang="en-US" altLang="zh-CN" dirty="0"/>
                  <a:t>n &gt;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&gt;= 1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37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多步推导（至少一步）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1571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y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z</a:t>
                </a:r>
              </a:p>
              <a:p>
                <a:r>
                  <a:rPr lang="zh-CN" altLang="en-US" dirty="0"/>
                  <a:t>表示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可以经过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任意步</a:t>
                </a:r>
                <a:r>
                  <a:rPr lang="zh-CN" altLang="en-US" dirty="0"/>
                  <a:t>推导出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，即</a:t>
                </a:r>
              </a:p>
              <a:p>
                <a:r>
                  <a:rPr lang="en-US" altLang="zh-CN" dirty="0"/>
                  <a:t>y=z </a:t>
                </a:r>
                <a:r>
                  <a:rPr lang="zh-CN" altLang="en-US" dirty="0"/>
                  <a:t>或者 </a:t>
                </a:r>
                <a:r>
                  <a:rPr lang="en-US" altLang="zh-CN" dirty="0"/>
                  <a:t>y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z</a:t>
                </a:r>
                <a:endParaRPr lang="zh-CN" altLang="en-US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2157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任意步推导（包括</a:t>
            </a:r>
            <a:r>
              <a:rPr lang="en-US" altLang="zh-CN" dirty="0"/>
              <a:t>0</a:t>
            </a:r>
            <a:r>
              <a:rPr lang="zh-CN" altLang="en-US" dirty="0"/>
              <a:t>步）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Rectangle 2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已知</a:t>
            </a:r>
            <a:r>
              <a:rPr lang="en-US" altLang="zh-CN" dirty="0"/>
              <a:t>G(E)</a:t>
            </a:r>
          </a:p>
          <a:p>
            <a:r>
              <a:rPr lang="en-US" altLang="zh-CN" dirty="0"/>
              <a:t>E→E+E│E*E│(E)│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i+i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</a:t>
            </a:r>
            <a:r>
              <a:rPr lang="zh-CN" altLang="en-US" dirty="0">
                <a:sym typeface="Symbol" pitchFamily="18" charset="2"/>
              </a:rPr>
              <a:t>最左推导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ym typeface="Symbol" pitchFamily="18" charset="2"/>
              </a:rPr>
              <a:t>最右推导（规范推导）：</a:t>
            </a:r>
            <a:endParaRPr lang="en-US" altLang="zh-CN" dirty="0">
              <a:sym typeface="Symbol" pitchFamily="18" charset="2"/>
            </a:endParaRPr>
          </a:p>
          <a:p>
            <a:r>
              <a:rPr lang="en-US" altLang="zh-CN" dirty="0"/>
              <a:t>E </a:t>
            </a:r>
            <a:r>
              <a:rPr lang="en-US" altLang="zh-CN" dirty="0">
                <a:sym typeface="Symbol" pitchFamily="18" charset="2"/>
              </a:rPr>
              <a:t> E+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  E+E*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  E+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 </a:t>
            </a:r>
            <a:r>
              <a:rPr lang="en-US" altLang="zh-CN" dirty="0" err="1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 err="1">
                <a:sym typeface="Symbol" pitchFamily="18" charset="2"/>
              </a:rPr>
              <a:t>+i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 </a:t>
            </a:r>
            <a:r>
              <a:rPr lang="en-US" altLang="zh-CN" dirty="0" err="1">
                <a:sym typeface="Symbol" pitchFamily="18" charset="2"/>
              </a:rPr>
              <a:t>i+i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endParaRPr lang="en-US" altLang="zh-CN" dirty="0"/>
          </a:p>
          <a:p>
            <a:r>
              <a:rPr lang="en-US" altLang="zh-CN" dirty="0">
                <a:sym typeface="Symbol" pitchFamily="18" charset="2"/>
              </a:rPr>
              <a:t>E  E*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  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 E+</a:t>
            </a:r>
            <a:r>
              <a:rPr lang="en-US" altLang="zh-CN" dirty="0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 </a:t>
            </a:r>
            <a:r>
              <a:rPr lang="en-US" altLang="zh-CN" dirty="0" err="1">
                <a:solidFill>
                  <a:srgbClr val="EE853E"/>
                </a:solidFill>
                <a:sym typeface="Symbol" pitchFamily="18" charset="2"/>
              </a:rPr>
              <a:t>E</a:t>
            </a:r>
            <a:r>
              <a:rPr lang="en-US" altLang="zh-CN" dirty="0" err="1">
                <a:sym typeface="Symbol" pitchFamily="18" charset="2"/>
              </a:rPr>
              <a:t>+i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  <a:r>
              <a:rPr lang="en-US" altLang="zh-CN" dirty="0">
                <a:sym typeface="Symbol" pitchFamily="18" charset="2"/>
              </a:rPr>
              <a:t>  </a:t>
            </a:r>
            <a:r>
              <a:rPr lang="en-US" altLang="zh-CN" dirty="0" err="1">
                <a:sym typeface="Symbol" pitchFamily="18" charset="2"/>
              </a:rPr>
              <a:t>i+i</a:t>
            </a:r>
            <a:r>
              <a:rPr lang="en-US" altLang="zh-CN" dirty="0">
                <a:sym typeface="Symbol" pitchFamily="18" charset="2"/>
              </a:rPr>
              <a:t>*</a:t>
            </a:r>
            <a:r>
              <a:rPr lang="en-US" altLang="zh-CN" dirty="0" err="1">
                <a:sym typeface="Symbol" pitchFamily="18" charset="2"/>
              </a:rPr>
              <a:t>i</a:t>
            </a:r>
          </a:p>
          <a:p>
            <a:endParaRPr lang="zh-CN" altLang="en-US" dirty="0"/>
          </a:p>
          <a:p>
            <a:endParaRPr lang="en-US" altLang="zh-CN" dirty="0">
              <a:sym typeface="Symbol" pitchFamily="18" charset="2"/>
            </a:endParaRPr>
          </a:p>
          <a:p>
            <a:endParaRPr lang="en-US" altLang="zh-CN" dirty="0">
              <a:sym typeface="Symbol" pitchFamily="18" charset="2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3DA1537-2BCE-4484-8023-A0F2D2ACB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推导实例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041400" y="2708275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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609600" y="2708275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GB" altLang="zh-CN" sz="3200" b="1" dirty="0">
                <a:solidFill>
                  <a:srgbClr val="EE853E"/>
                </a:solidFill>
                <a:latin typeface="+mj-ea"/>
                <a:ea typeface="+mj-ea"/>
              </a:rPr>
              <a:t>E</a:t>
            </a:r>
            <a:endParaRPr lang="en-US" altLang="zh-CN" sz="3200" b="1" dirty="0">
              <a:solidFill>
                <a:srgbClr val="EE853E"/>
              </a:solidFill>
              <a:latin typeface="+mj-ea"/>
              <a:ea typeface="+mj-ea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419846" y="2776250"/>
            <a:ext cx="11747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EE853E"/>
                </a:solidFill>
                <a:latin typeface="+mj-ea"/>
                <a:ea typeface="+mj-ea"/>
                <a:sym typeface="Symbol" pitchFamily="18" charset="2"/>
              </a:rPr>
              <a:t>E</a:t>
            </a: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+E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2426321" y="2708275"/>
            <a:ext cx="57626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</a:t>
            </a:r>
          </a:p>
        </p:txBody>
      </p:sp>
      <p:sp>
        <p:nvSpPr>
          <p:cNvPr id="21" name="Rectangle 8"/>
          <p:cNvSpPr>
            <a:spLocks noChangeArrowheads="1"/>
          </p:cNvSpPr>
          <p:nvPr/>
        </p:nvSpPr>
        <p:spPr bwMode="auto">
          <a:xfrm>
            <a:off x="7744446" y="2708275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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3891584" y="2708275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</a:t>
            </a:r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5863259" y="2708275"/>
            <a:ext cx="57626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</a:t>
            </a: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2870821" y="2776250"/>
            <a:ext cx="11398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GB" altLang="zh-CN" sz="3200" b="1" dirty="0" err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i</a:t>
            </a: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+</a:t>
            </a:r>
            <a:r>
              <a:rPr lang="en-US" altLang="zh-CN" sz="3200" b="1" dirty="0">
                <a:solidFill>
                  <a:srgbClr val="EE853E"/>
                </a:solidFill>
                <a:latin typeface="+mj-ea"/>
                <a:ea typeface="+mj-ea"/>
                <a:sym typeface="Symbol" pitchFamily="18" charset="2"/>
              </a:rPr>
              <a:t>E</a:t>
            </a:r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4220648" y="2776250"/>
            <a:ext cx="179228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 err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i+</a:t>
            </a:r>
            <a:r>
              <a:rPr lang="en-US" altLang="zh-CN" sz="3200" b="1" dirty="0" err="1">
                <a:solidFill>
                  <a:srgbClr val="EE853E"/>
                </a:solidFill>
                <a:latin typeface="+mj-ea"/>
                <a:ea typeface="+mj-ea"/>
                <a:sym typeface="Symbol" pitchFamily="18" charset="2"/>
              </a:rPr>
              <a:t>E</a:t>
            </a: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*E</a:t>
            </a:r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6296646" y="2776250"/>
            <a:ext cx="15049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 dirty="0" err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i+i</a:t>
            </a:r>
            <a:r>
              <a:rPr kumimoji="1" lang="en-US" altLang="zh-CN" sz="3200" b="1" dirty="0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*</a:t>
            </a:r>
            <a:r>
              <a:rPr lang="en-US" altLang="zh-CN" sz="3200" b="1" dirty="0">
                <a:solidFill>
                  <a:srgbClr val="EE853E"/>
                </a:solidFill>
                <a:latin typeface="+mj-ea"/>
                <a:ea typeface="+mj-ea"/>
                <a:sym typeface="Symbol" pitchFamily="18" charset="2"/>
              </a:rPr>
              <a:t>E</a:t>
            </a: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8158784" y="2776250"/>
            <a:ext cx="15668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marL="228600" indent="-228600" algn="ctr" fontAlgn="t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None/>
            </a:pPr>
            <a:r>
              <a:rPr kumimoji="1" lang="en-US" altLang="zh-CN" sz="3200" b="1">
                <a:solidFill>
                  <a:schemeClr val="bg1"/>
                </a:solidFill>
                <a:latin typeface="+mj-ea"/>
                <a:ea typeface="+mj-ea"/>
                <a:sym typeface="Symbol" pitchFamily="18" charset="2"/>
              </a:rPr>
              <a:t>i+i*i</a:t>
            </a:r>
          </a:p>
        </p:txBody>
      </p:sp>
    </p:spTree>
    <p:extLst>
      <p:ext uri="{BB962C8B-B14F-4D97-AF65-F5344CB8AC3E}">
        <p14:creationId xmlns:p14="http://schemas.microsoft.com/office/powerpoint/2010/main" val="342569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15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15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15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6" grpId="0" uiExpand="1" build="p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577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文法</a:t>
                </a:r>
                <a:r>
                  <a:rPr lang="en-US" altLang="zh-CN" dirty="0"/>
                  <a:t>G = (V</a:t>
                </a:r>
                <a:r>
                  <a:rPr lang="en-US" altLang="zh-CN" baseline="-25000" dirty="0"/>
                  <a:t>T</a:t>
                </a:r>
                <a:r>
                  <a:rPr lang="en-US" altLang="zh-CN" dirty="0"/>
                  <a:t> ,V</a:t>
                </a:r>
                <a:r>
                  <a:rPr lang="en-US" altLang="zh-CN" baseline="-25000" dirty="0"/>
                  <a:t>N</a:t>
                </a:r>
                <a:r>
                  <a:rPr lang="en-US" altLang="zh-CN" dirty="0"/>
                  <a:t> ,S , P)</a:t>
                </a:r>
              </a:p>
              <a:p>
                <a:r>
                  <a:rPr lang="zh-CN" altLang="en-US" dirty="0"/>
                  <a:t>如果</a:t>
                </a:r>
                <a:r>
                  <a:rPr lang="en-US" altLang="zh-CN" dirty="0"/>
                  <a:t>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ω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则称</a:t>
                </a:r>
                <a:r>
                  <a:rPr lang="en-US" altLang="zh-CN" dirty="0"/>
                  <a:t>ω</a:t>
                </a:r>
                <a:r>
                  <a:rPr lang="zh-CN" altLang="en-US" dirty="0"/>
                  <a:t>是文法的一个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句型</a:t>
                </a:r>
                <a:r>
                  <a:rPr lang="zh-CN" altLang="en-US" dirty="0"/>
                  <a:t>，</a:t>
                </a:r>
              </a:p>
              <a:p>
                <a:r>
                  <a:rPr lang="zh-CN" altLang="en-US" dirty="0"/>
                  <a:t>进一步，若</a:t>
                </a:r>
                <a:r>
                  <a:rPr lang="en-US" altLang="zh-CN" dirty="0" err="1"/>
                  <a:t>ω</a:t>
                </a:r>
                <a:r>
                  <a:rPr lang="en-US" altLang="zh-CN" dirty="0" err="1">
                    <a:sym typeface="Symbol" pitchFamily="18" charset="2"/>
                  </a:rPr>
                  <a:t>∈</a:t>
                </a:r>
                <a:r>
                  <a:rPr lang="en-US" altLang="zh-CN" dirty="0" err="1"/>
                  <a:t>V</a:t>
                </a:r>
                <a:r>
                  <a:rPr lang="en-US" altLang="zh-CN" baseline="-25000" dirty="0" err="1"/>
                  <a:t>T</a:t>
                </a:r>
                <a:r>
                  <a:rPr lang="en-US" altLang="zh-CN" baseline="30000" dirty="0">
                    <a:sym typeface="Symbol" pitchFamily="18" charset="2"/>
                  </a:rPr>
                  <a:t>*</a:t>
                </a:r>
                <a:r>
                  <a:rPr lang="zh-CN" altLang="en-US" dirty="0">
                    <a:sym typeface="Symbol" pitchFamily="18" charset="2"/>
                  </a:rPr>
                  <a:t>，</a:t>
                </a:r>
                <a:r>
                  <a:rPr lang="en-US" altLang="zh-CN" dirty="0"/>
                  <a:t>ω</a:t>
                </a:r>
                <a:r>
                  <a:rPr lang="zh-CN" altLang="en-US" dirty="0"/>
                  <a:t>称为</a:t>
                </a:r>
                <a:r>
                  <a:rPr lang="zh-CN" altLang="en-US" dirty="0">
                    <a:solidFill>
                      <a:srgbClr val="EE853E"/>
                    </a:solidFill>
                  </a:rPr>
                  <a:t>句子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zh-CN" altLang="en-US" dirty="0"/>
                  <a:t>只含终结符的句型就是一个句子。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57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句型和句子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给定文法 </a:t>
                </a:r>
                <a:r>
                  <a:rPr lang="en-US" altLang="zh-CN" dirty="0"/>
                  <a:t>G</a:t>
                </a:r>
                <a:r>
                  <a:rPr lang="zh-CN" altLang="en-US" dirty="0"/>
                  <a:t>，有开始符号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S</a:t>
                </a:r>
              </a:p>
              <a:p>
                <a:r>
                  <a:rPr lang="zh-CN" altLang="en-US" dirty="0"/>
                  <a:t>把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可以推导出的所有句子的集合</a:t>
                </a:r>
                <a:endParaRPr lang="en-US" altLang="zh-CN" dirty="0"/>
              </a:p>
              <a:p>
                <a:r>
                  <a:rPr lang="zh-CN" altLang="en-US" dirty="0"/>
                  <a:t>称为文法产生的语言，记为</a:t>
                </a:r>
                <a:r>
                  <a:rPr lang="en-US" altLang="zh-CN" dirty="0">
                    <a:solidFill>
                      <a:srgbClr val="EE853E"/>
                    </a:solidFill>
                  </a:rPr>
                  <a:t>L(G)</a:t>
                </a:r>
              </a:p>
              <a:p>
                <a:r>
                  <a:rPr lang="en-US" altLang="zh-CN" dirty="0">
                    <a:solidFill>
                      <a:srgbClr val="EE853E"/>
                    </a:solidFill>
                  </a:rPr>
                  <a:t>L(G) </a:t>
                </a:r>
                <a:r>
                  <a:rPr lang="en-US" altLang="zh-CN" dirty="0"/>
                  <a:t>= { ω | S</a:t>
                </a:r>
                <a14:m>
                  <m:oMath xmlns:m="http://schemas.openxmlformats.org/officeDocument/2006/math">
                    <m:groupChr>
                      <m:groupChrPr>
                        <m:chr m:val="⇒"/>
                        <m:vertJc m:val="bot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</m:oMath>
                </a14:m>
                <a:r>
                  <a:rPr lang="en-US" altLang="zh-CN" dirty="0"/>
                  <a:t>ω</a:t>
                </a:r>
                <a:r>
                  <a:rPr lang="zh-CN" altLang="en-US" dirty="0"/>
                  <a:t>，且</a:t>
                </a:r>
                <a:r>
                  <a:rPr lang="en-US" altLang="zh-CN" dirty="0" err="1"/>
                  <a:t>ω∈V</a:t>
                </a:r>
                <a:r>
                  <a:rPr lang="en-US" altLang="zh-CN" baseline="-25000" dirty="0" err="1"/>
                  <a:t>T</a:t>
                </a:r>
                <a:r>
                  <a:rPr lang="en-US" altLang="zh-CN" baseline="30000" dirty="0"/>
                  <a:t>*</a:t>
                </a:r>
                <a:r>
                  <a:rPr lang="en-US" altLang="zh-CN" dirty="0"/>
                  <a:t> }</a:t>
                </a:r>
              </a:p>
            </p:txBody>
          </p:sp>
        </mc:Choice>
        <mc:Fallback xmlns="">
          <p:sp>
            <p:nvSpPr>
              <p:cNvPr id="7680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语言的定义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一个文法只能产生一个语言。</a:t>
            </a:r>
            <a:endParaRPr lang="en-US" altLang="zh-CN" dirty="0"/>
          </a:p>
          <a:p>
            <a:r>
              <a:rPr lang="zh-CN" altLang="en-US" dirty="0"/>
              <a:t>一个语言可以由多个不同的文法产生。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文法等价</a:t>
            </a:r>
            <a:endParaRPr lang="en-US" altLang="zh-CN" dirty="0"/>
          </a:p>
          <a:p>
            <a:r>
              <a:rPr lang="zh-CN" altLang="en-US" dirty="0"/>
              <a:t>两个文法</a:t>
            </a:r>
            <a:r>
              <a:rPr lang="en-US" altLang="zh-CN" dirty="0"/>
              <a:t>G</a:t>
            </a:r>
            <a:r>
              <a:rPr lang="zh-CN" altLang="en-US" dirty="0"/>
              <a:t>和</a:t>
            </a:r>
            <a:r>
              <a:rPr lang="en-US" altLang="zh-CN" dirty="0"/>
              <a:t>G’</a:t>
            </a:r>
          </a:p>
          <a:p>
            <a:r>
              <a:rPr lang="zh-CN" altLang="en-US" dirty="0"/>
              <a:t>如果有</a:t>
            </a:r>
            <a:r>
              <a:rPr lang="en-US" altLang="zh-CN" dirty="0"/>
              <a:t>L(G)=L(G’)</a:t>
            </a:r>
            <a:r>
              <a:rPr lang="zh-CN" altLang="en-US" dirty="0"/>
              <a:t>，则称</a:t>
            </a:r>
            <a:r>
              <a:rPr lang="en-US" altLang="zh-CN" dirty="0"/>
              <a:t>G</a:t>
            </a:r>
            <a:r>
              <a:rPr lang="zh-CN" altLang="en-US" dirty="0"/>
              <a:t>和</a:t>
            </a:r>
            <a:r>
              <a:rPr lang="en-US" altLang="zh-CN" dirty="0"/>
              <a:t>G’</a:t>
            </a:r>
            <a:r>
              <a:rPr lang="zh-CN" altLang="en-US" dirty="0"/>
              <a:t>等价。</a:t>
            </a:r>
          </a:p>
          <a:p>
            <a:endParaRPr lang="zh-CN" altLang="en-US" dirty="0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134624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  <a:endParaRPr lang="en-US" altLang="zh-CN" dirty="0"/>
          </a:p>
          <a:p>
            <a:r>
              <a:rPr lang="en-US" altLang="zh-CN" dirty="0"/>
              <a:t>S → ( )</a:t>
            </a:r>
          </a:p>
          <a:p>
            <a:r>
              <a:rPr lang="en-US" altLang="zh-CN" dirty="0"/>
              <a:t>S → (S)</a:t>
            </a:r>
          </a:p>
          <a:p>
            <a:r>
              <a:rPr lang="en-US" altLang="zh-CN" dirty="0"/>
              <a:t>S → SS  </a:t>
            </a:r>
          </a:p>
          <a:p>
            <a:r>
              <a:rPr lang="zh-CN" altLang="en-US" dirty="0"/>
              <a:t>产生语言：</a:t>
            </a:r>
          </a:p>
          <a:p>
            <a:r>
              <a:rPr lang="en-US" altLang="zh-CN" dirty="0"/>
              <a:t>L = { ω | ω</a:t>
            </a:r>
            <a:r>
              <a:rPr lang="zh-CN" altLang="en-US" dirty="0"/>
              <a:t>是括号匹配的串 </a:t>
            </a:r>
            <a:r>
              <a:rPr lang="en-US" altLang="zh-CN" dirty="0"/>
              <a:t>}</a:t>
            </a:r>
          </a:p>
          <a:p>
            <a:endParaRPr lang="en-US" altLang="zh-CN" dirty="0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文法产生语言例子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</a:p>
          <a:p>
            <a:r>
              <a:rPr lang="en-US" altLang="zh-CN" dirty="0"/>
              <a:t>S → 0S</a:t>
            </a:r>
          </a:p>
          <a:p>
            <a:r>
              <a:rPr lang="en-US" altLang="zh-CN" dirty="0"/>
              <a:t>S → 0</a:t>
            </a:r>
            <a:r>
              <a:rPr lang="zh-CN" altLang="en-US" dirty="0"/>
              <a:t>　</a:t>
            </a:r>
          </a:p>
          <a:p>
            <a:r>
              <a:rPr lang="zh-CN" altLang="en-US" dirty="0"/>
              <a:t>产生语言：</a:t>
            </a:r>
            <a:endParaRPr lang="en-US" altLang="zh-CN" dirty="0"/>
          </a:p>
          <a:p>
            <a:r>
              <a:rPr lang="en-US" altLang="zh-CN" dirty="0"/>
              <a:t>L = { 0</a:t>
            </a:r>
            <a:r>
              <a:rPr lang="en-US" altLang="zh-CN" baseline="30000" dirty="0"/>
              <a:t>n</a:t>
            </a:r>
            <a:r>
              <a:rPr lang="en-US" altLang="zh-CN" dirty="0"/>
              <a:t> | n&gt;0 }</a:t>
            </a:r>
          </a:p>
        </p:txBody>
      </p:sp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文法产生语言例子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</a:p>
          <a:p>
            <a:r>
              <a:rPr lang="en-US" altLang="zh-CN" dirty="0"/>
              <a:t>S → 0S</a:t>
            </a:r>
          </a:p>
          <a:p>
            <a:r>
              <a:rPr lang="en-US" altLang="zh-CN" dirty="0"/>
              <a:t>S → ε</a:t>
            </a:r>
          </a:p>
          <a:p>
            <a:r>
              <a:rPr lang="zh-CN" altLang="en-US" dirty="0"/>
              <a:t>该文法产生语言：</a:t>
            </a:r>
            <a:endParaRPr lang="en-US" altLang="zh-CN" dirty="0"/>
          </a:p>
          <a:p>
            <a:r>
              <a:rPr lang="en-US" altLang="zh-CN" dirty="0"/>
              <a:t>L = { 0</a:t>
            </a:r>
            <a:r>
              <a:rPr lang="en-US" altLang="zh-CN" baseline="30000" dirty="0"/>
              <a:t>n</a:t>
            </a:r>
            <a:r>
              <a:rPr lang="en-US" altLang="zh-CN" dirty="0"/>
              <a:t> | n≥0 }</a:t>
            </a:r>
            <a:endParaRPr lang="zh-CN" altLang="en-US" dirty="0"/>
          </a:p>
          <a:p>
            <a:r>
              <a:rPr lang="zh-CN" altLang="en-US" dirty="0"/>
              <a:t> 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文法产生语言例子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aSb</a:t>
            </a:r>
            <a:endParaRPr lang="en-US" altLang="zh-CN" dirty="0"/>
          </a:p>
          <a:p>
            <a:r>
              <a:rPr lang="en-US" altLang="zh-CN" dirty="0"/>
              <a:t>S → ab</a:t>
            </a:r>
          </a:p>
          <a:p>
            <a:r>
              <a:rPr lang="zh-CN" altLang="en-US" dirty="0"/>
              <a:t>产生语言：</a:t>
            </a:r>
          </a:p>
          <a:p>
            <a:r>
              <a:rPr lang="en-US" altLang="zh-CN" dirty="0"/>
              <a:t>L = { 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n</a:t>
            </a:r>
            <a:r>
              <a:rPr lang="en-US" altLang="zh-CN" dirty="0"/>
              <a:t> | n&gt;0 }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文法产生语言例子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文法：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aS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bS</a:t>
            </a:r>
            <a:endParaRPr lang="en-US" altLang="zh-CN" dirty="0"/>
          </a:p>
          <a:p>
            <a:r>
              <a:rPr lang="en-US" altLang="zh-CN" dirty="0"/>
              <a:t>S → ε</a:t>
            </a:r>
          </a:p>
          <a:p>
            <a:r>
              <a:rPr lang="zh-CN" altLang="en-US" dirty="0"/>
              <a:t>产生语言</a:t>
            </a:r>
          </a:p>
          <a:p>
            <a:r>
              <a:rPr lang="en-US" altLang="zh-CN" dirty="0"/>
              <a:t>L = {a</a:t>
            </a:r>
            <a:r>
              <a:rPr lang="zh-CN" altLang="en-US" dirty="0"/>
              <a:t>，</a:t>
            </a:r>
            <a:r>
              <a:rPr lang="en-US" altLang="zh-CN" dirty="0"/>
              <a:t>b}</a:t>
            </a:r>
            <a:r>
              <a:rPr lang="en-US" altLang="zh-CN" baseline="30000" dirty="0"/>
              <a:t>*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文法产生语言例子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字母表</a:t>
            </a:r>
            <a:r>
              <a:rPr lang="en-US" altLang="zh-CN" dirty="0"/>
              <a:t>{a</a:t>
            </a:r>
            <a:r>
              <a:rPr lang="zh-CN" altLang="en-US" dirty="0"/>
              <a:t>，</a:t>
            </a:r>
            <a:r>
              <a:rPr lang="en-US" altLang="zh-CN" dirty="0"/>
              <a:t>b}</a:t>
            </a:r>
            <a:r>
              <a:rPr lang="zh-CN" altLang="en-US" dirty="0"/>
              <a:t>上所有对称的</a:t>
            </a:r>
            <a:r>
              <a:rPr lang="zh-CN" altLang="en-US" dirty="0">
                <a:solidFill>
                  <a:srgbClr val="EE853E"/>
                </a:solidFill>
              </a:rPr>
              <a:t>非空串</a:t>
            </a:r>
            <a:r>
              <a:rPr lang="zh-CN" altLang="en-US" dirty="0"/>
              <a:t>组成的语言（没有中心点）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构造文法产生该语言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构造文法，产生指定语言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EE853E"/>
                </a:solidFill>
              </a:rPr>
              <a:t>aa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EE853E"/>
                </a:solidFill>
              </a:rPr>
              <a:t>bb</a:t>
            </a:r>
            <a:r>
              <a:rPr lang="zh-CN" altLang="en-US" dirty="0"/>
              <a:t>是最基本的句子。</a:t>
            </a:r>
          </a:p>
          <a:p>
            <a:r>
              <a:rPr lang="zh-CN" altLang="en-US" dirty="0"/>
              <a:t>如果</a:t>
            </a:r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zh-CN" altLang="en-US" dirty="0"/>
              <a:t>是句子，则</a:t>
            </a:r>
            <a:r>
              <a:rPr lang="en-US" altLang="zh-CN" dirty="0" err="1">
                <a:solidFill>
                  <a:srgbClr val="EE853E"/>
                </a:solidFill>
              </a:rPr>
              <a:t>aSa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EE853E"/>
                </a:solidFill>
              </a:rPr>
              <a:t>bSb</a:t>
            </a:r>
            <a:r>
              <a:rPr lang="zh-CN" altLang="en-US" dirty="0"/>
              <a:t>是句子</a:t>
            </a:r>
            <a:endParaRPr lang="en-US" altLang="zh-CN" dirty="0"/>
          </a:p>
          <a:p>
            <a:r>
              <a:rPr lang="zh-CN" altLang="en-US" dirty="0"/>
              <a:t>得到文法：</a:t>
            </a:r>
          </a:p>
          <a:p>
            <a:r>
              <a:rPr lang="en-US" altLang="zh-CN" dirty="0"/>
              <a:t>S → aa</a:t>
            </a:r>
          </a:p>
          <a:p>
            <a:r>
              <a:rPr lang="en-US" altLang="zh-CN" dirty="0"/>
              <a:t>S → bb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aSa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bSb</a:t>
            </a:r>
            <a:endParaRPr lang="en-US" altLang="zh-CN" dirty="0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(1) </a:t>
            </a:r>
            <a:r>
              <a:rPr lang="zh-CN" altLang="en-US" dirty="0"/>
              <a:t>文法</a:t>
            </a:r>
          </a:p>
          <a:p>
            <a:r>
              <a:rPr lang="en-US" altLang="zh-CN" dirty="0" err="1"/>
              <a:t>S→aSa</a:t>
            </a:r>
            <a:endParaRPr lang="en-US" altLang="zh-CN" dirty="0"/>
          </a:p>
          <a:p>
            <a:r>
              <a:rPr lang="en-US" altLang="zh-CN" dirty="0" err="1"/>
              <a:t>S→bSb</a:t>
            </a:r>
            <a:endParaRPr lang="en-US" altLang="zh-CN" dirty="0"/>
          </a:p>
          <a:p>
            <a:r>
              <a:rPr lang="en-US" altLang="zh-CN" dirty="0" err="1"/>
              <a:t>S→a</a:t>
            </a:r>
            <a:endParaRPr lang="en-US" altLang="zh-CN" dirty="0"/>
          </a:p>
          <a:p>
            <a:r>
              <a:rPr lang="en-US" altLang="zh-CN" dirty="0" err="1"/>
              <a:t>S→b</a:t>
            </a:r>
            <a:endParaRPr lang="en-US" altLang="zh-CN" dirty="0"/>
          </a:p>
          <a:p>
            <a:r>
              <a:rPr lang="zh-CN" altLang="en-US" dirty="0"/>
              <a:t>产生的语言是什么？</a:t>
            </a: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(2) </a:t>
            </a:r>
            <a:r>
              <a:rPr lang="zh-CN" altLang="en-US" dirty="0"/>
              <a:t>文法</a:t>
            </a:r>
          </a:p>
          <a:p>
            <a:r>
              <a:rPr lang="en-US" altLang="zh-CN" dirty="0"/>
              <a:t>S → </a:t>
            </a:r>
            <a:r>
              <a:rPr lang="en-US" altLang="zh-CN" dirty="0" err="1"/>
              <a:t>aSa</a:t>
            </a:r>
            <a:endParaRPr lang="en-US" altLang="zh-CN" dirty="0"/>
          </a:p>
          <a:p>
            <a:r>
              <a:rPr lang="en-US" altLang="zh-CN" dirty="0"/>
              <a:t>S → </a:t>
            </a:r>
            <a:r>
              <a:rPr lang="en-US" altLang="zh-CN" dirty="0" err="1"/>
              <a:t>bSb</a:t>
            </a:r>
            <a:endParaRPr lang="en-US" altLang="zh-CN" dirty="0"/>
          </a:p>
          <a:p>
            <a:r>
              <a:rPr lang="en-US" altLang="zh-CN" dirty="0"/>
              <a:t>S → ε</a:t>
            </a:r>
          </a:p>
          <a:p>
            <a:r>
              <a:rPr lang="zh-CN" altLang="en-US" dirty="0"/>
              <a:t>产生的语言是什么？</a:t>
            </a:r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思路：</a:t>
            </a:r>
            <a:endParaRPr lang="en-US" altLang="zh-CN" dirty="0"/>
          </a:p>
          <a:p>
            <a:r>
              <a:rPr lang="zh-CN" altLang="en-US" dirty="0"/>
              <a:t>确定顺序，再调整个数</a:t>
            </a:r>
            <a:endParaRPr lang="en-US" altLang="zh-CN" dirty="0"/>
          </a:p>
          <a:p>
            <a:r>
              <a:rPr lang="en-US" altLang="zh-CN" dirty="0"/>
              <a:t> S→ABC</a:t>
            </a:r>
          </a:p>
          <a:p>
            <a:r>
              <a:rPr lang="en-US" altLang="zh-CN" dirty="0"/>
              <a:t> </a:t>
            </a:r>
            <a:r>
              <a:rPr lang="en-US" altLang="zh-CN" dirty="0" err="1"/>
              <a:t>A→a|aA</a:t>
            </a:r>
            <a:r>
              <a:rPr lang="en-US" altLang="zh-CN" dirty="0"/>
              <a:t>  </a:t>
            </a:r>
            <a:r>
              <a:rPr lang="en-US" altLang="zh-CN" dirty="0" err="1"/>
              <a:t>B→b|bB</a:t>
            </a:r>
            <a:r>
              <a:rPr lang="en-US" altLang="zh-CN" dirty="0"/>
              <a:t>  </a:t>
            </a:r>
            <a:r>
              <a:rPr lang="en-US" altLang="zh-CN" dirty="0" err="1"/>
              <a:t>C→c|cC</a:t>
            </a:r>
            <a:r>
              <a:rPr lang="en-US" altLang="zh-CN" dirty="0"/>
              <a:t>     </a:t>
            </a:r>
          </a:p>
          <a:p>
            <a:r>
              <a:rPr lang="zh-CN" altLang="en-US" dirty="0">
                <a:solidFill>
                  <a:srgbClr val="EE853E"/>
                </a:solidFill>
              </a:rPr>
              <a:t>确定个数，再调整顺序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S→SABC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S→ASBC </a:t>
            </a:r>
          </a:p>
          <a:p>
            <a:r>
              <a:rPr lang="en-US" altLang="zh-CN" dirty="0">
                <a:solidFill>
                  <a:srgbClr val="EE853E"/>
                </a:solidFill>
              </a:rPr>
              <a:t>S→ABSC </a:t>
            </a:r>
          </a:p>
          <a:p>
            <a:r>
              <a:rPr lang="en-US" altLang="zh-CN" dirty="0"/>
              <a:t>S→ABCS  </a:t>
            </a:r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  <a:r>
              <a:rPr lang="en-US" altLang="zh-CN" dirty="0"/>
              <a:t>:</a:t>
            </a:r>
            <a:r>
              <a:rPr lang="zh-CN" altLang="en-US" dirty="0"/>
              <a:t>产生语言</a:t>
            </a:r>
            <a:r>
              <a:rPr lang="en-US" altLang="zh-CN" dirty="0"/>
              <a:t>L(G)={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c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|n</a:t>
            </a:r>
            <a:r>
              <a:rPr lang="en-US" altLang="zh-CN" dirty="0"/>
              <a:t>&gt;0}</a:t>
            </a:r>
            <a:r>
              <a:rPr lang="zh-CN" altLang="en-US" dirty="0"/>
              <a:t>的文法：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产生语言</a:t>
            </a:r>
            <a:r>
              <a:rPr lang="en-US" altLang="zh-CN" dirty="0"/>
              <a:t>L(G)={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c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|n</a:t>
            </a:r>
            <a:r>
              <a:rPr lang="en-US" altLang="zh-CN" dirty="0"/>
              <a:t>&gt;0}</a:t>
            </a:r>
            <a:r>
              <a:rPr lang="zh-CN" altLang="en-US" dirty="0"/>
              <a:t>的文法：</a:t>
            </a:r>
            <a:endParaRPr lang="en-US" altLang="zh-CN" dirty="0"/>
          </a:p>
          <a:p>
            <a:r>
              <a:rPr lang="en-US" altLang="zh-CN" dirty="0" err="1"/>
              <a:t>S→aSBC</a:t>
            </a:r>
            <a:r>
              <a:rPr lang="en-US" altLang="zh-CN" dirty="0"/>
              <a:t> </a:t>
            </a:r>
          </a:p>
          <a:p>
            <a:r>
              <a:rPr lang="en-US" altLang="zh-CN" dirty="0" err="1"/>
              <a:t>S→aBC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CB→BC</a:t>
            </a:r>
          </a:p>
          <a:p>
            <a:r>
              <a:rPr lang="en-US" altLang="zh-CN" dirty="0" err="1"/>
              <a:t>aB→ab</a:t>
            </a:r>
            <a:endParaRPr lang="en-US" altLang="zh-CN" dirty="0"/>
          </a:p>
          <a:p>
            <a:r>
              <a:rPr lang="en-US" altLang="zh-CN" dirty="0" err="1"/>
              <a:t>bB→bb</a:t>
            </a:r>
            <a:endParaRPr lang="en-US" altLang="zh-CN" dirty="0"/>
          </a:p>
          <a:p>
            <a:r>
              <a:rPr lang="en-US" altLang="zh-CN" dirty="0" err="1"/>
              <a:t>bC→bc</a:t>
            </a:r>
            <a:endParaRPr lang="en-US" altLang="zh-CN" dirty="0"/>
          </a:p>
          <a:p>
            <a:r>
              <a:rPr lang="en-US" altLang="zh-CN" dirty="0" err="1"/>
              <a:t>cC→cc</a:t>
            </a:r>
            <a:endParaRPr lang="en-US" altLang="zh-CN" dirty="0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101707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62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62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562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562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5621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上述文法的后</a:t>
            </a:r>
            <a:r>
              <a:rPr lang="en-US" altLang="zh-CN" dirty="0"/>
              <a:t>3</a:t>
            </a:r>
            <a:r>
              <a:rPr lang="zh-CN" altLang="en-US" dirty="0"/>
              <a:t>个产生式</a:t>
            </a:r>
          </a:p>
          <a:p>
            <a:r>
              <a:rPr lang="en-US" altLang="zh-CN" dirty="0" err="1"/>
              <a:t>bB→bb</a:t>
            </a:r>
            <a:endParaRPr lang="en-US" altLang="zh-CN" dirty="0"/>
          </a:p>
          <a:p>
            <a:r>
              <a:rPr lang="en-US" altLang="zh-CN" dirty="0" err="1"/>
              <a:t>bC→bc</a:t>
            </a:r>
            <a:endParaRPr lang="en-US" altLang="zh-CN" dirty="0"/>
          </a:p>
          <a:p>
            <a:r>
              <a:rPr lang="en-US" altLang="zh-CN" dirty="0" err="1"/>
              <a:t>cC→cc</a:t>
            </a:r>
            <a:endParaRPr lang="en-US" altLang="zh-CN" dirty="0"/>
          </a:p>
          <a:p>
            <a:r>
              <a:rPr lang="zh-CN" altLang="en-US" dirty="0"/>
              <a:t>是否可以改为</a:t>
            </a:r>
          </a:p>
          <a:p>
            <a:r>
              <a:rPr lang="en-US" altLang="zh-CN" dirty="0" err="1">
                <a:solidFill>
                  <a:srgbClr val="EE853E"/>
                </a:solidFill>
              </a:rPr>
              <a:t>B→b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>
                <a:solidFill>
                  <a:srgbClr val="EE853E"/>
                </a:solidFill>
              </a:rPr>
              <a:t>C→c</a:t>
            </a:r>
            <a:r>
              <a:rPr lang="en-US" altLang="zh-CN" dirty="0"/>
              <a:t> </a:t>
            </a:r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思考：上下文相关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</a:t>
            </a:r>
            <a:r>
              <a:rPr lang="en-US" altLang="zh-CN" dirty="0" err="1"/>
              <a:t>abc</a:t>
            </a:r>
            <a:r>
              <a:rPr lang="en-US" altLang="zh-CN" dirty="0"/>
              <a:t> | </a:t>
            </a:r>
            <a:r>
              <a:rPr lang="en-US" altLang="zh-CN" dirty="0" err="1"/>
              <a:t>aSBc</a:t>
            </a:r>
            <a:r>
              <a:rPr lang="en-US" altLang="zh-CN" dirty="0"/>
              <a:t>         </a:t>
            </a:r>
          </a:p>
          <a:p>
            <a:r>
              <a:rPr lang="en-US" altLang="zh-CN" dirty="0" err="1"/>
              <a:t>cB</a:t>
            </a:r>
            <a:r>
              <a:rPr lang="en-US" altLang="zh-CN" dirty="0"/>
              <a:t> → </a:t>
            </a:r>
            <a:r>
              <a:rPr lang="en-US" altLang="zh-CN" dirty="0" err="1"/>
              <a:t>Bc</a:t>
            </a:r>
            <a:endParaRPr lang="en-US" altLang="zh-CN" dirty="0"/>
          </a:p>
          <a:p>
            <a:r>
              <a:rPr lang="en-US" altLang="zh-CN" dirty="0" err="1"/>
              <a:t>aB</a:t>
            </a:r>
            <a:r>
              <a:rPr lang="en-US" altLang="zh-CN" dirty="0"/>
              <a:t> → ab</a:t>
            </a:r>
          </a:p>
          <a:p>
            <a:r>
              <a:rPr lang="en-US" altLang="zh-CN" dirty="0" err="1"/>
              <a:t>bB</a:t>
            </a:r>
            <a:r>
              <a:rPr lang="en-US" altLang="zh-CN" dirty="0"/>
              <a:t> → bb </a:t>
            </a: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上例还可以简化为</a:t>
            </a:r>
            <a:endParaRPr lang="zh-CN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补充文法</a:t>
            </a:r>
            <a:r>
              <a:rPr lang="en-US" altLang="zh-CN" dirty="0"/>
              <a:t>G</a:t>
            </a:r>
            <a:r>
              <a:rPr lang="zh-CN" altLang="en-US" dirty="0"/>
              <a:t>，使得</a:t>
            </a:r>
            <a:r>
              <a:rPr lang="en-US" altLang="zh-CN" dirty="0"/>
              <a:t>L(G) = { </a:t>
            </a:r>
            <a:r>
              <a:rPr lang="en-US" altLang="zh-CN" dirty="0" err="1"/>
              <a:t>a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n</a:t>
            </a:r>
            <a:r>
              <a:rPr lang="en-US" altLang="zh-CN" dirty="0" err="1"/>
              <a:t>c</a:t>
            </a:r>
            <a:r>
              <a:rPr lang="en-US" altLang="zh-CN" baseline="30000" dirty="0" err="1"/>
              <a:t>n</a:t>
            </a:r>
            <a:r>
              <a:rPr lang="en-US" altLang="zh-CN" dirty="0"/>
              <a:t> | n&gt;0 }</a:t>
            </a:r>
          </a:p>
          <a:p>
            <a:r>
              <a:rPr lang="en-US" altLang="zh-CN" dirty="0"/>
              <a:t> S → </a:t>
            </a:r>
            <a:r>
              <a:rPr lang="en-US" altLang="zh-CN" dirty="0" err="1"/>
              <a:t>aB</a:t>
            </a:r>
            <a:r>
              <a:rPr lang="en-US" altLang="zh-CN" dirty="0" err="1">
                <a:solidFill>
                  <a:srgbClr val="EE853E"/>
                </a:solidFill>
              </a:rPr>
              <a:t>S</a:t>
            </a:r>
            <a:r>
              <a:rPr lang="en-US" altLang="zh-CN" dirty="0" err="1"/>
              <a:t>c</a:t>
            </a:r>
            <a:endParaRPr lang="en-US" altLang="zh-CN" dirty="0"/>
          </a:p>
          <a:p>
            <a:r>
              <a:rPr lang="en-US" altLang="zh-CN" dirty="0"/>
              <a:t> S → </a:t>
            </a:r>
            <a:r>
              <a:rPr lang="en-US" altLang="zh-CN" dirty="0" err="1"/>
              <a:t>aBc</a:t>
            </a:r>
            <a:endParaRPr lang="en-US" altLang="zh-CN" dirty="0"/>
          </a:p>
          <a:p>
            <a:r>
              <a:rPr lang="en-US" altLang="zh-CN" dirty="0"/>
              <a:t> Ba → ?</a:t>
            </a:r>
          </a:p>
          <a:p>
            <a:r>
              <a:rPr lang="en-US" altLang="zh-CN" dirty="0"/>
              <a:t> …</a:t>
            </a:r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104C0DC-243B-424A-82D2-D733B8052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对一个</a:t>
            </a:r>
            <a:r>
              <a:rPr lang="zh-CN" altLang="en-US" dirty="0">
                <a:solidFill>
                  <a:srgbClr val="EE853E"/>
                </a:solidFill>
              </a:rPr>
              <a:t>句子</a:t>
            </a:r>
            <a:r>
              <a:rPr lang="en-US" altLang="zh-CN" dirty="0">
                <a:solidFill>
                  <a:srgbClr val="EE853E"/>
                </a:solidFill>
              </a:rPr>
              <a:t>/</a:t>
            </a:r>
            <a:r>
              <a:rPr lang="zh-CN" altLang="en-US" dirty="0">
                <a:solidFill>
                  <a:srgbClr val="EE853E"/>
                </a:solidFill>
              </a:rPr>
              <a:t>句型</a:t>
            </a:r>
            <a:r>
              <a:rPr lang="zh-CN" altLang="en-US" dirty="0"/>
              <a:t>的推导过程不止一种，可以用一棵树来表示多种不同的推导，称为</a:t>
            </a:r>
            <a:r>
              <a:rPr lang="zh-CN" altLang="en-US" dirty="0">
                <a:solidFill>
                  <a:srgbClr val="EE853E"/>
                </a:solidFill>
              </a:rPr>
              <a:t>语法树</a:t>
            </a:r>
            <a:r>
              <a:rPr lang="zh-CN" altLang="en-US" dirty="0"/>
              <a:t>（也称为</a:t>
            </a:r>
            <a:r>
              <a:rPr lang="zh-CN" altLang="en-US" dirty="0">
                <a:solidFill>
                  <a:srgbClr val="EE853E"/>
                </a:solidFill>
              </a:rPr>
              <a:t>推导树</a:t>
            </a:r>
            <a:r>
              <a:rPr lang="zh-CN" altLang="en-US" dirty="0"/>
              <a:t>）。语法树可以表示一个句子</a:t>
            </a:r>
            <a:r>
              <a:rPr lang="en-US" altLang="zh-CN" dirty="0"/>
              <a:t>/</a:t>
            </a:r>
            <a:r>
              <a:rPr lang="zh-CN" altLang="en-US" dirty="0"/>
              <a:t>句型</a:t>
            </a:r>
            <a:r>
              <a:rPr lang="zh-CN" altLang="en-US" dirty="0">
                <a:solidFill>
                  <a:srgbClr val="EE853E"/>
                </a:solidFill>
              </a:rPr>
              <a:t>语法结构</a:t>
            </a:r>
            <a:r>
              <a:rPr lang="zh-CN" altLang="en-US" dirty="0"/>
              <a:t>的层次。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语法树是一棵倒置的树，结点是文法</a:t>
            </a:r>
            <a:r>
              <a:rPr lang="en-US" altLang="zh-CN" dirty="0"/>
              <a:t>G</a:t>
            </a:r>
            <a:r>
              <a:rPr lang="zh-CN" altLang="en-US" dirty="0"/>
              <a:t>的非终结符或终结符；根结点是文法的开始符；每个</a:t>
            </a:r>
            <a:r>
              <a:rPr lang="zh-CN" altLang="en-US" dirty="0">
                <a:solidFill>
                  <a:srgbClr val="EE853E"/>
                </a:solidFill>
              </a:rPr>
              <a:t>结点</a:t>
            </a:r>
            <a:r>
              <a:rPr lang="zh-CN" altLang="en-US" dirty="0"/>
              <a:t>与其</a:t>
            </a:r>
            <a:r>
              <a:rPr lang="zh-CN" altLang="en-US" dirty="0">
                <a:solidFill>
                  <a:srgbClr val="EE853E"/>
                </a:solidFill>
              </a:rPr>
              <a:t>子结点</a:t>
            </a:r>
            <a:r>
              <a:rPr lang="zh-CN" altLang="en-US" dirty="0"/>
              <a:t>都符合某个</a:t>
            </a:r>
            <a:r>
              <a:rPr lang="zh-CN" altLang="en-US" dirty="0">
                <a:solidFill>
                  <a:srgbClr val="EE853E"/>
                </a:solidFill>
              </a:rPr>
              <a:t>产生式</a:t>
            </a:r>
            <a:r>
              <a:rPr lang="zh-CN" altLang="en-US" dirty="0"/>
              <a:t>的关系。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语法树的</a:t>
            </a:r>
            <a:r>
              <a:rPr lang="zh-CN" altLang="en-US" dirty="0">
                <a:solidFill>
                  <a:srgbClr val="EE853E"/>
                </a:solidFill>
              </a:rPr>
              <a:t>边缘</a:t>
            </a:r>
            <a:r>
              <a:rPr lang="zh-CN" altLang="en-US" dirty="0"/>
              <a:t>：语法树的所有</a:t>
            </a:r>
            <a:r>
              <a:rPr lang="zh-CN" altLang="en-US" dirty="0">
                <a:solidFill>
                  <a:srgbClr val="EE853E"/>
                </a:solidFill>
              </a:rPr>
              <a:t>叶结点</a:t>
            </a:r>
            <a:r>
              <a:rPr lang="zh-CN" altLang="en-US" dirty="0"/>
              <a:t>从左到右的连接。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71A8F7-1C18-47D8-97A1-BCBA8F36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</a:p>
        </p:txBody>
      </p:sp>
    </p:spTree>
    <p:extLst>
      <p:ext uri="{BB962C8B-B14F-4D97-AF65-F5344CB8AC3E}">
        <p14:creationId xmlns:p14="http://schemas.microsoft.com/office/powerpoint/2010/main" val="194183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F4CEFFB-46DB-473A-B7E5-64FD8F288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zh-CN" altLang="en-US" dirty="0"/>
              <a:t>对于文法</a:t>
            </a:r>
          </a:p>
          <a:p>
            <a:r>
              <a:rPr lang="en-US" altLang="zh-CN" dirty="0"/>
              <a:t>E → E + E │ E * E │ ( E ) │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句子 </a:t>
            </a:r>
            <a:r>
              <a:rPr lang="en-US" altLang="zh-CN" dirty="0" err="1"/>
              <a:t>i+i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的语法树为：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E0775B-6B3B-4702-9394-5ED23BC8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4" name="Text Box 34">
            <a:extLst>
              <a:ext uri="{FF2B5EF4-FFF2-40B4-BE49-F238E27FC236}">
                <a16:creationId xmlns:a16="http://schemas.microsoft.com/office/drawing/2014/main" id="{B90D350C-6E69-4593-A071-F98E95304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149" y="2700336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" name="Line 36">
            <a:extLst>
              <a:ext uri="{FF2B5EF4-FFF2-40B4-BE49-F238E27FC236}">
                <a16:creationId xmlns:a16="http://schemas.microsoft.com/office/drawing/2014/main" id="{1601F5D5-C148-4BEE-A439-3415BF1195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3082925"/>
            <a:ext cx="6858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Line 37">
            <a:extLst>
              <a:ext uri="{FF2B5EF4-FFF2-40B4-BE49-F238E27FC236}">
                <a16:creationId xmlns:a16="http://schemas.microsoft.com/office/drawing/2014/main" id="{3671BF04-147C-4B5D-9025-17E7493EA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082925"/>
            <a:ext cx="68580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9A197E37-C081-4F11-9D98-6AD24F8350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3159125"/>
            <a:ext cx="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A1DB0F82-3A73-4A10-8208-551D17B4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438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0648BD29-FA8A-4E99-8F6C-DA77C9E93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4948" y="350520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83CBD91D-1840-4079-8AF8-DBEDD0EB85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288" y="3486090"/>
            <a:ext cx="3802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11" name="Line 42">
            <a:extLst>
              <a:ext uri="{FF2B5EF4-FFF2-40B4-BE49-F238E27FC236}">
                <a16:creationId xmlns:a16="http://schemas.microsoft.com/office/drawing/2014/main" id="{1ACD621D-F09D-4C6F-9A44-221E03C51C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3810000"/>
            <a:ext cx="6096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43">
            <a:extLst>
              <a:ext uri="{FF2B5EF4-FFF2-40B4-BE49-F238E27FC236}">
                <a16:creationId xmlns:a16="http://schemas.microsoft.com/office/drawing/2014/main" id="{A4B85C0A-BB94-428A-9270-891649893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3810000"/>
            <a:ext cx="5334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Line 44">
            <a:extLst>
              <a:ext uri="{FF2B5EF4-FFF2-40B4-BE49-F238E27FC236}">
                <a16:creationId xmlns:a16="http://schemas.microsoft.com/office/drawing/2014/main" id="{C819377D-D5E5-4335-A46E-7C3F54CD9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3886200"/>
            <a:ext cx="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5B9FB6DF-7056-48E6-B066-706F65707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17189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62E6084B-87ED-4276-BE3D-75AA0346F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073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F891978C-F8F6-48EA-AB6E-CB6E14EB5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088" y="4324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17" name="Line 48">
            <a:extLst>
              <a:ext uri="{FF2B5EF4-FFF2-40B4-BE49-F238E27FC236}">
                <a16:creationId xmlns:a16="http://schemas.microsoft.com/office/drawing/2014/main" id="{C03E9C4D-2D5E-4F90-98E7-F31BE36551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4572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Line 49">
            <a:extLst>
              <a:ext uri="{FF2B5EF4-FFF2-40B4-BE49-F238E27FC236}">
                <a16:creationId xmlns:a16="http://schemas.microsoft.com/office/drawing/2014/main" id="{9C18488B-10EC-4382-990E-D9315BA01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4530725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 Box 50">
            <a:extLst>
              <a:ext uri="{FF2B5EF4-FFF2-40B4-BE49-F238E27FC236}">
                <a16:creationId xmlns:a16="http://schemas.microsoft.com/office/drawing/2014/main" id="{0E3B5BC2-7076-4DE8-950F-16A24D639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7480" y="5086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4E42B07B-5A76-4011-A169-34DC4158E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02920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73114607-9C4D-404A-9A0A-9BD25023D7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810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BD20BD6A-9573-4BF1-8DA6-EA454776F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378325"/>
            <a:ext cx="309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908074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9FEA995-1557-4948-85EC-873355B6B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句型</a:t>
            </a:r>
            <a:r>
              <a:rPr lang="en-US" altLang="zh-CN" dirty="0">
                <a:solidFill>
                  <a:srgbClr val="EE853E"/>
                </a:solidFill>
              </a:rPr>
              <a:t>/</a:t>
            </a:r>
            <a:r>
              <a:rPr lang="zh-CN" altLang="en-US" dirty="0">
                <a:solidFill>
                  <a:srgbClr val="EE853E"/>
                </a:solidFill>
              </a:rPr>
              <a:t>句子</a:t>
            </a:r>
            <a:r>
              <a:rPr lang="zh-CN" altLang="en-US" dirty="0"/>
              <a:t>：语法树的边缘。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短语</a:t>
            </a:r>
            <a:r>
              <a:rPr lang="zh-CN" altLang="en-US" dirty="0"/>
              <a:t>：任意子树的边缘。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直接短语</a:t>
            </a:r>
            <a:r>
              <a:rPr lang="zh-CN" altLang="en-US" dirty="0"/>
              <a:t>：有且仅有两层的子树的边缘。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句柄</a:t>
            </a:r>
            <a:r>
              <a:rPr lang="zh-CN" altLang="en-US" dirty="0"/>
              <a:t>：位于最左边的直接短语。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素短语</a:t>
            </a:r>
            <a:r>
              <a:rPr lang="zh-CN" altLang="en-US" dirty="0"/>
              <a:t>：最小的包含终结符的短语。</a:t>
            </a:r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最左素短语</a:t>
            </a:r>
            <a:r>
              <a:rPr lang="zh-CN" altLang="en-US" dirty="0"/>
              <a:t>：位于最左边的素短语。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649490B-8C56-4B5A-AEB6-8ADCF79F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相关术语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0117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048DA14-5094-4FBD-A8C9-AD4F1D4DB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文法</a:t>
            </a:r>
            <a:r>
              <a:rPr lang="en-US" altLang="zh-CN" dirty="0"/>
              <a:t>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	E → </a:t>
            </a:r>
            <a:r>
              <a:rPr lang="en-US" altLang="zh-CN" dirty="0" err="1"/>
              <a:t>E+T</a:t>
            </a:r>
            <a:r>
              <a:rPr lang="en-US" altLang="zh-CN" dirty="0"/>
              <a:t> | T</a:t>
            </a:r>
          </a:p>
          <a:p>
            <a:r>
              <a:rPr lang="en-US" altLang="zh-CN" dirty="0"/>
              <a:t>	T → T*F | F</a:t>
            </a:r>
          </a:p>
          <a:p>
            <a:r>
              <a:rPr lang="en-US" altLang="zh-CN" dirty="0"/>
              <a:t>	F → (E) | </a:t>
            </a:r>
            <a:r>
              <a:rPr lang="en-US" altLang="zh-CN" dirty="0" err="1"/>
              <a:t>i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求句型 </a:t>
            </a:r>
            <a:r>
              <a:rPr lang="en-US" altLang="zh-CN" dirty="0"/>
              <a:t>T*</a:t>
            </a:r>
            <a:r>
              <a:rPr lang="en-US" altLang="zh-CN" dirty="0" err="1"/>
              <a:t>F+i</a:t>
            </a:r>
            <a:r>
              <a:rPr lang="en-US" altLang="zh-CN" dirty="0"/>
              <a:t> </a:t>
            </a:r>
            <a:r>
              <a:rPr lang="zh-CN" altLang="en-US" dirty="0"/>
              <a:t>的：</a:t>
            </a:r>
            <a:endParaRPr lang="en-US" altLang="zh-CN" dirty="0"/>
          </a:p>
          <a:p>
            <a:r>
              <a:rPr lang="zh-CN" altLang="en-US" dirty="0"/>
              <a:t>短语、直接短语、句柄、最左素短语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494CD68-3142-49F8-BE26-5BABFDAF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06C14572-4AC7-4D17-A4A8-DD82F6410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295400"/>
            <a:ext cx="5562600" cy="32766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3B91CC8-DB02-4B84-83EF-C6462D8410DA}"/>
              </a:ext>
            </a:extLst>
          </p:cNvPr>
          <p:cNvGrpSpPr>
            <a:grpSpLocks/>
          </p:cNvGrpSpPr>
          <p:nvPr/>
        </p:nvGrpSpPr>
        <p:grpSpPr bwMode="auto">
          <a:xfrm>
            <a:off x="6438797" y="1295400"/>
            <a:ext cx="2749550" cy="2971800"/>
            <a:chOff x="1498" y="1440"/>
            <a:chExt cx="1732" cy="1872"/>
          </a:xfrm>
        </p:grpSpPr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AF63856A-5F0A-4266-B330-9B707C559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40"/>
              <a:ext cx="2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8CF1ADBA-94A8-4A2B-BA40-E7C65B92C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4" y="1654"/>
              <a:ext cx="432" cy="24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2C02852-1F6F-4B1D-B6AE-B7DFA28E1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8" y="1654"/>
              <a:ext cx="432" cy="28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08EE32CB-C6C5-4659-9DFC-EC7E03DA9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702"/>
              <a:ext cx="1" cy="24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6E29FC2C-80EB-47E2-A563-118C171EF0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1846"/>
              <a:ext cx="2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C3C3187B-43F8-4D09-AA08-39C4E58E5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" y="1894"/>
              <a:ext cx="2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solidFill>
                    <a:schemeClr val="bg1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2BF0BDA2-CBD8-4F1C-A73B-B13B72F2F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" y="1920"/>
              <a:ext cx="226" cy="29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>
                  <a:solidFill>
                    <a:schemeClr val="bg1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C680606E-3066-4D73-95DC-58D43B428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2" y="2592"/>
              <a:ext cx="288" cy="3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0A790B5D-1ED3-4155-8706-3318338B2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2" y="2592"/>
              <a:ext cx="288" cy="38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50A7468F-E49A-4C9F-99C0-CF72E16C7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2086"/>
              <a:ext cx="1" cy="288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F6775CDB-D24C-4D81-95B4-5F4DABEB67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2400"/>
              <a:ext cx="2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0E1F822-AE40-481B-853F-51EC86FFF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6" y="2688"/>
              <a:ext cx="1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Text Box 18">
              <a:extLst>
                <a:ext uri="{FF2B5EF4-FFF2-40B4-BE49-F238E27FC236}">
                  <a16:creationId xmlns:a16="http://schemas.microsoft.com/office/drawing/2014/main" id="{FCBD17E6-932E-478B-9855-8120BC6C0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8" y="2928"/>
              <a:ext cx="24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6F5B06D9-90DF-43F7-83DD-3ECF2517B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" y="2976"/>
              <a:ext cx="23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872489A2-2A91-421B-BCFB-63DB26E6E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2134"/>
              <a:ext cx="1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64D226A5-E297-41FD-B293-AF2B940D8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" y="2470"/>
              <a:ext cx="23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0DEEA79-A197-46F9-BE5E-D6381D71F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2736"/>
              <a:ext cx="1" cy="336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6DEA99FA-9C0E-40D7-AD2C-29D23E7EC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3024"/>
              <a:ext cx="169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dirty="0" err="1">
                  <a:solidFill>
                    <a:schemeClr val="bg1"/>
                  </a:solidFill>
                  <a:latin typeface="Times New Roman" pitchFamily="18" charset="0"/>
                </a:rPr>
                <a:t>i</a:t>
              </a:r>
              <a:endParaRPr kumimoji="1" lang="en-US" altLang="zh-CN" sz="2400" b="1" dirty="0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66C39660-B890-45CD-B6A6-8A896AAAD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0" y="3024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25" name="Oval 25">
            <a:extLst>
              <a:ext uri="{FF2B5EF4-FFF2-40B4-BE49-F238E27FC236}">
                <a16:creationId xmlns:a16="http://schemas.microsoft.com/office/drawing/2014/main" id="{634D6A82-60BA-456D-922B-F941F8C22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523" y="2895600"/>
            <a:ext cx="1981200" cy="14478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Oval 26">
            <a:extLst>
              <a:ext uri="{FF2B5EF4-FFF2-40B4-BE49-F238E27FC236}">
                <a16:creationId xmlns:a16="http://schemas.microsoft.com/office/drawing/2014/main" id="{B0DD1A82-8F6C-4DE8-8916-5E13122CF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422" y="2895600"/>
            <a:ext cx="609600" cy="1447800"/>
          </a:xfrm>
          <a:prstGeom prst="ellips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52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44A32AE-D7EC-4178-B7FB-06EBF29A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如果一个句子有两棵（或以上）不同的语法树，即有两种（或以上）不同的语法结构，则该句子存在两种（或以上）不同的含义，该语言存在</a:t>
            </a:r>
            <a:r>
              <a:rPr lang="zh-CN" altLang="en-US" dirty="0">
                <a:solidFill>
                  <a:srgbClr val="EE853E"/>
                </a:solidFill>
              </a:rPr>
              <a:t>二义性</a:t>
            </a:r>
            <a:r>
              <a:rPr lang="zh-CN" altLang="en-US" dirty="0"/>
              <a:t>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0BF88C4-5A35-42AF-A43B-741208E2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二义性</a:t>
            </a:r>
          </a:p>
        </p:txBody>
      </p:sp>
      <p:sp>
        <p:nvSpPr>
          <p:cNvPr id="4" name="Text Box 34">
            <a:extLst>
              <a:ext uri="{FF2B5EF4-FFF2-40B4-BE49-F238E27FC236}">
                <a16:creationId xmlns:a16="http://schemas.microsoft.com/office/drawing/2014/main" id="{A2F2B146-A974-48AF-957D-ACDD6DC1D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661" y="2700336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5" name="Line 36">
            <a:extLst>
              <a:ext uri="{FF2B5EF4-FFF2-40B4-BE49-F238E27FC236}">
                <a16:creationId xmlns:a16="http://schemas.microsoft.com/office/drawing/2014/main" id="{501CB68B-7379-4BBD-88D3-2D56EBC8DE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73312" y="3082925"/>
            <a:ext cx="6858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Line 37">
            <a:extLst>
              <a:ext uri="{FF2B5EF4-FFF2-40B4-BE49-F238E27FC236}">
                <a16:creationId xmlns:a16="http://schemas.microsoft.com/office/drawing/2014/main" id="{9A4B6D79-3919-45AA-ADDF-5B250F99D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12" y="3082925"/>
            <a:ext cx="68580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Line 38">
            <a:extLst>
              <a:ext uri="{FF2B5EF4-FFF2-40B4-BE49-F238E27FC236}">
                <a16:creationId xmlns:a16="http://schemas.microsoft.com/office/drawing/2014/main" id="{B71ABFC8-8862-4BEF-AA8A-B9F87336F4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1512" y="3159125"/>
            <a:ext cx="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Text Box 39">
            <a:extLst>
              <a:ext uri="{FF2B5EF4-FFF2-40B4-BE49-F238E27FC236}">
                <a16:creationId xmlns:a16="http://schemas.microsoft.com/office/drawing/2014/main" id="{7B6FFF26-23ED-4928-B3AB-B671C8C37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712" y="3438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9" name="Text Box 40">
            <a:extLst>
              <a:ext uri="{FF2B5EF4-FFF2-40B4-BE49-F238E27FC236}">
                <a16:creationId xmlns:a16="http://schemas.microsoft.com/office/drawing/2014/main" id="{289E5201-891B-45BE-82EE-5B0EA9442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0460" y="350520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3C2F73F2-3927-4905-BD69-C193A8E6E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352" y="3486090"/>
            <a:ext cx="3802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  <p:sp>
        <p:nvSpPr>
          <p:cNvPr id="11" name="Line 42">
            <a:extLst>
              <a:ext uri="{FF2B5EF4-FFF2-40B4-BE49-F238E27FC236}">
                <a16:creationId xmlns:a16="http://schemas.microsoft.com/office/drawing/2014/main" id="{EDA8A998-370D-4AD4-BA43-756DFB9448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1512" y="3810000"/>
            <a:ext cx="6096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Line 43">
            <a:extLst>
              <a:ext uri="{FF2B5EF4-FFF2-40B4-BE49-F238E27FC236}">
                <a16:creationId xmlns:a16="http://schemas.microsoft.com/office/drawing/2014/main" id="{757FA818-457A-48B4-B0B8-AB6AFF02E6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8312" y="3810000"/>
            <a:ext cx="5334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Line 44">
            <a:extLst>
              <a:ext uri="{FF2B5EF4-FFF2-40B4-BE49-F238E27FC236}">
                <a16:creationId xmlns:a16="http://schemas.microsoft.com/office/drawing/2014/main" id="{50DEFB58-FB5E-4BD5-B6D0-65B746F6D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3512" y="3886200"/>
            <a:ext cx="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Text Box 45">
            <a:extLst>
              <a:ext uri="{FF2B5EF4-FFF2-40B4-BE49-F238E27FC236}">
                <a16:creationId xmlns:a16="http://schemas.microsoft.com/office/drawing/2014/main" id="{1C7D77FF-FC04-428B-8F6C-473744800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12" y="417189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5" name="Text Box 46">
            <a:extLst>
              <a:ext uri="{FF2B5EF4-FFF2-40B4-BE49-F238E27FC236}">
                <a16:creationId xmlns:a16="http://schemas.microsoft.com/office/drawing/2014/main" id="{5551E9C7-C3D4-41FA-B918-31984F5B5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512" y="4073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16" name="Text Box 47">
            <a:extLst>
              <a:ext uri="{FF2B5EF4-FFF2-40B4-BE49-F238E27FC236}">
                <a16:creationId xmlns:a16="http://schemas.microsoft.com/office/drawing/2014/main" id="{E19B9B2C-8A01-4C30-B2F7-0E8B0D8DD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324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17" name="Line 48">
            <a:extLst>
              <a:ext uri="{FF2B5EF4-FFF2-40B4-BE49-F238E27FC236}">
                <a16:creationId xmlns:a16="http://schemas.microsoft.com/office/drawing/2014/main" id="{9A76B073-4496-469C-A0A2-0B049C3AB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1712" y="4572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Line 49">
            <a:extLst>
              <a:ext uri="{FF2B5EF4-FFF2-40B4-BE49-F238E27FC236}">
                <a16:creationId xmlns:a16="http://schemas.microsoft.com/office/drawing/2014/main" id="{C3D864D4-D1E8-4C9B-A575-070113029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912" y="4530725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 Box 50">
            <a:extLst>
              <a:ext uri="{FF2B5EF4-FFF2-40B4-BE49-F238E27FC236}">
                <a16:creationId xmlns:a16="http://schemas.microsoft.com/office/drawing/2014/main" id="{086D00B4-2E90-418F-9353-BE08787B3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992" y="5086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0" name="Text Box 51">
            <a:extLst>
              <a:ext uri="{FF2B5EF4-FFF2-40B4-BE49-F238E27FC236}">
                <a16:creationId xmlns:a16="http://schemas.microsoft.com/office/drawing/2014/main" id="{CDA382BC-77B6-4072-94D1-CB0EB8C01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512" y="502920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CA018CB2-2652-4E17-9F10-10E64AFB8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7112" y="3810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 Box 53">
            <a:extLst>
              <a:ext uri="{FF2B5EF4-FFF2-40B4-BE49-F238E27FC236}">
                <a16:creationId xmlns:a16="http://schemas.microsoft.com/office/drawing/2014/main" id="{700E1DC1-E285-4181-9BED-D0B1D93BC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1112" y="4378325"/>
            <a:ext cx="309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23" name="Text Box 34">
            <a:extLst>
              <a:ext uri="{FF2B5EF4-FFF2-40B4-BE49-F238E27FC236}">
                <a16:creationId xmlns:a16="http://schemas.microsoft.com/office/drawing/2014/main" id="{68BCB244-D0B0-42A4-8C08-D7BD107CD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009" y="2700336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24" name="Line 36">
            <a:extLst>
              <a:ext uri="{FF2B5EF4-FFF2-40B4-BE49-F238E27FC236}">
                <a16:creationId xmlns:a16="http://schemas.microsoft.com/office/drawing/2014/main" id="{05BC33A4-E5B2-43BA-83FD-0C44B53E7B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6660" y="3082925"/>
            <a:ext cx="6858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Line 37">
            <a:extLst>
              <a:ext uri="{FF2B5EF4-FFF2-40B4-BE49-F238E27FC236}">
                <a16:creationId xmlns:a16="http://schemas.microsoft.com/office/drawing/2014/main" id="{9B558C17-DCC2-4389-A6BD-854A5F0F0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7260" y="3082925"/>
            <a:ext cx="68580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FB0D6628-6E7E-4128-8D18-5F9AD8C8D011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4860" y="3159125"/>
            <a:ext cx="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7" name="Text Box 39">
            <a:extLst>
              <a:ext uri="{FF2B5EF4-FFF2-40B4-BE49-F238E27FC236}">
                <a16:creationId xmlns:a16="http://schemas.microsoft.com/office/drawing/2014/main" id="{CA2F1644-3D71-41F3-A181-1B84925DB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060" y="3438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28" name="Text Box 40">
            <a:extLst>
              <a:ext uri="{FF2B5EF4-FFF2-40B4-BE49-F238E27FC236}">
                <a16:creationId xmlns:a16="http://schemas.microsoft.com/office/drawing/2014/main" id="{774CABCF-3DB2-4E7A-9809-B71E45A0E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3808" y="350520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29" name="Text Box 41">
            <a:extLst>
              <a:ext uri="{FF2B5EF4-FFF2-40B4-BE49-F238E27FC236}">
                <a16:creationId xmlns:a16="http://schemas.microsoft.com/office/drawing/2014/main" id="{E79257EA-FBD7-4593-BBA5-1D2118364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024" y="3486090"/>
            <a:ext cx="3097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1" hangingPunct="1">
              <a:defRPr kumimoji="1" sz="2400"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charset="0"/>
                <a:ea typeface="宋体" pitchFamily="2" charset="-122"/>
              </a:defRPr>
            </a:lvl9pPr>
          </a:lstStyle>
          <a:p>
            <a:r>
              <a:rPr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*</a:t>
            </a:r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D4C7B6B2-7B82-4C94-844D-6C4B2A4E91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810000"/>
            <a:ext cx="6096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4D713F2F-A1AC-41F0-B1A9-ABE3CCE55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810000"/>
            <a:ext cx="533400" cy="3810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Line 44">
            <a:extLst>
              <a:ext uri="{FF2B5EF4-FFF2-40B4-BE49-F238E27FC236}">
                <a16:creationId xmlns:a16="http://schemas.microsoft.com/office/drawing/2014/main" id="{C85CD51A-231E-4FA2-BF39-8ED5A4321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886200"/>
            <a:ext cx="0" cy="4572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 Box 45">
            <a:extLst>
              <a:ext uri="{FF2B5EF4-FFF2-40B4-BE49-F238E27FC236}">
                <a16:creationId xmlns:a16="http://schemas.microsoft.com/office/drawing/2014/main" id="{030D4706-CC14-4142-A472-C0655DC1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4171890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34" name="Text Box 46">
            <a:extLst>
              <a:ext uri="{FF2B5EF4-FFF2-40B4-BE49-F238E27FC236}">
                <a16:creationId xmlns:a16="http://schemas.microsoft.com/office/drawing/2014/main" id="{E2AF028D-BA93-4558-9BBC-214D8F3F7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073525"/>
            <a:ext cx="3305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E</a:t>
            </a:r>
          </a:p>
        </p:txBody>
      </p:sp>
      <p:sp>
        <p:nvSpPr>
          <p:cNvPr id="35" name="Text Box 47">
            <a:extLst>
              <a:ext uri="{FF2B5EF4-FFF2-40B4-BE49-F238E27FC236}">
                <a16:creationId xmlns:a16="http://schemas.microsoft.com/office/drawing/2014/main" id="{5B440D19-7329-4ED3-8060-77B534C04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992" y="4324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36" name="Line 48">
            <a:extLst>
              <a:ext uri="{FF2B5EF4-FFF2-40B4-BE49-F238E27FC236}">
                <a16:creationId xmlns:a16="http://schemas.microsoft.com/office/drawing/2014/main" id="{BC38CD52-787F-4A9B-85BE-D2B5A78B7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4572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7" name="Line 49">
            <a:extLst>
              <a:ext uri="{FF2B5EF4-FFF2-40B4-BE49-F238E27FC236}">
                <a16:creationId xmlns:a16="http://schemas.microsoft.com/office/drawing/2014/main" id="{BA6381BE-5767-4522-B54E-7A0DDB392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530725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8" name="Text Box 50">
            <a:extLst>
              <a:ext uri="{FF2B5EF4-FFF2-40B4-BE49-F238E27FC236}">
                <a16:creationId xmlns:a16="http://schemas.microsoft.com/office/drawing/2014/main" id="{6B02DFEB-C40D-4760-81AB-91B503AED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280" y="508629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39" name="Text Box 51">
            <a:extLst>
              <a:ext uri="{FF2B5EF4-FFF2-40B4-BE49-F238E27FC236}">
                <a16:creationId xmlns:a16="http://schemas.microsoft.com/office/drawing/2014/main" id="{A016E4A2-9728-4035-9358-5E83FA10D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029200"/>
            <a:ext cx="2600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>
                <a:solidFill>
                  <a:schemeClr val="bg1"/>
                </a:solidFill>
                <a:latin typeface="+mj-ea"/>
                <a:ea typeface="+mj-ea"/>
              </a:rPr>
              <a:t>i</a:t>
            </a:r>
          </a:p>
        </p:txBody>
      </p:sp>
      <p:sp>
        <p:nvSpPr>
          <p:cNvPr id="40" name="Line 52">
            <a:extLst>
              <a:ext uri="{FF2B5EF4-FFF2-40B4-BE49-F238E27FC236}">
                <a16:creationId xmlns:a16="http://schemas.microsoft.com/office/drawing/2014/main" id="{B8AE7AA8-4B79-4892-B943-1727BF3D26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28504" y="3810000"/>
            <a:ext cx="0" cy="533400"/>
          </a:xfrm>
          <a:prstGeom prst="line">
            <a:avLst/>
          </a:prstGeom>
          <a:ln w="28575">
            <a:solidFill>
              <a:schemeClr val="bg1"/>
            </a:solidFill>
            <a:headEnd/>
            <a:tailEnd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2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1" name="Text Box 53">
            <a:extLst>
              <a:ext uri="{FF2B5EF4-FFF2-40B4-BE49-F238E27FC236}">
                <a16:creationId xmlns:a16="http://schemas.microsoft.com/office/drawing/2014/main" id="{237A2144-0E8B-4867-BA66-059C56D2F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5660" y="4378325"/>
            <a:ext cx="3802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solidFill>
                  <a:schemeClr val="bg1"/>
                </a:solidFill>
                <a:latin typeface="+mj-ea"/>
                <a:ea typeface="+mj-ea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24933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5852</TotalTime>
  <Words>1751</Words>
  <Application>Microsoft Office PowerPoint</Application>
  <PresentationFormat>宽屏</PresentationFormat>
  <Paragraphs>287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微软雅黑</vt:lpstr>
      <vt:lpstr>Arial</vt:lpstr>
      <vt:lpstr>Cambria Math</vt:lpstr>
      <vt:lpstr>Times New Roman</vt:lpstr>
      <vt:lpstr>Wingdings</vt:lpstr>
      <vt:lpstr>环保</vt:lpstr>
      <vt:lpstr>第四章 程序语言的设计</vt:lpstr>
      <vt:lpstr>文法和语言</vt:lpstr>
      <vt:lpstr>文法的定义</vt:lpstr>
      <vt:lpstr>文法的定义</vt:lpstr>
      <vt:lpstr>产生式的简化</vt:lpstr>
      <vt:lpstr>文法的描述</vt:lpstr>
      <vt:lpstr>文法的分类</vt:lpstr>
      <vt:lpstr>文法的分类</vt:lpstr>
      <vt:lpstr>文法的分类</vt:lpstr>
      <vt:lpstr>推导的定义 </vt:lpstr>
      <vt:lpstr>推导的定义 </vt:lpstr>
      <vt:lpstr>多步推导（至少一步）</vt:lpstr>
      <vt:lpstr>任意步推导（包括0步）</vt:lpstr>
      <vt:lpstr>推导实例</vt:lpstr>
      <vt:lpstr>句型和句子</vt:lpstr>
      <vt:lpstr>语言的定义</vt:lpstr>
      <vt:lpstr>注意</vt:lpstr>
      <vt:lpstr>文法产生语言例子</vt:lpstr>
      <vt:lpstr>文法产生语言例子</vt:lpstr>
      <vt:lpstr>文法产生语言例子</vt:lpstr>
      <vt:lpstr>文法产生语言例子</vt:lpstr>
      <vt:lpstr>文法产生语言例子</vt:lpstr>
      <vt:lpstr>构造文法，产生指定语言</vt:lpstr>
      <vt:lpstr>分析</vt:lpstr>
      <vt:lpstr>思考</vt:lpstr>
      <vt:lpstr>思考</vt:lpstr>
      <vt:lpstr>例子:产生语言L(G)={anbncn|n&gt;0}的文法：</vt:lpstr>
      <vt:lpstr>例子</vt:lpstr>
      <vt:lpstr>思考：上下文相关</vt:lpstr>
      <vt:lpstr>上例还可以简化为</vt:lpstr>
      <vt:lpstr>思考</vt:lpstr>
      <vt:lpstr>语法树</vt:lpstr>
      <vt:lpstr>语法树</vt:lpstr>
      <vt:lpstr>相关术语</vt:lpstr>
      <vt:lpstr>实例</vt:lpstr>
      <vt:lpstr>二义性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1080</cp:revision>
  <cp:lastPrinted>1601-01-01T00:00:00Z</cp:lastPrinted>
  <dcterms:created xsi:type="dcterms:W3CDTF">1601-01-01T00:00:00Z</dcterms:created>
  <dcterms:modified xsi:type="dcterms:W3CDTF">2019-12-24T08:51:25Z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