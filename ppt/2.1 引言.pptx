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10"/>
  </p:notesMasterIdLst>
  <p:handoutMasterIdLst>
    <p:handoutMasterId r:id="rId11"/>
  </p:handoutMasterIdLst>
  <p:sldIdLst>
    <p:sldId id="379" r:id="rId2"/>
    <p:sldId id="380" r:id="rId3"/>
    <p:sldId id="381" r:id="rId4"/>
    <p:sldId id="257" r:id="rId5"/>
    <p:sldId id="383" r:id="rId6"/>
    <p:sldId id="377" r:id="rId7"/>
    <p:sldId id="384" r:id="rId8"/>
    <p:sldId id="261" r:id="rId9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040C0E"/>
    <a:srgbClr val="A18D60"/>
    <a:srgbClr val="EE8A3E"/>
    <a:srgbClr val="E98A3E"/>
    <a:srgbClr val="04141B"/>
    <a:srgbClr val="D9B247"/>
    <a:srgbClr val="2A9995"/>
    <a:srgbClr val="54D0CA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89127" autoAdjust="0"/>
  </p:normalViewPr>
  <p:slideViewPr>
    <p:cSldViewPr>
      <p:cViewPr varScale="1">
        <p:scale>
          <a:sx n="100" d="100"/>
          <a:sy n="100" d="100"/>
        </p:scale>
        <p:origin x="51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xmlns="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xmlns="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xmlns="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xmlns="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xmlns="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xmlns="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xmlns="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xmlns="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xmlns="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xmlns="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xmlns="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xmlns="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xmlns="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xmlns="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xmlns="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xmlns="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xmlns="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xmlns="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 hasCustomPrompt="1"/>
          </p:nvPr>
        </p:nvSpPr>
        <p:spPr>
          <a:xfrm>
            <a:off x="1295402" y="609600"/>
            <a:ext cx="9601196" cy="563880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pPr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743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  <p:sldLayoutId id="2147484309" r:id="rId4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xmlns="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xmlns="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xmlns="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xmlns="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xmlns="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xmlns="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xmlns="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xmlns="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xmlns="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xmlns="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xmlns="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xmlns="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xmlns="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xmlns="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xmlns="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引言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内部类型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用户定义类型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</a:t>
              </a:r>
              <a:r>
                <a:rPr lang="en-US" altLang="zh-CN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C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语言的数据类型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7650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xmlns="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xmlns="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xmlns="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xmlns="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xmlns="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xmlns="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xmlns="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xmlns="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xmlns="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xmlns="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xmlns="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xmlns="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xmlns="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xmlns="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xmlns="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第五节 类型检查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第六节 类型转换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第七节 类型等价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第八节 实现模型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210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xmlns="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xmlns="" id="{23E85C67-7818-411F-A7D7-B4F4B0217B6D}"/>
              </a:ext>
            </a:extLst>
          </p:cNvPr>
          <p:cNvSpPr/>
          <p:nvPr/>
        </p:nvSpPr>
        <p:spPr>
          <a:xfrm rot="5400000">
            <a:off x="6747032" y="1609134"/>
            <a:ext cx="2101101" cy="2997634"/>
          </a:xfrm>
          <a:prstGeom prst="wedgeRoundRectCallout">
            <a:avLst>
              <a:gd name="adj1" fmla="val -27647"/>
              <a:gd name="adj2" fmla="val 62539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什么是数据类型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数据类型的作用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数据类型的分类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xmlns="" id="{7E99BC05-4BA9-4B07-AE36-257C31072FFF}"/>
              </a:ext>
            </a:extLst>
          </p:cNvPr>
          <p:cNvGrpSpPr>
            <a:grpSpLocks noChangeAspect="1"/>
          </p:cNvGrpSpPr>
          <p:nvPr/>
        </p:nvGrpSpPr>
        <p:grpSpPr>
          <a:xfrm>
            <a:off x="990600" y="2057186"/>
            <a:ext cx="4767397" cy="2743627"/>
            <a:chOff x="1449652" y="2320203"/>
            <a:chExt cx="4724869" cy="2719152"/>
          </a:xfrm>
        </p:grpSpPr>
        <p:grpSp>
          <p:nvGrpSpPr>
            <p:cNvPr id="28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B6B6587D-22BC-404E-A1AE-3ABD6A05A0B3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4" name="Freeform 45">
                <a:extLst>
                  <a:ext uri="{FF2B5EF4-FFF2-40B4-BE49-F238E27FC236}">
                    <a16:creationId xmlns:a16="http://schemas.microsoft.com/office/drawing/2014/main" xmlns="" id="{FF3F24D4-104C-46DE-BC5B-5E203C7E0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5" name="Freeform 46">
                <a:extLst>
                  <a:ext uri="{FF2B5EF4-FFF2-40B4-BE49-F238E27FC236}">
                    <a16:creationId xmlns:a16="http://schemas.microsoft.com/office/drawing/2014/main" xmlns="" id="{570B0FCB-8922-4C4F-AAAA-EA8BF4ED0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7">
                <a:extLst>
                  <a:ext uri="{FF2B5EF4-FFF2-40B4-BE49-F238E27FC236}">
                    <a16:creationId xmlns:a16="http://schemas.microsoft.com/office/drawing/2014/main" xmlns="" id="{702789CC-B8C9-4602-BB72-A868DBFDB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8">
                <a:extLst>
                  <a:ext uri="{FF2B5EF4-FFF2-40B4-BE49-F238E27FC236}">
                    <a16:creationId xmlns:a16="http://schemas.microsoft.com/office/drawing/2014/main" xmlns="" id="{87C2909A-C0E2-4D6A-9119-13BCCDEF8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9">
                <a:extLst>
                  <a:ext uri="{FF2B5EF4-FFF2-40B4-BE49-F238E27FC236}">
                    <a16:creationId xmlns:a16="http://schemas.microsoft.com/office/drawing/2014/main" xmlns="" id="{8B484526-6681-4CC2-84EA-94B7C32F1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:a16="http://schemas.microsoft.com/office/drawing/2014/main" xmlns="" id="{3761CB36-7C65-40FA-B3BC-E41DA3336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Freeform 51">
                <a:extLst>
                  <a:ext uri="{FF2B5EF4-FFF2-40B4-BE49-F238E27FC236}">
                    <a16:creationId xmlns:a16="http://schemas.microsoft.com/office/drawing/2014/main" xmlns="" id="{5A01DB55-F7D8-4F83-815F-FB2EC1975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Rectangle 52">
                <a:extLst>
                  <a:ext uri="{FF2B5EF4-FFF2-40B4-BE49-F238E27FC236}">
                    <a16:creationId xmlns:a16="http://schemas.microsoft.com/office/drawing/2014/main" xmlns="" id="{BDEDB414-B697-4563-AEC1-4A3150A39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3">
                <a:extLst>
                  <a:ext uri="{FF2B5EF4-FFF2-40B4-BE49-F238E27FC236}">
                    <a16:creationId xmlns:a16="http://schemas.microsoft.com/office/drawing/2014/main" xmlns="" id="{069C7BB0-7358-4472-A33E-DAE770480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Oval 54">
                <a:extLst>
                  <a:ext uri="{FF2B5EF4-FFF2-40B4-BE49-F238E27FC236}">
                    <a16:creationId xmlns:a16="http://schemas.microsoft.com/office/drawing/2014/main" xmlns="" id="{6647E314-FD21-4D99-B051-9394267EF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5">
                <a:extLst>
                  <a:ext uri="{FF2B5EF4-FFF2-40B4-BE49-F238E27FC236}">
                    <a16:creationId xmlns:a16="http://schemas.microsoft.com/office/drawing/2014/main" xmlns="" id="{2FE6E77E-9BE0-4866-BD72-0181C5AAB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6">
                <a:extLst>
                  <a:ext uri="{FF2B5EF4-FFF2-40B4-BE49-F238E27FC236}">
                    <a16:creationId xmlns:a16="http://schemas.microsoft.com/office/drawing/2014/main" xmlns="" id="{3054D693-3D63-4203-ACAF-32B2CFC7E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7">
                <a:extLst>
                  <a:ext uri="{FF2B5EF4-FFF2-40B4-BE49-F238E27FC236}">
                    <a16:creationId xmlns:a16="http://schemas.microsoft.com/office/drawing/2014/main" xmlns="" id="{EAC827E7-A97B-4D56-B440-997BFEA18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Freeform 58">
                <a:extLst>
                  <a:ext uri="{FF2B5EF4-FFF2-40B4-BE49-F238E27FC236}">
                    <a16:creationId xmlns:a16="http://schemas.microsoft.com/office/drawing/2014/main" xmlns="" id="{9DE1E18D-72DA-4EAB-AF45-838AC1510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9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A1609C5E-3DE2-4047-AABC-4467B68B6E93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第一节 引言</a:t>
              </a:r>
            </a:p>
          </p:txBody>
        </p:sp>
        <p:sp>
          <p:nvSpPr>
            <p:cNvPr id="31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D2314031-A0FF-430F-A1B0-88E40BDC7DB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内部类型</a:t>
              </a:r>
            </a:p>
          </p:txBody>
        </p:sp>
        <p:sp>
          <p:nvSpPr>
            <p:cNvPr id="32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048338F6-34EC-4186-A7EC-C0E61525EFE4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用户定义类型</a:t>
              </a:r>
            </a:p>
          </p:txBody>
        </p:sp>
        <p:sp>
          <p:nvSpPr>
            <p:cNvPr id="33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1CE8E1E7-A1DE-4566-9BD8-34C41DD82DA0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</a:t>
              </a:r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C</a:t>
              </a:r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语言的数据类型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7870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数据类型</a:t>
            </a:r>
            <a:r>
              <a:rPr lang="zh-CN" altLang="en-US" dirty="0"/>
              <a:t>本质上是对存储器中所存储的数据进行的抽象。</a:t>
            </a:r>
          </a:p>
          <a:p>
            <a:r>
              <a:rPr lang="zh-CN" altLang="en-US" dirty="0"/>
              <a:t>数据类型包含一组</a:t>
            </a:r>
            <a:r>
              <a:rPr lang="zh-CN" altLang="en-US" dirty="0">
                <a:solidFill>
                  <a:srgbClr val="EE853E"/>
                </a:solidFill>
              </a:rPr>
              <a:t>值</a:t>
            </a:r>
            <a:r>
              <a:rPr lang="zh-CN" altLang="en-US" dirty="0"/>
              <a:t>和一组</a:t>
            </a:r>
            <a:r>
              <a:rPr lang="zh-CN" altLang="en-US" dirty="0">
                <a:solidFill>
                  <a:srgbClr val="EE853E"/>
                </a:solidFill>
              </a:rPr>
              <a:t>操作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程序中的数据（常量或变量）称为</a:t>
            </a:r>
            <a:r>
              <a:rPr lang="zh-CN" altLang="en-US" dirty="0"/>
              <a:t>类型</a:t>
            </a:r>
            <a:r>
              <a:rPr lang="zh-CN" altLang="en-US" dirty="0" smtClean="0"/>
              <a:t>的实体（</a:t>
            </a:r>
            <a:r>
              <a:rPr lang="zh-CN" altLang="en-US" dirty="0"/>
              <a:t>实例</a:t>
            </a:r>
            <a:r>
              <a:rPr lang="zh-CN" altLang="en-US" dirty="0" smtClean="0"/>
              <a:t>）；</a:t>
            </a:r>
            <a:endParaRPr lang="en-US" altLang="zh-CN" dirty="0" smtClean="0"/>
          </a:p>
          <a:p>
            <a:r>
              <a:rPr lang="zh-CN" altLang="en-US" dirty="0" smtClean="0"/>
              <a:t>对数据类型的使用，要通过对该类型的实体的使用体现。</a:t>
            </a:r>
            <a:endParaRPr lang="zh-CN" altLang="en-US" dirty="0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xmlns="" id="{487B129E-26E3-4109-916C-C76E36075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什么是数据类型</a:t>
            </a:r>
          </a:p>
        </p:txBody>
      </p:sp>
    </p:spTree>
    <p:extLst>
      <p:ext uri="{BB962C8B-B14F-4D97-AF65-F5344CB8AC3E}">
        <p14:creationId xmlns:p14="http://schemas.microsoft.com/office/powerpoint/2010/main" val="2864775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xmlns="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xmlns="" id="{23E85C67-7818-411F-A7D7-B4F4B0217B6D}"/>
              </a:ext>
            </a:extLst>
          </p:cNvPr>
          <p:cNvSpPr/>
          <p:nvPr/>
        </p:nvSpPr>
        <p:spPr>
          <a:xfrm rot="5400000">
            <a:off x="6747032" y="1609134"/>
            <a:ext cx="2101101" cy="2997634"/>
          </a:xfrm>
          <a:prstGeom prst="wedgeRoundRectCallout">
            <a:avLst>
              <a:gd name="adj1" fmla="val -27647"/>
              <a:gd name="adj2" fmla="val 62539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什么是数据类型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数据类型的作用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数据类型的分类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xmlns="" id="{7E99BC05-4BA9-4B07-AE36-257C31072FFF}"/>
              </a:ext>
            </a:extLst>
          </p:cNvPr>
          <p:cNvGrpSpPr>
            <a:grpSpLocks noChangeAspect="1"/>
          </p:cNvGrpSpPr>
          <p:nvPr/>
        </p:nvGrpSpPr>
        <p:grpSpPr>
          <a:xfrm>
            <a:off x="990600" y="2057186"/>
            <a:ext cx="4767397" cy="2743627"/>
            <a:chOff x="1449652" y="2320203"/>
            <a:chExt cx="4724869" cy="2719152"/>
          </a:xfrm>
        </p:grpSpPr>
        <p:grpSp>
          <p:nvGrpSpPr>
            <p:cNvPr id="28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B6B6587D-22BC-404E-A1AE-3ABD6A05A0B3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4" name="Freeform 45">
                <a:extLst>
                  <a:ext uri="{FF2B5EF4-FFF2-40B4-BE49-F238E27FC236}">
                    <a16:creationId xmlns:a16="http://schemas.microsoft.com/office/drawing/2014/main" xmlns="" id="{FF3F24D4-104C-46DE-BC5B-5E203C7E0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5" name="Freeform 46">
                <a:extLst>
                  <a:ext uri="{FF2B5EF4-FFF2-40B4-BE49-F238E27FC236}">
                    <a16:creationId xmlns:a16="http://schemas.microsoft.com/office/drawing/2014/main" xmlns="" id="{570B0FCB-8922-4C4F-AAAA-EA8BF4ED0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7">
                <a:extLst>
                  <a:ext uri="{FF2B5EF4-FFF2-40B4-BE49-F238E27FC236}">
                    <a16:creationId xmlns:a16="http://schemas.microsoft.com/office/drawing/2014/main" xmlns="" id="{702789CC-B8C9-4602-BB72-A868DBFDB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8">
                <a:extLst>
                  <a:ext uri="{FF2B5EF4-FFF2-40B4-BE49-F238E27FC236}">
                    <a16:creationId xmlns:a16="http://schemas.microsoft.com/office/drawing/2014/main" xmlns="" id="{87C2909A-C0E2-4D6A-9119-13BCCDEF8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9">
                <a:extLst>
                  <a:ext uri="{FF2B5EF4-FFF2-40B4-BE49-F238E27FC236}">
                    <a16:creationId xmlns:a16="http://schemas.microsoft.com/office/drawing/2014/main" xmlns="" id="{8B484526-6681-4CC2-84EA-94B7C32F1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:a16="http://schemas.microsoft.com/office/drawing/2014/main" xmlns="" id="{3761CB36-7C65-40FA-B3BC-E41DA3336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Freeform 51">
                <a:extLst>
                  <a:ext uri="{FF2B5EF4-FFF2-40B4-BE49-F238E27FC236}">
                    <a16:creationId xmlns:a16="http://schemas.microsoft.com/office/drawing/2014/main" xmlns="" id="{5A01DB55-F7D8-4F83-815F-FB2EC1975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Rectangle 52">
                <a:extLst>
                  <a:ext uri="{FF2B5EF4-FFF2-40B4-BE49-F238E27FC236}">
                    <a16:creationId xmlns:a16="http://schemas.microsoft.com/office/drawing/2014/main" xmlns="" id="{BDEDB414-B697-4563-AEC1-4A3150A39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3">
                <a:extLst>
                  <a:ext uri="{FF2B5EF4-FFF2-40B4-BE49-F238E27FC236}">
                    <a16:creationId xmlns:a16="http://schemas.microsoft.com/office/drawing/2014/main" xmlns="" id="{069C7BB0-7358-4472-A33E-DAE770480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Oval 54">
                <a:extLst>
                  <a:ext uri="{FF2B5EF4-FFF2-40B4-BE49-F238E27FC236}">
                    <a16:creationId xmlns:a16="http://schemas.microsoft.com/office/drawing/2014/main" xmlns="" id="{6647E314-FD21-4D99-B051-9394267EF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5">
                <a:extLst>
                  <a:ext uri="{FF2B5EF4-FFF2-40B4-BE49-F238E27FC236}">
                    <a16:creationId xmlns:a16="http://schemas.microsoft.com/office/drawing/2014/main" xmlns="" id="{2FE6E77E-9BE0-4866-BD72-0181C5AAB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6">
                <a:extLst>
                  <a:ext uri="{FF2B5EF4-FFF2-40B4-BE49-F238E27FC236}">
                    <a16:creationId xmlns:a16="http://schemas.microsoft.com/office/drawing/2014/main" xmlns="" id="{3054D693-3D63-4203-ACAF-32B2CFC7E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7">
                <a:extLst>
                  <a:ext uri="{FF2B5EF4-FFF2-40B4-BE49-F238E27FC236}">
                    <a16:creationId xmlns:a16="http://schemas.microsoft.com/office/drawing/2014/main" xmlns="" id="{EAC827E7-A97B-4D56-B440-997BFEA18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Freeform 58">
                <a:extLst>
                  <a:ext uri="{FF2B5EF4-FFF2-40B4-BE49-F238E27FC236}">
                    <a16:creationId xmlns:a16="http://schemas.microsoft.com/office/drawing/2014/main" xmlns="" id="{9DE1E18D-72DA-4EAB-AF45-838AC1510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9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A1609C5E-3DE2-4047-AABC-4467B68B6E93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第一节 引言</a:t>
              </a:r>
            </a:p>
          </p:txBody>
        </p:sp>
        <p:sp>
          <p:nvSpPr>
            <p:cNvPr id="31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D2314031-A0FF-430F-A1B0-88E40BDC7DB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内部类型</a:t>
              </a:r>
            </a:p>
          </p:txBody>
        </p:sp>
        <p:sp>
          <p:nvSpPr>
            <p:cNvPr id="32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048338F6-34EC-4186-A7EC-C0E61525EFE4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用户定义类型</a:t>
              </a:r>
            </a:p>
          </p:txBody>
        </p:sp>
        <p:sp>
          <p:nvSpPr>
            <p:cNvPr id="33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1CE8E1E7-A1DE-4566-9BD8-34C41DD82DA0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</a:t>
              </a:r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C</a:t>
              </a:r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语言的数据类型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711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实现了</a:t>
            </a:r>
            <a:r>
              <a:rPr lang="zh-CN" altLang="en-US" dirty="0">
                <a:solidFill>
                  <a:srgbClr val="EE853E"/>
                </a:solidFill>
              </a:rPr>
              <a:t>数据抽象</a:t>
            </a:r>
          </a:p>
          <a:p>
            <a:r>
              <a:rPr lang="zh-CN" altLang="en-US" dirty="0"/>
              <a:t>从机器的具体特征中解脱出来</a:t>
            </a:r>
          </a:p>
          <a:p>
            <a:r>
              <a:rPr lang="zh-CN" altLang="en-US" dirty="0"/>
              <a:t>提高了编程效率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语言的某种特定的数据抽象受到两个因素的影响：</a:t>
            </a:r>
          </a:p>
          <a:p>
            <a:r>
              <a:rPr lang="zh-CN" altLang="en-US" dirty="0"/>
              <a:t>语言所面向的</a:t>
            </a:r>
            <a:r>
              <a:rPr lang="zh-CN" altLang="en-US" dirty="0">
                <a:solidFill>
                  <a:srgbClr val="EE853E"/>
                </a:solidFill>
              </a:rPr>
              <a:t>机器</a:t>
            </a:r>
            <a:r>
              <a:rPr lang="zh-CN" altLang="en-US" dirty="0"/>
              <a:t>（只提供定点运算或同时提供浮点运算）；</a:t>
            </a:r>
          </a:p>
          <a:p>
            <a:r>
              <a:rPr lang="zh-CN" altLang="en-US" dirty="0"/>
              <a:t>语言所面向的应用</a:t>
            </a:r>
            <a:r>
              <a:rPr lang="zh-CN" altLang="en-US" dirty="0">
                <a:solidFill>
                  <a:srgbClr val="EE853E"/>
                </a:solidFill>
              </a:rPr>
              <a:t>领域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数据类型的作用</a:t>
            </a:r>
          </a:p>
        </p:txBody>
      </p:sp>
    </p:spTree>
    <p:extLst>
      <p:ext uri="{BB962C8B-B14F-4D97-AF65-F5344CB8AC3E}">
        <p14:creationId xmlns:p14="http://schemas.microsoft.com/office/powerpoint/2010/main" val="1233938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xmlns="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xmlns="" id="{23E85C67-7818-411F-A7D7-B4F4B0217B6D}"/>
              </a:ext>
            </a:extLst>
          </p:cNvPr>
          <p:cNvSpPr/>
          <p:nvPr/>
        </p:nvSpPr>
        <p:spPr>
          <a:xfrm rot="5400000">
            <a:off x="6747032" y="1609134"/>
            <a:ext cx="2101101" cy="2997634"/>
          </a:xfrm>
          <a:prstGeom prst="wedgeRoundRectCallout">
            <a:avLst>
              <a:gd name="adj1" fmla="val -27647"/>
              <a:gd name="adj2" fmla="val 62539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什么是数据类型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数据类型的作用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数据类型的分类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xmlns="" id="{7E99BC05-4BA9-4B07-AE36-257C31072FFF}"/>
              </a:ext>
            </a:extLst>
          </p:cNvPr>
          <p:cNvGrpSpPr>
            <a:grpSpLocks noChangeAspect="1"/>
          </p:cNvGrpSpPr>
          <p:nvPr/>
        </p:nvGrpSpPr>
        <p:grpSpPr>
          <a:xfrm>
            <a:off x="990600" y="2057186"/>
            <a:ext cx="4767397" cy="2743627"/>
            <a:chOff x="1449652" y="2320203"/>
            <a:chExt cx="4724869" cy="2719152"/>
          </a:xfrm>
        </p:grpSpPr>
        <p:grpSp>
          <p:nvGrpSpPr>
            <p:cNvPr id="28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B6B6587D-22BC-404E-A1AE-3ABD6A05A0B3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4" name="Freeform 45">
                <a:extLst>
                  <a:ext uri="{FF2B5EF4-FFF2-40B4-BE49-F238E27FC236}">
                    <a16:creationId xmlns:a16="http://schemas.microsoft.com/office/drawing/2014/main" xmlns="" id="{FF3F24D4-104C-46DE-BC5B-5E203C7E0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5" name="Freeform 46">
                <a:extLst>
                  <a:ext uri="{FF2B5EF4-FFF2-40B4-BE49-F238E27FC236}">
                    <a16:creationId xmlns:a16="http://schemas.microsoft.com/office/drawing/2014/main" xmlns="" id="{570B0FCB-8922-4C4F-AAAA-EA8BF4ED0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7">
                <a:extLst>
                  <a:ext uri="{FF2B5EF4-FFF2-40B4-BE49-F238E27FC236}">
                    <a16:creationId xmlns:a16="http://schemas.microsoft.com/office/drawing/2014/main" xmlns="" id="{702789CC-B8C9-4602-BB72-A868DBFDB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8">
                <a:extLst>
                  <a:ext uri="{FF2B5EF4-FFF2-40B4-BE49-F238E27FC236}">
                    <a16:creationId xmlns:a16="http://schemas.microsoft.com/office/drawing/2014/main" xmlns="" id="{87C2909A-C0E2-4D6A-9119-13BCCDEF8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9">
                <a:extLst>
                  <a:ext uri="{FF2B5EF4-FFF2-40B4-BE49-F238E27FC236}">
                    <a16:creationId xmlns:a16="http://schemas.microsoft.com/office/drawing/2014/main" xmlns="" id="{8B484526-6681-4CC2-84EA-94B7C32F1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:a16="http://schemas.microsoft.com/office/drawing/2014/main" xmlns="" id="{3761CB36-7C65-40FA-B3BC-E41DA3336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Freeform 51">
                <a:extLst>
                  <a:ext uri="{FF2B5EF4-FFF2-40B4-BE49-F238E27FC236}">
                    <a16:creationId xmlns:a16="http://schemas.microsoft.com/office/drawing/2014/main" xmlns="" id="{5A01DB55-F7D8-4F83-815F-FB2EC1975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Rectangle 52">
                <a:extLst>
                  <a:ext uri="{FF2B5EF4-FFF2-40B4-BE49-F238E27FC236}">
                    <a16:creationId xmlns:a16="http://schemas.microsoft.com/office/drawing/2014/main" xmlns="" id="{BDEDB414-B697-4563-AEC1-4A3150A39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3">
                <a:extLst>
                  <a:ext uri="{FF2B5EF4-FFF2-40B4-BE49-F238E27FC236}">
                    <a16:creationId xmlns:a16="http://schemas.microsoft.com/office/drawing/2014/main" xmlns="" id="{069C7BB0-7358-4472-A33E-DAE770480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Oval 54">
                <a:extLst>
                  <a:ext uri="{FF2B5EF4-FFF2-40B4-BE49-F238E27FC236}">
                    <a16:creationId xmlns:a16="http://schemas.microsoft.com/office/drawing/2014/main" xmlns="" id="{6647E314-FD21-4D99-B051-9394267EF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5">
                <a:extLst>
                  <a:ext uri="{FF2B5EF4-FFF2-40B4-BE49-F238E27FC236}">
                    <a16:creationId xmlns:a16="http://schemas.microsoft.com/office/drawing/2014/main" xmlns="" id="{2FE6E77E-9BE0-4866-BD72-0181C5AAB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6">
                <a:extLst>
                  <a:ext uri="{FF2B5EF4-FFF2-40B4-BE49-F238E27FC236}">
                    <a16:creationId xmlns:a16="http://schemas.microsoft.com/office/drawing/2014/main" xmlns="" id="{3054D693-3D63-4203-ACAF-32B2CFC7E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7">
                <a:extLst>
                  <a:ext uri="{FF2B5EF4-FFF2-40B4-BE49-F238E27FC236}">
                    <a16:creationId xmlns:a16="http://schemas.microsoft.com/office/drawing/2014/main" xmlns="" id="{EAC827E7-A97B-4D56-B440-997BFEA18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Freeform 58">
                <a:extLst>
                  <a:ext uri="{FF2B5EF4-FFF2-40B4-BE49-F238E27FC236}">
                    <a16:creationId xmlns:a16="http://schemas.microsoft.com/office/drawing/2014/main" xmlns="" id="{9DE1E18D-72DA-4EAB-AF45-838AC1510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9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A1609C5E-3DE2-4047-AABC-4467B68B6E93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第一节 引言</a:t>
              </a:r>
            </a:p>
          </p:txBody>
        </p:sp>
        <p:sp>
          <p:nvSpPr>
            <p:cNvPr id="31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D2314031-A0FF-430F-A1B0-88E40BDC7DB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内部类型</a:t>
              </a:r>
            </a:p>
          </p:txBody>
        </p:sp>
        <p:sp>
          <p:nvSpPr>
            <p:cNvPr id="32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048338F6-34EC-4186-A7EC-C0E61525EFE4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用户定义类型</a:t>
              </a:r>
            </a:p>
          </p:txBody>
        </p:sp>
        <p:sp>
          <p:nvSpPr>
            <p:cNvPr id="33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1CE8E1E7-A1DE-4566-9BD8-34C41DD82DA0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</a:t>
              </a:r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C</a:t>
              </a:r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语言的数据类型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711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内部类型</a:t>
            </a:r>
          </a:p>
          <a:p>
            <a:r>
              <a:rPr lang="zh-CN" altLang="en-US" dirty="0"/>
              <a:t>语言根据所面向的机器和应用定义了不同的数据类型，这些类型称为内部类型（语言定义类型 ）。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用户定义类型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自</a:t>
            </a:r>
            <a:r>
              <a:rPr lang="en-US" altLang="zh-CN" dirty="0"/>
              <a:t>Pascal </a:t>
            </a:r>
            <a:r>
              <a:rPr lang="zh-CN" altLang="en-US" dirty="0"/>
              <a:t>语言开始，语言提供了由用户定义类型的方法。采用这类方法由用户自己定义的数据类型称为用户定义类型（自定义类型）。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数据类型的分类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40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5969</TotalTime>
  <Words>329</Words>
  <Application>Microsoft Office PowerPoint</Application>
  <PresentationFormat>宽屏</PresentationFormat>
  <Paragraphs>53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Clear Sans</vt:lpstr>
      <vt:lpstr>黑体</vt:lpstr>
      <vt:lpstr>宋体</vt:lpstr>
      <vt:lpstr>微软雅黑</vt:lpstr>
      <vt:lpstr>Arial</vt:lpstr>
      <vt:lpstr>Wingdings</vt:lpstr>
      <vt:lpstr>环保</vt:lpstr>
      <vt:lpstr>第二章 数据类型</vt:lpstr>
      <vt:lpstr>第二章 数据类型</vt:lpstr>
      <vt:lpstr>第二章 数据类型</vt:lpstr>
      <vt:lpstr>什么是数据类型</vt:lpstr>
      <vt:lpstr>第二章 数据类型</vt:lpstr>
      <vt:lpstr>数据类型的作用</vt:lpstr>
      <vt:lpstr>第二章 数据类型</vt:lpstr>
      <vt:lpstr>数据类型的分类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Microsoft</cp:lastModifiedBy>
  <cp:revision>1047</cp:revision>
  <cp:lastPrinted>1601-01-01T00:00:00Z</cp:lastPrinted>
  <dcterms:created xsi:type="dcterms:W3CDTF">1601-01-01T00:00:00Z</dcterms:created>
  <dcterms:modified xsi:type="dcterms:W3CDTF">2019-11-25T02:24:07Z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