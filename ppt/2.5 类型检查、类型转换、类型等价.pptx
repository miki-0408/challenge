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3"/>
  </p:notesMasterIdLst>
  <p:handoutMasterIdLst>
    <p:handoutMasterId r:id="rId14"/>
  </p:handoutMasterIdLst>
  <p:sldIdLst>
    <p:sldId id="395" r:id="rId2"/>
    <p:sldId id="307" r:id="rId3"/>
    <p:sldId id="309" r:id="rId4"/>
    <p:sldId id="310" r:id="rId5"/>
    <p:sldId id="311" r:id="rId6"/>
    <p:sldId id="396" r:id="rId7"/>
    <p:sldId id="312" r:id="rId8"/>
    <p:sldId id="314" r:id="rId9"/>
    <p:sldId id="315" r:id="rId10"/>
    <p:sldId id="397" r:id="rId11"/>
    <p:sldId id="316" r:id="rId12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040C0E"/>
    <a:srgbClr val="A18D60"/>
    <a:srgbClr val="EE8A3E"/>
    <a:srgbClr val="E98A3E"/>
    <a:srgbClr val="04141B"/>
    <a:srgbClr val="D9B247"/>
    <a:srgbClr val="2A9995"/>
    <a:srgbClr val="54D0CA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85" d="100"/>
          <a:sy n="85" d="100"/>
        </p:scale>
        <p:origin x="60" y="1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b="1"/>
              <a:t>泛函程序设计语言</a:t>
            </a:r>
            <a:r>
              <a:rPr lang="en-US" altLang="zh-CN" b="1">
                <a:solidFill>
                  <a:srgbClr val="FF0000"/>
                </a:solidFill>
              </a:rPr>
              <a:t>FFP</a:t>
            </a:r>
            <a:endParaRPr lang="zh-CN" altLang="en-US"/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BA61FA-6BD3-4E46-A4BC-4382AF6A67C3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609600"/>
            <a:ext cx="9601196" cy="56388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4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第五节 类型检查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第六节 类型转换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类型等价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实现模型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171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对数据的操作和对应的类型是否匹配的一致性检查称为</a:t>
            </a:r>
            <a:r>
              <a:rPr lang="zh-CN" altLang="en-US" dirty="0">
                <a:solidFill>
                  <a:srgbClr val="EE853E"/>
                </a:solidFill>
              </a:rPr>
              <a:t>类型检查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静态</a:t>
            </a:r>
            <a:r>
              <a:rPr lang="zh-CN" altLang="en-US" dirty="0"/>
              <a:t>检查和</a:t>
            </a:r>
            <a:r>
              <a:rPr lang="zh-CN" altLang="en-US" dirty="0">
                <a:solidFill>
                  <a:srgbClr val="EE853E"/>
                </a:solidFill>
              </a:rPr>
              <a:t>动态</a:t>
            </a:r>
            <a:r>
              <a:rPr lang="zh-CN" altLang="en-US" dirty="0"/>
              <a:t>检查：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zh-CN" altLang="en-US" dirty="0"/>
              <a:t>静态检查使程序更有效</a:t>
            </a:r>
          </a:p>
          <a:p>
            <a:r>
              <a:rPr lang="en-US" altLang="zh-CN" dirty="0"/>
              <a:t>(2) </a:t>
            </a:r>
            <a:r>
              <a:rPr lang="zh-CN" altLang="en-US" dirty="0"/>
              <a:t>动态检查使编程更方便，但影响了可靠性，且</a:t>
            </a:r>
            <a:r>
              <a:rPr lang="zh-CN" altLang="en-US" dirty="0">
                <a:solidFill>
                  <a:srgbClr val="EE853E"/>
                </a:solidFill>
              </a:rPr>
              <a:t>降低了执行效率 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8E8D82-89C7-4B71-B97B-C9ADDDE6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类型检查</a:t>
            </a:r>
          </a:p>
        </p:txBody>
      </p:sp>
    </p:spTree>
    <p:extLst>
      <p:ext uri="{BB962C8B-B14F-4D97-AF65-F5344CB8AC3E}">
        <p14:creationId xmlns:p14="http://schemas.microsoft.com/office/powerpoint/2010/main" val="247342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语言的分类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语言可以按类型进行分类，可分为：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无</a:t>
            </a:r>
            <a:r>
              <a:rPr lang="zh-CN" altLang="en-US" dirty="0"/>
              <a:t>类型语言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强</a:t>
            </a:r>
            <a:r>
              <a:rPr lang="zh-CN" altLang="en-US" dirty="0"/>
              <a:t>类型语言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弱</a:t>
            </a:r>
            <a:r>
              <a:rPr lang="zh-CN" altLang="en-US" dirty="0"/>
              <a:t>类型语言</a:t>
            </a:r>
          </a:p>
          <a:p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类型检查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4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无类型语言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一个语言</a:t>
            </a:r>
            <a:r>
              <a:rPr lang="zh-CN" altLang="en-US" dirty="0">
                <a:solidFill>
                  <a:srgbClr val="EE853E"/>
                </a:solidFill>
              </a:rPr>
              <a:t>没有任何数据类型</a:t>
            </a:r>
            <a:r>
              <a:rPr lang="zh-CN" altLang="en-US" dirty="0"/>
              <a:t>，则称为无类型语言。</a:t>
            </a:r>
            <a:endParaRPr lang="en-US" altLang="zh-CN" dirty="0"/>
          </a:p>
          <a:p>
            <a:r>
              <a:rPr lang="zh-CN" altLang="en-US" dirty="0"/>
              <a:t>如：函数式语言（</a:t>
            </a:r>
            <a:r>
              <a:rPr lang="en-US" altLang="zh-CN" dirty="0"/>
              <a:t>functional programming language —— </a:t>
            </a:r>
            <a:r>
              <a:rPr lang="en-US" altLang="zh-CN" dirty="0">
                <a:solidFill>
                  <a:srgbClr val="EE853E"/>
                </a:solidFill>
              </a:rPr>
              <a:t>FP</a:t>
            </a:r>
            <a:r>
              <a:rPr lang="zh-CN" altLang="en-US" dirty="0"/>
              <a:t>）和泛函程序设计语言（正式函数式程序设计语言：</a:t>
            </a:r>
            <a:r>
              <a:rPr lang="en-US" altLang="zh-CN" dirty="0"/>
              <a:t>Formal functional programming language —— </a:t>
            </a:r>
            <a:r>
              <a:rPr lang="en-US" altLang="zh-CN" dirty="0">
                <a:solidFill>
                  <a:srgbClr val="EE853E"/>
                </a:solidFill>
              </a:rPr>
              <a:t>FFP</a:t>
            </a:r>
            <a:r>
              <a:rPr lang="zh-CN" altLang="en-US" dirty="0"/>
              <a:t>）</a:t>
            </a: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类型检查</a:t>
            </a:r>
          </a:p>
        </p:txBody>
      </p:sp>
    </p:spTree>
    <p:extLst>
      <p:ext uri="{BB962C8B-B14F-4D97-AF65-F5344CB8AC3E}">
        <p14:creationId xmlns:p14="http://schemas.microsoft.com/office/powerpoint/2010/main" val="397483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强类型语言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语言的所有类型检查都在</a:t>
            </a:r>
            <a:r>
              <a:rPr lang="zh-CN" altLang="en-US" dirty="0">
                <a:solidFill>
                  <a:srgbClr val="EE853E"/>
                </a:solidFill>
              </a:rPr>
              <a:t>编译</a:t>
            </a:r>
            <a:r>
              <a:rPr lang="zh-CN" altLang="en-US" dirty="0"/>
              <a:t>时完成 </a:t>
            </a:r>
            <a:endParaRPr lang="en-US" altLang="zh-CN" dirty="0"/>
          </a:p>
          <a:p>
            <a:r>
              <a:rPr lang="en-US" altLang="zh-CN" dirty="0"/>
              <a:t>—— </a:t>
            </a:r>
            <a:r>
              <a:rPr lang="zh-CN" altLang="en-US" dirty="0"/>
              <a:t>强类型语言（</a:t>
            </a:r>
            <a:r>
              <a:rPr lang="en-GB" altLang="zh-CN" dirty="0">
                <a:solidFill>
                  <a:srgbClr val="EE853E"/>
                </a:solidFill>
              </a:rPr>
              <a:t>C</a:t>
            </a:r>
            <a:r>
              <a:rPr lang="zh-CN" altLang="en-US" dirty="0">
                <a:solidFill>
                  <a:srgbClr val="EE853E"/>
                </a:solidFill>
              </a:rPr>
              <a:t>、</a:t>
            </a:r>
            <a:r>
              <a:rPr lang="en-US" altLang="zh-CN" dirty="0">
                <a:solidFill>
                  <a:srgbClr val="EE853E"/>
                </a:solidFill>
              </a:rPr>
              <a:t>ADA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弱类型语言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若类型检查</a:t>
            </a:r>
            <a:r>
              <a:rPr lang="zh-CN" altLang="en-US" dirty="0">
                <a:solidFill>
                  <a:srgbClr val="EE853E"/>
                </a:solidFill>
              </a:rPr>
              <a:t>全部或部分</a:t>
            </a:r>
            <a:r>
              <a:rPr lang="zh-CN" altLang="en-US" dirty="0"/>
              <a:t>要在</a:t>
            </a:r>
            <a:r>
              <a:rPr lang="zh-CN" altLang="en-US" dirty="0">
                <a:solidFill>
                  <a:srgbClr val="EE853E"/>
                </a:solidFill>
              </a:rPr>
              <a:t>运行</a:t>
            </a:r>
            <a:r>
              <a:rPr lang="zh-CN" altLang="en-US" dirty="0"/>
              <a:t>时完成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—— </a:t>
            </a:r>
            <a:r>
              <a:rPr lang="zh-CN" altLang="en-US" dirty="0"/>
              <a:t>弱类型语言（</a:t>
            </a:r>
            <a:r>
              <a:rPr lang="en-US" altLang="zh-CN" dirty="0">
                <a:solidFill>
                  <a:srgbClr val="EE853E"/>
                </a:solidFill>
              </a:rPr>
              <a:t>PASCAL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类型检查</a:t>
            </a:r>
          </a:p>
        </p:txBody>
      </p:sp>
    </p:spTree>
    <p:extLst>
      <p:ext uri="{BB962C8B-B14F-4D97-AF65-F5344CB8AC3E}">
        <p14:creationId xmlns:p14="http://schemas.microsoft.com/office/powerpoint/2010/main" val="208328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第五节 类型检查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第六节 类型转换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类型等价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实现模型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313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某种类型的</a:t>
            </a:r>
            <a:r>
              <a:rPr lang="zh-CN" altLang="en-US" dirty="0">
                <a:solidFill>
                  <a:srgbClr val="EE853E"/>
                </a:solidFill>
              </a:rPr>
              <a:t>值</a:t>
            </a:r>
            <a:r>
              <a:rPr lang="zh-CN" altLang="en-US" dirty="0"/>
              <a:t>转换为另一种类型的</a:t>
            </a:r>
            <a:r>
              <a:rPr lang="zh-CN" altLang="en-US" dirty="0">
                <a:solidFill>
                  <a:srgbClr val="EE853E"/>
                </a:solidFill>
              </a:rPr>
              <a:t>值</a:t>
            </a:r>
            <a:r>
              <a:rPr lang="zh-CN" altLang="en-US" dirty="0"/>
              <a:t>称为类型转换。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语言应该提供</a:t>
            </a:r>
            <a:r>
              <a:rPr lang="zh-CN" altLang="en-US" dirty="0">
                <a:solidFill>
                  <a:srgbClr val="EE853E"/>
                </a:solidFill>
              </a:rPr>
              <a:t>类型转换</a:t>
            </a:r>
            <a:r>
              <a:rPr lang="zh-CN" altLang="en-US" dirty="0"/>
              <a:t>机制</a:t>
            </a:r>
          </a:p>
          <a:p>
            <a:r>
              <a:rPr lang="zh-CN" altLang="en-US" dirty="0"/>
              <a:t>隐式（自动）转换</a:t>
            </a:r>
          </a:p>
          <a:p>
            <a:r>
              <a:rPr lang="zh-CN" altLang="en-US" dirty="0"/>
              <a:t>显式（强制）转换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499BCE9-6DC0-4C13-BA3B-8FC0A3B6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类型转换</a:t>
            </a:r>
          </a:p>
        </p:txBody>
      </p:sp>
    </p:spTree>
    <p:extLst>
      <p:ext uri="{BB962C8B-B14F-4D97-AF65-F5344CB8AC3E}">
        <p14:creationId xmlns:p14="http://schemas.microsoft.com/office/powerpoint/2010/main" val="243195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在某些语言中，类型转换的要求和规则都是</a:t>
            </a:r>
            <a:r>
              <a:rPr lang="zh-CN" altLang="en-US" dirty="0">
                <a:solidFill>
                  <a:srgbClr val="EE853E"/>
                </a:solidFill>
              </a:rPr>
              <a:t>隐式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en-US" altLang="zh-CN" dirty="0"/>
              <a:t>—— </a:t>
            </a:r>
            <a:r>
              <a:rPr lang="en-US" altLang="zh-CN" dirty="0">
                <a:solidFill>
                  <a:srgbClr val="EE853E"/>
                </a:solidFill>
              </a:rPr>
              <a:t>FORTRAN</a:t>
            </a:r>
            <a:r>
              <a:rPr lang="en-US" altLang="zh-CN" dirty="0"/>
              <a:t> </a:t>
            </a:r>
            <a:r>
              <a:rPr lang="zh-CN" altLang="en-US" dirty="0"/>
              <a:t>语言</a:t>
            </a:r>
            <a:endParaRPr lang="en-US" altLang="zh-CN" dirty="0"/>
          </a:p>
          <a:p>
            <a:r>
              <a:rPr lang="zh-CN" altLang="en-US" dirty="0"/>
              <a:t>在某些语言中，类型转换的要求和规则都是</a:t>
            </a:r>
            <a:r>
              <a:rPr lang="zh-CN" altLang="en-US" dirty="0">
                <a:solidFill>
                  <a:srgbClr val="EE853E"/>
                </a:solidFill>
              </a:rPr>
              <a:t>显式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en-US" altLang="zh-CN" dirty="0"/>
              <a:t>—— </a:t>
            </a:r>
            <a:r>
              <a:rPr lang="en-US" altLang="zh-CN" dirty="0">
                <a:solidFill>
                  <a:srgbClr val="EE853E"/>
                </a:solidFill>
              </a:rPr>
              <a:t>ADA</a:t>
            </a:r>
            <a:r>
              <a:rPr lang="zh-CN" altLang="en-US" dirty="0"/>
              <a:t>语言</a:t>
            </a:r>
            <a:endParaRPr lang="en-US" altLang="zh-CN" dirty="0"/>
          </a:p>
          <a:p>
            <a:r>
              <a:rPr lang="zh-CN" altLang="en-US" dirty="0"/>
              <a:t>在某些语言中，类型转换的要求和规则</a:t>
            </a:r>
            <a:r>
              <a:rPr lang="zh-CN" altLang="en-GB" dirty="0"/>
              <a:t>有</a:t>
            </a:r>
            <a:r>
              <a:rPr lang="zh-CN" altLang="en-US" dirty="0">
                <a:solidFill>
                  <a:srgbClr val="EE853E"/>
                </a:solidFill>
              </a:rPr>
              <a:t>隐式、显式</a:t>
            </a:r>
            <a:r>
              <a:rPr lang="zh-CN" altLang="en-US" dirty="0"/>
              <a:t>的两类</a:t>
            </a:r>
            <a:endParaRPr lang="en-US" altLang="zh-CN" dirty="0"/>
          </a:p>
          <a:p>
            <a:r>
              <a:rPr lang="en-US" altLang="zh-CN" dirty="0"/>
              <a:t>—— </a:t>
            </a:r>
            <a:r>
              <a:rPr lang="en-US" altLang="zh-CN" dirty="0">
                <a:solidFill>
                  <a:srgbClr val="EE853E"/>
                </a:solidFill>
              </a:rPr>
              <a:t>C</a:t>
            </a:r>
            <a:r>
              <a:rPr lang="zh-CN" altLang="en-US" dirty="0"/>
              <a:t>语言</a:t>
            </a:r>
            <a:endParaRPr lang="en-US" altLang="zh-CN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11E9A2D-C0FF-4E63-99D4-0BB34859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类型转换</a:t>
            </a:r>
          </a:p>
        </p:txBody>
      </p:sp>
    </p:spTree>
    <p:extLst>
      <p:ext uri="{BB962C8B-B14F-4D97-AF65-F5344CB8AC3E}">
        <p14:creationId xmlns:p14="http://schemas.microsoft.com/office/powerpoint/2010/main" val="48736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注意语言规定的转换规则</a:t>
            </a:r>
            <a:endParaRPr lang="en-US" altLang="zh-CN" dirty="0"/>
          </a:p>
          <a:p>
            <a:r>
              <a:rPr lang="zh-CN" altLang="en-US" dirty="0"/>
              <a:t>隐式转换发生在下述的情况下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混合运算</a:t>
            </a:r>
            <a:r>
              <a:rPr lang="zh-CN" altLang="en-US" dirty="0"/>
              <a:t>：级别低的类型向级别高的类型值转换。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将表达式的值赋给变量</a:t>
            </a:r>
            <a:r>
              <a:rPr lang="zh-CN" altLang="en-US" dirty="0"/>
              <a:t>：表达式的值向变量类型的值转换。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实参向函数形参传值</a:t>
            </a:r>
            <a:r>
              <a:rPr lang="zh-CN" altLang="en-US" dirty="0"/>
              <a:t>：实参的值向形参的值进行转换。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函数返回值</a:t>
            </a:r>
            <a:r>
              <a:rPr lang="zh-CN" altLang="en-US" dirty="0"/>
              <a:t>：返回值向函数返回类型的值进行转换。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类型转换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5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第五节 类型检查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第六节 类型转换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类型等价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实现模型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41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T1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EE853E"/>
                </a:solidFill>
              </a:rPr>
              <a:t>T2</a:t>
            </a:r>
            <a:r>
              <a:rPr lang="zh-CN" altLang="en-US" dirty="0"/>
              <a:t>是两个类型</a:t>
            </a:r>
          </a:p>
          <a:p>
            <a:r>
              <a:rPr lang="en-US" altLang="zh-CN" dirty="0"/>
              <a:t>T1</a:t>
            </a:r>
            <a:r>
              <a:rPr lang="zh-CN" altLang="en-US" dirty="0"/>
              <a:t>的任何值都可以赋予</a:t>
            </a:r>
            <a:r>
              <a:rPr lang="en-US" altLang="zh-CN" dirty="0"/>
              <a:t>T2</a:t>
            </a:r>
            <a:r>
              <a:rPr lang="zh-CN" altLang="en-US" dirty="0"/>
              <a:t>的变量，反之亦然；</a:t>
            </a:r>
          </a:p>
          <a:p>
            <a:r>
              <a:rPr lang="en-US" altLang="zh-CN" dirty="0"/>
              <a:t>T1</a:t>
            </a:r>
            <a:r>
              <a:rPr lang="zh-CN" altLang="en-US" dirty="0"/>
              <a:t>实参可对应</a:t>
            </a:r>
            <a:r>
              <a:rPr lang="en-US" altLang="zh-CN" dirty="0"/>
              <a:t>T2</a:t>
            </a:r>
            <a:r>
              <a:rPr lang="zh-CN" altLang="en-US" dirty="0"/>
              <a:t>形参，反之亦然，</a:t>
            </a:r>
          </a:p>
          <a:p>
            <a:r>
              <a:rPr lang="zh-CN" altLang="en-US" dirty="0"/>
              <a:t>则</a:t>
            </a:r>
            <a:r>
              <a:rPr lang="en-US" altLang="zh-CN" dirty="0"/>
              <a:t>T1</a:t>
            </a:r>
            <a:r>
              <a:rPr lang="zh-CN" altLang="en-US" dirty="0"/>
              <a:t>和</a:t>
            </a:r>
            <a:r>
              <a:rPr lang="en-US" altLang="zh-CN" dirty="0"/>
              <a:t>T2</a:t>
            </a:r>
            <a:r>
              <a:rPr lang="zh-CN" altLang="en-US" dirty="0"/>
              <a:t>类型等价（相容）。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E31B0A2-2CE5-48CA-AE56-424944DDA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类型等价</a:t>
            </a:r>
          </a:p>
        </p:txBody>
      </p:sp>
    </p:spTree>
    <p:extLst>
      <p:ext uri="{BB962C8B-B14F-4D97-AF65-F5344CB8AC3E}">
        <p14:creationId xmlns:p14="http://schemas.microsoft.com/office/powerpoint/2010/main" val="285108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6108</TotalTime>
  <Words>443</Words>
  <Application>Microsoft Office PowerPoint</Application>
  <PresentationFormat>宽屏</PresentationFormat>
  <Paragraphs>66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Wingdings</vt:lpstr>
      <vt:lpstr>环保</vt:lpstr>
      <vt:lpstr>第二章 数据类型</vt:lpstr>
      <vt:lpstr>类型检查</vt:lpstr>
      <vt:lpstr>类型检查</vt:lpstr>
      <vt:lpstr>类型检查</vt:lpstr>
      <vt:lpstr>类型检查</vt:lpstr>
      <vt:lpstr>第二章 数据类型</vt:lpstr>
      <vt:lpstr>类型转换</vt:lpstr>
      <vt:lpstr>类型转换</vt:lpstr>
      <vt:lpstr>类型转换</vt:lpstr>
      <vt:lpstr>第二章 数据类型</vt:lpstr>
      <vt:lpstr>类型等价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Shengji Yu</cp:lastModifiedBy>
  <cp:revision>1048</cp:revision>
  <cp:lastPrinted>1601-01-01T00:00:00Z</cp:lastPrinted>
  <dcterms:created xsi:type="dcterms:W3CDTF">1601-01-01T00:00:00Z</dcterms:created>
  <dcterms:modified xsi:type="dcterms:W3CDTF">2018-12-14T03:59:48Z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