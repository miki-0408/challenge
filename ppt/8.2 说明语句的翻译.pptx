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01" r:id="rId1"/>
  </p:sldMasterIdLst>
  <p:notesMasterIdLst>
    <p:notesMasterId r:id="rId12"/>
  </p:notesMasterIdLst>
  <p:handoutMasterIdLst>
    <p:handoutMasterId r:id="rId13"/>
  </p:handoutMasterIdLst>
  <p:sldIdLst>
    <p:sldId id="370" r:id="rId2"/>
    <p:sldId id="275" r:id="rId3"/>
    <p:sldId id="276" r:id="rId4"/>
    <p:sldId id="382" r:id="rId5"/>
    <p:sldId id="277" r:id="rId6"/>
    <p:sldId id="376" r:id="rId7"/>
    <p:sldId id="377" r:id="rId8"/>
    <p:sldId id="383" r:id="rId9"/>
    <p:sldId id="384" r:id="rId10"/>
    <p:sldId id="385" r:id="rId11"/>
  </p:sldIdLst>
  <p:sldSz cx="12192000" cy="6858000"/>
  <p:notesSz cx="2782888" cy="37179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853E"/>
    <a:srgbClr val="A18D60"/>
    <a:srgbClr val="EE8A3E"/>
    <a:srgbClr val="E98A3E"/>
    <a:srgbClr val="04141B"/>
    <a:srgbClr val="D9B247"/>
    <a:srgbClr val="2A9995"/>
    <a:srgbClr val="54D0CA"/>
    <a:srgbClr val="0000FF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7" autoAdjust="0"/>
    <p:restoredTop sz="89127" autoAdjust="0"/>
  </p:normalViewPr>
  <p:slideViewPr>
    <p:cSldViewPr>
      <p:cViewPr varScale="1">
        <p:scale>
          <a:sx n="89" d="100"/>
          <a:sy n="89" d="100"/>
        </p:scale>
        <p:origin x="84" y="20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48"/>
    </p:cViewPr>
  </p:sorterViewPr>
  <p:notesViewPr>
    <p:cSldViewPr>
      <p:cViewPr varScale="1">
        <p:scale>
          <a:sx n="183" d="100"/>
          <a:sy n="183" d="100"/>
        </p:scale>
        <p:origin x="266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4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F22DA3B-951B-42A7-9A91-80A8B753C47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196182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1576388" y="0"/>
            <a:ext cx="1206500" cy="18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>
            <a:lvl1pPr algn="r"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53988" y="279400"/>
            <a:ext cx="2474912" cy="1393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74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77813" y="1765300"/>
            <a:ext cx="2227262" cy="167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74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defTabSz="371475">
              <a:defRPr sz="5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4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1576388" y="3530600"/>
            <a:ext cx="1206500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7143" tIns="18571" rIns="37143" bIns="18571" numCol="1" anchor="b" anchorCtr="0" compatLnSpc="1">
            <a:prstTxWarp prst="textNoShape">
              <a:avLst/>
            </a:prstTxWarp>
          </a:bodyPr>
          <a:lstStyle>
            <a:lvl1pPr algn="r" defTabSz="371475">
              <a:defRPr sz="500"/>
            </a:lvl1pPr>
          </a:lstStyle>
          <a:p>
            <a:fld id="{7C94B347-5D95-4F16-91F2-C12A0B20C4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27714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66708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238383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922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87625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439325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014679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5877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5604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692398" y="3623737"/>
            <a:ext cx="6815669" cy="94826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单击此处添加副标题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692398" y="2057406"/>
            <a:ext cx="6815669" cy="1329259"/>
          </a:xfrm>
          <a:prstGeom prst="rect">
            <a:avLst/>
          </a:prstGeom>
        </p:spPr>
        <p:txBody>
          <a:bodyPr anchor="ctr"/>
          <a:lstStyle>
            <a:lvl1pPr>
              <a:defRPr sz="6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78557376-49C6-4381-B102-72EEC70D751A}"/>
              </a:ext>
            </a:extLst>
          </p:cNvPr>
          <p:cNvCxnSpPr>
            <a:cxnSpLocks/>
          </p:cNvCxnSpPr>
          <p:nvPr userDrawn="1"/>
        </p:nvCxnSpPr>
        <p:spPr>
          <a:xfrm>
            <a:off x="2692398" y="3505200"/>
            <a:ext cx="6815669" cy="0"/>
          </a:xfrm>
          <a:prstGeom prst="line">
            <a:avLst/>
          </a:prstGeom>
          <a:ln w="12700">
            <a:gradFill flip="none" rotWithShape="1">
              <a:gsLst>
                <a:gs pos="59000">
                  <a:schemeClr val="bg1">
                    <a:alpha val="21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784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1074810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292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900000"/>
            <a:ext cx="525796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7E9892FE-F3AB-4039-9723-7093E7CEC2C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10130" y="899160"/>
            <a:ext cx="5257970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单击此处添加正文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56760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4CDCAD84-E465-486F-85C0-B8CA0688ED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1" y="900000"/>
            <a:ext cx="354719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</a:t>
            </a:r>
            <a:r>
              <a:rPr lang="zh-CN" altLang="en-US"/>
              <a:t>添加正文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A8E36B22-94F4-4875-8A46-5B092EAFA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E0F09CF-38EF-40AF-8852-E6AA05DD2C4C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725819-6F84-4DA7-A045-AF9FEFD8BDE3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9" name="任意多边形 41">
              <a:extLst>
                <a:ext uri="{FF2B5EF4-FFF2-40B4-BE49-F238E27FC236}">
                  <a16:creationId xmlns:a16="http://schemas.microsoft.com/office/drawing/2014/main" id="{9E81EAE9-575A-411E-ACBB-AB8DB96140AB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C33C9AF3-5E2C-4CED-9B65-BB1F009F74CA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11923961-9316-450E-8E0C-6159462127C6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26317C85-12BB-4EC9-8CD4-FE3D7DB6AB10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4EC1B1CD-714D-4D4C-AA93-7517ADCCDF65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平行四边形 13">
              <a:extLst>
                <a:ext uri="{FF2B5EF4-FFF2-40B4-BE49-F238E27FC236}">
                  <a16:creationId xmlns:a16="http://schemas.microsoft.com/office/drawing/2014/main" id="{4E566B63-83F1-4353-B6DA-291D2A2431AE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21D09B86-9E93-40B4-96E1-952B7B1A861B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322401" y="900000"/>
            <a:ext cx="354719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</a:t>
            </a:r>
            <a:r>
              <a:rPr lang="zh-CN" altLang="en-US"/>
              <a:t>添加正文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21" name="内容占位符 2">
            <a:extLst>
              <a:ext uri="{FF2B5EF4-FFF2-40B4-BE49-F238E27FC236}">
                <a16:creationId xmlns:a16="http://schemas.microsoft.com/office/drawing/2014/main" id="{F3B0E141-4CCD-47B8-82F1-F307E0885F05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917182" y="899999"/>
            <a:ext cx="3547199" cy="5237998"/>
          </a:xfrm>
          <a:prstGeom prst="rect">
            <a:avLst/>
          </a:prstGeo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marR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15000"/>
              <a:buFontTx/>
              <a:buNone/>
              <a:tabLst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</a:t>
            </a:r>
            <a:r>
              <a:rPr lang="zh-CN" altLang="en-US"/>
              <a:t>添加正文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69382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5E28B1FC-3605-4CC3-A226-94C02D2641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90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 lang="zh-CN" altLang="en-US" sz="2800" b="1" kern="1200" cap="none" dirty="0">
                <a:ln w="3175" cmpd="sng">
                  <a:noFill/>
                </a:ln>
                <a:solidFill>
                  <a:schemeClr val="bg1"/>
                </a:solidFill>
                <a:effectLst>
                  <a:glow rad="88900">
                    <a:srgbClr val="073780">
                      <a:alpha val="58000"/>
                    </a:srgbClr>
                  </a:glo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A153692-77AD-465A-A07A-1F236B045846}"/>
              </a:ext>
            </a:extLst>
          </p:cNvPr>
          <p:cNvCxnSpPr/>
          <p:nvPr userDrawn="1"/>
        </p:nvCxnSpPr>
        <p:spPr>
          <a:xfrm>
            <a:off x="0" y="900000"/>
            <a:ext cx="11273869" cy="0"/>
          </a:xfrm>
          <a:prstGeom prst="line">
            <a:avLst/>
          </a:prstGeom>
          <a:ln w="12700">
            <a:gradFill flip="none" rotWithShape="1">
              <a:gsLst>
                <a:gs pos="60000">
                  <a:schemeClr val="bg1">
                    <a:alpha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>
            <a:extLst>
              <a:ext uri="{FF2B5EF4-FFF2-40B4-BE49-F238E27FC236}">
                <a16:creationId xmlns:a16="http://schemas.microsoft.com/office/drawing/2014/main" id="{1A30A995-568B-4288-A1AE-69EE8DAF081C}"/>
              </a:ext>
            </a:extLst>
          </p:cNvPr>
          <p:cNvGrpSpPr/>
          <p:nvPr userDrawn="1"/>
        </p:nvGrpSpPr>
        <p:grpSpPr>
          <a:xfrm>
            <a:off x="0" y="759581"/>
            <a:ext cx="5800195" cy="78378"/>
            <a:chOff x="-1" y="759581"/>
            <a:chExt cx="5800195" cy="78378"/>
          </a:xfrm>
        </p:grpSpPr>
        <p:sp>
          <p:nvSpPr>
            <p:cNvPr id="8" name="任意多边形 41">
              <a:extLst>
                <a:ext uri="{FF2B5EF4-FFF2-40B4-BE49-F238E27FC236}">
                  <a16:creationId xmlns:a16="http://schemas.microsoft.com/office/drawing/2014/main" id="{548C9EB0-9642-44C5-B2B7-07F802F76B58}"/>
                </a:ext>
              </a:extLst>
            </p:cNvPr>
            <p:cNvSpPr/>
            <p:nvPr/>
          </p:nvSpPr>
          <p:spPr>
            <a:xfrm flipV="1">
              <a:off x="-1" y="759581"/>
              <a:ext cx="2052000" cy="78378"/>
            </a:xfrm>
            <a:custGeom>
              <a:avLst/>
              <a:gdLst>
                <a:gd name="connsiteX0" fmla="*/ 1585578 w 1713495"/>
                <a:gd name="connsiteY0" fmla="*/ 78378 h 78378"/>
                <a:gd name="connsiteX1" fmla="*/ 0 w 1713495"/>
                <a:gd name="connsiteY1" fmla="*/ 78378 h 78378"/>
                <a:gd name="connsiteX2" fmla="*/ 0 w 1713495"/>
                <a:gd name="connsiteY2" fmla="*/ 0 h 78378"/>
                <a:gd name="connsiteX3" fmla="*/ 1713495 w 1713495"/>
                <a:gd name="connsiteY3" fmla="*/ 0 h 78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13495" h="78378">
                  <a:moveTo>
                    <a:pt x="1585578" y="78378"/>
                  </a:moveTo>
                  <a:lnTo>
                    <a:pt x="0" y="78378"/>
                  </a:lnTo>
                  <a:lnTo>
                    <a:pt x="0" y="0"/>
                  </a:lnTo>
                  <a:lnTo>
                    <a:pt x="1713495" y="0"/>
                  </a:lnTo>
                  <a:close/>
                </a:path>
              </a:pathLst>
            </a:custGeom>
            <a:solidFill>
              <a:srgbClr val="61D6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19E95DC8-161D-40C4-9683-31996CC1D0AF}"/>
                </a:ext>
              </a:extLst>
            </p:cNvPr>
            <p:cNvSpPr/>
            <p:nvPr/>
          </p:nvSpPr>
          <p:spPr>
            <a:xfrm flipV="1">
              <a:off x="2017888" y="759581"/>
              <a:ext cx="1488141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平行四边形 9">
              <a:extLst>
                <a:ext uri="{FF2B5EF4-FFF2-40B4-BE49-F238E27FC236}">
                  <a16:creationId xmlns:a16="http://schemas.microsoft.com/office/drawing/2014/main" id="{1F05C3C9-12CA-416C-9887-3B295CCCFB74}"/>
                </a:ext>
              </a:extLst>
            </p:cNvPr>
            <p:cNvSpPr/>
            <p:nvPr/>
          </p:nvSpPr>
          <p:spPr>
            <a:xfrm flipV="1">
              <a:off x="3480184" y="759581"/>
              <a:ext cx="103343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>
              <a:extLst>
                <a:ext uri="{FF2B5EF4-FFF2-40B4-BE49-F238E27FC236}">
                  <a16:creationId xmlns:a16="http://schemas.microsoft.com/office/drawing/2014/main" id="{F7FFC115-1EE8-42CC-B656-23881B4B180E}"/>
                </a:ext>
              </a:extLst>
            </p:cNvPr>
            <p:cNvSpPr/>
            <p:nvPr/>
          </p:nvSpPr>
          <p:spPr>
            <a:xfrm flipV="1">
              <a:off x="4487765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4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0214CFBE-9CFB-4E8F-ACC6-A52DE709F3F1}"/>
                </a:ext>
              </a:extLst>
            </p:cNvPr>
            <p:cNvSpPr/>
            <p:nvPr/>
          </p:nvSpPr>
          <p:spPr>
            <a:xfrm flipV="1">
              <a:off x="4916628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898DDCA7-1785-41D9-A6F9-240A9B2251D5}"/>
                </a:ext>
              </a:extLst>
            </p:cNvPr>
            <p:cNvSpPr/>
            <p:nvPr/>
          </p:nvSpPr>
          <p:spPr>
            <a:xfrm flipV="1">
              <a:off x="5345484" y="759581"/>
              <a:ext cx="454710" cy="78378"/>
            </a:xfrm>
            <a:prstGeom prst="parallelogram">
              <a:avLst>
                <a:gd name="adj" fmla="val 163205"/>
              </a:avLst>
            </a:prstGeom>
            <a:solidFill>
              <a:srgbClr val="61D6F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316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40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3" r:id="rId2"/>
    <p:sldLayoutId id="2147484310" r:id="rId3"/>
    <p:sldLayoutId id="2147484311" r:id="rId4"/>
    <p:sldLayoutId id="2147484308" r:id="rId5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600" kern="1200" cap="none">
          <a:ln w="3175" cmpd="sng">
            <a:noFill/>
          </a:ln>
          <a:solidFill>
            <a:schemeClr val="bg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4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20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8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None/>
        <a:defRPr sz="1600" kern="1200" cap="none">
          <a:solidFill>
            <a:schemeClr val="bg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25">
            <a:extLst>
              <a:ext uri="{FF2B5EF4-FFF2-40B4-BE49-F238E27FC236}">
                <a16:creationId xmlns:a16="http://schemas.microsoft.com/office/drawing/2014/main" id="{6DBCB7D3-3664-448E-8AFB-2F9803AB2839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第八章 语义分析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A6E4869-161E-4E0A-87C0-52C9CF42DC82}"/>
              </a:ext>
            </a:extLst>
          </p:cNvPr>
          <p:cNvGrpSpPr>
            <a:grpSpLocks noChangeAspect="1"/>
          </p:cNvGrpSpPr>
          <p:nvPr/>
        </p:nvGrpSpPr>
        <p:grpSpPr>
          <a:xfrm>
            <a:off x="2984433" y="1638300"/>
            <a:ext cx="6223134" cy="3581400"/>
            <a:chOff x="1449652" y="2320203"/>
            <a:chExt cx="4724869" cy="2719152"/>
          </a:xfrm>
        </p:grpSpPr>
        <p:grpSp>
          <p:nvGrpSpPr>
            <p:cNvPr id="6" name="Group 78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6B464E78-0213-4258-9BA3-F024CB4694A2}"/>
                </a:ext>
              </a:extLst>
            </p:cNvPr>
            <p:cNvGrpSpPr/>
            <p:nvPr/>
          </p:nvGrpSpPr>
          <p:grpSpPr>
            <a:xfrm>
              <a:off x="1449652" y="2320203"/>
              <a:ext cx="4724869" cy="2719152"/>
              <a:chOff x="8440747" y="4796156"/>
              <a:chExt cx="2786063" cy="1603375"/>
            </a:xfrm>
          </p:grpSpPr>
          <p:sp>
            <p:nvSpPr>
              <p:cNvPr id="11" name="Freeform 45">
                <a:extLst>
                  <a:ext uri="{FF2B5EF4-FFF2-40B4-BE49-F238E27FC236}">
                    <a16:creationId xmlns:a16="http://schemas.microsoft.com/office/drawing/2014/main" id="{0AAF4C99-21B1-4C65-9170-DBB9F406E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40747" y="6337618"/>
                <a:ext cx="1403350" cy="61913"/>
              </a:xfrm>
              <a:custGeom>
                <a:avLst/>
                <a:gdLst>
                  <a:gd name="T0" fmla="*/ 0 w 885"/>
                  <a:gd name="T1" fmla="*/ 16 h 39"/>
                  <a:gd name="T2" fmla="*/ 78 w 885"/>
                  <a:gd name="T3" fmla="*/ 39 h 39"/>
                  <a:gd name="T4" fmla="*/ 885 w 885"/>
                  <a:gd name="T5" fmla="*/ 39 h 39"/>
                  <a:gd name="T6" fmla="*/ 885 w 885"/>
                  <a:gd name="T7" fmla="*/ 0 h 39"/>
                  <a:gd name="T8" fmla="*/ 0 w 885"/>
                  <a:gd name="T9" fmla="*/ 0 h 39"/>
                  <a:gd name="T10" fmla="*/ 0 w 885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5" h="39">
                    <a:moveTo>
                      <a:pt x="0" y="16"/>
                    </a:moveTo>
                    <a:cubicBezTo>
                      <a:pt x="0" y="23"/>
                      <a:pt x="30" y="39"/>
                      <a:pt x="78" y="39"/>
                    </a:cubicBezTo>
                    <a:cubicBezTo>
                      <a:pt x="126" y="39"/>
                      <a:pt x="885" y="39"/>
                      <a:pt x="885" y="39"/>
                    </a:cubicBezTo>
                    <a:cubicBezTo>
                      <a:pt x="885" y="0"/>
                      <a:pt x="885" y="0"/>
                      <a:pt x="88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2" name="Freeform 46">
                <a:extLst>
                  <a:ext uri="{FF2B5EF4-FFF2-40B4-BE49-F238E27FC236}">
                    <a16:creationId xmlns:a16="http://schemas.microsoft.com/office/drawing/2014/main" id="{42F4E6CE-4F80-41FB-8539-E7049AA88C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23459" y="6337618"/>
                <a:ext cx="1403350" cy="61913"/>
              </a:xfrm>
              <a:custGeom>
                <a:avLst/>
                <a:gdLst>
                  <a:gd name="T0" fmla="*/ 884 w 884"/>
                  <a:gd name="T1" fmla="*/ 16 h 39"/>
                  <a:gd name="T2" fmla="*/ 806 w 884"/>
                  <a:gd name="T3" fmla="*/ 39 h 39"/>
                  <a:gd name="T4" fmla="*/ 0 w 884"/>
                  <a:gd name="T5" fmla="*/ 39 h 39"/>
                  <a:gd name="T6" fmla="*/ 0 w 884"/>
                  <a:gd name="T7" fmla="*/ 0 h 39"/>
                  <a:gd name="T8" fmla="*/ 884 w 884"/>
                  <a:gd name="T9" fmla="*/ 0 h 39"/>
                  <a:gd name="T10" fmla="*/ 884 w 884"/>
                  <a:gd name="T11" fmla="*/ 16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84" h="39">
                    <a:moveTo>
                      <a:pt x="884" y="16"/>
                    </a:moveTo>
                    <a:cubicBezTo>
                      <a:pt x="884" y="23"/>
                      <a:pt x="854" y="39"/>
                      <a:pt x="806" y="39"/>
                    </a:cubicBezTo>
                    <a:cubicBezTo>
                      <a:pt x="758" y="39"/>
                      <a:pt x="0" y="39"/>
                      <a:pt x="0" y="3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884" y="0"/>
                      <a:pt x="884" y="0"/>
                      <a:pt x="884" y="0"/>
                    </a:cubicBezTo>
                    <a:lnTo>
                      <a:pt x="884" y="16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3" name="Freeform 47">
                <a:extLst>
                  <a:ext uri="{FF2B5EF4-FFF2-40B4-BE49-F238E27FC236}">
                    <a16:creationId xmlns:a16="http://schemas.microsoft.com/office/drawing/2014/main" id="{CF1B1288-17F3-48AE-A6F4-F3DDDFC323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15384" y="4796156"/>
                <a:ext cx="2257425" cy="1546225"/>
              </a:xfrm>
              <a:custGeom>
                <a:avLst/>
                <a:gdLst>
                  <a:gd name="T0" fmla="*/ 1378 w 1423"/>
                  <a:gd name="T1" fmla="*/ 0 h 974"/>
                  <a:gd name="T2" fmla="*/ 45 w 1423"/>
                  <a:gd name="T3" fmla="*/ 0 h 974"/>
                  <a:gd name="T4" fmla="*/ 0 w 1423"/>
                  <a:gd name="T5" fmla="*/ 45 h 974"/>
                  <a:gd name="T6" fmla="*/ 0 w 1423"/>
                  <a:gd name="T7" fmla="*/ 218 h 974"/>
                  <a:gd name="T8" fmla="*/ 0 w 1423"/>
                  <a:gd name="T9" fmla="*/ 929 h 974"/>
                  <a:gd name="T10" fmla="*/ 45 w 1423"/>
                  <a:gd name="T11" fmla="*/ 974 h 974"/>
                  <a:gd name="T12" fmla="*/ 1378 w 1423"/>
                  <a:gd name="T13" fmla="*/ 974 h 974"/>
                  <a:gd name="T14" fmla="*/ 1423 w 1423"/>
                  <a:gd name="T15" fmla="*/ 929 h 974"/>
                  <a:gd name="T16" fmla="*/ 1423 w 1423"/>
                  <a:gd name="T17" fmla="*/ 45 h 974"/>
                  <a:gd name="T18" fmla="*/ 1378 w 1423"/>
                  <a:gd name="T19" fmla="*/ 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3" h="974">
                    <a:moveTo>
                      <a:pt x="1378" y="0"/>
                    </a:moveTo>
                    <a:cubicBezTo>
                      <a:pt x="45" y="0"/>
                      <a:pt x="45" y="0"/>
                      <a:pt x="45" y="0"/>
                    </a:cubicBezTo>
                    <a:cubicBezTo>
                      <a:pt x="20" y="0"/>
                      <a:pt x="0" y="20"/>
                      <a:pt x="0" y="45"/>
                    </a:cubicBezTo>
                    <a:cubicBezTo>
                      <a:pt x="0" y="218"/>
                      <a:pt x="0" y="218"/>
                      <a:pt x="0" y="218"/>
                    </a:cubicBezTo>
                    <a:cubicBezTo>
                      <a:pt x="0" y="929"/>
                      <a:pt x="0" y="929"/>
                      <a:pt x="0" y="929"/>
                    </a:cubicBezTo>
                    <a:cubicBezTo>
                      <a:pt x="0" y="954"/>
                      <a:pt x="20" y="974"/>
                      <a:pt x="45" y="974"/>
                    </a:cubicBezTo>
                    <a:cubicBezTo>
                      <a:pt x="1378" y="974"/>
                      <a:pt x="1378" y="974"/>
                      <a:pt x="1378" y="974"/>
                    </a:cubicBezTo>
                    <a:cubicBezTo>
                      <a:pt x="1403" y="974"/>
                      <a:pt x="1423" y="954"/>
                      <a:pt x="1423" y="929"/>
                    </a:cubicBezTo>
                    <a:cubicBezTo>
                      <a:pt x="1423" y="45"/>
                      <a:pt x="1423" y="45"/>
                      <a:pt x="1423" y="45"/>
                    </a:cubicBezTo>
                    <a:cubicBezTo>
                      <a:pt x="1423" y="20"/>
                      <a:pt x="1403" y="0"/>
                      <a:pt x="1378" y="0"/>
                    </a:cubicBezTo>
                    <a:close/>
                  </a:path>
                </a:pathLst>
              </a:custGeom>
              <a:solidFill>
                <a:srgbClr val="D2D3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4" name="Freeform 48">
                <a:extLst>
                  <a:ext uri="{FF2B5EF4-FFF2-40B4-BE49-F238E27FC236}">
                    <a16:creationId xmlns:a16="http://schemas.microsoft.com/office/drawing/2014/main" id="{F028F4F2-46C5-4AF7-A757-F80DCF29F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4804093"/>
                <a:ext cx="2243138" cy="1530350"/>
              </a:xfrm>
              <a:custGeom>
                <a:avLst/>
                <a:gdLst>
                  <a:gd name="T0" fmla="*/ 40 w 1414"/>
                  <a:gd name="T1" fmla="*/ 964 h 964"/>
                  <a:gd name="T2" fmla="*/ 0 w 1414"/>
                  <a:gd name="T3" fmla="*/ 924 h 964"/>
                  <a:gd name="T4" fmla="*/ 0 w 1414"/>
                  <a:gd name="T5" fmla="*/ 40 h 964"/>
                  <a:gd name="T6" fmla="*/ 40 w 1414"/>
                  <a:gd name="T7" fmla="*/ 0 h 964"/>
                  <a:gd name="T8" fmla="*/ 1373 w 1414"/>
                  <a:gd name="T9" fmla="*/ 0 h 964"/>
                  <a:gd name="T10" fmla="*/ 1414 w 1414"/>
                  <a:gd name="T11" fmla="*/ 40 h 964"/>
                  <a:gd name="T12" fmla="*/ 1414 w 1414"/>
                  <a:gd name="T13" fmla="*/ 924 h 964"/>
                  <a:gd name="T14" fmla="*/ 1373 w 1414"/>
                  <a:gd name="T15" fmla="*/ 964 h 964"/>
                  <a:gd name="T16" fmla="*/ 40 w 1414"/>
                  <a:gd name="T17" fmla="*/ 964 h 9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964">
                    <a:moveTo>
                      <a:pt x="40" y="964"/>
                    </a:moveTo>
                    <a:cubicBezTo>
                      <a:pt x="18" y="964"/>
                      <a:pt x="0" y="946"/>
                      <a:pt x="0" y="924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0" y="18"/>
                      <a:pt x="18" y="0"/>
                      <a:pt x="40" y="0"/>
                    </a:cubicBezTo>
                    <a:cubicBezTo>
                      <a:pt x="1373" y="0"/>
                      <a:pt x="1373" y="0"/>
                      <a:pt x="1373" y="0"/>
                    </a:cubicBezTo>
                    <a:cubicBezTo>
                      <a:pt x="1396" y="0"/>
                      <a:pt x="1414" y="18"/>
                      <a:pt x="1414" y="40"/>
                    </a:cubicBezTo>
                    <a:cubicBezTo>
                      <a:pt x="1414" y="924"/>
                      <a:pt x="1414" y="924"/>
                      <a:pt x="1414" y="924"/>
                    </a:cubicBezTo>
                    <a:cubicBezTo>
                      <a:pt x="1414" y="946"/>
                      <a:pt x="1396" y="964"/>
                      <a:pt x="1373" y="964"/>
                    </a:cubicBezTo>
                    <a:lnTo>
                      <a:pt x="40" y="964"/>
                    </a:lnTo>
                    <a:close/>
                  </a:path>
                </a:pathLst>
              </a:custGeom>
              <a:solidFill>
                <a:srgbClr val="18181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id="{0FA8FE6F-7911-4DA3-9280-CD41893BC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23322" y="6269356"/>
                <a:ext cx="2243138" cy="65088"/>
              </a:xfrm>
              <a:custGeom>
                <a:avLst/>
                <a:gdLst>
                  <a:gd name="T0" fmla="*/ 1414 w 1414"/>
                  <a:gd name="T1" fmla="*/ 0 h 41"/>
                  <a:gd name="T2" fmla="*/ 1396 w 1414"/>
                  <a:gd name="T3" fmla="*/ 9 h 41"/>
                  <a:gd name="T4" fmla="*/ 18 w 1414"/>
                  <a:gd name="T5" fmla="*/ 9 h 41"/>
                  <a:gd name="T6" fmla="*/ 0 w 1414"/>
                  <a:gd name="T7" fmla="*/ 0 h 41"/>
                  <a:gd name="T8" fmla="*/ 0 w 1414"/>
                  <a:gd name="T9" fmla="*/ 1 h 41"/>
                  <a:gd name="T10" fmla="*/ 40 w 1414"/>
                  <a:gd name="T11" fmla="*/ 41 h 41"/>
                  <a:gd name="T12" fmla="*/ 1373 w 1414"/>
                  <a:gd name="T13" fmla="*/ 41 h 41"/>
                  <a:gd name="T14" fmla="*/ 1414 w 1414"/>
                  <a:gd name="T15" fmla="*/ 1 h 41"/>
                  <a:gd name="T16" fmla="*/ 1414 w 1414"/>
                  <a:gd name="T17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4" h="41">
                    <a:moveTo>
                      <a:pt x="1414" y="0"/>
                    </a:moveTo>
                    <a:cubicBezTo>
                      <a:pt x="1409" y="6"/>
                      <a:pt x="1403" y="9"/>
                      <a:pt x="1396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0" y="9"/>
                      <a:pt x="4" y="6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3"/>
                      <a:pt x="18" y="41"/>
                      <a:pt x="40" y="41"/>
                    </a:cubicBezTo>
                    <a:cubicBezTo>
                      <a:pt x="1373" y="41"/>
                      <a:pt x="1373" y="41"/>
                      <a:pt x="1373" y="41"/>
                    </a:cubicBezTo>
                    <a:cubicBezTo>
                      <a:pt x="1396" y="41"/>
                      <a:pt x="1414" y="23"/>
                      <a:pt x="1414" y="1"/>
                    </a:cubicBezTo>
                    <a:lnTo>
                      <a:pt x="1414" y="0"/>
                    </a:lnTo>
                    <a:close/>
                  </a:path>
                </a:pathLst>
              </a:cu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6" name="Rectangle 50">
                <a:extLst>
                  <a:ext uri="{FF2B5EF4-FFF2-40B4-BE49-F238E27FC236}">
                    <a16:creationId xmlns:a16="http://schemas.microsoft.com/office/drawing/2014/main" id="{0CC20CD7-5926-4020-B630-6E6CB0660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40747" y="6312218"/>
                <a:ext cx="2786063" cy="50800"/>
              </a:xfrm>
              <a:prstGeom prst="rect">
                <a:avLst/>
              </a:prstGeom>
              <a:solidFill>
                <a:srgbClr val="D2D6D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7" name="Freeform 51">
                <a:extLst>
                  <a:ext uri="{FF2B5EF4-FFF2-40B4-BE49-F238E27FC236}">
                    <a16:creationId xmlns:a16="http://schemas.microsoft.com/office/drawing/2014/main" id="{43560EC3-2B3C-4178-A88D-F5F6BE39C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2959" y="6312218"/>
                <a:ext cx="400050" cy="28575"/>
              </a:xfrm>
              <a:custGeom>
                <a:avLst/>
                <a:gdLst>
                  <a:gd name="T0" fmla="*/ 0 w 252"/>
                  <a:gd name="T1" fmla="*/ 0 h 18"/>
                  <a:gd name="T2" fmla="*/ 22 w 252"/>
                  <a:gd name="T3" fmla="*/ 18 h 18"/>
                  <a:gd name="T4" fmla="*/ 230 w 252"/>
                  <a:gd name="T5" fmla="*/ 18 h 18"/>
                  <a:gd name="T6" fmla="*/ 252 w 252"/>
                  <a:gd name="T7" fmla="*/ 0 h 18"/>
                  <a:gd name="T8" fmla="*/ 0 w 252"/>
                  <a:gd name="T9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2" h="18">
                    <a:moveTo>
                      <a:pt x="0" y="0"/>
                    </a:moveTo>
                    <a:cubicBezTo>
                      <a:pt x="2" y="10"/>
                      <a:pt x="11" y="18"/>
                      <a:pt x="22" y="18"/>
                    </a:cubicBezTo>
                    <a:cubicBezTo>
                      <a:pt x="230" y="18"/>
                      <a:pt x="230" y="18"/>
                      <a:pt x="230" y="18"/>
                    </a:cubicBezTo>
                    <a:cubicBezTo>
                      <a:pt x="241" y="18"/>
                      <a:pt x="250" y="10"/>
                      <a:pt x="25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3B4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8" name="Rectangle 52">
                <a:extLst>
                  <a:ext uri="{FF2B5EF4-FFF2-40B4-BE49-F238E27FC236}">
                    <a16:creationId xmlns:a16="http://schemas.microsoft.com/office/drawing/2014/main" id="{5FF586EA-939E-4292-B33F-19F5CF1899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97934" y="4900931"/>
                <a:ext cx="2093913" cy="1322388"/>
              </a:xfrm>
              <a:prstGeom prst="rect">
                <a:avLst/>
              </a:prstGeom>
              <a:solidFill>
                <a:srgbClr val="0C0D1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19" name="Rectangle 53">
                <a:extLst>
                  <a:ext uri="{FF2B5EF4-FFF2-40B4-BE49-F238E27FC236}">
                    <a16:creationId xmlns:a16="http://schemas.microsoft.com/office/drawing/2014/main" id="{A24BBED8-D594-40A5-A918-74EE9FA5C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4284" y="4908868"/>
                <a:ext cx="2079625" cy="1308100"/>
              </a:xfrm>
              <a:prstGeom prst="rect">
                <a:avLst/>
              </a:prstGeom>
              <a:solidFill>
                <a:srgbClr val="C6C6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0" name="Oval 54">
                <a:extLst>
                  <a:ext uri="{FF2B5EF4-FFF2-40B4-BE49-F238E27FC236}">
                    <a16:creationId xmlns:a16="http://schemas.microsoft.com/office/drawing/2014/main" id="{6B28BA7D-3322-4138-9747-9B16C575E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5368"/>
                <a:ext cx="23813" cy="23813"/>
              </a:xfrm>
              <a:prstGeom prst="ellipse">
                <a:avLst/>
              </a:prstGeom>
              <a:solidFill>
                <a:srgbClr val="2C2C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1" name="Oval 55">
                <a:extLst>
                  <a:ext uri="{FF2B5EF4-FFF2-40B4-BE49-F238E27FC236}">
                    <a16:creationId xmlns:a16="http://schemas.microsoft.com/office/drawing/2014/main" id="{2F5F9035-B4F1-4847-BB55-10B3F1E3B3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1397" y="4843781"/>
                <a:ext cx="23813" cy="22225"/>
              </a:xfrm>
              <a:prstGeom prst="ellipse">
                <a:avLst/>
              </a:prstGeom>
              <a:solidFill>
                <a:srgbClr val="0A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2" name="Oval 56">
                <a:extLst>
                  <a:ext uri="{FF2B5EF4-FFF2-40B4-BE49-F238E27FC236}">
                    <a16:creationId xmlns:a16="http://schemas.microsoft.com/office/drawing/2014/main" id="{7E773054-250E-45A4-B703-E04E19F39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6159" y="4846956"/>
                <a:ext cx="14288" cy="15875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3" name="Oval 57">
                <a:extLst>
                  <a:ext uri="{FF2B5EF4-FFF2-40B4-BE49-F238E27FC236}">
                    <a16:creationId xmlns:a16="http://schemas.microsoft.com/office/drawing/2014/main" id="{4DBFDE35-A851-45E3-B125-87316FAE5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39334" y="4851718"/>
                <a:ext cx="7938" cy="7938"/>
              </a:xfrm>
              <a:prstGeom prst="ellipse">
                <a:avLst/>
              </a:prstGeom>
              <a:solidFill>
                <a:srgbClr val="2C9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24" name="Freeform 58">
                <a:extLst>
                  <a:ext uri="{FF2B5EF4-FFF2-40B4-BE49-F238E27FC236}">
                    <a16:creationId xmlns:a16="http://schemas.microsoft.com/office/drawing/2014/main" id="{D19D53F3-FBC6-40CB-BFC1-35AA5208AB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42509" y="4853306"/>
                <a:ext cx="1588" cy="3175"/>
              </a:xfrm>
              <a:custGeom>
                <a:avLst/>
                <a:gdLst>
                  <a:gd name="T0" fmla="*/ 1 w 1"/>
                  <a:gd name="T1" fmla="*/ 1 h 2"/>
                  <a:gd name="T2" fmla="*/ 1 w 1"/>
                  <a:gd name="T3" fmla="*/ 2 h 2"/>
                  <a:gd name="T4" fmla="*/ 0 w 1"/>
                  <a:gd name="T5" fmla="*/ 1 h 2"/>
                  <a:gd name="T6" fmla="*/ 1 w 1"/>
                  <a:gd name="T7" fmla="*/ 0 h 2"/>
                  <a:gd name="T8" fmla="*/ 1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lnTo>
                      <a:pt x="1" y="2"/>
                    </a:lnTo>
                    <a:lnTo>
                      <a:pt x="0" y="1"/>
                    </a:lnTo>
                    <a:lnTo>
                      <a:pt x="1" y="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sz="2400" b="1">
                  <a:solidFill>
                    <a:schemeClr val="bg1"/>
                  </a:solidFill>
                  <a:latin typeface="+mj-ea"/>
                  <a:ea typeface="+mj-ea"/>
                </a:endParaRPr>
              </a:p>
            </p:txBody>
          </p:sp>
        </p:grpSp>
        <p:sp>
          <p:nvSpPr>
            <p:cNvPr id="7" name="Rectangle 93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0741D96E-8037-4722-9A7D-22D1E718F9D8}"/>
                </a:ext>
              </a:extLst>
            </p:cNvPr>
            <p:cNvSpPr/>
            <p:nvPr/>
          </p:nvSpPr>
          <p:spPr>
            <a:xfrm>
              <a:off x="2066172" y="2508657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第一节 语义分析概述</a:t>
              </a:r>
            </a:p>
          </p:txBody>
        </p:sp>
        <p:sp>
          <p:nvSpPr>
            <p:cNvPr id="8" name="Rectangle 94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E4182719-1631-476B-8107-AD3EE3E832C0}"/>
                </a:ext>
              </a:extLst>
            </p:cNvPr>
            <p:cNvSpPr/>
            <p:nvPr/>
          </p:nvSpPr>
          <p:spPr>
            <a:xfrm>
              <a:off x="2066172" y="3064164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第二节 说明语句的翻译</a:t>
              </a:r>
            </a:p>
          </p:txBody>
        </p:sp>
        <p:sp>
          <p:nvSpPr>
            <p:cNvPr id="9" name="Rectangle 95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7935E166-FAD5-4A3A-B94A-3995A4A679CA}"/>
                </a:ext>
              </a:extLst>
            </p:cNvPr>
            <p:cNvSpPr/>
            <p:nvPr/>
          </p:nvSpPr>
          <p:spPr>
            <a:xfrm>
              <a:off x="2066172" y="3618735"/>
              <a:ext cx="3526826" cy="555507"/>
            </a:xfrm>
            <a:prstGeom prst="rect">
              <a:avLst/>
            </a:prstGeom>
            <a:solidFill>
              <a:srgbClr val="2A9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第三节 赋值语句的翻译</a:t>
              </a:r>
            </a:p>
          </p:txBody>
        </p:sp>
        <p:sp>
          <p:nvSpPr>
            <p:cNvPr id="10" name="Rectangle 96" descr="e7d195523061f1c0f55f9af68525816972d868573ada39bc763F3977967589A5F92C178830C92595A6CE4D0132F8C206B2B04C416AAA86B7FD80AB023F78DAEB544E2F013E11B2B95AD21703D1C90034A379EC9026EFAAF5D8D3F6EDD7215B01F6CA9944DC1B7CBB028981B370EBF586AED39B972DC52CE5F004550FAC6E8C155833999AD58B7FAEA0473D6F778E738E">
              <a:extLst>
                <a:ext uri="{FF2B5EF4-FFF2-40B4-BE49-F238E27FC236}">
                  <a16:creationId xmlns:a16="http://schemas.microsoft.com/office/drawing/2014/main" id="{4BC68BE9-AB19-424E-BC85-905C1B758E42}"/>
                </a:ext>
              </a:extLst>
            </p:cNvPr>
            <p:cNvSpPr/>
            <p:nvPr/>
          </p:nvSpPr>
          <p:spPr>
            <a:xfrm>
              <a:off x="2066172" y="4174241"/>
              <a:ext cx="3526826" cy="555507"/>
            </a:xfrm>
            <a:prstGeom prst="rect">
              <a:avLst/>
            </a:prstGeom>
            <a:solidFill>
              <a:srgbClr val="54D0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2000" rtlCol="0" anchor="ctr"/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第四节 </a:t>
              </a:r>
              <a:r>
                <a:rPr lang="en-US" altLang="zh-CN" sz="2400" b="1" dirty="0" err="1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goto</a:t>
              </a:r>
              <a:r>
                <a:rPr lang="zh-CN" altLang="en-US" sz="2400" b="1" dirty="0">
                  <a:solidFill>
                    <a:schemeClr val="bg1"/>
                  </a:solidFill>
                  <a:latin typeface="+mj-ea"/>
                  <a:ea typeface="+mj-ea"/>
                  <a:cs typeface="Clear Sans" panose="020B0503030202020304" pitchFamily="34" charset="0"/>
                </a:rPr>
                <a:t>语句的翻译</a:t>
              </a:r>
            </a:p>
          </p:txBody>
        </p:sp>
      </p:grpSp>
      <p:sp>
        <p:nvSpPr>
          <p:cNvPr id="25" name="箭头: 右 24">
            <a:extLst>
              <a:ext uri="{FF2B5EF4-FFF2-40B4-BE49-F238E27FC236}">
                <a16:creationId xmlns:a16="http://schemas.microsoft.com/office/drawing/2014/main" id="{07A86CED-018A-4EB7-B5CF-DDCED3DA3F3C}"/>
              </a:ext>
            </a:extLst>
          </p:cNvPr>
          <p:cNvSpPr/>
          <p:nvPr/>
        </p:nvSpPr>
        <p:spPr>
          <a:xfrm>
            <a:off x="2983159" y="2714706"/>
            <a:ext cx="540000" cy="540000"/>
          </a:xfrm>
          <a:prstGeom prst="rightArrow">
            <a:avLst/>
          </a:prstGeom>
          <a:solidFill>
            <a:srgbClr val="EE85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6374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3" name="Rectangle 3"/>
          <p:cNvSpPr>
            <a:spLocks noGrp="1" noChangeArrowheads="1"/>
          </p:cNvSpPr>
          <p:nvPr>
            <p:ph idx="1"/>
          </p:nvPr>
        </p:nvSpPr>
        <p:spPr>
          <a:xfrm>
            <a:off x="720000" y="900000"/>
            <a:ext cx="10751844" cy="5237998"/>
          </a:xfrm>
        </p:spPr>
        <p:txBody>
          <a:bodyPr/>
          <a:lstStyle/>
          <a:p>
            <a:r>
              <a:rPr lang="en-US" altLang="zh-CN" dirty="0"/>
              <a:t>C </a:t>
            </a:r>
            <a:r>
              <a:rPr lang="zh-CN" altLang="en-US" dirty="0"/>
              <a:t>语言的变量说明语句：</a:t>
            </a:r>
          </a:p>
          <a:p>
            <a:r>
              <a:rPr lang="en-US" altLang="zh-CN" dirty="0"/>
              <a:t>		int a , b , c ;</a:t>
            </a:r>
          </a:p>
          <a:p>
            <a:r>
              <a:rPr lang="en-US" altLang="zh-CN" dirty="0"/>
              <a:t>		float </a:t>
            </a:r>
            <a:r>
              <a:rPr lang="en-US" altLang="zh-CN" dirty="0" err="1"/>
              <a:t>f1</a:t>
            </a:r>
            <a:r>
              <a:rPr lang="en-US" altLang="zh-CN" dirty="0"/>
              <a:t> , </a:t>
            </a:r>
            <a:r>
              <a:rPr lang="en-US" altLang="zh-CN" dirty="0" err="1"/>
              <a:t>f2</a:t>
            </a:r>
            <a:r>
              <a:rPr lang="en-US" altLang="zh-CN" dirty="0"/>
              <a:t> , </a:t>
            </a:r>
            <a:r>
              <a:rPr lang="en-US" altLang="zh-CN" dirty="0" err="1"/>
              <a:t>f3</a:t>
            </a:r>
            <a:r>
              <a:rPr lang="en-US" altLang="zh-CN" dirty="0"/>
              <a:t> ;</a:t>
            </a:r>
          </a:p>
          <a:p>
            <a:endParaRPr lang="en-US" altLang="zh-CN" dirty="0"/>
          </a:p>
          <a:p>
            <a:r>
              <a:rPr lang="en-US" altLang="zh-CN" dirty="0"/>
              <a:t>Pascal </a:t>
            </a:r>
            <a:r>
              <a:rPr lang="zh-CN" altLang="en-US" dirty="0"/>
              <a:t>语言的变量说明语句：</a:t>
            </a:r>
          </a:p>
          <a:p>
            <a:r>
              <a:rPr lang="en-US" altLang="zh-CN" dirty="0"/>
              <a:t>		var </a:t>
            </a:r>
            <a:r>
              <a:rPr lang="en-US" altLang="zh-CN" dirty="0" err="1"/>
              <a:t>abc</a:t>
            </a:r>
            <a:r>
              <a:rPr lang="en-US" altLang="zh-CN" dirty="0"/>
              <a:t> : integer ;</a:t>
            </a:r>
          </a:p>
          <a:p>
            <a:r>
              <a:rPr lang="en-US" altLang="zh-CN" dirty="0"/>
              <a:t>		var </a:t>
            </a:r>
            <a:r>
              <a:rPr lang="en-US" altLang="zh-CN" dirty="0" err="1"/>
              <a:t>f1</a:t>
            </a:r>
            <a:r>
              <a:rPr lang="en-US" altLang="zh-CN" dirty="0"/>
              <a:t> , </a:t>
            </a:r>
            <a:r>
              <a:rPr lang="en-US" altLang="zh-CN" dirty="0" err="1"/>
              <a:t>f2</a:t>
            </a:r>
            <a:r>
              <a:rPr lang="en-US" altLang="zh-CN" dirty="0"/>
              <a:t> , f3 : real ;</a:t>
            </a:r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例子</a:t>
            </a:r>
          </a:p>
        </p:txBody>
      </p:sp>
    </p:spTree>
    <p:extLst>
      <p:ext uri="{BB962C8B-B14F-4D97-AF65-F5344CB8AC3E}">
        <p14:creationId xmlns:p14="http://schemas.microsoft.com/office/powerpoint/2010/main" val="895575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示例语言的变量说明语句：</a:t>
            </a:r>
            <a:endParaRPr lang="en-US" altLang="zh-CN" dirty="0"/>
          </a:p>
          <a:p>
            <a:r>
              <a:rPr lang="en-US" altLang="zh-CN" dirty="0"/>
              <a:t>		int a , b , c ;</a:t>
            </a:r>
            <a:endParaRPr lang="en-US" altLang="zh-CN" dirty="0">
              <a:solidFill>
                <a:srgbClr val="EE853E"/>
              </a:solidFill>
            </a:endParaRPr>
          </a:p>
          <a:p>
            <a:endParaRPr lang="nn-NO" altLang="zh-CN" dirty="0"/>
          </a:p>
          <a:p>
            <a:r>
              <a:rPr lang="zh-CN" altLang="en-US" dirty="0"/>
              <a:t>采用下列语法规则：</a:t>
            </a:r>
            <a:endParaRPr lang="en-US" altLang="zh-CN" dirty="0"/>
          </a:p>
          <a:p>
            <a:r>
              <a:rPr lang="en-US" altLang="zh-CN" dirty="0"/>
              <a:t>		T → int</a:t>
            </a:r>
          </a:p>
          <a:p>
            <a:r>
              <a:rPr lang="en-US" altLang="zh-CN" dirty="0"/>
              <a:t>		T → T </a:t>
            </a:r>
            <a:r>
              <a:rPr lang="en-US" altLang="zh-CN" dirty="0" err="1"/>
              <a:t>i</a:t>
            </a:r>
            <a:r>
              <a:rPr lang="en-US" altLang="zh-CN" dirty="0"/>
              <a:t> , </a:t>
            </a:r>
          </a:p>
          <a:p>
            <a:r>
              <a:rPr lang="en-US" altLang="zh-CN" dirty="0"/>
              <a:t>		S → T </a:t>
            </a:r>
            <a:r>
              <a:rPr lang="en-US" altLang="zh-CN" dirty="0" err="1"/>
              <a:t>i</a:t>
            </a:r>
            <a:r>
              <a:rPr lang="en-US" altLang="zh-CN" dirty="0"/>
              <a:t> ;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F30C9FC3-846D-4826-8922-FB877131F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语法规则</a:t>
            </a:r>
          </a:p>
        </p:txBody>
      </p:sp>
    </p:spTree>
    <p:extLst>
      <p:ext uri="{BB962C8B-B14F-4D97-AF65-F5344CB8AC3E}">
        <p14:creationId xmlns:p14="http://schemas.microsoft.com/office/powerpoint/2010/main" val="3141441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3FABA27-47BC-4A2B-A9ED-51C12C1E3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源程序：</a:t>
            </a:r>
            <a:endParaRPr lang="nn-NO" altLang="zh-CN" dirty="0"/>
          </a:p>
          <a:p>
            <a:endParaRPr lang="en-US" altLang="zh-CN" dirty="0"/>
          </a:p>
          <a:p>
            <a:r>
              <a:rPr lang="en-US" altLang="zh-CN" dirty="0"/>
              <a:t>int a , b , c ;</a:t>
            </a:r>
            <a:endParaRPr lang="zh-CN" altLang="en-US" dirty="0"/>
          </a:p>
          <a:p>
            <a:endParaRPr lang="nn-NO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00EFE15-95D0-4361-A47B-577E3F903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语义分析目标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0EA975-693B-463B-876E-B835891A301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81399" y="900000"/>
            <a:ext cx="3048001" cy="5237998"/>
          </a:xfrm>
        </p:spPr>
        <p:txBody>
          <a:bodyPr/>
          <a:lstStyle/>
          <a:p>
            <a:r>
              <a:rPr lang="zh-CN" altLang="en-US" dirty="0"/>
              <a:t>三地址码：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var a</a:t>
            </a:r>
          </a:p>
          <a:p>
            <a:r>
              <a:rPr lang="en-US" altLang="zh-CN" dirty="0"/>
              <a:t>var b</a:t>
            </a:r>
          </a:p>
          <a:p>
            <a:r>
              <a:rPr lang="en-US" altLang="zh-CN" dirty="0"/>
              <a:t>var c</a:t>
            </a:r>
            <a:endParaRPr lang="nn-NO" altLang="zh-CN" dirty="0"/>
          </a:p>
          <a:p>
            <a:endParaRPr lang="zh-CN" altLang="en-US" dirty="0"/>
          </a:p>
          <a:p>
            <a:pPr algn="ctr"/>
            <a:endParaRPr lang="nn-NO" altLang="zh-CN" dirty="0"/>
          </a:p>
          <a:p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72DC111-1626-4BB5-B335-318D59DDF2E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400800" y="899999"/>
            <a:ext cx="5063581" cy="5237998"/>
          </a:xfrm>
        </p:spPr>
        <p:txBody>
          <a:bodyPr/>
          <a:lstStyle/>
          <a:p>
            <a:r>
              <a:rPr lang="zh-CN" altLang="en-US" dirty="0"/>
              <a:t>符号表：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A6C7BD3-13E4-4625-B064-68B1DEFF4B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7909428"/>
              </p:ext>
            </p:extLst>
          </p:nvPr>
        </p:nvGraphicFramePr>
        <p:xfrm>
          <a:off x="6553200" y="2286000"/>
          <a:ext cx="3243384" cy="2057400"/>
        </p:xfrm>
        <a:graphic>
          <a:graphicData uri="http://schemas.openxmlformats.org/drawingml/2006/table">
            <a:tbl>
              <a:tblPr firstRow="1">
                <a:tableStyleId>{00A15C55-8517-42AA-B614-E9B94910E393}</a:tableStyleId>
              </a:tblPr>
              <a:tblGrid>
                <a:gridCol w="949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4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0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编号</a:t>
                      </a: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000" b="1" kern="1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属性</a:t>
                      </a: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  <a:endParaRPr lang="en-US" sz="20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20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宋体"/>
                        </a:rPr>
                        <a:t>   a</a:t>
                      </a:r>
                      <a:endParaRPr lang="en-US" sz="20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b="1" kern="1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宋体"/>
                        </a:rPr>
                        <a:t>2</a:t>
                      </a: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20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宋体"/>
                        </a:rPr>
                        <a:t>   b</a:t>
                      </a:r>
                      <a:endParaRPr lang="en-US" sz="20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宋体"/>
                        </a:rPr>
                        <a:t>3</a:t>
                      </a:r>
                      <a:endParaRPr lang="en-US" sz="20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20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宋体"/>
                        </a:rPr>
                        <a:t>   c</a:t>
                      </a:r>
                      <a:endParaRPr lang="en-US" sz="20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宋体"/>
                        </a:rPr>
                        <a:t>…</a:t>
                      </a: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b="1" kern="1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宋体"/>
                        </a:rPr>
                        <a:t>…</a:t>
                      </a: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40D6B311-6D88-4094-8D20-4EB29606BA4D}"/>
              </a:ext>
            </a:extLst>
          </p:cNvPr>
          <p:cNvSpPr/>
          <p:nvPr/>
        </p:nvSpPr>
        <p:spPr>
          <a:xfrm>
            <a:off x="7933344" y="2724090"/>
            <a:ext cx="15584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kern="100">
                <a:solidFill>
                  <a:schemeClr val="bg1"/>
                </a:solidFill>
                <a:latin typeface="+mj-ea"/>
                <a:ea typeface="+mj-ea"/>
                <a:cs typeface="宋体"/>
              </a:rPr>
              <a:t>、变量、</a:t>
            </a:r>
            <a:r>
              <a:rPr lang="en-US" altLang="zh-CN" sz="2000" b="1" kern="100">
                <a:solidFill>
                  <a:schemeClr val="bg1"/>
                </a:solidFill>
                <a:latin typeface="+mj-ea"/>
                <a:ea typeface="+mj-ea"/>
                <a:cs typeface="宋体"/>
              </a:rPr>
              <a:t>int</a:t>
            </a:r>
            <a:endParaRPr lang="zh-CN" altLang="en-US" sz="2000">
              <a:latin typeface="+mj-ea"/>
              <a:ea typeface="+mj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A5972F-F888-4253-8C30-2501D8CB588C}"/>
              </a:ext>
            </a:extLst>
          </p:cNvPr>
          <p:cNvSpPr/>
          <p:nvPr/>
        </p:nvSpPr>
        <p:spPr>
          <a:xfrm>
            <a:off x="7933344" y="3124200"/>
            <a:ext cx="15584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kern="100">
                <a:solidFill>
                  <a:schemeClr val="bg1"/>
                </a:solidFill>
                <a:latin typeface="+mj-ea"/>
                <a:ea typeface="+mj-ea"/>
                <a:cs typeface="宋体"/>
              </a:rPr>
              <a:t>、变量、</a:t>
            </a:r>
            <a:r>
              <a:rPr lang="en-US" altLang="zh-CN" sz="2000" b="1" kern="100">
                <a:solidFill>
                  <a:schemeClr val="bg1"/>
                </a:solidFill>
                <a:latin typeface="+mj-ea"/>
                <a:ea typeface="+mj-ea"/>
                <a:cs typeface="宋体"/>
              </a:rPr>
              <a:t>int</a:t>
            </a:r>
            <a:endParaRPr lang="zh-CN" altLang="en-US" sz="2000">
              <a:latin typeface="+mj-ea"/>
              <a:ea typeface="+mj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00E93F-4B7D-40E0-9DFB-D74EBF39FBF4}"/>
              </a:ext>
            </a:extLst>
          </p:cNvPr>
          <p:cNvSpPr/>
          <p:nvPr/>
        </p:nvSpPr>
        <p:spPr>
          <a:xfrm>
            <a:off x="7933344" y="3528645"/>
            <a:ext cx="155844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kern="100">
                <a:solidFill>
                  <a:schemeClr val="bg1"/>
                </a:solidFill>
                <a:latin typeface="+mj-ea"/>
                <a:ea typeface="+mj-ea"/>
                <a:cs typeface="宋体"/>
              </a:rPr>
              <a:t>、变量、</a:t>
            </a:r>
            <a:r>
              <a:rPr lang="en-US" altLang="zh-CN" sz="2000" b="1" kern="100">
                <a:solidFill>
                  <a:schemeClr val="bg1"/>
                </a:solidFill>
                <a:latin typeface="+mj-ea"/>
                <a:ea typeface="+mj-ea"/>
                <a:cs typeface="宋体"/>
              </a:rPr>
              <a:t>int</a:t>
            </a:r>
            <a:endParaRPr lang="zh-CN" altLang="en-US" sz="200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892677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 → int					{	</a:t>
            </a:r>
            <a:r>
              <a:rPr lang="en-US" altLang="zh-CN" dirty="0" err="1"/>
              <a:t>T.type</a:t>
            </a:r>
            <a:r>
              <a:rPr lang="en-US" altLang="zh-CN" dirty="0"/>
              <a:t> = int   }</a:t>
            </a:r>
          </a:p>
          <a:p>
            <a:endParaRPr lang="en-US" altLang="zh-CN" dirty="0"/>
          </a:p>
          <a:p>
            <a:r>
              <a:rPr lang="en-US" altLang="zh-CN" dirty="0"/>
              <a:t>T → </a:t>
            </a:r>
            <a:r>
              <a:rPr lang="en-US" altLang="zh-CN" dirty="0" err="1"/>
              <a:t>T</a:t>
            </a:r>
            <a:r>
              <a:rPr lang="en-US" altLang="zh-CN" baseline="-25000" dirty="0" err="1"/>
              <a:t>1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, 				{	symbol ( </a:t>
            </a:r>
            <a:r>
              <a:rPr lang="en-US" altLang="zh-CN" dirty="0" err="1"/>
              <a:t>i</a:t>
            </a:r>
            <a:r>
              <a:rPr lang="en-US" altLang="zh-CN" dirty="0"/>
              <a:t> , </a:t>
            </a:r>
            <a:r>
              <a:rPr lang="en-US" altLang="zh-CN" dirty="0" err="1"/>
              <a:t>T</a:t>
            </a:r>
            <a:r>
              <a:rPr lang="en-US" altLang="zh-CN" baseline="-25000" dirty="0" err="1"/>
              <a:t>1</a:t>
            </a:r>
            <a:r>
              <a:rPr lang="en-US" altLang="zh-CN" dirty="0" err="1"/>
              <a:t>.type</a:t>
            </a:r>
            <a:r>
              <a:rPr lang="en-US" altLang="zh-CN" dirty="0"/>
              <a:t> ) </a:t>
            </a:r>
          </a:p>
          <a:p>
            <a:r>
              <a:rPr lang="en-US" altLang="zh-CN" dirty="0"/>
              <a:t>								</a:t>
            </a:r>
            <a:r>
              <a:rPr lang="en-US" altLang="zh-CN" dirty="0" err="1"/>
              <a:t>T.type</a:t>
            </a:r>
            <a:r>
              <a:rPr lang="en-US" altLang="zh-CN" dirty="0"/>
              <a:t> = </a:t>
            </a:r>
            <a:r>
              <a:rPr lang="en-US" altLang="zh-CN" dirty="0" err="1"/>
              <a:t>T</a:t>
            </a:r>
            <a:r>
              <a:rPr lang="en-US" altLang="zh-CN" baseline="-25000" dirty="0" err="1"/>
              <a:t>1</a:t>
            </a:r>
            <a:r>
              <a:rPr lang="en-US" altLang="zh-CN" dirty="0" err="1"/>
              <a:t>.type</a:t>
            </a:r>
            <a:endParaRPr lang="en-US" altLang="zh-CN" dirty="0"/>
          </a:p>
          <a:p>
            <a:r>
              <a:rPr lang="en-US" altLang="zh-CN" dirty="0"/>
              <a:t>								</a:t>
            </a:r>
            <a:r>
              <a:rPr lang="en-US" altLang="zh-CN" dirty="0" err="1"/>
              <a:t>T.tac</a:t>
            </a:r>
            <a:r>
              <a:rPr lang="en-US" altLang="zh-CN" dirty="0"/>
              <a:t> = append ( </a:t>
            </a:r>
            <a:r>
              <a:rPr lang="en-US" altLang="zh-CN" dirty="0" err="1"/>
              <a:t>T</a:t>
            </a:r>
            <a:r>
              <a:rPr lang="en-US" altLang="zh-CN" baseline="-25000" dirty="0" err="1"/>
              <a:t>1</a:t>
            </a:r>
            <a:r>
              <a:rPr lang="en-US" altLang="zh-CN" dirty="0" err="1"/>
              <a:t>.tac</a:t>
            </a:r>
            <a:r>
              <a:rPr lang="en-US" altLang="zh-CN" dirty="0"/>
              <a:t> , var </a:t>
            </a:r>
            <a:r>
              <a:rPr lang="en-US" altLang="zh-CN" dirty="0" err="1"/>
              <a:t>i</a:t>
            </a:r>
            <a:r>
              <a:rPr lang="en-US" altLang="zh-CN" dirty="0"/>
              <a:t> )  }  </a:t>
            </a:r>
          </a:p>
          <a:p>
            <a:endParaRPr lang="en-US" altLang="zh-CN" dirty="0"/>
          </a:p>
          <a:p>
            <a:r>
              <a:rPr lang="en-US" altLang="zh-CN" dirty="0"/>
              <a:t>S → T </a:t>
            </a:r>
            <a:r>
              <a:rPr lang="en-US" altLang="zh-CN" dirty="0" err="1"/>
              <a:t>i</a:t>
            </a:r>
            <a:r>
              <a:rPr lang="en-US" altLang="zh-CN" dirty="0"/>
              <a:t> ;					{	symbol ( </a:t>
            </a:r>
            <a:r>
              <a:rPr lang="en-US" altLang="zh-CN" dirty="0" err="1"/>
              <a:t>i</a:t>
            </a:r>
            <a:r>
              <a:rPr lang="en-US" altLang="zh-CN" dirty="0"/>
              <a:t> , </a:t>
            </a:r>
            <a:r>
              <a:rPr lang="en-US" altLang="zh-CN" dirty="0" err="1"/>
              <a:t>T.type</a:t>
            </a:r>
            <a:r>
              <a:rPr lang="en-US" altLang="zh-CN" dirty="0"/>
              <a:t> )  </a:t>
            </a:r>
          </a:p>
          <a:p>
            <a:r>
              <a:rPr lang="en-US" altLang="zh-CN" dirty="0"/>
              <a:t>								</a:t>
            </a:r>
            <a:r>
              <a:rPr lang="en-US" altLang="zh-CN" dirty="0" err="1"/>
              <a:t>S.tac</a:t>
            </a:r>
            <a:r>
              <a:rPr lang="en-US" altLang="zh-CN" dirty="0"/>
              <a:t> = append ( </a:t>
            </a:r>
            <a:r>
              <a:rPr lang="en-US" altLang="zh-CN" dirty="0" err="1"/>
              <a:t>T.tac</a:t>
            </a:r>
            <a:r>
              <a:rPr lang="en-US" altLang="zh-CN" dirty="0"/>
              <a:t> , var </a:t>
            </a:r>
            <a:r>
              <a:rPr lang="en-US" altLang="zh-CN" dirty="0" err="1"/>
              <a:t>i</a:t>
            </a:r>
            <a:r>
              <a:rPr lang="en-US" altLang="zh-CN" dirty="0"/>
              <a:t> )  }  </a:t>
            </a:r>
          </a:p>
          <a:p>
            <a:endParaRPr lang="en-US" altLang="zh-CN" dirty="0"/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语义子程序</a:t>
            </a:r>
          </a:p>
        </p:txBody>
      </p:sp>
    </p:spTree>
    <p:extLst>
      <p:ext uri="{BB962C8B-B14F-4D97-AF65-F5344CB8AC3E}">
        <p14:creationId xmlns:p14="http://schemas.microsoft.com/office/powerpoint/2010/main" val="1420318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>
            <a:extLst>
              <a:ext uri="{FF2B5EF4-FFF2-40B4-BE49-F238E27FC236}">
                <a16:creationId xmlns:a16="http://schemas.microsoft.com/office/drawing/2014/main" id="{74B9370F-82BD-43F8-9240-5CD2CCD6A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语法规则：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T → int</a:t>
            </a:r>
          </a:p>
          <a:p>
            <a:r>
              <a:rPr lang="en-US" altLang="zh-CN" dirty="0"/>
              <a:t>T → T </a:t>
            </a:r>
            <a:r>
              <a:rPr lang="en-US" altLang="zh-CN" dirty="0" err="1"/>
              <a:t>i</a:t>
            </a:r>
            <a:r>
              <a:rPr lang="en-US" altLang="zh-CN" dirty="0"/>
              <a:t> , </a:t>
            </a:r>
          </a:p>
          <a:p>
            <a:r>
              <a:rPr lang="en-US" altLang="zh-CN" dirty="0"/>
              <a:t>S → T </a:t>
            </a:r>
            <a:r>
              <a:rPr lang="en-US" altLang="zh-CN" dirty="0" err="1"/>
              <a:t>i</a:t>
            </a:r>
            <a:r>
              <a:rPr lang="en-US" altLang="zh-CN" dirty="0"/>
              <a:t> ;</a:t>
            </a:r>
          </a:p>
          <a:p>
            <a:endParaRPr lang="nn-NO" altLang="zh-CN" dirty="0"/>
          </a:p>
          <a:p>
            <a:endParaRPr lang="en-US" altLang="zh-CN" dirty="0"/>
          </a:p>
        </p:txBody>
      </p:sp>
      <p:sp>
        <p:nvSpPr>
          <p:cNvPr id="2355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语法分析过程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CFE1245D-5F75-4A48-A4C1-CBB0FA758B8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22401" y="900000"/>
            <a:ext cx="6345599" cy="5237998"/>
          </a:xfrm>
        </p:spPr>
        <p:txBody>
          <a:bodyPr/>
          <a:lstStyle/>
          <a:p>
            <a:r>
              <a:rPr lang="zh-CN" altLang="en-US" dirty="0"/>
              <a:t>输入串 </a:t>
            </a:r>
            <a:r>
              <a:rPr lang="en-US" altLang="zh-CN" dirty="0"/>
              <a:t>int a , b , c ;</a:t>
            </a:r>
            <a:r>
              <a:rPr lang="zh-CN" altLang="en-US" dirty="0"/>
              <a:t> 的语法分析过程：</a:t>
            </a:r>
            <a:endParaRPr lang="en-US" altLang="zh-CN" dirty="0"/>
          </a:p>
          <a:p>
            <a:endParaRPr lang="en-US" altLang="zh-CN" dirty="0"/>
          </a:p>
          <a:p>
            <a:r>
              <a:rPr lang="nn-NO" altLang="zh-CN" dirty="0"/>
              <a:t>1.    ● int a , b , c ;</a:t>
            </a:r>
          </a:p>
          <a:p>
            <a:r>
              <a:rPr lang="nn-NO" altLang="zh-CN" dirty="0"/>
              <a:t>2.    int ● a , b , c ;</a:t>
            </a:r>
          </a:p>
          <a:p>
            <a:r>
              <a:rPr lang="nn-NO" altLang="zh-CN" dirty="0"/>
              <a:t>3.    T ● a , b , c ;</a:t>
            </a:r>
          </a:p>
          <a:p>
            <a:r>
              <a:rPr lang="en-US" altLang="zh-CN" dirty="0"/>
              <a:t>4.    T</a:t>
            </a:r>
            <a:r>
              <a:rPr lang="nn-NO" altLang="zh-CN" dirty="0"/>
              <a:t> a ● , b , c ;</a:t>
            </a:r>
          </a:p>
          <a:p>
            <a:r>
              <a:rPr lang="en-US" altLang="zh-CN" dirty="0"/>
              <a:t>5.    T</a:t>
            </a:r>
            <a:r>
              <a:rPr lang="nn-NO" altLang="zh-CN" dirty="0"/>
              <a:t> a , ● b , c ;</a:t>
            </a:r>
          </a:p>
          <a:p>
            <a:r>
              <a:rPr lang="en-US" altLang="zh-CN" dirty="0"/>
              <a:t>6.    T</a:t>
            </a:r>
            <a:r>
              <a:rPr lang="nn-NO" altLang="zh-CN" dirty="0"/>
              <a:t> ● b , c ;</a:t>
            </a:r>
          </a:p>
          <a:p>
            <a:endParaRPr lang="nn-NO" altLang="zh-CN" dirty="0"/>
          </a:p>
          <a:p>
            <a:endParaRPr lang="nn-NO" altLang="zh-CN" dirty="0"/>
          </a:p>
          <a:p>
            <a:endParaRPr lang="it-IT" altLang="zh-CN" dirty="0"/>
          </a:p>
        </p:txBody>
      </p:sp>
      <p:sp>
        <p:nvSpPr>
          <p:cNvPr id="9" name="内容占位符 8">
            <a:extLst>
              <a:ext uri="{FF2B5EF4-FFF2-40B4-BE49-F238E27FC236}">
                <a16:creationId xmlns:a16="http://schemas.microsoft.com/office/drawing/2014/main" id="{BE349F54-3B99-4607-8D86-D012EAAE93E7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7.    T</a:t>
            </a:r>
            <a:r>
              <a:rPr lang="nn-NO" altLang="zh-CN" dirty="0"/>
              <a:t> b ● , c ;</a:t>
            </a:r>
          </a:p>
          <a:p>
            <a:r>
              <a:rPr lang="en-US" altLang="zh-CN" dirty="0"/>
              <a:t>8.    T</a:t>
            </a:r>
            <a:r>
              <a:rPr lang="nn-NO" altLang="zh-CN" dirty="0"/>
              <a:t> b , ● c ;</a:t>
            </a:r>
          </a:p>
          <a:p>
            <a:r>
              <a:rPr lang="en-US" altLang="zh-CN" dirty="0"/>
              <a:t>9.    T</a:t>
            </a:r>
            <a:r>
              <a:rPr lang="nn-NO" altLang="zh-CN" dirty="0"/>
              <a:t> ● c ;</a:t>
            </a:r>
          </a:p>
          <a:p>
            <a:r>
              <a:rPr lang="en-US" altLang="zh-CN" dirty="0"/>
              <a:t>10.  T</a:t>
            </a:r>
            <a:r>
              <a:rPr lang="nn-NO" altLang="zh-CN" dirty="0"/>
              <a:t> c ● ;</a:t>
            </a:r>
          </a:p>
          <a:p>
            <a:r>
              <a:rPr lang="en-US" altLang="zh-CN" dirty="0"/>
              <a:t>11.  T</a:t>
            </a:r>
            <a:r>
              <a:rPr lang="nn-NO" altLang="zh-CN" dirty="0"/>
              <a:t> c ; ●</a:t>
            </a:r>
          </a:p>
          <a:p>
            <a:r>
              <a:rPr lang="en-US" altLang="zh-CN" dirty="0"/>
              <a:t>12.  S</a:t>
            </a:r>
            <a:r>
              <a:rPr lang="nn-NO" altLang="zh-CN" dirty="0"/>
              <a:t> ●</a:t>
            </a:r>
            <a:endParaRPr lang="it-IT" altLang="zh-CN" dirty="0"/>
          </a:p>
        </p:txBody>
      </p:sp>
    </p:spTree>
    <p:extLst>
      <p:ext uri="{BB962C8B-B14F-4D97-AF65-F5344CB8AC3E}">
        <p14:creationId xmlns:p14="http://schemas.microsoft.com/office/powerpoint/2010/main" val="1119112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9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3FABA27-47BC-4A2B-A9ED-51C12C1E3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语法分析过程：</a:t>
            </a:r>
            <a:endParaRPr lang="nn-NO" altLang="zh-CN" dirty="0"/>
          </a:p>
          <a:p>
            <a:r>
              <a:rPr lang="nn-NO" altLang="zh-CN" dirty="0"/>
              <a:t>2.    int ● a , b , c ;</a:t>
            </a:r>
          </a:p>
          <a:p>
            <a:r>
              <a:rPr lang="nn-NO" altLang="zh-CN" dirty="0"/>
              <a:t>3.    T ● a , b , c ;</a:t>
            </a:r>
          </a:p>
          <a:p>
            <a:endParaRPr lang="nn-NO" altLang="zh-CN" dirty="0"/>
          </a:p>
          <a:p>
            <a:r>
              <a:rPr lang="zh-CN" altLang="en-US" dirty="0"/>
              <a:t>语义子程序：</a:t>
            </a:r>
            <a:endParaRPr lang="en-US" altLang="zh-CN" dirty="0"/>
          </a:p>
          <a:p>
            <a:r>
              <a:rPr lang="en-US" altLang="zh-CN" dirty="0"/>
              <a:t>T → int  { ... }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00EFE15-95D0-4361-A47B-577E3F903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语义分析过程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0EA975-693B-463B-876E-B835891A301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22401" y="900000"/>
            <a:ext cx="3547199" cy="5237998"/>
          </a:xfrm>
        </p:spPr>
        <p:txBody>
          <a:bodyPr/>
          <a:lstStyle/>
          <a:p>
            <a:r>
              <a:rPr lang="zh-CN" altLang="en-US" dirty="0"/>
              <a:t>三地址码：</a:t>
            </a:r>
            <a:endParaRPr lang="en-US" altLang="zh-CN" dirty="0"/>
          </a:p>
          <a:p>
            <a:endParaRPr lang="nn-NO" altLang="zh-CN" dirty="0"/>
          </a:p>
          <a:p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72DC111-1626-4BB5-B335-318D59DDF2E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7467600" y="899999"/>
            <a:ext cx="3996781" cy="5237998"/>
          </a:xfrm>
        </p:spPr>
        <p:txBody>
          <a:bodyPr/>
          <a:lstStyle/>
          <a:p>
            <a:r>
              <a:rPr lang="zh-CN" altLang="en-US" dirty="0"/>
              <a:t>符号表：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A6C7BD3-13E4-4625-B064-68B1DEFF4B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8589652"/>
              </p:ext>
            </p:extLst>
          </p:nvPr>
        </p:nvGraphicFramePr>
        <p:xfrm>
          <a:off x="7598508" y="1676400"/>
          <a:ext cx="3243384" cy="2057400"/>
        </p:xfrm>
        <a:graphic>
          <a:graphicData uri="http://schemas.openxmlformats.org/drawingml/2006/table">
            <a:tbl>
              <a:tblPr firstRow="1">
                <a:tableStyleId>{00A15C55-8517-42AA-B614-E9B94910E393}</a:tableStyleId>
              </a:tblPr>
              <a:tblGrid>
                <a:gridCol w="949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4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0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编号</a:t>
                      </a: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000" b="1" kern="1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属性</a:t>
                      </a: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8497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3FABA27-47BC-4A2B-A9ED-51C12C1E3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1" y="900000"/>
            <a:ext cx="9490799" cy="5237998"/>
          </a:xfrm>
        </p:spPr>
        <p:txBody>
          <a:bodyPr/>
          <a:lstStyle/>
          <a:p>
            <a:r>
              <a:rPr lang="zh-CN" altLang="en-US" dirty="0"/>
              <a:t>语法分析过程：</a:t>
            </a:r>
            <a:endParaRPr lang="nn-NO" altLang="zh-CN" dirty="0"/>
          </a:p>
          <a:p>
            <a:r>
              <a:rPr lang="en-US" altLang="zh-CN" dirty="0"/>
              <a:t>5.    T</a:t>
            </a:r>
            <a:r>
              <a:rPr lang="nn-NO" altLang="zh-CN" dirty="0"/>
              <a:t> a , ● b , c ;</a:t>
            </a:r>
          </a:p>
          <a:p>
            <a:r>
              <a:rPr lang="en-US" altLang="zh-CN" dirty="0"/>
              <a:t>6.    T</a:t>
            </a:r>
            <a:r>
              <a:rPr lang="nn-NO" altLang="zh-CN" dirty="0"/>
              <a:t> ● b , c ;</a:t>
            </a:r>
          </a:p>
          <a:p>
            <a:endParaRPr lang="en-US" altLang="zh-CN" dirty="0"/>
          </a:p>
          <a:p>
            <a:r>
              <a:rPr lang="zh-CN" altLang="en-US" dirty="0"/>
              <a:t>语义子程序：</a:t>
            </a:r>
            <a:endParaRPr lang="nn-NO" altLang="zh-CN" dirty="0"/>
          </a:p>
          <a:p>
            <a:r>
              <a:rPr lang="en-US" altLang="zh-CN" dirty="0"/>
              <a:t>T → </a:t>
            </a:r>
            <a:r>
              <a:rPr lang="en-US" altLang="zh-CN" dirty="0" err="1"/>
              <a:t>T</a:t>
            </a:r>
            <a:r>
              <a:rPr lang="en-US" altLang="zh-CN" baseline="-25000" dirty="0" err="1"/>
              <a:t>1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,  { ... }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00EFE15-95D0-4361-A47B-577E3F903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语义分析过程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0EA975-693B-463B-876E-B835891A301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22401" y="900000"/>
            <a:ext cx="3547199" cy="5237998"/>
          </a:xfrm>
        </p:spPr>
        <p:txBody>
          <a:bodyPr/>
          <a:lstStyle/>
          <a:p>
            <a:r>
              <a:rPr lang="zh-CN" altLang="en-US" dirty="0"/>
              <a:t>三地址码（</a:t>
            </a:r>
            <a:r>
              <a:rPr lang="en-US" altLang="zh-CN" dirty="0" err="1">
                <a:solidFill>
                  <a:srgbClr val="EE853E"/>
                </a:solidFill>
              </a:rPr>
              <a:t>T.tac</a:t>
            </a:r>
            <a:r>
              <a:rPr lang="zh-CN" altLang="en-US" dirty="0"/>
              <a:t>）：</a:t>
            </a:r>
            <a:endParaRPr lang="en-US" altLang="zh-CN" dirty="0"/>
          </a:p>
          <a:p>
            <a:r>
              <a:rPr lang="en-US" altLang="zh-CN" dirty="0"/>
              <a:t>var a</a:t>
            </a:r>
          </a:p>
          <a:p>
            <a:endParaRPr lang="nn-NO" altLang="zh-CN" dirty="0"/>
          </a:p>
          <a:p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72DC111-1626-4BB5-B335-318D59DDF2E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7467600" y="899999"/>
            <a:ext cx="3996781" cy="5237998"/>
          </a:xfrm>
        </p:spPr>
        <p:txBody>
          <a:bodyPr/>
          <a:lstStyle/>
          <a:p>
            <a:pPr algn="ctr"/>
            <a:r>
              <a:rPr lang="zh-CN" altLang="en-US" dirty="0"/>
              <a:t>符号表：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A6C7BD3-13E4-4625-B064-68B1DEFF4B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339885"/>
              </p:ext>
            </p:extLst>
          </p:nvPr>
        </p:nvGraphicFramePr>
        <p:xfrm>
          <a:off x="7696200" y="1676400"/>
          <a:ext cx="3243384" cy="2057400"/>
        </p:xfrm>
        <a:graphic>
          <a:graphicData uri="http://schemas.openxmlformats.org/drawingml/2006/table">
            <a:tbl>
              <a:tblPr firstRow="1">
                <a:tableStyleId>{00A15C55-8517-42AA-B614-E9B94910E393}</a:tableStyleId>
              </a:tblPr>
              <a:tblGrid>
                <a:gridCol w="949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4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0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编号</a:t>
                      </a: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000" b="1" kern="1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属性</a:t>
                      </a: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altLang="zh-CN" sz="2000" b="1" kern="1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宋体"/>
                        </a:rPr>
                        <a:t>   </a:t>
                      </a: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283537F1-DCFE-4FBE-A623-5C5DF042E6FC}"/>
              </a:ext>
            </a:extLst>
          </p:cNvPr>
          <p:cNvSpPr/>
          <p:nvPr/>
        </p:nvSpPr>
        <p:spPr>
          <a:xfrm>
            <a:off x="8001000" y="2085915"/>
            <a:ext cx="2743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kern="100" dirty="0">
                <a:solidFill>
                  <a:schemeClr val="bg1"/>
                </a:solidFill>
                <a:latin typeface="+mj-ea"/>
                <a:ea typeface="+mj-ea"/>
                <a:cs typeface="宋体"/>
              </a:rPr>
              <a:t>1          a</a:t>
            </a:r>
            <a:r>
              <a:rPr lang="zh-CN" altLang="en-US" sz="2000" b="1" kern="100" dirty="0">
                <a:solidFill>
                  <a:schemeClr val="bg1"/>
                </a:solidFill>
                <a:latin typeface="+mj-ea"/>
                <a:ea typeface="+mj-ea"/>
                <a:cs typeface="宋体"/>
              </a:rPr>
              <a:t>、变量、</a:t>
            </a:r>
            <a:r>
              <a:rPr lang="en-US" altLang="zh-CN" sz="2000" b="1" kern="100" dirty="0">
                <a:solidFill>
                  <a:schemeClr val="bg1"/>
                </a:solidFill>
                <a:latin typeface="+mj-ea"/>
                <a:ea typeface="+mj-ea"/>
                <a:cs typeface="宋体"/>
              </a:rPr>
              <a:t>int</a:t>
            </a:r>
            <a:endParaRPr lang="zh-CN" altLang="en-US" sz="20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477450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3FABA27-47BC-4A2B-A9ED-51C12C1E3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1" y="900000"/>
            <a:ext cx="9490799" cy="5237998"/>
          </a:xfrm>
        </p:spPr>
        <p:txBody>
          <a:bodyPr/>
          <a:lstStyle/>
          <a:p>
            <a:r>
              <a:rPr lang="zh-CN" altLang="en-US" dirty="0"/>
              <a:t>语法分析过程：</a:t>
            </a:r>
            <a:endParaRPr lang="nn-NO" altLang="zh-CN" dirty="0"/>
          </a:p>
          <a:p>
            <a:r>
              <a:rPr lang="en-US" altLang="zh-CN" dirty="0"/>
              <a:t>8.    T</a:t>
            </a:r>
            <a:r>
              <a:rPr lang="nn-NO" altLang="zh-CN" dirty="0"/>
              <a:t> b , ● c ;</a:t>
            </a:r>
          </a:p>
          <a:p>
            <a:r>
              <a:rPr lang="en-US" altLang="zh-CN" dirty="0"/>
              <a:t>9.    T</a:t>
            </a:r>
            <a:r>
              <a:rPr lang="nn-NO" altLang="zh-CN" dirty="0"/>
              <a:t> ● c ;</a:t>
            </a:r>
          </a:p>
          <a:p>
            <a:endParaRPr lang="en-US" altLang="zh-CN" dirty="0"/>
          </a:p>
          <a:p>
            <a:r>
              <a:rPr lang="zh-CN" altLang="en-US" dirty="0"/>
              <a:t>语义子程序：</a:t>
            </a:r>
            <a:endParaRPr lang="nn-NO" altLang="zh-CN" dirty="0"/>
          </a:p>
          <a:p>
            <a:r>
              <a:rPr lang="en-US" altLang="zh-CN" dirty="0"/>
              <a:t>T → </a:t>
            </a:r>
            <a:r>
              <a:rPr lang="en-US" altLang="zh-CN" dirty="0" err="1"/>
              <a:t>T</a:t>
            </a:r>
            <a:r>
              <a:rPr lang="en-US" altLang="zh-CN" baseline="-25000" dirty="0" err="1"/>
              <a:t>1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, { ... }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00EFE15-95D0-4361-A47B-577E3F903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语义分析过程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0EA975-693B-463B-876E-B835891A301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22401" y="900000"/>
            <a:ext cx="3547199" cy="5237998"/>
          </a:xfrm>
        </p:spPr>
        <p:txBody>
          <a:bodyPr/>
          <a:lstStyle/>
          <a:p>
            <a:r>
              <a:rPr lang="zh-CN" altLang="en-US" dirty="0"/>
              <a:t>三地址码（</a:t>
            </a:r>
            <a:r>
              <a:rPr lang="en-US" altLang="zh-CN" dirty="0" err="1">
                <a:solidFill>
                  <a:srgbClr val="EE853E"/>
                </a:solidFill>
              </a:rPr>
              <a:t>T.tac</a:t>
            </a:r>
            <a:r>
              <a:rPr lang="zh-CN" altLang="en-US" dirty="0"/>
              <a:t>）：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en-US" altLang="zh-CN" dirty="0"/>
              <a:t>var a</a:t>
            </a:r>
          </a:p>
          <a:p>
            <a:r>
              <a:rPr lang="en-US" altLang="zh-CN" dirty="0"/>
              <a:t>var b</a:t>
            </a:r>
          </a:p>
          <a:p>
            <a:endParaRPr lang="nn-NO" altLang="zh-CN" dirty="0"/>
          </a:p>
          <a:p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72DC111-1626-4BB5-B335-318D59DDF2E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7467600" y="899999"/>
            <a:ext cx="3996781" cy="5237998"/>
          </a:xfrm>
        </p:spPr>
        <p:txBody>
          <a:bodyPr/>
          <a:lstStyle/>
          <a:p>
            <a:pPr algn="ctr"/>
            <a:r>
              <a:rPr lang="zh-CN" altLang="en-US" dirty="0"/>
              <a:t>符号表：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A6C7BD3-13E4-4625-B064-68B1DEFF4B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1199191"/>
              </p:ext>
            </p:extLst>
          </p:nvPr>
        </p:nvGraphicFramePr>
        <p:xfrm>
          <a:off x="7696200" y="1676400"/>
          <a:ext cx="3243384" cy="2057400"/>
        </p:xfrm>
        <a:graphic>
          <a:graphicData uri="http://schemas.openxmlformats.org/drawingml/2006/table">
            <a:tbl>
              <a:tblPr firstRow="1">
                <a:tableStyleId>{00A15C55-8517-42AA-B614-E9B94910E393}</a:tableStyleId>
              </a:tblPr>
              <a:tblGrid>
                <a:gridCol w="949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4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0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编号</a:t>
                      </a: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000" b="1" kern="1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属性</a:t>
                      </a: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 lang="en-US" sz="20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0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0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 lang="en-US" sz="20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EEC812CB-9D6F-4BED-AE75-ECEB417FE3AA}"/>
              </a:ext>
            </a:extLst>
          </p:cNvPr>
          <p:cNvSpPr/>
          <p:nvPr/>
        </p:nvSpPr>
        <p:spPr>
          <a:xfrm>
            <a:off x="8001000" y="2085915"/>
            <a:ext cx="2743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kern="100" dirty="0">
                <a:solidFill>
                  <a:schemeClr val="bg1"/>
                </a:solidFill>
                <a:latin typeface="+mj-ea"/>
                <a:ea typeface="+mj-ea"/>
                <a:cs typeface="宋体"/>
              </a:rPr>
              <a:t>1          a</a:t>
            </a:r>
            <a:r>
              <a:rPr lang="zh-CN" altLang="en-US" sz="2000" b="1" kern="100" dirty="0">
                <a:solidFill>
                  <a:schemeClr val="bg1"/>
                </a:solidFill>
                <a:latin typeface="+mj-ea"/>
                <a:ea typeface="+mj-ea"/>
                <a:cs typeface="宋体"/>
              </a:rPr>
              <a:t>、变量、</a:t>
            </a:r>
            <a:r>
              <a:rPr lang="en-US" altLang="zh-CN" sz="2000" b="1" kern="100" dirty="0">
                <a:solidFill>
                  <a:schemeClr val="bg1"/>
                </a:solidFill>
                <a:latin typeface="+mj-ea"/>
                <a:ea typeface="+mj-ea"/>
                <a:cs typeface="宋体"/>
              </a:rPr>
              <a:t>int</a:t>
            </a:r>
            <a:endParaRPr lang="zh-CN" altLang="en-US" sz="2000" dirty="0">
              <a:latin typeface="+mj-ea"/>
              <a:ea typeface="+mj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055F4DD-AB12-489A-B358-DCA9E874C168}"/>
              </a:ext>
            </a:extLst>
          </p:cNvPr>
          <p:cNvSpPr/>
          <p:nvPr/>
        </p:nvSpPr>
        <p:spPr>
          <a:xfrm>
            <a:off x="8001000" y="2509747"/>
            <a:ext cx="2743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kern="100" dirty="0">
                <a:solidFill>
                  <a:schemeClr val="bg1"/>
                </a:solidFill>
                <a:latin typeface="+mj-ea"/>
                <a:ea typeface="+mj-ea"/>
                <a:cs typeface="宋体"/>
              </a:rPr>
              <a:t>2          b</a:t>
            </a:r>
            <a:r>
              <a:rPr lang="zh-CN" altLang="en-US" sz="2000" b="1" kern="100" dirty="0">
                <a:solidFill>
                  <a:schemeClr val="bg1"/>
                </a:solidFill>
                <a:latin typeface="+mj-ea"/>
                <a:ea typeface="+mj-ea"/>
                <a:cs typeface="宋体"/>
              </a:rPr>
              <a:t>、变量、</a:t>
            </a:r>
            <a:r>
              <a:rPr lang="en-US" altLang="zh-CN" sz="2000" b="1" kern="100" dirty="0">
                <a:solidFill>
                  <a:schemeClr val="bg1"/>
                </a:solidFill>
                <a:latin typeface="+mj-ea"/>
                <a:ea typeface="+mj-ea"/>
                <a:cs typeface="宋体"/>
              </a:rPr>
              <a:t>int</a:t>
            </a:r>
            <a:endParaRPr lang="zh-CN" altLang="en-US" sz="20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11823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3FABA27-47BC-4A2B-A9ED-51C12C1E34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01" y="900000"/>
            <a:ext cx="9490799" cy="5237998"/>
          </a:xfrm>
        </p:spPr>
        <p:txBody>
          <a:bodyPr/>
          <a:lstStyle/>
          <a:p>
            <a:r>
              <a:rPr lang="zh-CN" altLang="en-US" dirty="0"/>
              <a:t>语法分析过程：</a:t>
            </a:r>
            <a:endParaRPr lang="nn-NO" altLang="zh-CN" dirty="0"/>
          </a:p>
          <a:p>
            <a:r>
              <a:rPr lang="en-US" altLang="zh-CN" dirty="0"/>
              <a:t>11.  T</a:t>
            </a:r>
            <a:r>
              <a:rPr lang="nn-NO" altLang="zh-CN" dirty="0"/>
              <a:t> c ; ●</a:t>
            </a:r>
          </a:p>
          <a:p>
            <a:r>
              <a:rPr lang="en-US" altLang="zh-CN" dirty="0"/>
              <a:t>12.  S</a:t>
            </a:r>
            <a:r>
              <a:rPr lang="nn-NO" altLang="zh-CN" dirty="0"/>
              <a:t> ●</a:t>
            </a:r>
            <a:endParaRPr lang="it-IT" altLang="zh-CN" dirty="0"/>
          </a:p>
          <a:p>
            <a:endParaRPr lang="en-US" altLang="zh-CN" dirty="0"/>
          </a:p>
          <a:p>
            <a:r>
              <a:rPr lang="zh-CN" altLang="en-US" dirty="0"/>
              <a:t>语义子程序：</a:t>
            </a:r>
            <a:endParaRPr lang="nn-NO" altLang="zh-CN" dirty="0"/>
          </a:p>
          <a:p>
            <a:r>
              <a:rPr lang="en-US" altLang="zh-CN" dirty="0"/>
              <a:t>S → T </a:t>
            </a:r>
            <a:r>
              <a:rPr lang="en-US" altLang="zh-CN" dirty="0" err="1"/>
              <a:t>i</a:t>
            </a:r>
            <a:r>
              <a:rPr lang="en-US" altLang="zh-CN" dirty="0"/>
              <a:t> ;  { ... }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00EFE15-95D0-4361-A47B-577E3F903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语义分析过程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0EA975-693B-463B-876E-B835891A301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22401" y="900000"/>
            <a:ext cx="3547199" cy="5237998"/>
          </a:xfrm>
        </p:spPr>
        <p:txBody>
          <a:bodyPr/>
          <a:lstStyle/>
          <a:p>
            <a:r>
              <a:rPr lang="zh-CN" altLang="en-US" dirty="0"/>
              <a:t>三地址码（</a:t>
            </a:r>
            <a:r>
              <a:rPr lang="en-US" altLang="zh-CN" dirty="0" err="1">
                <a:solidFill>
                  <a:srgbClr val="EE853E"/>
                </a:solidFill>
              </a:rPr>
              <a:t>S.tac</a:t>
            </a:r>
            <a:r>
              <a:rPr lang="zh-CN" altLang="en-US" dirty="0"/>
              <a:t>）：</a:t>
            </a:r>
            <a:endParaRPr lang="en-US" altLang="zh-CN" dirty="0">
              <a:solidFill>
                <a:srgbClr val="EE853E"/>
              </a:solidFill>
            </a:endParaRPr>
          </a:p>
          <a:p>
            <a:r>
              <a:rPr lang="en-US" altLang="zh-CN" dirty="0"/>
              <a:t>var a</a:t>
            </a:r>
          </a:p>
          <a:p>
            <a:r>
              <a:rPr lang="en-US" altLang="zh-CN" dirty="0"/>
              <a:t>var b</a:t>
            </a:r>
          </a:p>
          <a:p>
            <a:r>
              <a:rPr lang="en-US" altLang="zh-CN" dirty="0"/>
              <a:t>var c</a:t>
            </a:r>
            <a:endParaRPr lang="nn-NO" altLang="zh-CN" dirty="0"/>
          </a:p>
          <a:p>
            <a:endParaRPr lang="en-US" altLang="zh-CN" dirty="0"/>
          </a:p>
          <a:p>
            <a:endParaRPr lang="nn-NO" altLang="zh-CN" dirty="0"/>
          </a:p>
          <a:p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72DC111-1626-4BB5-B335-318D59DDF2E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7467600" y="899999"/>
            <a:ext cx="3996781" cy="5237998"/>
          </a:xfrm>
        </p:spPr>
        <p:txBody>
          <a:bodyPr/>
          <a:lstStyle/>
          <a:p>
            <a:pPr algn="ctr"/>
            <a:r>
              <a:rPr lang="zh-CN" altLang="en-US" dirty="0"/>
              <a:t>符号表：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A6C7BD3-13E4-4625-B064-68B1DEFF4B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201716"/>
              </p:ext>
            </p:extLst>
          </p:nvPr>
        </p:nvGraphicFramePr>
        <p:xfrm>
          <a:off x="7696200" y="1676400"/>
          <a:ext cx="3243384" cy="2057400"/>
        </p:xfrm>
        <a:graphic>
          <a:graphicData uri="http://schemas.openxmlformats.org/drawingml/2006/table">
            <a:tbl>
              <a:tblPr firstRow="1">
                <a:tableStyleId>{00A15C55-8517-42AA-B614-E9B94910E393}</a:tableStyleId>
              </a:tblPr>
              <a:tblGrid>
                <a:gridCol w="949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4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000" b="1" kern="10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编号</a:t>
                      </a: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2000" b="1" kern="10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属性</a:t>
                      </a: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 lang="en-US" sz="20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0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 lang="en-US" sz="20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0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endParaRPr lang="en-US" sz="2000" b="1" kern="10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000" b="1" kern="10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宋体"/>
                      </a:endParaRPr>
                    </a:p>
                  </a:txBody>
                  <a:tcPr marL="112862" marR="112862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7D1529C8-8B65-42E9-8BFF-04C6CE2D4BA6}"/>
              </a:ext>
            </a:extLst>
          </p:cNvPr>
          <p:cNvSpPr/>
          <p:nvPr/>
        </p:nvSpPr>
        <p:spPr>
          <a:xfrm>
            <a:off x="8001000" y="2085915"/>
            <a:ext cx="2743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kern="100" dirty="0">
                <a:solidFill>
                  <a:schemeClr val="bg1"/>
                </a:solidFill>
                <a:latin typeface="+mj-ea"/>
                <a:ea typeface="+mj-ea"/>
                <a:cs typeface="宋体"/>
              </a:rPr>
              <a:t>1          a</a:t>
            </a:r>
            <a:r>
              <a:rPr lang="zh-CN" altLang="en-US" sz="2000" b="1" kern="100" dirty="0">
                <a:solidFill>
                  <a:schemeClr val="bg1"/>
                </a:solidFill>
                <a:latin typeface="+mj-ea"/>
                <a:ea typeface="+mj-ea"/>
                <a:cs typeface="宋体"/>
              </a:rPr>
              <a:t>、变量、</a:t>
            </a:r>
            <a:r>
              <a:rPr lang="en-US" altLang="zh-CN" sz="2000" b="1" kern="100" dirty="0">
                <a:solidFill>
                  <a:schemeClr val="bg1"/>
                </a:solidFill>
                <a:latin typeface="+mj-ea"/>
                <a:ea typeface="+mj-ea"/>
                <a:cs typeface="宋体"/>
              </a:rPr>
              <a:t>int</a:t>
            </a:r>
            <a:endParaRPr lang="zh-CN" altLang="en-US" sz="2000" dirty="0">
              <a:latin typeface="+mj-ea"/>
              <a:ea typeface="+mj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7F77AD2-2953-4860-8FD9-32C39A9A6C68}"/>
              </a:ext>
            </a:extLst>
          </p:cNvPr>
          <p:cNvSpPr/>
          <p:nvPr/>
        </p:nvSpPr>
        <p:spPr>
          <a:xfrm>
            <a:off x="8001000" y="2509747"/>
            <a:ext cx="2743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kern="100" dirty="0">
                <a:solidFill>
                  <a:schemeClr val="bg1"/>
                </a:solidFill>
                <a:latin typeface="+mj-ea"/>
                <a:ea typeface="+mj-ea"/>
                <a:cs typeface="宋体"/>
              </a:rPr>
              <a:t>2          b</a:t>
            </a:r>
            <a:r>
              <a:rPr lang="zh-CN" altLang="en-US" sz="2000" b="1" kern="100" dirty="0">
                <a:solidFill>
                  <a:schemeClr val="bg1"/>
                </a:solidFill>
                <a:latin typeface="+mj-ea"/>
                <a:ea typeface="+mj-ea"/>
                <a:cs typeface="宋体"/>
              </a:rPr>
              <a:t>、变量、</a:t>
            </a:r>
            <a:r>
              <a:rPr lang="en-US" altLang="zh-CN" sz="2000" b="1" kern="100" dirty="0">
                <a:solidFill>
                  <a:schemeClr val="bg1"/>
                </a:solidFill>
                <a:latin typeface="+mj-ea"/>
                <a:ea typeface="+mj-ea"/>
                <a:cs typeface="宋体"/>
              </a:rPr>
              <a:t>int</a:t>
            </a:r>
            <a:endParaRPr lang="zh-CN" altLang="en-US" sz="2000" dirty="0">
              <a:latin typeface="+mj-ea"/>
              <a:ea typeface="+mj-ea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8908DD8-2FA2-4C51-951D-62B6651F945D}"/>
              </a:ext>
            </a:extLst>
          </p:cNvPr>
          <p:cNvSpPr/>
          <p:nvPr/>
        </p:nvSpPr>
        <p:spPr>
          <a:xfrm>
            <a:off x="8000337" y="2921718"/>
            <a:ext cx="2743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kern="100" dirty="0">
                <a:solidFill>
                  <a:schemeClr val="bg1"/>
                </a:solidFill>
                <a:latin typeface="+mj-ea"/>
                <a:ea typeface="+mj-ea"/>
                <a:cs typeface="宋体"/>
              </a:rPr>
              <a:t>3          c</a:t>
            </a:r>
            <a:r>
              <a:rPr lang="zh-CN" altLang="en-US" sz="2000" b="1" kern="100" dirty="0">
                <a:solidFill>
                  <a:schemeClr val="bg1"/>
                </a:solidFill>
                <a:latin typeface="+mj-ea"/>
                <a:ea typeface="+mj-ea"/>
                <a:cs typeface="宋体"/>
              </a:rPr>
              <a:t>、变量、</a:t>
            </a:r>
            <a:r>
              <a:rPr lang="en-US" altLang="zh-CN" sz="2000" b="1" kern="100" dirty="0">
                <a:solidFill>
                  <a:schemeClr val="bg1"/>
                </a:solidFill>
                <a:latin typeface="+mj-ea"/>
                <a:ea typeface="+mj-ea"/>
                <a:cs typeface="宋体"/>
              </a:rPr>
              <a:t>int</a:t>
            </a:r>
            <a:endParaRPr lang="zh-CN" altLang="en-US" sz="20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30177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6945</TotalTime>
  <Words>626</Words>
  <Application>Microsoft Office PowerPoint</Application>
  <PresentationFormat>宽屏</PresentationFormat>
  <Paragraphs>136</Paragraphs>
  <Slides>10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微软雅黑</vt:lpstr>
      <vt:lpstr>Arial</vt:lpstr>
      <vt:lpstr>Wingdings</vt:lpstr>
      <vt:lpstr>环保</vt:lpstr>
      <vt:lpstr>第八章 语义分析</vt:lpstr>
      <vt:lpstr>例子</vt:lpstr>
      <vt:lpstr>语法规则</vt:lpstr>
      <vt:lpstr>语义分析目标</vt:lpstr>
      <vt:lpstr>语义子程序</vt:lpstr>
      <vt:lpstr>语法分析过程</vt:lpstr>
      <vt:lpstr>语义分析过程</vt:lpstr>
      <vt:lpstr>语义分析过程</vt:lpstr>
      <vt:lpstr>语义分析过程</vt:lpstr>
      <vt:lpstr>语义分析过程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TEST</dc:creator>
  <cp:lastModifiedBy>TEST</cp:lastModifiedBy>
  <cp:revision>1181</cp:revision>
  <cp:lastPrinted>1601-01-01T00:00:00Z</cp:lastPrinted>
  <dcterms:created xsi:type="dcterms:W3CDTF">1601-01-01T00:00:00Z</dcterms:created>
  <dcterms:modified xsi:type="dcterms:W3CDTF">2020-03-29T15:53:45Z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