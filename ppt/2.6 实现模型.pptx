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3"/>
  </p:notesMasterIdLst>
  <p:handoutMasterIdLst>
    <p:handoutMasterId r:id="rId24"/>
  </p:handoutMasterIdLst>
  <p:sldIdLst>
    <p:sldId id="398" r:id="rId2"/>
    <p:sldId id="317" r:id="rId3"/>
    <p:sldId id="400" r:id="rId4"/>
    <p:sldId id="319" r:id="rId5"/>
    <p:sldId id="340" r:id="rId6"/>
    <p:sldId id="331" r:id="rId7"/>
    <p:sldId id="401" r:id="rId8"/>
    <p:sldId id="320" r:id="rId9"/>
    <p:sldId id="321" r:id="rId10"/>
    <p:sldId id="322" r:id="rId11"/>
    <p:sldId id="324" r:id="rId12"/>
    <p:sldId id="323" r:id="rId13"/>
    <p:sldId id="325" r:id="rId14"/>
    <p:sldId id="326" r:id="rId15"/>
    <p:sldId id="327" r:id="rId16"/>
    <p:sldId id="403" r:id="rId17"/>
    <p:sldId id="329" r:id="rId18"/>
    <p:sldId id="402" r:id="rId19"/>
    <p:sldId id="332" r:id="rId20"/>
    <p:sldId id="353" r:id="rId21"/>
    <p:sldId id="335" r:id="rId22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040C0E"/>
    <a:srgbClr val="A18D60"/>
    <a:srgbClr val="EE8A3E"/>
    <a:srgbClr val="E98A3E"/>
    <a:srgbClr val="04141B"/>
    <a:srgbClr val="D9B247"/>
    <a:srgbClr val="2A9995"/>
    <a:srgbClr val="54D0CA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3" autoAdjust="0"/>
    <p:restoredTop sz="89127" autoAdjust="0"/>
  </p:normalViewPr>
  <p:slideViewPr>
    <p:cSldViewPr>
      <p:cViewPr varScale="1">
        <p:scale>
          <a:sx n="62" d="100"/>
          <a:sy n="62" d="100"/>
        </p:scale>
        <p:origin x="27" y="1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623688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多个变量的描述符形成变量名表</a:t>
            </a:r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B662FB-F23E-4DB4-B109-AFEBAE942E9E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895776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b’</a:t>
            </a:r>
            <a:r>
              <a:rPr lang="zh-CN" altLang="en-US"/>
              <a:t>在编译时作为已知数  也应该存储到描述符中   数组的描述符也称为数组的内情向量</a:t>
            </a:r>
          </a:p>
        </p:txBody>
      </p:sp>
      <p:sp>
        <p:nvSpPr>
          <p:cNvPr id="901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46BC36-8CA6-42A1-BAA7-945306E63963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47942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609600"/>
            <a:ext cx="9601196" cy="56388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4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第五节 类型检查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第六节 类型转换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类型等价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实现模型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433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在实现模型中，一个数据用</a:t>
            </a:r>
            <a:r>
              <a:rPr lang="zh-CN" altLang="en-US" dirty="0">
                <a:solidFill>
                  <a:srgbClr val="EE853E"/>
                </a:solidFill>
              </a:rPr>
              <a:t>描述符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数据对象</a:t>
            </a:r>
            <a:r>
              <a:rPr lang="zh-CN" altLang="en-US" dirty="0"/>
              <a:t>来表示。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描述符</a:t>
            </a:r>
            <a:r>
              <a:rPr lang="zh-CN" altLang="en-US" dirty="0"/>
              <a:t>：描述数据对象的属性数据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数据对象</a:t>
            </a:r>
            <a:r>
              <a:rPr lang="zh-CN" altLang="en-US" dirty="0"/>
              <a:t>：存储区及其内容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以下实现模型</a:t>
            </a:r>
            <a:r>
              <a:rPr lang="zh-CN" altLang="en-GB" dirty="0"/>
              <a:t>以</a:t>
            </a:r>
            <a:r>
              <a:rPr lang="en-GB" altLang="zh-CN" dirty="0">
                <a:solidFill>
                  <a:srgbClr val="EE853E"/>
                </a:solidFill>
              </a:rPr>
              <a:t>PASCAL</a:t>
            </a:r>
            <a:r>
              <a:rPr lang="zh-CN" altLang="en-GB" dirty="0"/>
              <a:t>为例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68169FE-E84F-4CD8-AD49-7E75493F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实现模型</a:t>
            </a:r>
          </a:p>
        </p:txBody>
      </p:sp>
    </p:spTree>
    <p:extLst>
      <p:ext uri="{BB962C8B-B14F-4D97-AF65-F5344CB8AC3E}">
        <p14:creationId xmlns:p14="http://schemas.microsoft.com/office/powerpoint/2010/main" val="53475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7391294" y="1905109"/>
            <a:ext cx="2133812" cy="3657600"/>
          </a:xfrm>
          <a:prstGeom prst="wedgeRoundRectCallout">
            <a:avLst>
              <a:gd name="adj1" fmla="val 19668"/>
              <a:gd name="adj2" fmla="val 60901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用户定义类型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层次结构的数据类型</a:t>
            </a:r>
            <a:endParaRPr lang="zh-CN" altLang="en-US" sz="2400" b="1" dirty="0">
              <a:solidFill>
                <a:srgbClr val="EE853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第五节 类型检查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第六节 类型转换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类型等价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实现模型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310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描述符一般由</a:t>
            </a:r>
            <a:r>
              <a:rPr lang="zh-CN" altLang="en-US" dirty="0">
                <a:solidFill>
                  <a:srgbClr val="EE853E"/>
                </a:solidFill>
              </a:rPr>
              <a:t>类型描述</a:t>
            </a:r>
            <a:r>
              <a:rPr lang="zh-CN" altLang="en-US" dirty="0"/>
              <a:t>和一个</a:t>
            </a:r>
            <a:r>
              <a:rPr lang="zh-CN" altLang="en-US" dirty="0">
                <a:solidFill>
                  <a:srgbClr val="EE853E"/>
                </a:solidFill>
              </a:rPr>
              <a:t>指针</a:t>
            </a:r>
            <a:r>
              <a:rPr lang="zh-CN" altLang="en-US" dirty="0"/>
              <a:t>组成，如</a:t>
            </a:r>
            <a:endParaRPr lang="en-US" altLang="zh-CN" dirty="0"/>
          </a:p>
          <a:p>
            <a:r>
              <a:rPr lang="zh-CN" altLang="en-US" dirty="0"/>
              <a:t>整数类型（</a:t>
            </a:r>
            <a:r>
              <a:rPr lang="en-US" altLang="zh-CN" dirty="0"/>
              <a:t>integer</a:t>
            </a:r>
            <a:r>
              <a:rPr lang="zh-CN" altLang="en-US" dirty="0"/>
              <a:t>）：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整数类型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962DB42-A051-47BD-8126-3B0772FB5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202" y="2819400"/>
            <a:ext cx="8841980" cy="21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7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实数类型（</a:t>
            </a:r>
            <a:r>
              <a:rPr lang="en-US" altLang="zh-CN" dirty="0"/>
              <a:t>real</a:t>
            </a:r>
            <a:r>
              <a:rPr lang="zh-CN" altLang="en-US" dirty="0"/>
              <a:t>）：</a:t>
            </a:r>
          </a:p>
          <a:p>
            <a:endParaRPr 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7D03A59-30FF-49AF-BE13-EA3FAF5B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实数类型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D86B2D-AA15-4ED1-8887-09ED8594E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2057400"/>
            <a:ext cx="8839201" cy="254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2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指针类型的实现与前面两种类型相似，只是其值为</a:t>
            </a:r>
            <a:r>
              <a:rPr lang="zh-CN" altLang="en-US" dirty="0">
                <a:solidFill>
                  <a:srgbClr val="EE853E"/>
                </a:solidFill>
              </a:rPr>
              <a:t>地址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它指向的匿名数据对象分配在堆上。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指针类型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54FBEE-8EA3-4C85-ADFA-EFDE1F9C6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24550"/>
            <a:ext cx="7354329" cy="273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9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7391294" y="1905109"/>
            <a:ext cx="2133812" cy="3657600"/>
          </a:xfrm>
          <a:prstGeom prst="wedgeRoundRectCallout">
            <a:avLst>
              <a:gd name="adj1" fmla="val 19668"/>
              <a:gd name="adj2" fmla="val 60901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用户定义类型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层次结构的数据类型</a:t>
            </a:r>
            <a:endParaRPr lang="zh-CN" altLang="en-US" sz="2400" b="1" dirty="0">
              <a:solidFill>
                <a:srgbClr val="EE853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第五节 类型检查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第六节 类型转换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类型等价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实现模型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077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各成分</a:t>
            </a:r>
            <a:r>
              <a:rPr lang="zh-CN" altLang="en-US" dirty="0">
                <a:solidFill>
                  <a:srgbClr val="EE853E"/>
                </a:solidFill>
              </a:rPr>
              <a:t>按顺序存储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每个成分占</a:t>
            </a:r>
            <a:r>
              <a:rPr lang="zh-CN" altLang="en-US" dirty="0">
                <a:solidFill>
                  <a:srgbClr val="EE853E"/>
                </a:solidFill>
              </a:rPr>
              <a:t>整数个</a:t>
            </a:r>
            <a:r>
              <a:rPr lang="zh-CN" altLang="en-US" dirty="0"/>
              <a:t>存储单元</a:t>
            </a:r>
            <a:endParaRPr lang="en-US" altLang="zh-CN" dirty="0"/>
          </a:p>
          <a:p>
            <a:r>
              <a:rPr lang="zh-CN" altLang="en-US" dirty="0"/>
              <a:t>描述符包含：</a:t>
            </a:r>
            <a:r>
              <a:rPr lang="zh-CN" altLang="en-US" dirty="0">
                <a:solidFill>
                  <a:srgbClr val="EE853E"/>
                </a:solidFill>
              </a:rPr>
              <a:t>类型名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EE853E"/>
                </a:solidFill>
              </a:rPr>
              <a:t>构造符</a:t>
            </a:r>
            <a:r>
              <a:rPr lang="zh-CN" altLang="en-US" dirty="0"/>
              <a:t>、若干</a:t>
            </a:r>
            <a:r>
              <a:rPr lang="zh-CN" altLang="en-US" dirty="0">
                <a:solidFill>
                  <a:srgbClr val="EE853E"/>
                </a:solidFill>
              </a:rPr>
              <a:t>三元式</a:t>
            </a:r>
            <a:r>
              <a:rPr lang="zh-CN" altLang="en-US" dirty="0"/>
              <a:t>（选择符名，域类型，指针）</a:t>
            </a:r>
          </a:p>
          <a:p>
            <a:r>
              <a:rPr lang="zh-CN" altLang="en-US" dirty="0"/>
              <a:t>每个域对应一个三元式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笛卡尔积</a:t>
            </a:r>
          </a:p>
        </p:txBody>
      </p:sp>
    </p:spTree>
    <p:extLst>
      <p:ext uri="{BB962C8B-B14F-4D97-AF65-F5344CB8AC3E}">
        <p14:creationId xmlns:p14="http://schemas.microsoft.com/office/powerpoint/2010/main" val="210661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86EE8D1-CB42-4F63-96F3-189D66EF1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24000"/>
            <a:ext cx="7398693" cy="3875202"/>
          </a:xfrm>
          <a:prstGeom prst="rect">
            <a:avLst/>
          </a:prstGeom>
        </p:spPr>
      </p:pic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6876C3DE-01B0-4521-AAF6-C64D0A376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type t = record</a:t>
            </a:r>
          </a:p>
          <a:p>
            <a:r>
              <a:rPr kumimoji="1"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	          a:real</a:t>
            </a:r>
            <a:r>
              <a:rPr kumimoji="1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；</a:t>
            </a:r>
          </a:p>
          <a:p>
            <a:r>
              <a:rPr kumimoji="1"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	          b:integer</a:t>
            </a:r>
            <a:r>
              <a:rPr kumimoji="1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；</a:t>
            </a:r>
          </a:p>
          <a:p>
            <a:r>
              <a:rPr kumimoji="1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          </a:t>
            </a:r>
            <a:r>
              <a:rPr kumimoji="1"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    end</a:t>
            </a:r>
            <a:r>
              <a:rPr kumimoji="1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；</a:t>
            </a:r>
            <a:endParaRPr kumimoji="1"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r>
              <a:rPr kumimoji="1"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var x:t;</a:t>
            </a:r>
            <a:endParaRPr kumimoji="1"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endParaRPr lang="zh-CN" altLang="en-US" dirty="0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F3FE50AF-B5EE-426A-A148-617885AD0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笛卡尔积</a:t>
            </a:r>
          </a:p>
        </p:txBody>
      </p:sp>
    </p:spTree>
    <p:extLst>
      <p:ext uri="{BB962C8B-B14F-4D97-AF65-F5344CB8AC3E}">
        <p14:creationId xmlns:p14="http://schemas.microsoft.com/office/powerpoint/2010/main" val="266051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为每一</a:t>
            </a:r>
            <a:r>
              <a:rPr lang="zh-CN" altLang="en-US" dirty="0">
                <a:solidFill>
                  <a:srgbClr val="EE853E"/>
                </a:solidFill>
              </a:rPr>
              <a:t>成分</a:t>
            </a:r>
            <a:r>
              <a:rPr lang="zh-CN" altLang="en-US" dirty="0"/>
              <a:t>分配</a:t>
            </a:r>
            <a:r>
              <a:rPr lang="zh-CN" altLang="en-US" dirty="0">
                <a:solidFill>
                  <a:srgbClr val="EE853E"/>
                </a:solidFill>
              </a:rPr>
              <a:t>整数个</a:t>
            </a:r>
            <a:r>
              <a:rPr lang="zh-CN" altLang="en-US" dirty="0"/>
              <a:t>可编址的存储单元。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描述符包括：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类型名、构造符、</a:t>
            </a:r>
            <a:r>
              <a:rPr lang="zh-CN" altLang="en-US" dirty="0">
                <a:solidFill>
                  <a:srgbClr val="EE853E"/>
                </a:solidFill>
              </a:rPr>
              <a:t>定义域的基类型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下界、上界、成分类型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（每个成分占）单元个数、</a:t>
            </a:r>
            <a:r>
              <a:rPr lang="zh-CN" altLang="en-US" dirty="0">
                <a:solidFill>
                  <a:srgbClr val="EE853E"/>
                </a:solidFill>
              </a:rPr>
              <a:t>首地址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有限映象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38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(3) </a:t>
            </a:r>
            <a:r>
              <a:rPr lang="zh-CN" altLang="en-US" dirty="0"/>
              <a:t>地址公式的计算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下标</a:t>
            </a:r>
            <a:r>
              <a:rPr lang="en-US" altLang="zh-CN" dirty="0" err="1">
                <a:solidFill>
                  <a:srgbClr val="EE853E"/>
                </a:solidFill>
              </a:rPr>
              <a:t>m..n</a:t>
            </a:r>
            <a:r>
              <a:rPr lang="zh-CN" altLang="en-US" dirty="0"/>
              <a:t>，每个元素占</a:t>
            </a:r>
            <a:r>
              <a:rPr lang="en-US" altLang="zh-CN" dirty="0">
                <a:solidFill>
                  <a:srgbClr val="EE853E"/>
                </a:solidFill>
              </a:rPr>
              <a:t>k</a:t>
            </a:r>
            <a:r>
              <a:rPr lang="zh-CN" altLang="en-US" dirty="0"/>
              <a:t>个存储单元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从首地址</a:t>
            </a:r>
            <a:r>
              <a:rPr lang="en-US" altLang="zh-CN" dirty="0">
                <a:solidFill>
                  <a:srgbClr val="EE853E"/>
                </a:solidFill>
              </a:rPr>
              <a:t>b</a:t>
            </a:r>
            <a:r>
              <a:rPr lang="zh-CN" altLang="en-US" dirty="0"/>
              <a:t>到</a:t>
            </a:r>
            <a:r>
              <a:rPr lang="en-US" altLang="zh-CN" dirty="0">
                <a:solidFill>
                  <a:srgbClr val="EE853E"/>
                </a:solidFill>
              </a:rPr>
              <a:t>a[</a:t>
            </a:r>
            <a:r>
              <a:rPr lang="en-US" altLang="zh-CN" dirty="0" err="1">
                <a:solidFill>
                  <a:srgbClr val="EE853E"/>
                </a:solidFill>
              </a:rPr>
              <a:t>i</a:t>
            </a:r>
            <a:r>
              <a:rPr lang="en-US" altLang="zh-CN" dirty="0">
                <a:solidFill>
                  <a:srgbClr val="EE853E"/>
                </a:solidFill>
              </a:rPr>
              <a:t>]</a:t>
            </a:r>
            <a:r>
              <a:rPr lang="zh-CN" altLang="en-US" dirty="0"/>
              <a:t>之间的位移为</a:t>
            </a:r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	k*(</a:t>
            </a:r>
            <a:r>
              <a:rPr lang="en-US" altLang="zh-CN" dirty="0" err="1">
                <a:solidFill>
                  <a:srgbClr val="EE853E"/>
                </a:solidFill>
              </a:rPr>
              <a:t>i</a:t>
            </a:r>
            <a:r>
              <a:rPr lang="en-US" altLang="zh-CN" dirty="0">
                <a:solidFill>
                  <a:srgbClr val="EE853E"/>
                </a:solidFill>
              </a:rPr>
              <a:t>-m) 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则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的地址为： 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	</a:t>
            </a:r>
            <a:r>
              <a:rPr lang="en-US" altLang="zh-CN" dirty="0" err="1">
                <a:solidFill>
                  <a:srgbClr val="EE853E"/>
                </a:solidFill>
              </a:rPr>
              <a:t>b+k</a:t>
            </a:r>
            <a:r>
              <a:rPr lang="en-US" altLang="zh-CN" dirty="0">
                <a:solidFill>
                  <a:srgbClr val="EE853E"/>
                </a:solidFill>
              </a:rPr>
              <a:t>*(</a:t>
            </a:r>
            <a:r>
              <a:rPr lang="en-US" altLang="zh-CN" dirty="0" err="1">
                <a:solidFill>
                  <a:srgbClr val="EE853E"/>
                </a:solidFill>
              </a:rPr>
              <a:t>i</a:t>
            </a:r>
            <a:r>
              <a:rPr lang="en-US" altLang="zh-CN" dirty="0">
                <a:solidFill>
                  <a:srgbClr val="EE853E"/>
                </a:solidFill>
              </a:rPr>
              <a:t>-m) </a:t>
            </a:r>
            <a:r>
              <a:rPr lang="en-US" altLang="zh-CN" dirty="0"/>
              <a:t>= b-k*</a:t>
            </a:r>
            <a:r>
              <a:rPr lang="en-US" altLang="zh-CN" dirty="0" err="1"/>
              <a:t>m+k</a:t>
            </a:r>
            <a:r>
              <a:rPr lang="en-US" altLang="zh-CN" dirty="0"/>
              <a:t>*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>
                <a:solidFill>
                  <a:srgbClr val="EE853E"/>
                </a:solidFill>
              </a:rPr>
              <a:t>b'+ k*</a:t>
            </a:r>
            <a:r>
              <a:rPr lang="en-US" altLang="zh-CN" dirty="0" err="1">
                <a:solidFill>
                  <a:srgbClr val="EE853E"/>
                </a:solidFill>
              </a:rPr>
              <a:t>i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	</a:t>
            </a:r>
            <a:r>
              <a:rPr lang="zh-CN" altLang="en-US" dirty="0"/>
              <a:t>其中， </a:t>
            </a:r>
            <a:r>
              <a:rPr lang="en-US" altLang="zh-CN" dirty="0"/>
              <a:t>b' = b-k*m </a:t>
            </a:r>
            <a:r>
              <a:rPr lang="zh-CN" altLang="en-US" dirty="0"/>
              <a:t>是编译时能计算出的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5FF5852-8FF2-48C1-8464-1791CA38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有限映象</a:t>
            </a:r>
          </a:p>
        </p:txBody>
      </p:sp>
    </p:spTree>
    <p:extLst>
      <p:ext uri="{BB962C8B-B14F-4D97-AF65-F5344CB8AC3E}">
        <p14:creationId xmlns:p14="http://schemas.microsoft.com/office/powerpoint/2010/main" val="3675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44DDAA-85C9-40B6-8687-17085E544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type a = array[0..10] of real</a:t>
            </a: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有限映象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D7FF4C-C7F2-4092-96D5-A57610623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654348"/>
            <a:ext cx="6172200" cy="415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4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可变长串</a:t>
            </a:r>
            <a:r>
              <a:rPr lang="zh-CN" altLang="en-US" dirty="0"/>
              <a:t>的表示：</a:t>
            </a:r>
            <a:endParaRPr lang="en-US" altLang="zh-CN" dirty="0"/>
          </a:p>
          <a:p>
            <a:r>
              <a:rPr lang="zh-CN" altLang="en-US" dirty="0"/>
              <a:t>静态描述符</a:t>
            </a:r>
            <a:r>
              <a:rPr lang="en-US" altLang="zh-CN" dirty="0"/>
              <a:t>+</a:t>
            </a:r>
            <a:r>
              <a:rPr lang="zh-CN" altLang="en-US" dirty="0"/>
              <a:t>动态描述符</a:t>
            </a:r>
            <a:r>
              <a:rPr lang="en-US" altLang="zh-CN" dirty="0"/>
              <a:t>+</a:t>
            </a:r>
            <a:r>
              <a:rPr lang="zh-CN" altLang="en-US" dirty="0"/>
              <a:t>堆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34EF99-18E9-49A9-A8AE-3A26289E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209800"/>
            <a:ext cx="7559632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8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判定或类型的变量分配的空间应足以容纳需要</a:t>
            </a:r>
            <a:r>
              <a:rPr lang="zh-CN" altLang="en-US" dirty="0">
                <a:solidFill>
                  <a:srgbClr val="EE853E"/>
                </a:solidFill>
              </a:rPr>
              <a:t>最大空间</a:t>
            </a:r>
            <a:r>
              <a:rPr lang="zh-CN" altLang="en-US" dirty="0"/>
              <a:t>的变体的值。</a:t>
            </a:r>
          </a:p>
          <a:p>
            <a:r>
              <a:rPr lang="en-US" altLang="zh-CN" dirty="0"/>
              <a:t>PASCAL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变体记录</a:t>
            </a:r>
            <a:r>
              <a:rPr lang="zh-CN" altLang="en-US" dirty="0"/>
              <a:t>的表示包括</a:t>
            </a:r>
            <a:endParaRPr lang="en-US" altLang="zh-CN" dirty="0"/>
          </a:p>
          <a:p>
            <a:r>
              <a:rPr lang="zh-CN" altLang="en-US" dirty="0"/>
              <a:t>描述符、数据对象</a:t>
            </a:r>
          </a:p>
          <a:p>
            <a:r>
              <a:rPr lang="en-US" altLang="zh-CN" dirty="0"/>
              <a:t>case</a:t>
            </a:r>
            <a:r>
              <a:rPr lang="zh-CN" altLang="en-US" dirty="0"/>
              <a:t>表、若干变体描述符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判定或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64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type  v =	record </a:t>
            </a:r>
          </a:p>
          <a:p>
            <a:r>
              <a:rPr lang="en-US" altLang="zh-CN" dirty="0"/>
              <a:t>				a: integer;</a:t>
            </a:r>
          </a:p>
          <a:p>
            <a:r>
              <a:rPr lang="en-US" altLang="zh-CN" dirty="0"/>
              <a:t>				case b: </a:t>
            </a:r>
            <a:r>
              <a:rPr lang="en-US" altLang="zh-CN" dirty="0" err="1"/>
              <a:t>boolean</a:t>
            </a:r>
            <a:r>
              <a:rPr lang="en-US" altLang="zh-CN" dirty="0"/>
              <a:t> of</a:t>
            </a:r>
          </a:p>
          <a:p>
            <a:r>
              <a:rPr lang="en-US" altLang="zh-CN" dirty="0"/>
              <a:t>					true:	(</a:t>
            </a:r>
            <a:r>
              <a:rPr lang="en-US" altLang="zh-CN" dirty="0" err="1"/>
              <a:t>c:integer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				false:	(</a:t>
            </a:r>
            <a:r>
              <a:rPr lang="en-US" altLang="zh-CN" dirty="0" err="1"/>
              <a:t>d:integer</a:t>
            </a:r>
            <a:r>
              <a:rPr lang="en-US" altLang="zh-CN" dirty="0"/>
              <a:t>;  e:real)</a:t>
            </a:r>
          </a:p>
          <a:p>
            <a:r>
              <a:rPr lang="en-US" altLang="zh-CN" dirty="0"/>
              <a:t>			end;</a:t>
            </a: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00F7168-43EA-4013-914B-6A4C47FB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判定或</a:t>
            </a:r>
          </a:p>
        </p:txBody>
      </p:sp>
    </p:spTree>
    <p:extLst>
      <p:ext uri="{BB962C8B-B14F-4D97-AF65-F5344CB8AC3E}">
        <p14:creationId xmlns:p14="http://schemas.microsoft.com/office/powerpoint/2010/main" val="339370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F863D5-F8FF-4044-99C1-00C3DD1F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判定或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48FEA7-A526-46B3-9490-69E4783CE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7799"/>
            <a:ext cx="9296400" cy="457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38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对幂集可以通过访问的存储空间（例如机器字）来实现。</a:t>
            </a:r>
          </a:p>
          <a:p>
            <a:r>
              <a:rPr lang="zh-CN" altLang="en-US" dirty="0"/>
              <a:t>若在某个集合 </a:t>
            </a:r>
            <a:r>
              <a:rPr lang="en-US" altLang="zh-CN" dirty="0"/>
              <a:t>S </a:t>
            </a:r>
            <a:r>
              <a:rPr lang="zh-CN" altLang="en-US" dirty="0"/>
              <a:t>中出现基类型的</a:t>
            </a:r>
            <a:r>
              <a:rPr lang="zh-CN" altLang="en-US" dirty="0">
                <a:solidFill>
                  <a:srgbClr val="EE853E"/>
                </a:solidFill>
              </a:rPr>
              <a:t>第 </a:t>
            </a:r>
            <a:r>
              <a:rPr lang="en-US" altLang="zh-CN" dirty="0" err="1">
                <a:solidFill>
                  <a:srgbClr val="EE853E"/>
                </a:solidFill>
              </a:rPr>
              <a:t>i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zh-CN" altLang="en-US" dirty="0">
                <a:solidFill>
                  <a:srgbClr val="EE853E"/>
                </a:solidFill>
              </a:rPr>
              <a:t>个</a:t>
            </a:r>
            <a:r>
              <a:rPr lang="zh-CN" altLang="en-US" dirty="0"/>
              <a:t>元素，那么与 </a:t>
            </a:r>
            <a:r>
              <a:rPr lang="en-US" altLang="zh-CN" dirty="0"/>
              <a:t>S </a:t>
            </a:r>
            <a:r>
              <a:rPr lang="zh-CN" altLang="en-US" dirty="0"/>
              <a:t>相关联的字的</a:t>
            </a:r>
            <a:r>
              <a:rPr lang="zh-CN" altLang="en-US" dirty="0">
                <a:solidFill>
                  <a:srgbClr val="EE853E"/>
                </a:solidFill>
              </a:rPr>
              <a:t>第 </a:t>
            </a:r>
            <a:r>
              <a:rPr lang="en-US" altLang="zh-CN" dirty="0" err="1">
                <a:solidFill>
                  <a:srgbClr val="EE853E"/>
                </a:solidFill>
              </a:rPr>
              <a:t>i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zh-CN" altLang="en-US" dirty="0">
                <a:solidFill>
                  <a:srgbClr val="EE853E"/>
                </a:solidFill>
              </a:rPr>
              <a:t>个</a:t>
            </a:r>
            <a:r>
              <a:rPr lang="zh-CN" altLang="en-US" dirty="0"/>
              <a:t>位置为</a:t>
            </a:r>
            <a:r>
              <a:rPr lang="zh-CN" altLang="en-US" dirty="0">
                <a:solidFill>
                  <a:srgbClr val="EE853E"/>
                </a:solidFill>
              </a:rPr>
              <a:t>“</a:t>
            </a:r>
            <a:r>
              <a:rPr lang="en-US" altLang="zh-CN" dirty="0">
                <a:solidFill>
                  <a:srgbClr val="EE853E"/>
                </a:solidFill>
              </a:rPr>
              <a:t>1</a:t>
            </a:r>
            <a:r>
              <a:rPr lang="zh-CN" altLang="en-US" dirty="0">
                <a:solidFill>
                  <a:srgbClr val="EE853E"/>
                </a:solidFill>
              </a:rPr>
              <a:t>”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两个集合的</a:t>
            </a:r>
            <a:r>
              <a:rPr lang="zh-CN" altLang="en-US" dirty="0">
                <a:solidFill>
                  <a:srgbClr val="EE853E"/>
                </a:solidFill>
              </a:rPr>
              <a:t>联合</a:t>
            </a:r>
            <a:r>
              <a:rPr lang="zh-CN" altLang="en-US" dirty="0"/>
              <a:t>通过它们相关联的字的“</a:t>
            </a:r>
            <a:r>
              <a:rPr lang="zh-CN" altLang="en-US" dirty="0">
                <a:solidFill>
                  <a:srgbClr val="EE853E"/>
                </a:solidFill>
              </a:rPr>
              <a:t>或</a:t>
            </a:r>
            <a:r>
              <a:rPr lang="zh-CN" altLang="en-US" dirty="0"/>
              <a:t>”操作来实现；</a:t>
            </a:r>
            <a:endParaRPr lang="en-US" altLang="zh-CN" dirty="0"/>
          </a:p>
          <a:p>
            <a:r>
              <a:rPr lang="zh-CN" altLang="en-US" dirty="0"/>
              <a:t>两个集合的</a:t>
            </a:r>
            <a:r>
              <a:rPr lang="zh-CN" altLang="en-US" dirty="0">
                <a:solidFill>
                  <a:srgbClr val="EE853E"/>
                </a:solidFill>
              </a:rPr>
              <a:t>交集</a:t>
            </a:r>
            <a:r>
              <a:rPr lang="zh-CN" altLang="en-US" dirty="0"/>
              <a:t>通过“</a:t>
            </a:r>
            <a:r>
              <a:rPr lang="zh-CN" altLang="en-US" dirty="0">
                <a:solidFill>
                  <a:srgbClr val="EE853E"/>
                </a:solidFill>
              </a:rPr>
              <a:t>与</a:t>
            </a:r>
            <a:r>
              <a:rPr lang="zh-CN" altLang="en-US" dirty="0"/>
              <a:t>”操作来实现。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幂集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66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7391294" y="1905109"/>
            <a:ext cx="2133812" cy="3657600"/>
          </a:xfrm>
          <a:prstGeom prst="wedgeRoundRectCallout">
            <a:avLst>
              <a:gd name="adj1" fmla="val 19668"/>
              <a:gd name="adj2" fmla="val 60901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用户定义类型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层次结构的数据类型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第五节 类型检查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第六节 类型转换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类型等价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实现模型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423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描述符中的类型指向另外的描述符。</a:t>
            </a:r>
            <a:endParaRPr lang="en-US" altLang="zh-CN" dirty="0"/>
          </a:p>
          <a:p>
            <a:r>
              <a:rPr lang="zh-CN" altLang="en-US" dirty="0"/>
              <a:t>在编译时将所有描述符保存在一张</a:t>
            </a:r>
            <a:r>
              <a:rPr lang="zh-CN" altLang="en-US" dirty="0">
                <a:solidFill>
                  <a:srgbClr val="EE853E"/>
                </a:solidFill>
              </a:rPr>
              <a:t>表</a:t>
            </a:r>
            <a:r>
              <a:rPr lang="zh-CN" altLang="en-US" dirty="0"/>
              <a:t>中，以便编译时使用。</a:t>
            </a:r>
          </a:p>
          <a:p>
            <a:r>
              <a:rPr lang="zh-CN" altLang="en-US" dirty="0"/>
              <a:t>有些描述符需要保存到运行阶段，且存储在描述符中的属性可能随运行而变化。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层次结构的数据类型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9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type t1=array[0..3] of integer;</a:t>
            </a:r>
          </a:p>
          <a:p>
            <a:r>
              <a:rPr lang="en-US" altLang="zh-CN" sz="2000" dirty="0"/>
              <a:t>t = record</a:t>
            </a:r>
          </a:p>
          <a:p>
            <a:r>
              <a:rPr lang="en-US" altLang="zh-CN" sz="2000" dirty="0"/>
              <a:t>		a:real;</a:t>
            </a:r>
          </a:p>
          <a:p>
            <a:r>
              <a:rPr lang="en-US" altLang="zh-CN" sz="2000" dirty="0"/>
              <a:t>		b:t1;</a:t>
            </a:r>
          </a:p>
          <a:p>
            <a:r>
              <a:rPr lang="en-US" altLang="zh-CN" sz="2000" dirty="0"/>
              <a:t>		c:integer</a:t>
            </a:r>
          </a:p>
          <a:p>
            <a:r>
              <a:rPr lang="en-US" altLang="zh-CN" sz="2000" dirty="0"/>
              <a:t>	end;</a:t>
            </a:r>
          </a:p>
          <a:p>
            <a:endParaRPr lang="en-US" sz="20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47371E9-A798-4D84-9826-9344AA26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层次结构的数据类型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15BABD0-875A-4943-8839-77D2A9D4F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337468"/>
            <a:ext cx="7772400" cy="485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type t4=array[0..5] of integer;</a:t>
            </a:r>
          </a:p>
          <a:p>
            <a:r>
              <a:rPr lang="en-US" altLang="zh-CN" sz="2000" dirty="0"/>
              <a:t>t2=array[0..2] of  t4;</a:t>
            </a:r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144A8CC-EB14-4219-AB1B-FFFB27B8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层次结构的数据类型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00D97E-5D84-4065-A4F3-A6D85E93E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952400"/>
            <a:ext cx="9268525" cy="39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7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5964</TotalTime>
  <Words>856</Words>
  <Application>Microsoft Office PowerPoint</Application>
  <PresentationFormat>宽屏</PresentationFormat>
  <Paragraphs>113</Paragraphs>
  <Slides>21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宋体</vt:lpstr>
      <vt:lpstr>微软雅黑</vt:lpstr>
      <vt:lpstr>Arial</vt:lpstr>
      <vt:lpstr>Wingdings</vt:lpstr>
      <vt:lpstr>环保</vt:lpstr>
      <vt:lpstr>第二章 数据类型</vt:lpstr>
      <vt:lpstr>实现模型</vt:lpstr>
      <vt:lpstr>第二章 数据类型</vt:lpstr>
      <vt:lpstr>整数类型</vt:lpstr>
      <vt:lpstr>实数类型</vt:lpstr>
      <vt:lpstr>指针类型</vt:lpstr>
      <vt:lpstr>第二章 数据类型</vt:lpstr>
      <vt:lpstr>笛卡尔积</vt:lpstr>
      <vt:lpstr>笛卡尔积</vt:lpstr>
      <vt:lpstr>有限映象</vt:lpstr>
      <vt:lpstr>有限映象</vt:lpstr>
      <vt:lpstr>有限映象</vt:lpstr>
      <vt:lpstr>序列</vt:lpstr>
      <vt:lpstr>判定或</vt:lpstr>
      <vt:lpstr>判定或</vt:lpstr>
      <vt:lpstr>判定或</vt:lpstr>
      <vt:lpstr>幂集</vt:lpstr>
      <vt:lpstr>第二章 数据类型</vt:lpstr>
      <vt:lpstr>层次结构的数据类型</vt:lpstr>
      <vt:lpstr>层次结构的数据类型</vt:lpstr>
      <vt:lpstr>层次结构的数据类型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1051</cp:revision>
  <cp:lastPrinted>1601-01-01T00:00:00Z</cp:lastPrinted>
  <dcterms:created xsi:type="dcterms:W3CDTF">1601-01-01T00:00:00Z</dcterms:created>
  <dcterms:modified xsi:type="dcterms:W3CDTF">2019-12-24T08:46:49Z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