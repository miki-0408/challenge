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8"/>
  </p:notesMasterIdLst>
  <p:handoutMasterIdLst>
    <p:handoutMasterId r:id="rId9"/>
  </p:handoutMasterIdLst>
  <p:sldIdLst>
    <p:sldId id="376" r:id="rId2"/>
    <p:sldId id="308" r:id="rId3"/>
    <p:sldId id="309" r:id="rId4"/>
    <p:sldId id="311" r:id="rId5"/>
    <p:sldId id="314" r:id="rId6"/>
    <p:sldId id="312" r:id="rId7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58" d="100"/>
          <a:sy n="58" d="100"/>
        </p:scale>
        <p:origin x="-822" y="-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xmlns="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716784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xmlns="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xmlns="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xmlns="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xmlns="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xmlns="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xmlns="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xmlns="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xmlns="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xmlns="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392928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xmlns="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xmlns="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xmlns="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xmlns="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xmlns="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xmlns="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xmlns="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xmlns="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2573167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</p:sldLayoutIdLst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xmlns="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第一章 绪论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xmlns="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xmlns="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xmlns="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xmlns="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xmlns="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xmlns="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xmlns="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xmlns="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xmlns="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xmlns="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xmlns="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xmlns="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xmlns="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xmlns="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强制式语言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第三节 程序单元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程序设计语言发展简介</a:t>
              </a:r>
            </a:p>
          </p:txBody>
        </p:sp>
      </p:grp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xmlns="" id="{23E85C67-7818-411F-A7D7-B4F4B0217B6D}"/>
              </a:ext>
            </a:extLst>
          </p:cNvPr>
          <p:cNvSpPr/>
          <p:nvPr/>
        </p:nvSpPr>
        <p:spPr>
          <a:xfrm rot="5400000">
            <a:off x="7722055" y="1548512"/>
            <a:ext cx="1751256" cy="4597834"/>
          </a:xfrm>
          <a:prstGeom prst="wedgeRoundRectCallout">
            <a:avLst>
              <a:gd name="adj1" fmla="val -21248"/>
              <a:gd name="adj2" fmla="val 60197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 anchorCtr="0"/>
          <a:lstStyle/>
          <a:p>
            <a:r>
              <a:rPr lang="zh-CN" altLang="en-US" sz="2400" b="1" dirty="0">
                <a:latin typeface="+mj-ea"/>
                <a:ea typeface="+mj-ea"/>
              </a:rPr>
              <a:t>简称</a:t>
            </a:r>
            <a:r>
              <a:rPr lang="zh-CN" altLang="en-US" sz="2400" b="1" dirty="0">
                <a:solidFill>
                  <a:srgbClr val="EE853E"/>
                </a:solidFill>
                <a:latin typeface="+mj-ea"/>
                <a:ea typeface="+mj-ea"/>
              </a:rPr>
              <a:t>单元</a:t>
            </a:r>
            <a:r>
              <a:rPr lang="zh-CN" altLang="en-US" sz="2400" b="1" dirty="0">
                <a:latin typeface="+mj-ea"/>
                <a:ea typeface="+mj-ea"/>
              </a:rPr>
              <a:t>，是程序执行过程中被独立调用的单元。如：子程序、分程序、函数、过程等。</a:t>
            </a:r>
          </a:p>
        </p:txBody>
      </p:sp>
    </p:spTree>
    <p:extLst>
      <p:ext uri="{BB962C8B-B14F-4D97-AF65-F5344CB8AC3E}">
        <p14:creationId xmlns:p14="http://schemas.microsoft.com/office/powerpoint/2010/main" xmlns="" val="110860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单元表示</a:t>
            </a:r>
          </a:p>
          <a:p>
            <a:r>
              <a:rPr lang="zh-CN" altLang="en-US" dirty="0"/>
              <a:t>编译时，单元表示为单元的源程序。</a:t>
            </a:r>
            <a:endParaRPr lang="en-US" altLang="zh-CN" dirty="0"/>
          </a:p>
          <a:p>
            <a:r>
              <a:rPr lang="zh-CN" altLang="en-US" dirty="0"/>
              <a:t>运行时，单元表示由一个代码段和一个</a:t>
            </a:r>
            <a:r>
              <a:rPr lang="zh-CN" altLang="en-US" dirty="0">
                <a:solidFill>
                  <a:srgbClr val="EE853E"/>
                </a:solidFill>
              </a:rPr>
              <a:t>活动记录</a:t>
            </a:r>
            <a:r>
              <a:rPr lang="zh-CN" altLang="en-US" dirty="0"/>
              <a:t>组成，称为</a:t>
            </a:r>
            <a:r>
              <a:rPr lang="zh-CN" altLang="en-US" dirty="0">
                <a:solidFill>
                  <a:srgbClr val="EE853E"/>
                </a:solidFill>
              </a:rPr>
              <a:t>单元实例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活动记录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执行单元需要的</a:t>
            </a:r>
            <a:r>
              <a:rPr lang="zh-CN" altLang="en-US" dirty="0">
                <a:solidFill>
                  <a:srgbClr val="EE853E"/>
                </a:solidFill>
              </a:rPr>
              <a:t>信息</a:t>
            </a:r>
            <a:r>
              <a:rPr lang="zh-CN" altLang="en-US" dirty="0"/>
              <a:t>，及该单元的局部变量的</a:t>
            </a:r>
            <a:r>
              <a:rPr lang="zh-CN" altLang="en-US" dirty="0">
                <a:solidFill>
                  <a:srgbClr val="EE853E"/>
                </a:solidFill>
              </a:rPr>
              <a:t>存储区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/>
            </a:r>
            <a:br>
              <a:rPr lang="zh-CN" altLang="en-US" dirty="0"/>
            </a:br>
            <a:r>
              <a:rPr lang="zh-CN" altLang="en-US" dirty="0"/>
              <a:t>程序单元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1617705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非局部变量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一个程序单元可以引用未被本单元说明而被其它单元说明的变量。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全局变量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在一个程序中，各个程序单元都可以引用的变量。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引用环境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一个程序单元可以引用的局部变量、非局部变量和全局变量对应的</a:t>
            </a:r>
            <a:r>
              <a:rPr lang="zh-CN" altLang="en-US" dirty="0">
                <a:solidFill>
                  <a:srgbClr val="EE853E"/>
                </a:solidFill>
              </a:rPr>
              <a:t>数据对象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49B0A662-4CA8-41F8-B5E1-027C6E843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0000"/>
          </a:xfrm>
        </p:spPr>
        <p:txBody>
          <a:bodyPr/>
          <a:lstStyle/>
          <a:p>
            <a:r>
              <a:rPr lang="zh-CN" altLang="en-US" dirty="0"/>
              <a:t>程序单元</a:t>
            </a:r>
          </a:p>
        </p:txBody>
      </p:sp>
    </p:spTree>
    <p:extLst>
      <p:ext uri="{BB962C8B-B14F-4D97-AF65-F5344CB8AC3E}">
        <p14:creationId xmlns:p14="http://schemas.microsoft.com/office/powerpoint/2010/main" xmlns="" val="3357008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局部环境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局部变量绑定于存储在</a:t>
            </a:r>
            <a:r>
              <a:rPr lang="en-US" altLang="zh-CN" dirty="0"/>
              <a:t>U</a:t>
            </a:r>
            <a:r>
              <a:rPr lang="zh-CN" altLang="en-US" dirty="0"/>
              <a:t>的当前活动记录中的数据对象，称为局部环境。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非局部环境</a:t>
            </a:r>
          </a:p>
          <a:p>
            <a:r>
              <a:rPr lang="zh-CN" altLang="en-US" dirty="0" smtClean="0"/>
              <a:t>  非</a:t>
            </a:r>
            <a:r>
              <a:rPr lang="zh-CN" altLang="en-US" dirty="0"/>
              <a:t>局部变量绑定于其他的程序单元（定义该非局部变量的程序单元）的活动记录中的数据对象；</a:t>
            </a:r>
            <a:r>
              <a:rPr lang="zh-CN" altLang="en-US" dirty="0" smtClean="0"/>
              <a:t>或全局变量</a:t>
            </a:r>
            <a:r>
              <a:rPr lang="zh-CN" altLang="en-US" dirty="0"/>
              <a:t>绑定全局数据区中的数据对象称为非局部环境。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521ACED2-E120-462F-8EEA-A63191833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程序单元</a:t>
            </a:r>
          </a:p>
        </p:txBody>
      </p:sp>
    </p:spTree>
    <p:extLst>
      <p:ext uri="{BB962C8B-B14F-4D97-AF65-F5344CB8AC3E}">
        <p14:creationId xmlns:p14="http://schemas.microsoft.com/office/powerpoint/2010/main" xmlns="" val="2566914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别名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同一单元的引用环境中有两个或多个变量绑定于同一数据对象，称这些变量互为</a:t>
            </a:r>
            <a:r>
              <a:rPr lang="zh-CN" altLang="en-US" dirty="0">
                <a:solidFill>
                  <a:srgbClr val="EE853E"/>
                </a:solidFill>
              </a:rPr>
              <a:t>别名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副作用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对一个</a:t>
            </a:r>
            <a:r>
              <a:rPr lang="zh-CN" altLang="en-US" dirty="0">
                <a:solidFill>
                  <a:srgbClr val="EE853E"/>
                </a:solidFill>
              </a:rPr>
              <a:t>非局部变量</a:t>
            </a:r>
            <a:r>
              <a:rPr lang="zh-CN" altLang="en-US" dirty="0"/>
              <a:t>进行</a:t>
            </a:r>
            <a:r>
              <a:rPr lang="zh-CN" altLang="en-US" dirty="0">
                <a:solidFill>
                  <a:srgbClr val="EE853E"/>
                </a:solidFill>
              </a:rPr>
              <a:t>修改</a:t>
            </a:r>
            <a:r>
              <a:rPr lang="zh-CN" altLang="en-US" dirty="0"/>
              <a:t>。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36AC82EE-9C31-4C45-8312-124D23197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程序单元</a:t>
            </a:r>
          </a:p>
        </p:txBody>
      </p:sp>
    </p:spTree>
    <p:extLst>
      <p:ext uri="{BB962C8B-B14F-4D97-AF65-F5344CB8AC3E}">
        <p14:creationId xmlns:p14="http://schemas.microsoft.com/office/powerpoint/2010/main" xmlns="" val="3507103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</a:t>
            </a:r>
            <a:r>
              <a:rPr lang="en-US" altLang="zh-CN" dirty="0"/>
              <a:t>C</a:t>
            </a:r>
            <a:r>
              <a:rPr lang="zh-CN" altLang="en-US" dirty="0"/>
              <a:t>语言为例，</a:t>
            </a:r>
            <a:r>
              <a:rPr lang="en-US" altLang="zh-CN" dirty="0"/>
              <a:t>C</a:t>
            </a:r>
            <a:r>
              <a:rPr lang="zh-CN" altLang="zh-CN" dirty="0"/>
              <a:t>程序运行时的存储空间：</a:t>
            </a:r>
          </a:p>
          <a:p>
            <a:r>
              <a:rPr lang="en-US" altLang="zh-CN" dirty="0"/>
              <a:t>(1)	</a:t>
            </a:r>
            <a:r>
              <a:rPr lang="zh-CN" altLang="zh-CN" dirty="0"/>
              <a:t>程序代码区</a:t>
            </a:r>
            <a:endParaRPr lang="en-US" altLang="zh-CN" dirty="0"/>
          </a:p>
          <a:p>
            <a:r>
              <a:rPr lang="zh-CN" altLang="zh-CN" dirty="0"/>
              <a:t>存储程序代码（编译后形成的二进制机器指令序列）</a:t>
            </a:r>
            <a:endParaRPr lang="en-US" altLang="zh-CN" dirty="0"/>
          </a:p>
          <a:p>
            <a:r>
              <a:rPr lang="en-US" altLang="zh-CN" dirty="0"/>
              <a:t>(2)	</a:t>
            </a:r>
            <a:r>
              <a:rPr lang="zh-CN" altLang="zh-CN" dirty="0"/>
              <a:t>数据静态存储区</a:t>
            </a:r>
            <a:endParaRPr lang="en-US" altLang="zh-CN" dirty="0"/>
          </a:p>
          <a:p>
            <a:r>
              <a:rPr lang="zh-CN" altLang="zh-CN" dirty="0"/>
              <a:t>存储程序的</a:t>
            </a:r>
            <a:r>
              <a:rPr lang="zh-CN" altLang="en-US" dirty="0">
                <a:solidFill>
                  <a:srgbClr val="EE853E"/>
                </a:solidFill>
              </a:rPr>
              <a:t>常量数据、</a:t>
            </a:r>
            <a:r>
              <a:rPr lang="zh-CN" altLang="zh-CN" dirty="0">
                <a:solidFill>
                  <a:srgbClr val="EE853E"/>
                </a:solidFill>
              </a:rPr>
              <a:t>全局数据和</a:t>
            </a:r>
            <a:r>
              <a:rPr lang="en-US" altLang="zh-CN" dirty="0">
                <a:solidFill>
                  <a:srgbClr val="EE853E"/>
                </a:solidFill>
              </a:rPr>
              <a:t>static</a:t>
            </a:r>
            <a:r>
              <a:rPr lang="zh-CN" altLang="zh-CN" dirty="0">
                <a:solidFill>
                  <a:srgbClr val="EE853E"/>
                </a:solidFill>
              </a:rPr>
              <a:t>数据</a:t>
            </a:r>
            <a:r>
              <a:rPr lang="zh-CN" altLang="zh-CN" dirty="0"/>
              <a:t>。</a:t>
            </a:r>
          </a:p>
          <a:p>
            <a:r>
              <a:rPr lang="en-US" altLang="zh-CN" dirty="0"/>
              <a:t>(3)	</a:t>
            </a:r>
            <a:r>
              <a:rPr lang="zh-CN" altLang="zh-CN" dirty="0"/>
              <a:t>数据动态存储区</a:t>
            </a:r>
          </a:p>
          <a:p>
            <a:r>
              <a:rPr lang="zh-CN" altLang="en-US" dirty="0"/>
              <a:t>活动记录（栈）：</a:t>
            </a:r>
            <a:r>
              <a:rPr lang="zh-CN" altLang="zh-CN" dirty="0"/>
              <a:t>返回地址、</a:t>
            </a:r>
            <a:r>
              <a:rPr lang="en-US" altLang="zh-CN" dirty="0"/>
              <a:t>CPU</a:t>
            </a:r>
            <a:r>
              <a:rPr lang="zh-CN" altLang="zh-CN" dirty="0"/>
              <a:t>现场、</a:t>
            </a:r>
            <a:r>
              <a:rPr lang="zh-CN" altLang="zh-CN" dirty="0">
                <a:solidFill>
                  <a:srgbClr val="EE853E"/>
                </a:solidFill>
              </a:rPr>
              <a:t>形参、</a:t>
            </a:r>
            <a:r>
              <a:rPr lang="zh-CN" altLang="en-US" dirty="0" smtClean="0">
                <a:solidFill>
                  <a:srgbClr val="EE853E"/>
                </a:solidFill>
              </a:rPr>
              <a:t>局部</a:t>
            </a:r>
            <a:r>
              <a:rPr lang="zh-CN" altLang="zh-CN" dirty="0" smtClean="0">
                <a:solidFill>
                  <a:srgbClr val="EE853E"/>
                </a:solidFill>
              </a:rPr>
              <a:t>变量</a:t>
            </a:r>
            <a:r>
              <a:rPr lang="zh-CN" altLang="en-US" dirty="0" smtClean="0">
                <a:solidFill>
                  <a:srgbClr val="EE853E"/>
                </a:solidFill>
              </a:rPr>
              <a:t>、临时变量。</a:t>
            </a:r>
            <a:endParaRPr lang="zh-CN" altLang="zh-CN" dirty="0">
              <a:solidFill>
                <a:srgbClr val="EE853E"/>
              </a:solidFill>
            </a:endParaRPr>
          </a:p>
          <a:p>
            <a:r>
              <a:rPr lang="zh-CN" altLang="zh-CN" dirty="0"/>
              <a:t>存储动态内存申请数据</a:t>
            </a:r>
            <a:r>
              <a:rPr lang="zh-CN" altLang="en-US" dirty="0"/>
              <a:t>（堆）。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665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程序单元</a:t>
            </a:r>
          </a:p>
        </p:txBody>
      </p:sp>
    </p:spTree>
    <p:extLst>
      <p:ext uri="{BB962C8B-B14F-4D97-AF65-F5344CB8AC3E}">
        <p14:creationId xmlns:p14="http://schemas.microsoft.com/office/powerpoint/2010/main" xmlns="" val="2516577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5625</TotalTime>
  <Words>258</Words>
  <Application>Microsoft Office PowerPoint</Application>
  <PresentationFormat>自定义</PresentationFormat>
  <Paragraphs>42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环保</vt:lpstr>
      <vt:lpstr>第一章 绪论</vt:lpstr>
      <vt:lpstr> 程序单元 </vt:lpstr>
      <vt:lpstr>程序单元</vt:lpstr>
      <vt:lpstr>程序单元</vt:lpstr>
      <vt:lpstr>程序单元</vt:lpstr>
      <vt:lpstr>程序单元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陈文宇</cp:lastModifiedBy>
  <cp:revision>1027</cp:revision>
  <cp:lastPrinted>1601-01-01T00:00:00Z</cp:lastPrinted>
  <dcterms:created xsi:type="dcterms:W3CDTF">1601-01-01T00:00:00Z</dcterms:created>
  <dcterms:modified xsi:type="dcterms:W3CDTF">2019-11-20T00:34:46Z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