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16"/>
  </p:notesMasterIdLst>
  <p:handoutMasterIdLst>
    <p:handoutMasterId r:id="rId17"/>
  </p:handoutMasterIdLst>
  <p:sldIdLst>
    <p:sldId id="374" r:id="rId2"/>
    <p:sldId id="445" r:id="rId3"/>
    <p:sldId id="359" r:id="rId4"/>
    <p:sldId id="446" r:id="rId5"/>
    <p:sldId id="381" r:id="rId6"/>
    <p:sldId id="258" r:id="rId7"/>
    <p:sldId id="262" r:id="rId8"/>
    <p:sldId id="275" r:id="rId9"/>
    <p:sldId id="380" r:id="rId10"/>
    <p:sldId id="259" r:id="rId11"/>
    <p:sldId id="448" r:id="rId12"/>
    <p:sldId id="261" r:id="rId13"/>
    <p:sldId id="260" r:id="rId14"/>
    <p:sldId id="290" r:id="rId15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A18D60"/>
    <a:srgbClr val="EE8A3E"/>
    <a:srgbClr val="E98A3E"/>
    <a:srgbClr val="04141B"/>
    <a:srgbClr val="D9B247"/>
    <a:srgbClr val="2A9995"/>
    <a:srgbClr val="54D0CA"/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3" autoAdjust="0"/>
    <p:restoredTop sz="89127" autoAdjust="0"/>
  </p:normalViewPr>
  <p:slideViewPr>
    <p:cSldViewPr>
      <p:cViewPr varScale="1">
        <p:scale>
          <a:sx n="80" d="100"/>
          <a:sy n="80" d="100"/>
        </p:scale>
        <p:origin x="176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51844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 hasCustomPrompt="1"/>
          </p:nvPr>
        </p:nvSpPr>
        <p:spPr>
          <a:xfrm>
            <a:off x="1295402" y="1474304"/>
            <a:ext cx="4754880" cy="4774096"/>
          </a:xfrm>
        </p:spPr>
        <p:txBody>
          <a:bodyPr/>
          <a:lstStyle/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0" hasCustomPrompt="1"/>
          </p:nvPr>
        </p:nvSpPr>
        <p:spPr>
          <a:xfrm>
            <a:off x="6141720" y="1474304"/>
            <a:ext cx="4754878" cy="4774096"/>
          </a:xfrm>
        </p:spPr>
        <p:txBody>
          <a:bodyPr/>
          <a:lstStyle/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95402" y="609600"/>
            <a:ext cx="9601196" cy="71230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1396169" y="1394792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003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>
  <p:cSld name="标题，两项小型内容和一项型大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09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内容占位符 4"/>
          <p:cNvSpPr>
            <a:spLocks noGrp="1"/>
          </p:cNvSpPr>
          <p:nvPr>
            <p:ph sz="half" idx="3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9B10EE12-41D7-4FEB-A2CC-90A797E05BD0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4042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8" r:id="rId3"/>
    <p:sldLayoutId id="2147484309" r:id="rId4"/>
    <p:sldLayoutId id="2147484310" r:id="rId5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第五章 编译概述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第一</a:t>
              </a:r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</a:rPr>
                <a:t>节 语言的翻译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第二</a:t>
              </a:r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</a:rPr>
                <a:t>节 </a:t>
              </a:r>
              <a:r>
                <a:rPr lang="zh-CN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程序的执行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编译的步骤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</p:grpSp>
      <p:sp>
        <p:nvSpPr>
          <p:cNvPr id="25" name="箭头: 右 24">
            <a:extLst>
              <a:ext uri="{FF2B5EF4-FFF2-40B4-BE49-F238E27FC236}">
                <a16:creationId xmlns:a16="http://schemas.microsoft.com/office/drawing/2014/main" id="{11C3B3B8-D444-45B3-9CBE-ADFFC79CB802}"/>
              </a:ext>
            </a:extLst>
          </p:cNvPr>
          <p:cNvSpPr/>
          <p:nvPr/>
        </p:nvSpPr>
        <p:spPr>
          <a:xfrm>
            <a:off x="2983159" y="1981200"/>
            <a:ext cx="540000" cy="54000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328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翻译是把一种语言（</a:t>
            </a:r>
            <a:r>
              <a:rPr lang="zh-CN" altLang="en-US" dirty="0">
                <a:solidFill>
                  <a:srgbClr val="EE853E"/>
                </a:solidFill>
              </a:rPr>
              <a:t>源语言</a:t>
            </a:r>
            <a:r>
              <a:rPr lang="zh-CN" altLang="en-US" dirty="0"/>
              <a:t>）编写的程序（</a:t>
            </a:r>
            <a:r>
              <a:rPr lang="zh-CN" altLang="en-US" dirty="0">
                <a:solidFill>
                  <a:srgbClr val="EE853E"/>
                </a:solidFill>
              </a:rPr>
              <a:t>源程序</a:t>
            </a:r>
            <a:r>
              <a:rPr lang="zh-CN" altLang="en-US" dirty="0"/>
              <a:t>），转换成含义相同的另一种语言（</a:t>
            </a:r>
            <a:r>
              <a:rPr lang="zh-CN" altLang="en-US" dirty="0">
                <a:solidFill>
                  <a:srgbClr val="EE853E"/>
                </a:solidFill>
              </a:rPr>
              <a:t>目标语言</a:t>
            </a:r>
            <a:r>
              <a:rPr lang="zh-CN" altLang="en-US" dirty="0"/>
              <a:t>）编写的程序（</a:t>
            </a:r>
            <a:r>
              <a:rPr lang="zh-CN" altLang="en-US" dirty="0">
                <a:solidFill>
                  <a:srgbClr val="EE853E"/>
                </a:solidFill>
              </a:rPr>
              <a:t>目标程序</a:t>
            </a:r>
            <a:r>
              <a:rPr lang="zh-CN" altLang="en-US" dirty="0"/>
              <a:t>）。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根据源语言和目标语言的不同类型，又可以把翻译分为</a:t>
            </a:r>
            <a:r>
              <a:rPr lang="zh-CN" altLang="en-US" dirty="0">
                <a:solidFill>
                  <a:srgbClr val="EE853E"/>
                </a:solidFill>
              </a:rPr>
              <a:t>汇编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EE853E"/>
                </a:solidFill>
              </a:rPr>
              <a:t>编译</a:t>
            </a:r>
            <a:r>
              <a:rPr lang="zh-CN" altLang="en-US" dirty="0"/>
              <a:t>两种类型。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>
              <a:solidFill>
                <a:srgbClr val="EE853E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语言的翻译</a:t>
            </a:r>
            <a:endParaRPr lang="en-US" altLang="zh-CN" dirty="0"/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1524001" y="2777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745DA76-E60B-4F1F-A3EF-194C9E155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00" y="2447364"/>
            <a:ext cx="8153401" cy="143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032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将汇编语言翻译成机器语言的过程称为</a:t>
            </a:r>
            <a:r>
              <a:rPr lang="zh-CN" altLang="en-US" dirty="0">
                <a:solidFill>
                  <a:srgbClr val="EE853E"/>
                </a:solidFill>
              </a:rPr>
              <a:t>汇编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将汇编语言翻译成机器语言的程序称为</a:t>
            </a:r>
            <a:r>
              <a:rPr lang="zh-CN" altLang="en-US" dirty="0">
                <a:solidFill>
                  <a:srgbClr val="EE853E"/>
                </a:solidFill>
              </a:rPr>
              <a:t>汇编程序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EE853E"/>
                </a:solidFill>
              </a:rPr>
              <a:t>汇编器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E526DB1-C3F8-4062-8F9A-E5B164683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832" y="2798909"/>
            <a:ext cx="8298180" cy="1440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将高级语言翻译成低级语言的过程称为</a:t>
            </a:r>
            <a:r>
              <a:rPr lang="zh-CN" altLang="en-US" dirty="0">
                <a:solidFill>
                  <a:srgbClr val="EE853E"/>
                </a:solidFill>
              </a:rPr>
              <a:t>编译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将高级语言翻译成低级语言的程序称为</a:t>
            </a:r>
            <a:r>
              <a:rPr lang="zh-CN" altLang="en-US" dirty="0">
                <a:solidFill>
                  <a:srgbClr val="EE853E"/>
                </a:solidFill>
              </a:rPr>
              <a:t>编译程序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EE853E"/>
                </a:solidFill>
              </a:rPr>
              <a:t>编译器</a:t>
            </a:r>
            <a:r>
              <a:rPr lang="zh-CN" altLang="en-US" dirty="0"/>
              <a:t>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15CEB20-6294-403B-8344-AA7C26925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832" y="2798909"/>
            <a:ext cx="8298180" cy="144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099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第五章 编译概述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</a:rPr>
                <a:t>第一节 语言的翻译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</a:t>
              </a:r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</a:rPr>
                <a:t>节 </a:t>
              </a:r>
              <a:r>
                <a:rPr lang="zh-CN" altLang="zh-CN" sz="2400" b="1">
                  <a:solidFill>
                    <a:schemeClr val="bg1"/>
                  </a:solidFill>
                  <a:latin typeface="+mj-ea"/>
                  <a:ea typeface="+mj-ea"/>
                </a:rPr>
                <a:t>程序的执行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编译的步骤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</p:grpSp>
      <p:sp>
        <p:nvSpPr>
          <p:cNvPr id="25" name="箭头: 右 24">
            <a:extLst>
              <a:ext uri="{FF2B5EF4-FFF2-40B4-BE49-F238E27FC236}">
                <a16:creationId xmlns:a16="http://schemas.microsoft.com/office/drawing/2014/main" id="{11C3B3B8-D444-45B3-9CBE-ADFFC79CB802}"/>
              </a:ext>
            </a:extLst>
          </p:cNvPr>
          <p:cNvSpPr/>
          <p:nvPr/>
        </p:nvSpPr>
        <p:spPr>
          <a:xfrm>
            <a:off x="2983159" y="2714115"/>
            <a:ext cx="540000" cy="54000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08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编译执行</a:t>
            </a:r>
          </a:p>
        </p:txBody>
      </p:sp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1524001" y="2777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915C643-B3A9-4FA9-A01F-038631F52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程序的</a:t>
            </a:r>
            <a:r>
              <a:rPr lang="zh-CN" altLang="en-US" dirty="0">
                <a:solidFill>
                  <a:srgbClr val="EE853E"/>
                </a:solidFill>
              </a:rPr>
              <a:t>编译执行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先将源程序翻译成目标程序，再执行目标程序并得到结果。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5685BA9-31D4-4E1E-8BE3-4F8A5D08A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616900"/>
            <a:ext cx="6645938" cy="233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515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源文件：</a:t>
            </a:r>
            <a:r>
              <a:rPr lang="en-US" altLang="zh-CN" dirty="0" err="1"/>
              <a:t>test_c.c</a:t>
            </a:r>
            <a:endParaRPr lang="en-US" altLang="zh-CN" dirty="0"/>
          </a:p>
          <a:p>
            <a:endParaRPr lang="en-US" dirty="0"/>
          </a:p>
          <a:p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r>
              <a:rPr lang="en-US" dirty="0"/>
              <a:t>void main()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("test c...\n");</a:t>
            </a:r>
          </a:p>
          <a:p>
            <a:r>
              <a:rPr lang="en-US" dirty="0"/>
              <a:t>    </a:t>
            </a:r>
            <a:r>
              <a:rPr lang="en-US" dirty="0" err="1"/>
              <a:t>getc</a:t>
            </a:r>
            <a:r>
              <a:rPr lang="en-US" dirty="0"/>
              <a:t>(stdin);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("end\n");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编译执行实例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755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/>
          <p:cNvSpPr>
            <a:spLocks noChangeArrowheads="1"/>
          </p:cNvSpPr>
          <p:nvPr/>
        </p:nvSpPr>
        <p:spPr bwMode="auto">
          <a:xfrm>
            <a:off x="3085475" y="2971800"/>
            <a:ext cx="1905000" cy="26670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alpha val="59999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/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编译执行实例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3C94B65-880D-4BA5-94CC-9585EE24A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295400"/>
            <a:ext cx="6575107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430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Linux/Windows</a:t>
            </a:r>
            <a:r>
              <a:rPr lang="zh-CN" altLang="en-US" dirty="0"/>
              <a:t>下的原生</a:t>
            </a:r>
            <a:r>
              <a:rPr lang="en-US" altLang="zh-CN" dirty="0"/>
              <a:t>C/C++</a:t>
            </a:r>
            <a:r>
              <a:rPr lang="zh-CN" altLang="en-US" dirty="0"/>
              <a:t>程序</a:t>
            </a:r>
            <a:endParaRPr lang="en-US" altLang="zh-CN" dirty="0"/>
          </a:p>
          <a:p>
            <a:r>
              <a:rPr lang="en-US" altLang="zh-CN" dirty="0"/>
              <a:t>Windows</a:t>
            </a:r>
            <a:r>
              <a:rPr lang="zh-CN" altLang="en-US" dirty="0"/>
              <a:t>下的</a:t>
            </a:r>
            <a:r>
              <a:rPr lang="en-US" altLang="zh-CN" dirty="0"/>
              <a:t>MFC</a:t>
            </a:r>
            <a:r>
              <a:rPr lang="zh-CN" altLang="en-US" dirty="0"/>
              <a:t>程序</a:t>
            </a:r>
            <a:endParaRPr lang="en-US" altLang="zh-CN" dirty="0"/>
          </a:p>
          <a:p>
            <a:r>
              <a:rPr lang="en-US" altLang="zh-CN" dirty="0"/>
              <a:t>Linux/Windows</a:t>
            </a:r>
            <a:r>
              <a:rPr lang="zh-CN" altLang="en-US" dirty="0"/>
              <a:t>下的</a:t>
            </a:r>
            <a:r>
              <a:rPr lang="en-US" altLang="zh-CN" dirty="0"/>
              <a:t>Qt</a:t>
            </a:r>
            <a:r>
              <a:rPr lang="zh-CN" altLang="en-US" dirty="0"/>
              <a:t>程序</a:t>
            </a:r>
            <a:endParaRPr lang="en-US" altLang="zh-CN" dirty="0"/>
          </a:p>
        </p:txBody>
      </p:sp>
      <p:sp>
        <p:nvSpPr>
          <p:cNvPr id="71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编译执行实例</a:t>
            </a:r>
          </a:p>
        </p:txBody>
      </p:sp>
    </p:spTree>
    <p:extLst>
      <p:ext uri="{BB962C8B-B14F-4D97-AF65-F5344CB8AC3E}">
        <p14:creationId xmlns:p14="http://schemas.microsoft.com/office/powerpoint/2010/main" val="4106281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FAB393-2F42-49AB-9A1F-9FEC5C525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解释执行</a:t>
            </a:r>
          </a:p>
        </p:txBody>
      </p:sp>
      <p:sp>
        <p:nvSpPr>
          <p:cNvPr id="5123" name="Rectangle 4"/>
          <p:cNvSpPr>
            <a:spLocks noChangeArrowheads="1"/>
          </p:cNvSpPr>
          <p:nvPr/>
        </p:nvSpPr>
        <p:spPr bwMode="auto">
          <a:xfrm>
            <a:off x="1524001" y="2777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A44E08-12B2-46E0-8403-56088B01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程序的</a:t>
            </a:r>
            <a:r>
              <a:rPr lang="zh-CN" altLang="en-US" dirty="0">
                <a:solidFill>
                  <a:srgbClr val="EE853E"/>
                </a:solidFill>
              </a:rPr>
              <a:t>解释执行</a:t>
            </a:r>
            <a:r>
              <a:rPr lang="zh-CN" altLang="en-US" dirty="0"/>
              <a:t>：</a:t>
            </a:r>
          </a:p>
          <a:p>
            <a:r>
              <a:rPr lang="zh-CN" altLang="en-US" dirty="0"/>
              <a:t>直接由解释程序对源程序进行分析、执行并得到结果。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B4FB1DD-9CBD-420E-ABCE-BA168F0BE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0" y="2895600"/>
            <a:ext cx="8115300" cy="146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10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DE8199E-EA4C-4790-8A02-E974308D9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源文件：</a:t>
            </a:r>
            <a:r>
              <a:rPr lang="en-US" altLang="zh-CN" dirty="0" err="1"/>
              <a:t>test_python.py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print('test python...')</a:t>
            </a:r>
          </a:p>
          <a:p>
            <a:r>
              <a:rPr lang="en-US" altLang="zh-CN" dirty="0"/>
              <a:t>input()</a:t>
            </a:r>
          </a:p>
          <a:p>
            <a:r>
              <a:rPr lang="en-US" altLang="zh-CN" dirty="0"/>
              <a:t>print("end")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E348B7D-2363-4695-B4A6-CF222AD51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解释执行实例</a:t>
            </a:r>
          </a:p>
        </p:txBody>
      </p:sp>
    </p:spTree>
    <p:extLst>
      <p:ext uri="{BB962C8B-B14F-4D97-AF65-F5344CB8AC3E}">
        <p14:creationId xmlns:p14="http://schemas.microsoft.com/office/powerpoint/2010/main" val="256238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下的</a:t>
            </a:r>
            <a:r>
              <a:rPr lang="en-US" altLang="zh-CN" dirty="0"/>
              <a:t>shell</a:t>
            </a:r>
            <a:r>
              <a:rPr lang="zh-CN" altLang="en-US" dirty="0"/>
              <a:t>程序</a:t>
            </a:r>
            <a:endParaRPr lang="en-US" altLang="zh-CN" dirty="0"/>
          </a:p>
          <a:p>
            <a:r>
              <a:rPr lang="en-US" altLang="zh-CN" dirty="0"/>
              <a:t>Windows</a:t>
            </a:r>
            <a:r>
              <a:rPr lang="zh-CN" altLang="en-US" dirty="0"/>
              <a:t>下的</a:t>
            </a:r>
            <a:r>
              <a:rPr lang="en-US" altLang="zh-CN" dirty="0"/>
              <a:t>bat</a:t>
            </a:r>
            <a:r>
              <a:rPr lang="zh-CN" altLang="en-US" dirty="0"/>
              <a:t>、</a:t>
            </a:r>
            <a:r>
              <a:rPr lang="en-US" altLang="zh-CN" dirty="0" err="1"/>
              <a:t>vbs</a:t>
            </a:r>
            <a:r>
              <a:rPr lang="zh-CN" altLang="en-US" dirty="0"/>
              <a:t>、</a:t>
            </a:r>
            <a:r>
              <a:rPr lang="en-US" altLang="zh-CN" dirty="0"/>
              <a:t>.NET</a:t>
            </a:r>
            <a:r>
              <a:rPr lang="zh-CN" altLang="en-US" dirty="0"/>
              <a:t>程序</a:t>
            </a:r>
            <a:endParaRPr lang="en-US" altLang="zh-CN" dirty="0"/>
          </a:p>
          <a:p>
            <a:r>
              <a:rPr lang="en-US" altLang="zh-CN" dirty="0"/>
              <a:t>Python</a:t>
            </a:r>
            <a:r>
              <a:rPr lang="zh-CN" altLang="en-US" dirty="0"/>
              <a:t>、</a:t>
            </a:r>
            <a:r>
              <a:rPr lang="en-US" altLang="zh-CN" dirty="0"/>
              <a:t>PHP</a:t>
            </a:r>
            <a:r>
              <a:rPr lang="zh-CN" altLang="en-US" dirty="0"/>
              <a:t>、</a:t>
            </a:r>
            <a:r>
              <a:rPr lang="en-US" altLang="zh-CN" dirty="0" err="1"/>
              <a:t>Javascript</a:t>
            </a:r>
            <a:r>
              <a:rPr lang="zh-CN" altLang="en-US" dirty="0"/>
              <a:t>网页程序</a:t>
            </a:r>
            <a:endParaRPr lang="en-US" altLang="zh-CN" dirty="0"/>
          </a:p>
          <a:p>
            <a:r>
              <a:rPr lang="en-US" altLang="zh-CN" dirty="0"/>
              <a:t>Java</a:t>
            </a:r>
            <a:r>
              <a:rPr lang="zh-CN" altLang="en-US" dirty="0"/>
              <a:t>字节码程序</a:t>
            </a:r>
          </a:p>
        </p:txBody>
      </p:sp>
      <p:sp>
        <p:nvSpPr>
          <p:cNvPr id="71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解释执行实例</a:t>
            </a:r>
          </a:p>
        </p:txBody>
      </p:sp>
    </p:spTree>
    <p:extLst>
      <p:ext uri="{BB962C8B-B14F-4D97-AF65-F5344CB8AC3E}">
        <p14:creationId xmlns:p14="http://schemas.microsoft.com/office/powerpoint/2010/main" val="3123570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灵活性</a:t>
            </a:r>
          </a:p>
          <a:p>
            <a:r>
              <a:rPr lang="zh-CN" altLang="en-US" dirty="0"/>
              <a:t>解释执行不需要生成目标代码，可一边读取源代码一边执行并得到结果，更加适合于</a:t>
            </a:r>
            <a:r>
              <a:rPr lang="zh-CN" altLang="en-US" dirty="0">
                <a:solidFill>
                  <a:srgbClr val="EE853E"/>
                </a:solidFill>
              </a:rPr>
              <a:t>动态语言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EE853E"/>
                </a:solidFill>
              </a:rPr>
              <a:t>交互式环境</a:t>
            </a:r>
            <a:r>
              <a:rPr lang="zh-CN" altLang="en-US" dirty="0"/>
              <a:t>。</a:t>
            </a:r>
          </a:p>
          <a:p>
            <a:endParaRPr lang="zh-CN" altLang="en-US" dirty="0"/>
          </a:p>
          <a:p>
            <a:r>
              <a:rPr lang="zh-CN" altLang="en-US" dirty="0">
                <a:solidFill>
                  <a:srgbClr val="EE853E"/>
                </a:solidFill>
              </a:rPr>
              <a:t>执行效率</a:t>
            </a:r>
          </a:p>
          <a:p>
            <a:r>
              <a:rPr lang="zh-CN" altLang="en-US" dirty="0"/>
              <a:t>编译执行需要先生成完整的目标代码，可对目标代码进行全面</a:t>
            </a:r>
            <a:r>
              <a:rPr lang="zh-CN" altLang="en-US" dirty="0">
                <a:solidFill>
                  <a:srgbClr val="EE853E"/>
                </a:solidFill>
              </a:rPr>
              <a:t>优化</a:t>
            </a:r>
            <a:r>
              <a:rPr lang="zh-CN" altLang="en-US" dirty="0"/>
              <a:t>后再执行，执行</a:t>
            </a:r>
            <a:r>
              <a:rPr lang="zh-CN" altLang="en-US" dirty="0">
                <a:solidFill>
                  <a:srgbClr val="EE853E"/>
                </a:solidFill>
              </a:rPr>
              <a:t>效率更高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两种执行方式的对比</a:t>
            </a:r>
          </a:p>
        </p:txBody>
      </p:sp>
    </p:spTree>
    <p:extLst>
      <p:ext uri="{BB962C8B-B14F-4D97-AF65-F5344CB8AC3E}">
        <p14:creationId xmlns:p14="http://schemas.microsoft.com/office/powerpoint/2010/main" val="606841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如何判断一个程序是编译执行还是解释执行？</a:t>
            </a:r>
            <a:endParaRPr lang="en-US" altLang="zh-CN" dirty="0"/>
          </a:p>
        </p:txBody>
      </p:sp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06111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6125</TotalTime>
  <Words>372</Words>
  <Application>Microsoft Office PowerPoint</Application>
  <PresentationFormat>宽屏</PresentationFormat>
  <Paragraphs>63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微软雅黑</vt:lpstr>
      <vt:lpstr>Arial</vt:lpstr>
      <vt:lpstr>Arial Black</vt:lpstr>
      <vt:lpstr>Wingdings</vt:lpstr>
      <vt:lpstr>环保</vt:lpstr>
      <vt:lpstr>第五章 编译概述</vt:lpstr>
      <vt:lpstr>语言的翻译</vt:lpstr>
      <vt:lpstr>汇编</vt:lpstr>
      <vt:lpstr>编译</vt:lpstr>
      <vt:lpstr>第五章 编译概述</vt:lpstr>
      <vt:lpstr>编译执行</vt:lpstr>
      <vt:lpstr>编译执行实例</vt:lpstr>
      <vt:lpstr>编译执行实例</vt:lpstr>
      <vt:lpstr>编译执行实例</vt:lpstr>
      <vt:lpstr>解释执行</vt:lpstr>
      <vt:lpstr>解释执行实例</vt:lpstr>
      <vt:lpstr>解释执行实例</vt:lpstr>
      <vt:lpstr>两种执行方式的对比</vt:lpstr>
      <vt:lpstr>思考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TEST</cp:lastModifiedBy>
  <cp:revision>1061</cp:revision>
  <cp:lastPrinted>1601-01-01T00:00:00Z</cp:lastPrinted>
  <dcterms:created xsi:type="dcterms:W3CDTF">1601-01-01T00:00:00Z</dcterms:created>
  <dcterms:modified xsi:type="dcterms:W3CDTF">2021-03-01T09:49:49Z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