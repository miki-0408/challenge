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2"/>
  </p:notesMasterIdLst>
  <p:handoutMasterIdLst>
    <p:handoutMasterId r:id="rId23"/>
  </p:handoutMasterIdLst>
  <p:sldIdLst>
    <p:sldId id="370" r:id="rId2"/>
    <p:sldId id="316" r:id="rId3"/>
    <p:sldId id="317" r:id="rId4"/>
    <p:sldId id="341" r:id="rId5"/>
    <p:sldId id="319" r:id="rId6"/>
    <p:sldId id="320" r:id="rId7"/>
    <p:sldId id="321" r:id="rId8"/>
    <p:sldId id="322" r:id="rId9"/>
    <p:sldId id="342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43" r:id="rId18"/>
    <p:sldId id="332" r:id="rId19"/>
    <p:sldId id="344" r:id="rId20"/>
    <p:sldId id="334" r:id="rId2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85" d="100"/>
          <a:sy n="85" d="100"/>
        </p:scale>
        <p:origin x="60" y="1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随着计算机技术的发展</a:t>
            </a:r>
            <a:r>
              <a:rPr lang="zh-CN" altLang="en-US" dirty="0"/>
              <a:t>，计算机应用</a:t>
            </a:r>
            <a:r>
              <a:rPr lang="en-US" altLang="zh-CN" dirty="0"/>
              <a:t>,</a:t>
            </a:r>
            <a:r>
              <a:rPr lang="zh-CN" altLang="en-US" dirty="0"/>
              <a:t>已经渗透到社会的各个领域。</a:t>
            </a:r>
          </a:p>
          <a:p>
            <a:r>
              <a:rPr lang="zh-CN" altLang="en-US" dirty="0"/>
              <a:t>对程序设计语言也提出了新的要求（如可维护性，可靠性，可移植性等），从而促进了语言的发展。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0C0B9C9-B29B-4890-B41B-4EF6CE6B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程序设计语言发展简介</a:t>
            </a:r>
          </a:p>
        </p:txBody>
      </p:sp>
    </p:spTree>
    <p:extLst>
      <p:ext uri="{BB962C8B-B14F-4D97-AF65-F5344CB8AC3E}">
        <p14:creationId xmlns:p14="http://schemas.microsoft.com/office/powerpoint/2010/main" val="373087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目标：追求效率</a:t>
            </a:r>
          </a:p>
          <a:p>
            <a:r>
              <a:rPr lang="en-US" altLang="zh-CN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FORTRAN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EE853E"/>
                </a:solidFill>
              </a:rPr>
              <a:t>FOR</a:t>
            </a:r>
            <a:r>
              <a:rPr lang="en-US" altLang="zh-CN" dirty="0" err="1"/>
              <a:t>mula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TRAN</a:t>
            </a:r>
            <a:r>
              <a:rPr lang="en-US" altLang="zh-CN" dirty="0" err="1"/>
              <a:t>slation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主要用于科学计算</a:t>
            </a:r>
          </a:p>
          <a:p>
            <a:r>
              <a:rPr lang="zh-CN" altLang="en-US" dirty="0"/>
              <a:t>子程序独立编译</a:t>
            </a:r>
          </a:p>
          <a:p>
            <a:r>
              <a:rPr lang="en-US" altLang="zh-CN" dirty="0"/>
              <a:t>COMMON</a:t>
            </a:r>
            <a:r>
              <a:rPr lang="zh-CN" altLang="en-US" dirty="0"/>
              <a:t>语句实现了模块之间的通信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早期的高级语言（</a:t>
            </a:r>
            <a:r>
              <a:rPr lang="en-US" altLang="zh-CN" dirty="0"/>
              <a:t>50</a:t>
            </a:r>
            <a:r>
              <a:rPr lang="zh-CN" altLang="en-US" dirty="0"/>
              <a:t>年代）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6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(2) </a:t>
            </a:r>
            <a:r>
              <a:rPr lang="en-US" dirty="0">
                <a:solidFill>
                  <a:srgbClr val="EE853E"/>
                </a:solidFill>
              </a:rPr>
              <a:t>ALGOL 60</a:t>
            </a:r>
          </a:p>
          <a:p>
            <a:r>
              <a:rPr lang="en-US" dirty="0" err="1">
                <a:solidFill>
                  <a:srgbClr val="EE853E"/>
                </a:solidFill>
              </a:rPr>
              <a:t>ALGO</a:t>
            </a:r>
            <a:r>
              <a:rPr lang="en-US" dirty="0" err="1"/>
              <a:t>rithmic</a:t>
            </a:r>
            <a:r>
              <a:rPr lang="en-US" dirty="0"/>
              <a:t> </a:t>
            </a:r>
            <a:r>
              <a:rPr lang="en-US" dirty="0">
                <a:solidFill>
                  <a:srgbClr val="EE853E"/>
                </a:solidFill>
              </a:rPr>
              <a:t>L</a:t>
            </a:r>
            <a:r>
              <a:rPr lang="en-US" dirty="0"/>
              <a:t>anguage </a:t>
            </a:r>
            <a:r>
              <a:rPr lang="en-US" dirty="0">
                <a:solidFill>
                  <a:srgbClr val="EE853E"/>
                </a:solidFill>
              </a:rPr>
              <a:t>60</a:t>
            </a:r>
          </a:p>
          <a:p>
            <a:r>
              <a:rPr lang="zh-CN" altLang="en-US" dirty="0"/>
              <a:t>主要用于科学计算</a:t>
            </a:r>
          </a:p>
          <a:p>
            <a:r>
              <a:rPr lang="zh-CN" altLang="en-US" dirty="0"/>
              <a:t>引入了</a:t>
            </a:r>
            <a:r>
              <a:rPr lang="zh-CN" altLang="en-US" dirty="0">
                <a:solidFill>
                  <a:srgbClr val="EE853E"/>
                </a:solidFill>
              </a:rPr>
              <a:t>分程序</a:t>
            </a:r>
            <a:r>
              <a:rPr lang="zh-CN" altLang="en-US" dirty="0"/>
              <a:t>结构和</a:t>
            </a:r>
            <a:r>
              <a:rPr lang="zh-CN" altLang="en-US" dirty="0">
                <a:solidFill>
                  <a:srgbClr val="EE853E"/>
                </a:solidFill>
              </a:rPr>
              <a:t>递归</a:t>
            </a:r>
            <a:r>
              <a:rPr lang="zh-CN" altLang="en-US" dirty="0"/>
              <a:t>过程</a:t>
            </a:r>
          </a:p>
          <a:p>
            <a:r>
              <a:rPr lang="zh-CN" altLang="en-US" dirty="0"/>
              <a:t>采用</a:t>
            </a:r>
            <a:r>
              <a:rPr lang="en-US" dirty="0">
                <a:solidFill>
                  <a:srgbClr val="EE853E"/>
                </a:solidFill>
              </a:rPr>
              <a:t>BNF</a:t>
            </a:r>
            <a:r>
              <a:rPr lang="zh-CN" altLang="en-US" dirty="0"/>
              <a:t>形式描述语法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33A7AB7-6FF1-4E83-A151-543473C0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早期的高级语言（</a:t>
            </a:r>
            <a:r>
              <a:rPr lang="en-US" altLang="zh-CN" dirty="0"/>
              <a:t>50</a:t>
            </a:r>
            <a:r>
              <a:rPr lang="zh-CN" altLang="en-US" dirty="0"/>
              <a:t>年代）</a:t>
            </a:r>
          </a:p>
        </p:txBody>
      </p:sp>
    </p:spTree>
    <p:extLst>
      <p:ext uri="{BB962C8B-B14F-4D97-AF65-F5344CB8AC3E}">
        <p14:creationId xmlns:p14="http://schemas.microsoft.com/office/powerpoint/2010/main" val="64114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en-US" altLang="zh-CN" dirty="0">
                <a:solidFill>
                  <a:srgbClr val="EE853E"/>
                </a:solidFill>
              </a:rPr>
              <a:t>COBOL</a:t>
            </a:r>
          </a:p>
          <a:p>
            <a:r>
              <a:rPr lang="en-US" altLang="zh-CN" dirty="0" err="1">
                <a:solidFill>
                  <a:srgbClr val="EE853E"/>
                </a:solidFill>
              </a:rPr>
              <a:t>CO</a:t>
            </a:r>
            <a:r>
              <a:rPr lang="en-US" altLang="zh-CN" dirty="0" err="1"/>
              <a:t>mmon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EE853E"/>
                </a:solidFill>
              </a:rPr>
              <a:t>B</a:t>
            </a:r>
            <a:r>
              <a:rPr lang="en-US" altLang="zh-CN" dirty="0"/>
              <a:t>usiness </a:t>
            </a:r>
            <a:r>
              <a:rPr lang="en-US" altLang="zh-CN" dirty="0">
                <a:solidFill>
                  <a:srgbClr val="EE853E"/>
                </a:solidFill>
              </a:rPr>
              <a:t>O</a:t>
            </a:r>
            <a:r>
              <a:rPr lang="en-US" altLang="zh-CN" dirty="0"/>
              <a:t>riented </a:t>
            </a:r>
            <a:r>
              <a:rPr lang="en-US" altLang="zh-CN" dirty="0">
                <a:solidFill>
                  <a:srgbClr val="EE853E"/>
                </a:solidFill>
              </a:rPr>
              <a:t>L</a:t>
            </a:r>
            <a:r>
              <a:rPr lang="en-US" altLang="zh-CN" dirty="0"/>
              <a:t>anguage</a:t>
            </a:r>
          </a:p>
          <a:p>
            <a:r>
              <a:rPr lang="zh-CN" altLang="en-US" dirty="0"/>
              <a:t>广泛应用于各种事务处理领域</a:t>
            </a:r>
          </a:p>
          <a:p>
            <a:r>
              <a:rPr lang="zh-CN" altLang="en-US" dirty="0"/>
              <a:t>引入了文件和数据描述</a:t>
            </a:r>
          </a:p>
          <a:p>
            <a:r>
              <a:rPr lang="zh-CN" altLang="en-US" dirty="0"/>
              <a:t>类自然语言程序描述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660E19D-DC99-4BC2-9BF8-A0C48909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早期的高级语言（</a:t>
            </a:r>
            <a:r>
              <a:rPr lang="en-US" altLang="zh-CN" dirty="0"/>
              <a:t>50</a:t>
            </a:r>
            <a:r>
              <a:rPr lang="zh-CN" altLang="en-US" dirty="0"/>
              <a:t>年代）</a:t>
            </a:r>
          </a:p>
        </p:txBody>
      </p:sp>
    </p:spTree>
    <p:extLst>
      <p:ext uri="{BB962C8B-B14F-4D97-AF65-F5344CB8AC3E}">
        <p14:creationId xmlns:p14="http://schemas.microsoft.com/office/powerpoint/2010/main" val="402251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60</a:t>
            </a:r>
            <a:r>
              <a:rPr lang="zh-CN" altLang="en-US" dirty="0"/>
              <a:t>年代初，不再盲目地追求效率</a:t>
            </a:r>
            <a:r>
              <a:rPr lang="en-US" altLang="zh-CN" dirty="0"/>
              <a:t>,</a:t>
            </a:r>
            <a:r>
              <a:rPr lang="zh-CN" altLang="en-US" dirty="0"/>
              <a:t>出现了基于良好刻画数学原则的语言。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LISP</a:t>
            </a:r>
          </a:p>
          <a:p>
            <a:r>
              <a:rPr lang="zh-CN" altLang="en-US" dirty="0"/>
              <a:t>具有很强的符号处理能力</a:t>
            </a:r>
          </a:p>
          <a:p>
            <a:r>
              <a:rPr lang="zh-CN" altLang="en-US" dirty="0"/>
              <a:t>统一的数据结构</a:t>
            </a:r>
          </a:p>
          <a:p>
            <a:r>
              <a:rPr lang="zh-CN" altLang="en-US" dirty="0"/>
              <a:t>数据和程序统一的表示方法</a:t>
            </a:r>
          </a:p>
          <a:p>
            <a:r>
              <a:rPr lang="zh-CN" altLang="en-US" dirty="0"/>
              <a:t>其基础是</a:t>
            </a:r>
            <a:r>
              <a:rPr lang="zh-CN" altLang="en-US" dirty="0">
                <a:solidFill>
                  <a:srgbClr val="EE853E"/>
                </a:solidFill>
              </a:rPr>
              <a:t>函数</a:t>
            </a:r>
            <a:r>
              <a:rPr lang="zh-CN" altLang="en-US" dirty="0"/>
              <a:t>和函数作用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早期的突破（ </a:t>
            </a:r>
            <a:r>
              <a:rPr lang="en-US" altLang="zh-CN" dirty="0"/>
              <a:t>60</a:t>
            </a:r>
            <a:r>
              <a:rPr lang="zh-CN" altLang="en-US" dirty="0"/>
              <a:t>年代初）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3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APL</a:t>
            </a:r>
          </a:p>
          <a:p>
            <a:r>
              <a:rPr lang="zh-CN" altLang="en-US" dirty="0"/>
              <a:t>支持函数式程序设计风格</a:t>
            </a:r>
          </a:p>
          <a:p>
            <a:r>
              <a:rPr lang="zh-CN" altLang="en-US" dirty="0"/>
              <a:t>广泛应用于涉及大量矩阵运算的科学计算中</a:t>
            </a:r>
          </a:p>
          <a:p>
            <a:r>
              <a:rPr lang="zh-CN" altLang="en-US" dirty="0"/>
              <a:t>具有丰富的</a:t>
            </a:r>
            <a:r>
              <a:rPr lang="zh-CN" altLang="en-US" dirty="0">
                <a:solidFill>
                  <a:srgbClr val="EE853E"/>
                </a:solidFill>
              </a:rPr>
              <a:t>操作符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87E0DC0-2C1C-48F8-AC6C-E6F06A4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早期的突破（ </a:t>
            </a:r>
            <a:r>
              <a:rPr lang="en-US" altLang="zh-CN" dirty="0"/>
              <a:t>60</a:t>
            </a:r>
            <a:r>
              <a:rPr lang="zh-CN" altLang="en-US" dirty="0"/>
              <a:t>年代初）</a:t>
            </a:r>
          </a:p>
        </p:txBody>
      </p:sp>
    </p:spTree>
    <p:extLst>
      <p:ext uri="{BB962C8B-B14F-4D97-AF65-F5344CB8AC3E}">
        <p14:creationId xmlns:p14="http://schemas.microsoft.com/office/powerpoint/2010/main" val="97347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en-US" altLang="zh-CN" dirty="0">
                <a:solidFill>
                  <a:srgbClr val="EE853E"/>
                </a:solidFill>
              </a:rPr>
              <a:t>SNOBOL 4</a:t>
            </a:r>
          </a:p>
          <a:p>
            <a:r>
              <a:rPr lang="zh-CN" altLang="en-US" dirty="0"/>
              <a:t>主要用于字符串处理</a:t>
            </a:r>
          </a:p>
          <a:p>
            <a:r>
              <a:rPr lang="zh-CN" altLang="en-US" dirty="0"/>
              <a:t>给出了一种与机器无关的宏功能</a:t>
            </a:r>
            <a:r>
              <a:rPr lang="en-US" altLang="zh-CN" dirty="0"/>
              <a:t>,</a:t>
            </a:r>
            <a:r>
              <a:rPr lang="zh-CN" altLang="en-US" dirty="0"/>
              <a:t>增加了程序的可移植性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DD10370-CF9C-4752-A207-843F9A65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早期的突破（ </a:t>
            </a:r>
            <a:r>
              <a:rPr lang="en-US" altLang="zh-CN" dirty="0"/>
              <a:t>60</a:t>
            </a:r>
            <a:r>
              <a:rPr lang="zh-CN" altLang="en-US" dirty="0"/>
              <a:t>年代初）</a:t>
            </a:r>
          </a:p>
        </p:txBody>
      </p:sp>
    </p:spTree>
    <p:extLst>
      <p:ext uri="{BB962C8B-B14F-4D97-AF65-F5344CB8AC3E}">
        <p14:creationId xmlns:p14="http://schemas.microsoft.com/office/powerpoint/2010/main" val="250846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PL/1</a:t>
            </a:r>
          </a:p>
          <a:p>
            <a:r>
              <a:rPr lang="zh-CN" altLang="en-US" dirty="0"/>
              <a:t>希望将所有语言概念</a:t>
            </a:r>
            <a:r>
              <a:rPr lang="zh-CN" altLang="en-US" dirty="0">
                <a:solidFill>
                  <a:srgbClr val="EE853E"/>
                </a:solidFill>
              </a:rPr>
              <a:t>集成</a:t>
            </a:r>
            <a:r>
              <a:rPr lang="zh-CN" altLang="en-US" dirty="0"/>
              <a:t>大全</a:t>
            </a:r>
          </a:p>
          <a:p>
            <a:r>
              <a:rPr lang="zh-CN" altLang="en-US" dirty="0"/>
              <a:t>分程序概念和递归过程</a:t>
            </a:r>
          </a:p>
          <a:p>
            <a:r>
              <a:rPr lang="zh-CN" altLang="en-US" dirty="0"/>
              <a:t>数据描述机能</a:t>
            </a:r>
          </a:p>
          <a:p>
            <a:r>
              <a:rPr lang="zh-CN" altLang="en-US" dirty="0"/>
              <a:t>动态数据结构</a:t>
            </a:r>
          </a:p>
          <a:p>
            <a:r>
              <a:rPr lang="zh-CN" altLang="en-US" dirty="0"/>
              <a:t>异常处理</a:t>
            </a:r>
          </a:p>
          <a:p>
            <a:r>
              <a:rPr lang="zh-CN" altLang="en-US" dirty="0"/>
              <a:t>多任务机能</a:t>
            </a:r>
          </a:p>
          <a:p>
            <a:r>
              <a:rPr lang="zh-CN" altLang="en-US" dirty="0"/>
              <a:t>可用于科学数值计算，数据处理等</a:t>
            </a:r>
          </a:p>
          <a:p>
            <a:r>
              <a:rPr lang="zh-CN" altLang="en-US" dirty="0"/>
              <a:t>难以得到广泛的应用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概念的集成（</a:t>
            </a:r>
            <a:r>
              <a:rPr lang="en-US" altLang="zh-CN" dirty="0"/>
              <a:t>64</a:t>
            </a:r>
            <a:r>
              <a:rPr lang="zh-CN" altLang="en-US" dirty="0"/>
              <a:t>年）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0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引入了许多有趣的概念</a:t>
            </a:r>
          </a:p>
          <a:p>
            <a:r>
              <a:rPr lang="en-US" altLang="zh-CN" dirty="0"/>
              <a:t>(1)  </a:t>
            </a:r>
            <a:r>
              <a:rPr lang="en-US" altLang="zh-CN" dirty="0">
                <a:solidFill>
                  <a:srgbClr val="EE853E"/>
                </a:solidFill>
              </a:rPr>
              <a:t>ALGOL 68</a:t>
            </a:r>
          </a:p>
          <a:p>
            <a:r>
              <a:rPr lang="zh-CN" altLang="en-US" dirty="0"/>
              <a:t>以</a:t>
            </a:r>
            <a:r>
              <a:rPr lang="zh-CN" altLang="en-US" dirty="0">
                <a:solidFill>
                  <a:srgbClr val="EE853E"/>
                </a:solidFill>
              </a:rPr>
              <a:t>零型文法</a:t>
            </a:r>
            <a:r>
              <a:rPr lang="zh-CN" altLang="en-US" dirty="0"/>
              <a:t>描述形成规则</a:t>
            </a:r>
          </a:p>
          <a:p>
            <a:r>
              <a:rPr lang="zh-CN" altLang="en-US" dirty="0"/>
              <a:t>引入</a:t>
            </a:r>
            <a:r>
              <a:rPr lang="zh-CN" altLang="en-US" dirty="0">
                <a:solidFill>
                  <a:srgbClr val="EE853E"/>
                </a:solidFill>
              </a:rPr>
              <a:t>正交性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通用性</a:t>
            </a:r>
            <a:r>
              <a:rPr lang="zh-CN" altLang="en-US" dirty="0"/>
              <a:t>原则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再一次突破（</a:t>
            </a:r>
            <a:r>
              <a:rPr lang="en-US" altLang="zh-CN" dirty="0"/>
              <a:t>60</a:t>
            </a:r>
            <a:r>
              <a:rPr lang="zh-CN" altLang="en-US" dirty="0"/>
              <a:t>年代后期）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4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正交性</a:t>
            </a:r>
            <a:r>
              <a:rPr lang="zh-CN" altLang="en-US" dirty="0"/>
              <a:t>是从几何中借来的术语。如果两条直线相交成直角，它们们就是正交的。用向量术语来说，这两条直线互不依赖。</a:t>
            </a:r>
          </a:p>
          <a:p>
            <a:r>
              <a:rPr lang="zh-CN" altLang="en-US" dirty="0"/>
              <a:t>在计算技术中，该术语用于表示某种</a:t>
            </a:r>
            <a:r>
              <a:rPr lang="zh-CN" altLang="en-US" dirty="0">
                <a:solidFill>
                  <a:srgbClr val="EE853E"/>
                </a:solidFill>
              </a:rPr>
              <a:t>不相依赖性</a:t>
            </a:r>
            <a:r>
              <a:rPr lang="zh-CN" altLang="en-US" dirty="0"/>
              <a:t>或者解耦性。如果两个或者更多事件的一个发生变化，不会影响其他事件。这些事件就是正交的。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8FACFE-469B-4DD9-A57A-EE6F5720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再一次突破（</a:t>
            </a:r>
            <a:r>
              <a:rPr lang="en-US" altLang="zh-CN" dirty="0"/>
              <a:t>60</a:t>
            </a:r>
            <a:r>
              <a:rPr lang="zh-CN" altLang="en-US" dirty="0"/>
              <a:t>年代后期）</a:t>
            </a:r>
          </a:p>
        </p:txBody>
      </p:sp>
    </p:spTree>
    <p:extLst>
      <p:ext uri="{BB962C8B-B14F-4D97-AF65-F5344CB8AC3E}">
        <p14:creationId xmlns:p14="http://schemas.microsoft.com/office/powerpoint/2010/main" val="318833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SIMULA67</a:t>
            </a:r>
          </a:p>
          <a:p>
            <a:r>
              <a:rPr lang="zh-CN" altLang="en-US" dirty="0"/>
              <a:t>应用于</a:t>
            </a:r>
            <a:r>
              <a:rPr lang="zh-CN" altLang="en-US" dirty="0">
                <a:solidFill>
                  <a:srgbClr val="EE853E"/>
                </a:solidFill>
              </a:rPr>
              <a:t>模拟</a:t>
            </a:r>
            <a:r>
              <a:rPr lang="zh-CN" altLang="en-US" dirty="0"/>
              <a:t>领域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协同程序</a:t>
            </a:r>
          </a:p>
          <a:p>
            <a:r>
              <a:rPr lang="zh-CN" altLang="en-US" dirty="0"/>
              <a:t>引入了</a:t>
            </a:r>
            <a:r>
              <a:rPr lang="zh-CN" altLang="en-US" dirty="0">
                <a:solidFill>
                  <a:srgbClr val="EE853E"/>
                </a:solidFill>
              </a:rPr>
              <a:t>类</a:t>
            </a:r>
            <a:r>
              <a:rPr lang="zh-CN" altLang="en-US" dirty="0"/>
              <a:t>的概念</a:t>
            </a:r>
          </a:p>
          <a:p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DF1C9DE-F005-4A8B-B1BE-6EEE7F34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再一次突破（</a:t>
            </a:r>
            <a:r>
              <a:rPr lang="en-US" altLang="zh-CN" dirty="0"/>
              <a:t>60</a:t>
            </a:r>
            <a:r>
              <a:rPr lang="zh-CN" altLang="en-US" dirty="0"/>
              <a:t>年代后期）</a:t>
            </a:r>
          </a:p>
        </p:txBody>
      </p:sp>
    </p:spTree>
    <p:extLst>
      <p:ext uri="{BB962C8B-B14F-4D97-AF65-F5344CB8AC3E}">
        <p14:creationId xmlns:p14="http://schemas.microsoft.com/office/powerpoint/2010/main" val="161166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en-US" altLang="zh-CN" dirty="0">
                <a:solidFill>
                  <a:srgbClr val="EE853E"/>
                </a:solidFill>
              </a:rPr>
              <a:t>PASCAL</a:t>
            </a:r>
          </a:p>
          <a:p>
            <a:r>
              <a:rPr lang="zh-CN" altLang="en-US" dirty="0"/>
              <a:t>具有明显的简洁性</a:t>
            </a:r>
          </a:p>
          <a:p>
            <a:r>
              <a:rPr lang="zh-CN" altLang="en-US" dirty="0"/>
              <a:t>体现</a:t>
            </a:r>
            <a:r>
              <a:rPr lang="zh-CN" altLang="en-US" dirty="0">
                <a:solidFill>
                  <a:srgbClr val="EE853E"/>
                </a:solidFill>
              </a:rPr>
              <a:t>结构程序设计</a:t>
            </a:r>
            <a:r>
              <a:rPr lang="zh-CN" altLang="en-US" dirty="0"/>
              <a:t>思想</a:t>
            </a:r>
          </a:p>
          <a:p>
            <a:r>
              <a:rPr lang="zh-CN" altLang="en-US" dirty="0"/>
              <a:t>具有用户自定义类型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7063B29-E755-4D4D-B78F-BEC6A257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再一次突破（</a:t>
            </a:r>
            <a:r>
              <a:rPr lang="en-US" altLang="zh-CN" dirty="0"/>
              <a:t>60</a:t>
            </a:r>
            <a:r>
              <a:rPr lang="zh-CN" altLang="en-US" dirty="0"/>
              <a:t>年代后期）</a:t>
            </a:r>
          </a:p>
        </p:txBody>
      </p:sp>
    </p:spTree>
    <p:extLst>
      <p:ext uri="{BB962C8B-B14F-4D97-AF65-F5344CB8AC3E}">
        <p14:creationId xmlns:p14="http://schemas.microsoft.com/office/powerpoint/2010/main" val="12948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(4) </a:t>
            </a:r>
            <a:r>
              <a:rPr lang="en-US" altLang="zh-CN" dirty="0">
                <a:solidFill>
                  <a:srgbClr val="EE853E"/>
                </a:solidFill>
              </a:rPr>
              <a:t>BASIC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B</a:t>
            </a:r>
            <a:r>
              <a:rPr lang="en-US" altLang="zh-CN" dirty="0"/>
              <a:t>eginner's </a:t>
            </a:r>
            <a:r>
              <a:rPr lang="en-US" altLang="zh-CN" dirty="0">
                <a:solidFill>
                  <a:srgbClr val="EE853E"/>
                </a:solidFill>
              </a:rPr>
              <a:t>A</a:t>
            </a:r>
            <a:r>
              <a:rPr lang="en-US" altLang="zh-CN" dirty="0"/>
              <a:t>ll-purpose 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en-US" altLang="zh-CN" dirty="0"/>
              <a:t>ymbolic </a:t>
            </a:r>
            <a:r>
              <a:rPr lang="en-US" altLang="zh-CN" dirty="0">
                <a:solidFill>
                  <a:srgbClr val="EE853E"/>
                </a:solidFill>
              </a:rPr>
              <a:t>I</a:t>
            </a:r>
            <a:r>
              <a:rPr lang="en-US" altLang="zh-CN" dirty="0"/>
              <a:t>nstruction </a:t>
            </a:r>
            <a:r>
              <a:rPr lang="en-US" altLang="zh-CN" dirty="0">
                <a:solidFill>
                  <a:srgbClr val="EE853E"/>
                </a:solidFill>
              </a:rPr>
              <a:t>C</a:t>
            </a:r>
            <a:r>
              <a:rPr lang="en-US" altLang="zh-CN" dirty="0"/>
              <a:t>ode </a:t>
            </a:r>
          </a:p>
          <a:p>
            <a:r>
              <a:rPr lang="zh-CN" altLang="en-US" dirty="0"/>
              <a:t>简单易学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交互式</a:t>
            </a:r>
            <a:r>
              <a:rPr lang="zh-CN" altLang="en-US" dirty="0"/>
              <a:t>工作环境</a:t>
            </a:r>
          </a:p>
          <a:p>
            <a:r>
              <a:rPr lang="zh-CN" altLang="en-US" dirty="0"/>
              <a:t>解释执行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2AB9038-E7BA-4A8A-8D57-CFB6DF64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再一次突破（</a:t>
            </a:r>
            <a:r>
              <a:rPr lang="en-US" altLang="zh-CN" dirty="0"/>
              <a:t>60</a:t>
            </a:r>
            <a:r>
              <a:rPr lang="zh-CN" altLang="en-US" dirty="0"/>
              <a:t>年代后期）</a:t>
            </a:r>
          </a:p>
        </p:txBody>
      </p:sp>
    </p:spTree>
    <p:extLst>
      <p:ext uri="{BB962C8B-B14F-4D97-AF65-F5344CB8AC3E}">
        <p14:creationId xmlns:p14="http://schemas.microsoft.com/office/powerpoint/2010/main" val="376732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70</a:t>
            </a:r>
            <a:r>
              <a:rPr lang="zh-CN" altLang="en-US" dirty="0"/>
              <a:t>年代，支持系统软件开发</a:t>
            </a:r>
          </a:p>
          <a:p>
            <a:r>
              <a:rPr lang="en-US" altLang="zh-CN" dirty="0"/>
              <a:t>(1) </a:t>
            </a:r>
            <a:r>
              <a:rPr lang="zh-CN" altLang="en-US" dirty="0"/>
              <a:t>语言研究</a:t>
            </a:r>
          </a:p>
          <a:p>
            <a:r>
              <a:rPr lang="zh-CN" altLang="en-US" dirty="0"/>
              <a:t>涉及</a:t>
            </a:r>
            <a:r>
              <a:rPr lang="zh-CN" altLang="en-US" dirty="0">
                <a:solidFill>
                  <a:srgbClr val="EE853E"/>
                </a:solidFill>
              </a:rPr>
              <a:t>抽象数据类型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EE853E"/>
                </a:solidFill>
              </a:rPr>
              <a:t>异常处理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并行</a:t>
            </a:r>
            <a:r>
              <a:rPr lang="zh-CN" altLang="en-US" dirty="0"/>
              <a:t>处理机制</a:t>
            </a:r>
          </a:p>
          <a:p>
            <a:r>
              <a:rPr lang="en-US" altLang="zh-CN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MODULA-2</a:t>
            </a:r>
          </a:p>
          <a:p>
            <a:r>
              <a:rPr lang="zh-CN" altLang="en-US" dirty="0"/>
              <a:t>支持模块结构</a:t>
            </a:r>
            <a:r>
              <a:rPr lang="en-US" altLang="zh-CN" dirty="0"/>
              <a:t>,</a:t>
            </a:r>
            <a:r>
              <a:rPr lang="zh-CN" altLang="en-US" dirty="0"/>
              <a:t>模块可以独立编译</a:t>
            </a:r>
          </a:p>
          <a:p>
            <a:r>
              <a:rPr lang="zh-CN" altLang="en-US" dirty="0"/>
              <a:t>面向</a:t>
            </a:r>
            <a:r>
              <a:rPr lang="zh-CN" altLang="en-US" dirty="0">
                <a:solidFill>
                  <a:srgbClr val="EE853E"/>
                </a:solidFill>
              </a:rPr>
              <a:t>实时系统</a:t>
            </a:r>
            <a:r>
              <a:rPr lang="zh-CN" altLang="en-US" dirty="0"/>
              <a:t>和并行系统综合功能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大量的探索（</a:t>
            </a:r>
            <a:r>
              <a:rPr lang="en-US" altLang="zh-CN" dirty="0"/>
              <a:t> 70</a:t>
            </a:r>
            <a:r>
              <a:rPr lang="zh-CN" altLang="en-US" dirty="0"/>
              <a:t>年代）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en-US" altLang="zh-CN" dirty="0">
                <a:solidFill>
                  <a:srgbClr val="EE853E"/>
                </a:solidFill>
              </a:rPr>
              <a:t>C</a:t>
            </a:r>
          </a:p>
          <a:p>
            <a:r>
              <a:rPr lang="en-US" altLang="zh-CN" dirty="0"/>
              <a:t>CPL → BCPL → B → </a:t>
            </a:r>
            <a:r>
              <a:rPr lang="en-US" altLang="zh-CN" dirty="0">
                <a:solidFill>
                  <a:srgbClr val="EE853E"/>
                </a:solidFill>
              </a:rPr>
              <a:t>C</a:t>
            </a:r>
          </a:p>
          <a:p>
            <a:r>
              <a:rPr lang="zh-CN" altLang="en-US" dirty="0"/>
              <a:t>具有高级语言和低级语言的优点</a:t>
            </a:r>
          </a:p>
          <a:p>
            <a:r>
              <a:rPr lang="zh-CN" altLang="en-US" dirty="0"/>
              <a:t>应用于</a:t>
            </a:r>
            <a:r>
              <a:rPr lang="zh-CN" altLang="en-US" dirty="0">
                <a:solidFill>
                  <a:srgbClr val="EE853E"/>
                </a:solidFill>
              </a:rPr>
              <a:t>各种领域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0267BC5-78D1-42DF-8C28-8B80B8BE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大量的探索（</a:t>
            </a:r>
            <a:r>
              <a:rPr lang="en-US" altLang="zh-CN" dirty="0"/>
              <a:t> 70</a:t>
            </a:r>
            <a:r>
              <a:rPr lang="zh-CN" altLang="en-US" dirty="0"/>
              <a:t>年代）</a:t>
            </a:r>
          </a:p>
        </p:txBody>
      </p:sp>
    </p:spTree>
    <p:extLst>
      <p:ext uri="{BB962C8B-B14F-4D97-AF65-F5344CB8AC3E}">
        <p14:creationId xmlns:p14="http://schemas.microsoft.com/office/powerpoint/2010/main" val="19743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70</a:t>
            </a:r>
            <a:r>
              <a:rPr lang="zh-CN" altLang="en-US" dirty="0"/>
              <a:t>年代以后，注重可移植性。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Ada</a:t>
            </a:r>
          </a:p>
          <a:p>
            <a:r>
              <a:rPr lang="zh-CN" altLang="en-US" dirty="0"/>
              <a:t>面向专门领域的特殊要求</a:t>
            </a:r>
          </a:p>
          <a:p>
            <a:r>
              <a:rPr lang="zh-CN" altLang="en-US" dirty="0"/>
              <a:t>是在引入了一个不大的</a:t>
            </a:r>
            <a:r>
              <a:rPr lang="en-US" altLang="zh-CN" dirty="0"/>
              <a:t>,</a:t>
            </a:r>
            <a:r>
              <a:rPr lang="zh-CN" altLang="en-US" dirty="0"/>
              <a:t>容易理解的</a:t>
            </a:r>
          </a:p>
          <a:p>
            <a:r>
              <a:rPr lang="zh-CN" altLang="en-US" dirty="0"/>
              <a:t>概念集合的基础上开发的</a:t>
            </a:r>
          </a:p>
          <a:p>
            <a:r>
              <a:rPr lang="zh-CN" altLang="en-US" dirty="0"/>
              <a:t>体现许多现代软件设计方法学的语言</a:t>
            </a:r>
          </a:p>
          <a:p>
            <a:r>
              <a:rPr lang="zh-CN" altLang="en-US" dirty="0"/>
              <a:t>提高程序的可读性</a:t>
            </a:r>
            <a:r>
              <a:rPr lang="en-US" altLang="zh-CN" dirty="0"/>
              <a:t>,</a:t>
            </a:r>
            <a:r>
              <a:rPr lang="zh-CN" altLang="en-US" dirty="0"/>
              <a:t>可靠性</a:t>
            </a:r>
            <a:r>
              <a:rPr lang="en-US" altLang="zh-CN" dirty="0"/>
              <a:t>,</a:t>
            </a:r>
            <a:r>
              <a:rPr lang="zh-CN" altLang="en-US" dirty="0"/>
              <a:t>可维护性</a:t>
            </a: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</a:t>
            </a:r>
            <a:r>
              <a:rPr lang="zh-CN" altLang="en-US" dirty="0"/>
              <a:t>和第四代语言（</a:t>
            </a:r>
            <a:r>
              <a:rPr lang="en-US" altLang="zh-CN" dirty="0"/>
              <a:t> 70</a:t>
            </a:r>
            <a:r>
              <a:rPr lang="zh-CN" altLang="en-US" dirty="0"/>
              <a:t>年代以后）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93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第四代语言</a:t>
            </a:r>
            <a:r>
              <a:rPr lang="en-US" altLang="zh-CN" dirty="0"/>
              <a:t>——</a:t>
            </a:r>
            <a:r>
              <a:rPr lang="zh-CN" altLang="en-US" dirty="0"/>
              <a:t>超高级语言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面向问题</a:t>
            </a:r>
          </a:p>
          <a:p>
            <a:r>
              <a:rPr lang="zh-CN" altLang="en-US" dirty="0"/>
              <a:t>表达力强，更接近于问题的描述</a:t>
            </a:r>
          </a:p>
          <a:p>
            <a:r>
              <a:rPr lang="zh-CN" altLang="en-US" dirty="0"/>
              <a:t>着重关心的是：做什么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9F14DEC-0F48-474F-B850-501B4EA9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</a:t>
            </a:r>
            <a:r>
              <a:rPr lang="zh-CN" altLang="en-US" dirty="0"/>
              <a:t>和第四代语言（</a:t>
            </a:r>
            <a:r>
              <a:rPr lang="en-US" altLang="zh-CN" dirty="0"/>
              <a:t> 70</a:t>
            </a:r>
            <a:r>
              <a:rPr lang="zh-CN" altLang="en-US" dirty="0"/>
              <a:t>年代以后）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66970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Java</a:t>
            </a:r>
          </a:p>
          <a:p>
            <a:r>
              <a:rPr lang="en-US" altLang="zh-CN" dirty="0"/>
              <a:t>Java</a:t>
            </a:r>
            <a:r>
              <a:rPr lang="zh-CN" altLang="en-US" dirty="0"/>
              <a:t>是一种通用、并发、基于类的</a:t>
            </a:r>
            <a:r>
              <a:rPr lang="zh-CN" altLang="en-US" dirty="0">
                <a:solidFill>
                  <a:srgbClr val="EE853E"/>
                </a:solidFill>
              </a:rPr>
              <a:t>面向对象</a:t>
            </a:r>
            <a:r>
              <a:rPr lang="zh-CN" altLang="en-US" dirty="0"/>
              <a:t>的程序设计语言。</a:t>
            </a:r>
          </a:p>
          <a:p>
            <a:r>
              <a:rPr lang="zh-CN" altLang="en-US" dirty="0"/>
              <a:t>实现：编译与解释相结合</a:t>
            </a:r>
          </a:p>
          <a:p>
            <a:r>
              <a:rPr lang="zh-CN" altLang="en-US" dirty="0"/>
              <a:t>分布性、安全性、并发性</a:t>
            </a:r>
            <a:endParaRPr lang="en-US" altLang="zh-CN" dirty="0"/>
          </a:p>
          <a:p>
            <a:endParaRPr lang="en-US" dirty="0"/>
          </a:p>
          <a:p>
            <a:r>
              <a:rPr lang="en-US" dirty="0">
                <a:solidFill>
                  <a:srgbClr val="EE853E"/>
                </a:solidFill>
              </a:rPr>
              <a:t>JavaScript</a:t>
            </a:r>
          </a:p>
          <a:p>
            <a:r>
              <a:rPr lang="en-US" dirty="0">
                <a:solidFill>
                  <a:srgbClr val="EE853E"/>
                </a:solidFill>
              </a:rPr>
              <a:t>PHP</a:t>
            </a:r>
          </a:p>
          <a:p>
            <a:r>
              <a:rPr lang="en-US" dirty="0">
                <a:solidFill>
                  <a:srgbClr val="EE853E"/>
                </a:solidFill>
              </a:rPr>
              <a:t>Python</a:t>
            </a:r>
          </a:p>
          <a:p>
            <a:r>
              <a:rPr lang="en-US" altLang="zh-CN" dirty="0"/>
              <a:t>……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网络时代的语言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抛弃冯</a:t>
            </a:r>
            <a:r>
              <a:rPr lang="en-US" altLang="zh-CN" dirty="0"/>
              <a:t>.</a:t>
            </a:r>
            <a:r>
              <a:rPr lang="zh-CN" altLang="en-US" dirty="0"/>
              <a:t>诺依曼概念，包括：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函数式</a:t>
            </a:r>
            <a:r>
              <a:rPr lang="zh-CN" altLang="en-US" dirty="0"/>
              <a:t>语言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对象式</a:t>
            </a:r>
            <a:r>
              <a:rPr lang="zh-CN" altLang="en-US" dirty="0"/>
              <a:t>语言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逻辑式</a:t>
            </a:r>
            <a:r>
              <a:rPr lang="zh-CN" altLang="en-US" dirty="0"/>
              <a:t>语言</a:t>
            </a:r>
          </a:p>
          <a:p>
            <a:endParaRPr lang="zh-CN" altLang="en-US" dirty="0"/>
          </a:p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新一代程序设计语言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6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5636</TotalTime>
  <Words>725</Words>
  <Application>Microsoft Office PowerPoint</Application>
  <PresentationFormat>宽屏</PresentationFormat>
  <Paragraphs>116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Wingdings</vt:lpstr>
      <vt:lpstr>环保</vt:lpstr>
      <vt:lpstr>第一章 绪论</vt:lpstr>
      <vt:lpstr>程序设计语言发展简介</vt:lpstr>
      <vt:lpstr>早期的高级语言（50年代）</vt:lpstr>
      <vt:lpstr>早期的高级语言（50年代）</vt:lpstr>
      <vt:lpstr>早期的高级语言（50年代）</vt:lpstr>
      <vt:lpstr>早期的突破（ 60年代初）</vt:lpstr>
      <vt:lpstr>早期的突破（ 60年代初）</vt:lpstr>
      <vt:lpstr>早期的突破（ 60年代初）</vt:lpstr>
      <vt:lpstr>概念的集成（64年）</vt:lpstr>
      <vt:lpstr>再一次突破（60年代后期）</vt:lpstr>
      <vt:lpstr>再一次突破（60年代后期）</vt:lpstr>
      <vt:lpstr>再一次突破（60年代后期）</vt:lpstr>
      <vt:lpstr>再一次突破（60年代后期）</vt:lpstr>
      <vt:lpstr>再一次突破（60年代后期）</vt:lpstr>
      <vt:lpstr>大量的探索（ 70年代）</vt:lpstr>
      <vt:lpstr>大量的探索（ 70年代）</vt:lpstr>
      <vt:lpstr>Ada和第四代语言（ 70年代以后）</vt:lpstr>
      <vt:lpstr>Ada和第四代语言（ 70年代以后）</vt:lpstr>
      <vt:lpstr>网络时代的语言</vt:lpstr>
      <vt:lpstr>新一代程序设计语言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Shengji Yu</cp:lastModifiedBy>
  <cp:revision>1029</cp:revision>
  <cp:lastPrinted>1601-01-01T00:00:00Z</cp:lastPrinted>
  <dcterms:created xsi:type="dcterms:W3CDTF">1601-01-01T00:00:00Z</dcterms:created>
  <dcterms:modified xsi:type="dcterms:W3CDTF">2018-12-05T10:50:24Z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