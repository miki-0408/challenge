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3"/>
  </p:notesMasterIdLst>
  <p:handoutMasterIdLst>
    <p:handoutMasterId r:id="rId14"/>
  </p:handoutMasterIdLst>
  <p:sldIdLst>
    <p:sldId id="381" r:id="rId2"/>
    <p:sldId id="276" r:id="rId3"/>
    <p:sldId id="279" r:id="rId4"/>
    <p:sldId id="289" r:id="rId5"/>
    <p:sldId id="280" r:id="rId6"/>
    <p:sldId id="281" r:id="rId7"/>
    <p:sldId id="283" r:id="rId8"/>
    <p:sldId id="285" r:id="rId9"/>
    <p:sldId id="286" r:id="rId10"/>
    <p:sldId id="287" r:id="rId11"/>
    <p:sldId id="382" r:id="rId12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80" d="100"/>
          <a:sy n="80" d="100"/>
        </p:scale>
        <p:origin x="17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545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487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912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00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标题，两项小型内容和一项型大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3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B10EE12-41D7-4FEB-A2CC-90A797E05B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04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  <p:sldLayoutId id="2147484310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编译概述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语言的翻译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第二节 </a:t>
              </a:r>
              <a:r>
                <a:rPr lang="zh-CN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程序的执行</a:t>
              </a:r>
              <a:endParaRPr lang="zh-CN" alt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编译的步骤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11C3B3B8-D444-45B3-9CBE-ADFFC79CB802}"/>
              </a:ext>
            </a:extLst>
          </p:cNvPr>
          <p:cNvSpPr/>
          <p:nvPr/>
        </p:nvSpPr>
        <p:spPr>
          <a:xfrm>
            <a:off x="2983159" y="34290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逻辑上可以将编译过程分成两部分</a:t>
            </a:r>
            <a:r>
              <a:rPr lang="zh-CN" altLang="en-US" dirty="0"/>
              <a:t>，即源程序的分析和目标程序</a:t>
            </a:r>
            <a:r>
              <a:rPr lang="zh-CN" altLang="en-US"/>
              <a:t>的合成，具体</a:t>
            </a:r>
            <a:r>
              <a:rPr lang="zh-CN" altLang="en-US" dirty="0"/>
              <a:t>包括以下几个步骤：</a:t>
            </a:r>
          </a:p>
          <a:p>
            <a:r>
              <a:rPr lang="en-US" altLang="zh-CN"/>
              <a:t>(1) </a:t>
            </a:r>
            <a:r>
              <a:rPr lang="zh-CN" altLang="en-US"/>
              <a:t>词法分析</a:t>
            </a:r>
            <a:endParaRPr lang="en-US" altLang="zh-CN"/>
          </a:p>
          <a:p>
            <a:r>
              <a:rPr lang="en-US" altLang="zh-CN"/>
              <a:t>(2) </a:t>
            </a:r>
            <a:r>
              <a:rPr lang="zh-CN" altLang="en-US"/>
              <a:t>语法分析</a:t>
            </a:r>
            <a:endParaRPr lang="en-US" altLang="zh-CN"/>
          </a:p>
          <a:p>
            <a:r>
              <a:rPr lang="en-US" altLang="zh-CN"/>
              <a:t>(3) </a:t>
            </a:r>
            <a:r>
              <a:rPr lang="zh-CN" altLang="en-US"/>
              <a:t>语义分析和中间代码生成</a:t>
            </a:r>
            <a:endParaRPr lang="en-US" altLang="zh-CN"/>
          </a:p>
          <a:p>
            <a:r>
              <a:rPr lang="en-US" altLang="zh-CN"/>
              <a:t>(4) </a:t>
            </a:r>
            <a:r>
              <a:rPr lang="zh-CN" altLang="en-US"/>
              <a:t>优化</a:t>
            </a:r>
            <a:endParaRPr lang="en-US" altLang="zh-CN"/>
          </a:p>
          <a:p>
            <a:r>
              <a:rPr lang="en-US" altLang="zh-CN"/>
              <a:t>(5) </a:t>
            </a:r>
            <a:r>
              <a:rPr lang="zh-CN" altLang="en-US"/>
              <a:t>目标代码生成</a:t>
            </a:r>
            <a:endParaRPr lang="en-US" altLang="zh-CN"/>
          </a:p>
          <a:p>
            <a:endParaRPr lang="en-US" altLang="zh-CN">
              <a:solidFill>
                <a:srgbClr val="EE853E"/>
              </a:solidFill>
            </a:endParaRPr>
          </a:p>
          <a:p>
            <a:endParaRPr lang="en-US" altLang="zh-CN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编译的步骤</a:t>
            </a:r>
          </a:p>
        </p:txBody>
      </p:sp>
    </p:spTree>
    <p:extLst>
      <p:ext uri="{BB962C8B-B14F-4D97-AF65-F5344CB8AC3E}">
        <p14:creationId xmlns:p14="http://schemas.microsoft.com/office/powerpoint/2010/main" val="144445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编译的每个步骤都可能涉及到“符号表管理”</a:t>
            </a:r>
            <a:r>
              <a:rPr lang="zh-CN" altLang="en-US"/>
              <a:t>和“出错处理”。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符号</a:t>
            </a:r>
            <a:r>
              <a:rPr lang="zh-CN" altLang="en-US">
                <a:solidFill>
                  <a:srgbClr val="EE853E"/>
                </a:solidFill>
              </a:rPr>
              <a:t>表管理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/>
              <a:t>对各种符号进行查询、建立和更新等操作。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>
                <a:solidFill>
                  <a:srgbClr val="EE853E"/>
                </a:solidFill>
              </a:rPr>
              <a:t>出错处理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/>
              <a:t>对发现的错误进行提示、隔离或纠正等操作。</a:t>
            </a:r>
            <a:endParaRPr lang="zh-CN" altLang="en-US" dirty="0"/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符号表管理和出错处理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14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编译的步骤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A6FCE4-D670-42A1-A60B-29CBC16E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333" y="990600"/>
            <a:ext cx="6895335" cy="52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实例：一</a:t>
            </a:r>
            <a:r>
              <a:rPr lang="zh-CN" altLang="en-US" dirty="0"/>
              <a:t>个</a:t>
            </a:r>
            <a:r>
              <a:rPr lang="en-US" altLang="zh-CN" dirty="0"/>
              <a:t>C</a:t>
            </a:r>
            <a:r>
              <a:rPr lang="zh-CN" altLang="en-US" dirty="0"/>
              <a:t>程序（片段）的</a:t>
            </a:r>
            <a:r>
              <a:rPr lang="zh-CN" altLang="en-US"/>
              <a:t>编译过程。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								int main()</a:t>
            </a:r>
          </a:p>
          <a:p>
            <a:r>
              <a:rPr lang="en-US" altLang="zh-CN"/>
              <a:t>								{</a:t>
            </a:r>
          </a:p>
          <a:p>
            <a:r>
              <a:rPr lang="en-US" altLang="zh-CN"/>
              <a:t>									...</a:t>
            </a:r>
            <a:endParaRPr lang="en-US" altLang="zh-CN" dirty="0"/>
          </a:p>
          <a:p>
            <a:r>
              <a:rPr lang="en-US" altLang="zh-CN"/>
              <a:t>									a = b + c * 100</a:t>
            </a:r>
            <a:r>
              <a:rPr lang="zh-CN" altLang="en-US"/>
              <a:t>；</a:t>
            </a:r>
            <a:endParaRPr lang="en-US" altLang="zh-CN" dirty="0"/>
          </a:p>
          <a:p>
            <a:r>
              <a:rPr lang="en-US" altLang="zh-CN"/>
              <a:t>									...</a:t>
            </a:r>
          </a:p>
          <a:p>
            <a:r>
              <a:rPr lang="en-US" altLang="zh-CN"/>
              <a:t>								}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3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步：词法分析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A23E3-5C12-4E94-ABFF-50682A996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功能：根据词法规则，进行合法性检查，识别出单词。</a:t>
            </a:r>
            <a:endParaRPr lang="en-US" altLang="zh-CN"/>
          </a:p>
          <a:p>
            <a:r>
              <a:rPr lang="zh-CN" altLang="en-US"/>
              <a:t>输入：字符串（ </a:t>
            </a:r>
            <a:r>
              <a:rPr lang="en-US" altLang="zh-CN"/>
              <a:t>a = b + c * 100 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输出：单词串（ 标识符</a:t>
            </a:r>
            <a:r>
              <a:rPr lang="en-US" altLang="zh-CN"/>
              <a:t>1 = </a:t>
            </a:r>
            <a:r>
              <a:rPr lang="zh-CN" altLang="en-US"/>
              <a:t>标识符</a:t>
            </a:r>
            <a:r>
              <a:rPr lang="en-US" altLang="zh-CN"/>
              <a:t>2 + </a:t>
            </a:r>
            <a:r>
              <a:rPr lang="zh-CN" altLang="en-US"/>
              <a:t>标识符</a:t>
            </a:r>
            <a:r>
              <a:rPr lang="en-US" altLang="zh-CN"/>
              <a:t>3 * </a:t>
            </a:r>
            <a:r>
              <a:rPr lang="zh-CN" altLang="en-US"/>
              <a:t>常数</a:t>
            </a:r>
            <a:r>
              <a:rPr lang="en-US" altLang="zh-CN"/>
              <a:t>1</a:t>
            </a:r>
            <a:r>
              <a:rPr lang="zh-CN" altLang="en-US"/>
              <a:t> ）</a:t>
            </a:r>
            <a:endParaRPr lang="en-US" altLang="zh-CN"/>
          </a:p>
          <a:p>
            <a:endParaRPr lang="zh-CN" altLang="en-US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894FBB-C5D3-449A-816C-92FF89FA7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24" y="2711217"/>
            <a:ext cx="10111553" cy="31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3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功能：根据语法规则，进行合法性检查，组合成各类语法结构，构造语法树。</a:t>
            </a:r>
            <a:endParaRPr lang="en-US" altLang="zh-CN" dirty="0"/>
          </a:p>
          <a:p>
            <a:r>
              <a:rPr lang="zh-CN" altLang="en-US" dirty="0"/>
              <a:t>输入：单词串（ 标识符</a:t>
            </a:r>
            <a:r>
              <a:rPr lang="en-US" altLang="zh-CN" dirty="0"/>
              <a:t>1 = </a:t>
            </a:r>
            <a:r>
              <a:rPr lang="zh-CN" altLang="en-US" dirty="0"/>
              <a:t>标识符</a:t>
            </a:r>
            <a:r>
              <a:rPr lang="en-US" altLang="zh-CN" dirty="0"/>
              <a:t>2 + </a:t>
            </a:r>
            <a:r>
              <a:rPr lang="zh-CN" altLang="en-US" dirty="0"/>
              <a:t>标识符</a:t>
            </a:r>
            <a:r>
              <a:rPr lang="en-US" altLang="zh-CN" dirty="0"/>
              <a:t>3 * </a:t>
            </a:r>
            <a:r>
              <a:rPr lang="zh-CN" altLang="en-US" dirty="0"/>
              <a:t>常数</a:t>
            </a:r>
            <a:r>
              <a:rPr lang="en-US" altLang="zh-CN" dirty="0"/>
              <a:t>1</a:t>
            </a:r>
            <a:r>
              <a:rPr lang="zh-CN" altLang="en-US" dirty="0"/>
              <a:t> ）</a:t>
            </a:r>
            <a:endParaRPr lang="en-US" altLang="zh-CN" dirty="0"/>
          </a:p>
          <a:p>
            <a:r>
              <a:rPr lang="zh-CN" altLang="en-US" dirty="0"/>
              <a:t>输出：语法树</a:t>
            </a:r>
          </a:p>
          <a:p>
            <a:pPr lvl="1"/>
            <a:endParaRPr lang="en-US" altLang="zh-CN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步：语法分析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79FAB3E-DAB6-4B14-ABBF-BC744CE3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601" y="2514600"/>
            <a:ext cx="6622798" cy="381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功能：根据语义规则，进行合法性检查，进行初步的翻译，生成中间代码。</a:t>
            </a:r>
            <a:endParaRPr lang="en-US" altLang="zh-CN"/>
          </a:p>
          <a:p>
            <a:r>
              <a:rPr lang="zh-CN" altLang="en-US"/>
              <a:t>输入：语法树（ 赋值语句的语法树 ）</a:t>
            </a:r>
          </a:p>
          <a:p>
            <a:r>
              <a:rPr lang="zh-CN" altLang="en-US"/>
              <a:t>输出：中间代码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									T1 = </a:t>
            </a:r>
            <a:r>
              <a:rPr lang="zh-CN" altLang="en-US"/>
              <a:t>常数</a:t>
            </a:r>
            <a:r>
              <a:rPr lang="en-US" altLang="zh-CN"/>
              <a:t>1</a:t>
            </a:r>
          </a:p>
          <a:p>
            <a:r>
              <a:rPr lang="en-US" altLang="zh-CN"/>
              <a:t>									T2 = </a:t>
            </a:r>
            <a:r>
              <a:rPr lang="zh-CN" altLang="en-US"/>
              <a:t>标识符</a:t>
            </a:r>
            <a:r>
              <a:rPr lang="en-US" altLang="zh-CN"/>
              <a:t>3 * T1</a:t>
            </a:r>
          </a:p>
          <a:p>
            <a:r>
              <a:rPr lang="en-US" altLang="zh-CN"/>
              <a:t>									T3 = </a:t>
            </a:r>
            <a:r>
              <a:rPr lang="zh-CN" altLang="en-US"/>
              <a:t>标识符</a:t>
            </a:r>
            <a:r>
              <a:rPr lang="en-US" altLang="zh-CN"/>
              <a:t>2 + T2</a:t>
            </a:r>
          </a:p>
          <a:p>
            <a:r>
              <a:rPr lang="en-US" altLang="zh-CN"/>
              <a:t>									</a:t>
            </a:r>
            <a:r>
              <a:rPr lang="zh-CN" altLang="en-US"/>
              <a:t>标识符</a:t>
            </a:r>
            <a:r>
              <a:rPr lang="en-US" altLang="zh-CN"/>
              <a:t>1 = T3</a:t>
            </a:r>
            <a:endParaRPr lang="en-US" altLang="zh-CN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步：语义分析和中间代码生成</a:t>
            </a:r>
          </a:p>
        </p:txBody>
      </p:sp>
    </p:spTree>
    <p:extLst>
      <p:ext uri="{BB962C8B-B14F-4D97-AF65-F5344CB8AC3E}">
        <p14:creationId xmlns:p14="http://schemas.microsoft.com/office/powerpoint/2010/main" val="272493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功能：对中间代码进行等价变换，使代码的效率更高。</a:t>
            </a:r>
            <a:endParaRPr lang="en-US" altLang="zh-CN"/>
          </a:p>
          <a:p>
            <a:r>
              <a:rPr lang="zh-CN" altLang="en-US"/>
              <a:t>输入：中间代码</a:t>
            </a:r>
          </a:p>
          <a:p>
            <a:r>
              <a:rPr lang="zh-CN" altLang="en-US"/>
              <a:t>输出：优化后的中间代码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								T1 = </a:t>
            </a:r>
            <a:r>
              <a:rPr lang="zh-CN" altLang="en-US"/>
              <a:t>标识符</a:t>
            </a:r>
            <a:r>
              <a:rPr lang="en-US" altLang="zh-CN"/>
              <a:t>3 * </a:t>
            </a:r>
            <a:r>
              <a:rPr lang="zh-CN" altLang="en-US"/>
              <a:t>常数</a:t>
            </a:r>
            <a:r>
              <a:rPr lang="en-US" altLang="zh-CN"/>
              <a:t>1</a:t>
            </a:r>
            <a:endParaRPr lang="en-US" altLang="zh-CN" dirty="0"/>
          </a:p>
          <a:p>
            <a:r>
              <a:rPr lang="en-US" altLang="zh-CN"/>
              <a:t>								</a:t>
            </a:r>
            <a:r>
              <a:rPr lang="zh-CN" altLang="en-US"/>
              <a:t>标识符</a:t>
            </a:r>
            <a:r>
              <a:rPr lang="en-US" altLang="zh-CN"/>
              <a:t>1 = </a:t>
            </a:r>
            <a:r>
              <a:rPr lang="zh-CN" altLang="en-US"/>
              <a:t>标识符</a:t>
            </a:r>
            <a:r>
              <a:rPr lang="en-US" altLang="zh-CN"/>
              <a:t>2 + T1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步：优化</a:t>
            </a:r>
          </a:p>
        </p:txBody>
      </p:sp>
    </p:spTree>
    <p:extLst>
      <p:ext uri="{BB962C8B-B14F-4D97-AF65-F5344CB8AC3E}">
        <p14:creationId xmlns:p14="http://schemas.microsoft.com/office/powerpoint/2010/main" val="81121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36E75D75-80AC-4A3D-B122-157528978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功能：将中间代码翻译成目标代码</a:t>
            </a:r>
            <a:endParaRPr lang="en-US" altLang="zh-CN" dirty="0"/>
          </a:p>
          <a:p>
            <a:r>
              <a:rPr lang="zh-CN" altLang="en-US" dirty="0"/>
              <a:t>输入：中间代码</a:t>
            </a:r>
          </a:p>
          <a:p>
            <a:r>
              <a:rPr lang="zh-CN" altLang="en-US" dirty="0"/>
              <a:t>输出：目标代码</a:t>
            </a:r>
            <a:r>
              <a:rPr lang="zh-CN" altLang="en-US" dirty="0">
                <a:solidFill>
                  <a:srgbClr val="EE853E"/>
                </a:solidFill>
              </a:rPr>
              <a:t>（机器代码或汇编代码）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								MOV  R2, *8</a:t>
            </a:r>
          </a:p>
          <a:p>
            <a:r>
              <a:rPr lang="en-US" altLang="zh-CN" dirty="0"/>
              <a:t>									</a:t>
            </a:r>
            <a:r>
              <a:rPr lang="en-US" altLang="zh-CN" dirty="0" err="1"/>
              <a:t>MUL</a:t>
            </a:r>
            <a:r>
              <a:rPr lang="en-US" altLang="zh-CN" dirty="0"/>
              <a:t>  R2, 100</a:t>
            </a:r>
          </a:p>
          <a:p>
            <a:r>
              <a:rPr lang="en-US" altLang="zh-CN" dirty="0"/>
              <a:t>									MOV  R1, *4 </a:t>
            </a:r>
          </a:p>
          <a:p>
            <a:r>
              <a:rPr lang="en-US" altLang="zh-CN" dirty="0"/>
              <a:t>									ADD  R1, R2</a:t>
            </a:r>
          </a:p>
          <a:p>
            <a:r>
              <a:rPr lang="en-US" altLang="zh-CN" dirty="0"/>
              <a:t>									MOV  *0, </a:t>
            </a:r>
            <a:r>
              <a:rPr lang="en-US" altLang="zh-CN" dirty="0" err="1"/>
              <a:t>R1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步：目标代码生成</a:t>
            </a:r>
          </a:p>
        </p:txBody>
      </p:sp>
    </p:spTree>
    <p:extLst>
      <p:ext uri="{BB962C8B-B14F-4D97-AF65-F5344CB8AC3E}">
        <p14:creationId xmlns:p14="http://schemas.microsoft.com/office/powerpoint/2010/main" val="419838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编译的步骤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A6FCE4-D670-42A1-A60B-29CBC16E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333" y="990600"/>
            <a:ext cx="6895335" cy="52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1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6974</TotalTime>
  <Words>547</Words>
  <Application>Microsoft Office PowerPoint</Application>
  <PresentationFormat>宽屏</PresentationFormat>
  <Paragraphs>65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Arial Black</vt:lpstr>
      <vt:lpstr>Wingdings</vt:lpstr>
      <vt:lpstr>环保</vt:lpstr>
      <vt:lpstr>第五章 编译概述</vt:lpstr>
      <vt:lpstr>编译的步骤</vt:lpstr>
      <vt:lpstr>符号表管理和出错处理</vt:lpstr>
      <vt:lpstr>编译的步骤</vt:lpstr>
      <vt:lpstr>实例</vt:lpstr>
      <vt:lpstr>第1步：词法分析</vt:lpstr>
      <vt:lpstr>第2步：语法分析</vt:lpstr>
      <vt:lpstr>第3步：语义分析和中间代码生成</vt:lpstr>
      <vt:lpstr>第4步：优化</vt:lpstr>
      <vt:lpstr>第5步：目标代码生成</vt:lpstr>
      <vt:lpstr>编译的步骤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1138</cp:revision>
  <cp:lastPrinted>1601-01-01T00:00:00Z</cp:lastPrinted>
  <dcterms:created xsi:type="dcterms:W3CDTF">1601-01-01T00:00:00Z</dcterms:created>
  <dcterms:modified xsi:type="dcterms:W3CDTF">2021-02-23T16:08:24Z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