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9"/>
  </p:notesMasterIdLst>
  <p:handoutMasterIdLst>
    <p:handoutMasterId r:id="rId20"/>
  </p:handoutMasterIdLst>
  <p:sldIdLst>
    <p:sldId id="370" r:id="rId2"/>
    <p:sldId id="258" r:id="rId3"/>
    <p:sldId id="259" r:id="rId4"/>
    <p:sldId id="371" r:id="rId5"/>
    <p:sldId id="262" r:id="rId6"/>
    <p:sldId id="264" r:id="rId7"/>
    <p:sldId id="265" r:id="rId8"/>
    <p:sldId id="269" r:id="rId9"/>
    <p:sldId id="274" r:id="rId10"/>
    <p:sldId id="270" r:id="rId11"/>
    <p:sldId id="271" r:id="rId12"/>
    <p:sldId id="272" r:id="rId13"/>
    <p:sldId id="273" r:id="rId14"/>
    <p:sldId id="374" r:id="rId15"/>
    <p:sldId id="389" r:id="rId16"/>
    <p:sldId id="375" r:id="rId17"/>
    <p:sldId id="373" r:id="rId18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EE8A3E"/>
    <a:srgbClr val="A18D60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9" autoAdjust="0"/>
    <p:restoredTop sz="93231" autoAdjust="0"/>
  </p:normalViewPr>
  <p:slideViewPr>
    <p:cSldViewPr>
      <p:cViewPr varScale="1">
        <p:scale>
          <a:sx n="88" d="100"/>
          <a:sy n="88" d="100"/>
        </p:scale>
        <p:origin x="72" y="3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07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713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52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29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第八章 语义分析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语义分析概述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说明语句的翻译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赋值语句的翻译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sz="2400" b="1" dirty="0" err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goto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语句的翻译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7A86CED-018A-4EB7-B5CF-DDCED3DA3F3C}"/>
              </a:ext>
            </a:extLst>
          </p:cNvPr>
          <p:cNvSpPr/>
          <p:nvPr/>
        </p:nvSpPr>
        <p:spPr>
          <a:xfrm>
            <a:off x="2983159" y="19812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  <a:latin typeface="+mj-ea"/>
                <a:ea typeface="+mj-ea"/>
              </a:rPr>
              <a:t>语义检查</a:t>
            </a:r>
            <a:endParaRPr lang="en-US" altLang="zh-CN" dirty="0"/>
          </a:p>
          <a:p>
            <a:r>
              <a:rPr lang="zh-CN" altLang="en-US" dirty="0"/>
              <a:t>一致性检查（数据类型是否一致、操作是否合法）</a:t>
            </a:r>
            <a:endParaRPr lang="en-US" altLang="zh-CN" dirty="0"/>
          </a:p>
          <a:p>
            <a:r>
              <a:rPr lang="zh-CN" altLang="en-US" dirty="0"/>
              <a:t>越界检查（数组维数是否正确、下标是否越界）</a:t>
            </a:r>
          </a:p>
          <a:p>
            <a:endParaRPr lang="zh-CN" altLang="en-US" dirty="0"/>
          </a:p>
          <a:p>
            <a:r>
              <a:rPr lang="zh-CN" altLang="en-US" dirty="0">
                <a:solidFill>
                  <a:srgbClr val="EE853E"/>
                </a:solidFill>
                <a:latin typeface="+mj-ea"/>
                <a:ea typeface="+mj-ea"/>
              </a:rPr>
              <a:t>语义处理</a:t>
            </a:r>
            <a:endParaRPr lang="en-US" altLang="zh-CN" dirty="0"/>
          </a:p>
          <a:p>
            <a:r>
              <a:rPr lang="zh-CN" altLang="en-US" dirty="0"/>
              <a:t>说明语句的翻译（相关信息登记到符号表中）</a:t>
            </a:r>
            <a:endParaRPr lang="en-US" altLang="zh-CN" dirty="0"/>
          </a:p>
          <a:p>
            <a:r>
              <a:rPr lang="zh-CN" altLang="en-US" dirty="0"/>
              <a:t>执行语句的翻译（生成等价的中间代码）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语义分析的任务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715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语法分析只能判断一个句子是否合法，不能给出句子的含义。</a:t>
            </a:r>
            <a:endParaRPr lang="en-US" altLang="zh-CN" dirty="0"/>
          </a:p>
          <a:p>
            <a:r>
              <a:rPr lang="zh-CN" altLang="en-US" dirty="0"/>
              <a:t>句子的含义是通过语义分析体现出来的。</a:t>
            </a:r>
          </a:p>
          <a:p>
            <a:endParaRPr lang="zh-CN" altLang="en-US" dirty="0"/>
          </a:p>
          <a:p>
            <a:r>
              <a:rPr lang="zh-CN" altLang="en-US" dirty="0"/>
              <a:t>例如：文法</a:t>
            </a:r>
            <a:r>
              <a:rPr lang="en-US" altLang="zh-CN" dirty="0"/>
              <a:t>G</a:t>
            </a:r>
            <a:endParaRPr lang="zh-CN" altLang="en-US" dirty="0"/>
          </a:p>
          <a:p>
            <a:r>
              <a:rPr lang="en-US" altLang="zh-CN" dirty="0"/>
              <a:t>		E → E + E | </a:t>
            </a:r>
            <a:r>
              <a:rPr lang="en-US" altLang="zh-CN" dirty="0" err="1"/>
              <a:t>i</a:t>
            </a:r>
            <a:endParaRPr lang="en-US" altLang="zh-CN" dirty="0"/>
          </a:p>
          <a:p>
            <a:r>
              <a:rPr lang="zh-CN" altLang="en-US" dirty="0"/>
              <a:t>输入串 </a:t>
            </a:r>
            <a:r>
              <a:rPr lang="en-US" altLang="zh-CN" dirty="0"/>
              <a:t>1+2 </a:t>
            </a:r>
            <a:r>
              <a:rPr lang="zh-CN" altLang="en-US" dirty="0"/>
              <a:t>的分析过程：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语义分析与语法分析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01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5316230-D2AD-4BD5-B95C-B6F99475C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/>
              <a:t>仅语法分析：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结合语义分析后：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5CC1D7F-2529-4B1C-9C8C-4CB17453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语义分析与语法分析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3C643C0-5CAA-4265-9486-1A4F0581B9CA}"/>
              </a:ext>
            </a:extLst>
          </p:cNvPr>
          <p:cNvGrpSpPr/>
          <p:nvPr/>
        </p:nvGrpSpPr>
        <p:grpSpPr>
          <a:xfrm>
            <a:off x="1278222" y="1600200"/>
            <a:ext cx="914400" cy="1600200"/>
            <a:chOff x="1066800" y="4267200"/>
            <a:chExt cx="914400" cy="16002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3E22DAA-F639-4A9E-ABEB-81D71C89EEA4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AF80BED8-356F-4026-BB1A-7E168256C88B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E38C83A-4ADD-49B1-97CF-1D6DD248AF1F}"/>
              </a:ext>
            </a:extLst>
          </p:cNvPr>
          <p:cNvGrpSpPr/>
          <p:nvPr/>
        </p:nvGrpSpPr>
        <p:grpSpPr>
          <a:xfrm>
            <a:off x="2731722" y="1600200"/>
            <a:ext cx="914400" cy="1600200"/>
            <a:chOff x="1066800" y="4267200"/>
            <a:chExt cx="914400" cy="16002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B022A77-9989-4503-9440-53B9336F26CE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3F13936-62E6-48F0-AF84-7301DD35F32A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BA94D63-823D-4F2D-9B38-61327D1E860B}"/>
              </a:ext>
            </a:extLst>
          </p:cNvPr>
          <p:cNvGrpSpPr/>
          <p:nvPr/>
        </p:nvGrpSpPr>
        <p:grpSpPr>
          <a:xfrm>
            <a:off x="4185222" y="1600200"/>
            <a:ext cx="914400" cy="1600200"/>
            <a:chOff x="1066800" y="4267200"/>
            <a:chExt cx="914400" cy="16002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C7C6F5F-522E-498F-BEDC-F41EF02BF9AD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A4238260-AD4D-47B8-A5B5-FAB59BE5D7AC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7A9F816-DF72-455B-A5E9-BF978BEF351B}"/>
              </a:ext>
            </a:extLst>
          </p:cNvPr>
          <p:cNvGrpSpPr/>
          <p:nvPr/>
        </p:nvGrpSpPr>
        <p:grpSpPr>
          <a:xfrm>
            <a:off x="5638722" y="1600200"/>
            <a:ext cx="914400" cy="1600200"/>
            <a:chOff x="1066800" y="4267200"/>
            <a:chExt cx="914400" cy="16002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946156B-43DA-41E7-B183-E8ABED839993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48DEB937-A486-40A2-B004-A589B03E2945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8A18A9F-EFAB-49C5-93F3-B101630FE6A3}"/>
              </a:ext>
            </a:extLst>
          </p:cNvPr>
          <p:cNvGrpSpPr/>
          <p:nvPr/>
        </p:nvGrpSpPr>
        <p:grpSpPr>
          <a:xfrm>
            <a:off x="7092222" y="1600200"/>
            <a:ext cx="914400" cy="1600200"/>
            <a:chOff x="1066800" y="4267200"/>
            <a:chExt cx="914400" cy="16002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4655D13-7E7D-4111-BE8B-CFD2DCFE37CA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D021CD3F-236F-4959-8677-8E4A54B6B385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013C613-7529-4140-8023-BBAD5A53539A}"/>
              </a:ext>
            </a:extLst>
          </p:cNvPr>
          <p:cNvGrpSpPr/>
          <p:nvPr/>
        </p:nvGrpSpPr>
        <p:grpSpPr>
          <a:xfrm>
            <a:off x="8545722" y="1600200"/>
            <a:ext cx="914400" cy="1600200"/>
            <a:chOff x="1066800" y="4267200"/>
            <a:chExt cx="914400" cy="16002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6F3CBB0-32B2-4243-9335-09FDEC54D468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F222C636-BA26-48E7-B395-19C3519952F1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BFB0E97-7ABE-443F-85E2-910D996B4D74}"/>
              </a:ext>
            </a:extLst>
          </p:cNvPr>
          <p:cNvGrpSpPr/>
          <p:nvPr/>
        </p:nvGrpSpPr>
        <p:grpSpPr>
          <a:xfrm>
            <a:off x="9999222" y="1600200"/>
            <a:ext cx="914400" cy="1600200"/>
            <a:chOff x="1066800" y="4267200"/>
            <a:chExt cx="914400" cy="16002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81202AA-ADA1-4038-90A2-11538C26FB75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FF61ABEE-D50D-4CF5-94BA-F88117650CFE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EB83B40-EF80-48E9-85D2-80B0BC8382A6}"/>
              </a:ext>
            </a:extLst>
          </p:cNvPr>
          <p:cNvGrpSpPr/>
          <p:nvPr/>
        </p:nvGrpSpPr>
        <p:grpSpPr>
          <a:xfrm>
            <a:off x="1278222" y="4343400"/>
            <a:ext cx="914400" cy="1600200"/>
            <a:chOff x="1066800" y="4267200"/>
            <a:chExt cx="914400" cy="160020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C270646-1538-4966-B748-8A7012C7BD12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DD0C78C3-D019-41D0-9B38-74300A03CADE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DEDB193-E48C-4439-A24D-596EA509749E}"/>
              </a:ext>
            </a:extLst>
          </p:cNvPr>
          <p:cNvGrpSpPr/>
          <p:nvPr/>
        </p:nvGrpSpPr>
        <p:grpSpPr>
          <a:xfrm>
            <a:off x="2731722" y="4343400"/>
            <a:ext cx="914400" cy="1600200"/>
            <a:chOff x="1066800" y="4267200"/>
            <a:chExt cx="914400" cy="160020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014ACE3-C726-489B-A07E-F2769352E5B4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i(1)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4BCEDFE2-B0F7-491C-B810-DF9711AC26D9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32A4100-AF78-461B-92F4-85E5E709F69E}"/>
              </a:ext>
            </a:extLst>
          </p:cNvPr>
          <p:cNvGrpSpPr/>
          <p:nvPr/>
        </p:nvGrpSpPr>
        <p:grpSpPr>
          <a:xfrm>
            <a:off x="4185222" y="4343400"/>
            <a:ext cx="914400" cy="1600200"/>
            <a:chOff x="1066800" y="4267200"/>
            <a:chExt cx="914400" cy="1600200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9701B1A-5FA9-4C22-B77F-88C816FD82AC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(1)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11C6A67C-9C60-4D26-A3B1-469D7995FB46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4CCC713-D5BF-4310-9F3A-8080046F1722}"/>
              </a:ext>
            </a:extLst>
          </p:cNvPr>
          <p:cNvGrpSpPr/>
          <p:nvPr/>
        </p:nvGrpSpPr>
        <p:grpSpPr>
          <a:xfrm>
            <a:off x="5638722" y="4343400"/>
            <a:ext cx="914400" cy="1600200"/>
            <a:chOff x="1066800" y="4267200"/>
            <a:chExt cx="914400" cy="1600200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14C6CC0-DBC9-4A40-9BCD-349BFA38D67E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(1)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2C66C326-6922-48E9-96E8-9001678F8CDC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3E51F43-54F4-433E-9FF6-A56F095164B3}"/>
              </a:ext>
            </a:extLst>
          </p:cNvPr>
          <p:cNvGrpSpPr/>
          <p:nvPr/>
        </p:nvGrpSpPr>
        <p:grpSpPr>
          <a:xfrm>
            <a:off x="7092222" y="4343400"/>
            <a:ext cx="914400" cy="1600200"/>
            <a:chOff x="1066800" y="4267200"/>
            <a:chExt cx="914400" cy="160020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6452300-FE01-4E49-AF0D-709468F372E9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(2)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(1)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3D8BED02-D2B8-40B8-8836-BCF34F0CE7CD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A10DECC-56D4-4433-AE0A-92B0E65446FE}"/>
              </a:ext>
            </a:extLst>
          </p:cNvPr>
          <p:cNvGrpSpPr/>
          <p:nvPr/>
        </p:nvGrpSpPr>
        <p:grpSpPr>
          <a:xfrm>
            <a:off x="8545722" y="4343400"/>
            <a:ext cx="914400" cy="1600200"/>
            <a:chOff x="1066800" y="4267200"/>
            <a:chExt cx="914400" cy="1600200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5529778-7213-4BCF-A260-554283C58025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(2)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(1)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76251CB4-42FC-45DA-8F58-7A28BA51F96B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B0FBD38-2812-4D1D-8A9C-BB7CF718B540}"/>
              </a:ext>
            </a:extLst>
          </p:cNvPr>
          <p:cNvGrpSpPr/>
          <p:nvPr/>
        </p:nvGrpSpPr>
        <p:grpSpPr>
          <a:xfrm>
            <a:off x="9999222" y="4343400"/>
            <a:ext cx="914400" cy="1600200"/>
            <a:chOff x="1066800" y="4267200"/>
            <a:chExt cx="914400" cy="1600200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5AAF5F4-F140-4C9A-A283-5EE1BD1EC28D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(3)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58746458-5507-4954-91AF-7CEADF7DA956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C8CB4302-23D0-402D-AD13-833A1F6230D0}"/>
              </a:ext>
            </a:extLst>
          </p:cNvPr>
          <p:cNvSpPr/>
          <p:nvPr/>
        </p:nvSpPr>
        <p:spPr>
          <a:xfrm>
            <a:off x="5099622" y="1019316"/>
            <a:ext cx="5960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rgbClr val="EE853E"/>
                </a:solidFill>
                <a:latin typeface="+mj-ea"/>
                <a:ea typeface="+mj-ea"/>
              </a:rPr>
              <a:t>结论：输入串 </a:t>
            </a:r>
            <a:r>
              <a:rPr lang="en-US" altLang="zh-CN" sz="2400" b="1" dirty="0">
                <a:solidFill>
                  <a:srgbClr val="EE853E"/>
                </a:solidFill>
                <a:latin typeface="+mj-ea"/>
                <a:ea typeface="+mj-ea"/>
              </a:rPr>
              <a:t>1+2 </a:t>
            </a:r>
            <a:r>
              <a:rPr lang="zh-CN" altLang="en-US" sz="2400" b="1" dirty="0">
                <a:solidFill>
                  <a:srgbClr val="EE853E"/>
                </a:solidFill>
                <a:latin typeface="+mj-ea"/>
                <a:ea typeface="+mj-ea"/>
              </a:rPr>
              <a:t>是一个合法的表达式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E315E3B-28EF-4FBC-A404-99667EF01740}"/>
              </a:ext>
            </a:extLst>
          </p:cNvPr>
          <p:cNvSpPr/>
          <p:nvPr/>
        </p:nvSpPr>
        <p:spPr>
          <a:xfrm>
            <a:off x="4038600" y="3768866"/>
            <a:ext cx="70216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rgbClr val="EE853E"/>
                </a:solidFill>
                <a:latin typeface="+mj-ea"/>
                <a:ea typeface="+mj-ea"/>
              </a:rPr>
              <a:t>结论：输入串 </a:t>
            </a:r>
            <a:r>
              <a:rPr lang="en-US" altLang="zh-CN" sz="2400" b="1" dirty="0">
                <a:solidFill>
                  <a:srgbClr val="EE853E"/>
                </a:solidFill>
                <a:latin typeface="+mj-ea"/>
                <a:ea typeface="+mj-ea"/>
              </a:rPr>
              <a:t>1+2 </a:t>
            </a:r>
            <a:r>
              <a:rPr lang="zh-CN" altLang="en-US" sz="2400" b="1" dirty="0">
                <a:solidFill>
                  <a:srgbClr val="EE853E"/>
                </a:solidFill>
                <a:latin typeface="+mj-ea"/>
                <a:ea typeface="+mj-ea"/>
              </a:rPr>
              <a:t>是一个合法的表达式，值为</a:t>
            </a:r>
            <a:r>
              <a:rPr lang="en-US" altLang="zh-CN" sz="2400" b="1" dirty="0">
                <a:solidFill>
                  <a:srgbClr val="EE853E"/>
                </a:solidFill>
                <a:latin typeface="+mj-ea"/>
                <a:ea typeface="+mj-ea"/>
              </a:rPr>
              <a:t>3</a:t>
            </a:r>
            <a:endParaRPr lang="zh-CN" altLang="en-US" sz="2400" b="1" dirty="0">
              <a:solidFill>
                <a:srgbClr val="EE853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885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6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赋予每个文法符号以各种不同的值，这些值称为</a:t>
            </a:r>
            <a:r>
              <a:rPr lang="zh-CN" altLang="en-US" dirty="0">
                <a:solidFill>
                  <a:srgbClr val="EE853E"/>
                </a:solidFill>
                <a:latin typeface="+mj-ea"/>
                <a:ea typeface="+mj-ea"/>
              </a:rPr>
              <a:t>语义值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表示形式：</a:t>
            </a:r>
            <a:r>
              <a:rPr lang="en-US" altLang="zh-CN" dirty="0" err="1">
                <a:solidFill>
                  <a:srgbClr val="EE853E"/>
                </a:solidFill>
                <a:latin typeface="+mj-ea"/>
                <a:ea typeface="+mj-ea"/>
              </a:rPr>
              <a:t>X.Y</a:t>
            </a:r>
            <a:endParaRPr lang="en-US" altLang="zh-CN" dirty="0">
              <a:solidFill>
                <a:srgbClr val="EE853E"/>
              </a:solidFill>
              <a:latin typeface="+mj-ea"/>
              <a:ea typeface="+mj-ea"/>
            </a:endParaRPr>
          </a:p>
          <a:p>
            <a:r>
              <a:rPr lang="zh-CN" altLang="en-US" dirty="0"/>
              <a:t>其中，</a:t>
            </a:r>
            <a:r>
              <a:rPr lang="en-US" altLang="zh-CN" dirty="0">
                <a:solidFill>
                  <a:srgbClr val="EE853E"/>
                </a:solidFill>
                <a:latin typeface="+mj-ea"/>
                <a:ea typeface="+mj-ea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为文法符号，</a:t>
            </a:r>
            <a:r>
              <a:rPr lang="en-US" altLang="zh-CN" dirty="0">
                <a:solidFill>
                  <a:srgbClr val="EE853E"/>
                </a:solidFill>
                <a:latin typeface="+mj-ea"/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为语义值的名称。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dirty="0"/>
              <a:t>例如：</a:t>
            </a:r>
            <a:r>
              <a:rPr lang="en-US" altLang="zh-CN" dirty="0"/>
              <a:t>	</a:t>
            </a:r>
            <a:r>
              <a:rPr lang="en-US" altLang="zh-CN" dirty="0" err="1"/>
              <a:t>i.type</a:t>
            </a:r>
            <a:r>
              <a:rPr lang="en-US" altLang="zh-CN" dirty="0"/>
              <a:t> </a:t>
            </a:r>
            <a:r>
              <a:rPr lang="zh-CN" altLang="en-US" dirty="0"/>
              <a:t>表示符号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type </a:t>
            </a:r>
            <a:r>
              <a:rPr lang="zh-CN" altLang="en-US" dirty="0"/>
              <a:t>语义值</a:t>
            </a:r>
            <a:endParaRPr lang="en-US" altLang="zh-CN" dirty="0"/>
          </a:p>
          <a:p>
            <a:r>
              <a:rPr lang="en-US" altLang="zh-CN" dirty="0"/>
              <a:t>			</a:t>
            </a:r>
            <a:r>
              <a:rPr lang="en-US" altLang="zh-CN" dirty="0" err="1"/>
              <a:t>i.value</a:t>
            </a:r>
            <a:r>
              <a:rPr lang="en-US" altLang="zh-CN" dirty="0"/>
              <a:t> </a:t>
            </a:r>
            <a:r>
              <a:rPr lang="zh-CN" altLang="en-US" dirty="0"/>
              <a:t>表示符号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value </a:t>
            </a:r>
            <a:r>
              <a:rPr lang="zh-CN" altLang="en-US" dirty="0"/>
              <a:t>语义值</a:t>
            </a:r>
            <a:endParaRPr lang="en-US" altLang="zh-CN" dirty="0"/>
          </a:p>
          <a:p>
            <a:r>
              <a:rPr lang="en-US" altLang="zh-CN" dirty="0"/>
              <a:t>			</a:t>
            </a:r>
            <a:r>
              <a:rPr lang="en-US" altLang="zh-CN" dirty="0" err="1"/>
              <a:t>L.address</a:t>
            </a:r>
            <a:r>
              <a:rPr lang="en-US" altLang="zh-CN" dirty="0"/>
              <a:t> </a:t>
            </a:r>
            <a:r>
              <a:rPr lang="zh-CN" altLang="en-US" dirty="0"/>
              <a:t>表示符号 </a:t>
            </a:r>
            <a:r>
              <a:rPr lang="en-US" altLang="zh-CN" dirty="0"/>
              <a:t>L </a:t>
            </a:r>
            <a:r>
              <a:rPr lang="zh-CN" altLang="en-US" dirty="0"/>
              <a:t>的 </a:t>
            </a:r>
            <a:r>
              <a:rPr lang="en-US" altLang="zh-CN" dirty="0"/>
              <a:t>address </a:t>
            </a:r>
            <a:r>
              <a:rPr lang="zh-CN" altLang="en-US" dirty="0"/>
              <a:t>语义值</a:t>
            </a:r>
            <a:endParaRPr lang="en-US" altLang="zh-CN" dirty="0"/>
          </a:p>
          <a:p>
            <a:r>
              <a:rPr lang="en-US" altLang="zh-CN" dirty="0"/>
              <a:t>			……</a:t>
            </a:r>
          </a:p>
          <a:p>
            <a:endParaRPr lang="en-US" altLang="zh-CN" dirty="0"/>
          </a:p>
        </p:txBody>
      </p:sp>
      <p:sp>
        <p:nvSpPr>
          <p:cNvPr id="921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语义值</a:t>
            </a:r>
          </a:p>
        </p:txBody>
      </p:sp>
    </p:spTree>
    <p:extLst>
      <p:ext uri="{BB962C8B-B14F-4D97-AF65-F5344CB8AC3E}">
        <p14:creationId xmlns:p14="http://schemas.microsoft.com/office/powerpoint/2010/main" val="2590479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  <a:latin typeface="+mj-ea"/>
                <a:ea typeface="+mj-ea"/>
              </a:rPr>
              <a:t>语义动作</a:t>
            </a:r>
            <a:endParaRPr lang="en-US" altLang="zh-CN" dirty="0">
              <a:solidFill>
                <a:srgbClr val="EE853E"/>
              </a:solidFill>
              <a:latin typeface="+mj-ea"/>
              <a:ea typeface="+mj-ea"/>
            </a:endParaRPr>
          </a:p>
          <a:p>
            <a:r>
              <a:rPr lang="zh-CN" altLang="en-US" dirty="0"/>
              <a:t>每当用一个产生式进行归约时，需要执行相应的动作对语义值进行操作，这些动作称为语义动作。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  <a:latin typeface="+mj-ea"/>
                <a:ea typeface="+mj-ea"/>
              </a:rPr>
              <a:t>语义子程序</a:t>
            </a:r>
          </a:p>
          <a:p>
            <a:r>
              <a:rPr lang="zh-CN" altLang="zh-CN" dirty="0"/>
              <a:t>语义动作是由语义子程序来完成的。每个产生式都会对应一个语义子程序，当使用这个产生式进行归约的时候，就会调用这个语义子程序，执行相应的语义动作。</a:t>
            </a:r>
            <a:endParaRPr lang="zh-CN" altLang="en-US" dirty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语义动作和语义子程序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152768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</a:t>
            </a:r>
            <a:r>
              <a:rPr lang="zh-CN" altLang="en-US" dirty="0"/>
              <a:t>的产生式和语义子程序：</a:t>
            </a:r>
            <a:endParaRPr lang="en-US" altLang="zh-CN" dirty="0"/>
          </a:p>
          <a:p>
            <a:r>
              <a:rPr lang="en-US" altLang="zh-CN" dirty="0"/>
              <a:t>		E → E</a:t>
            </a:r>
            <a:r>
              <a:rPr lang="en-US" altLang="zh-CN" baseline="-25000" dirty="0"/>
              <a:t>1</a:t>
            </a:r>
            <a:r>
              <a:rPr lang="en-US" altLang="zh-CN" dirty="0"/>
              <a:t> +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dirty="0"/>
              <a:t>  { </a:t>
            </a:r>
            <a:r>
              <a:rPr lang="en-US" altLang="zh-CN" dirty="0" err="1"/>
              <a:t>E.value</a:t>
            </a:r>
            <a:r>
              <a:rPr lang="en-US" altLang="zh-CN" dirty="0"/>
              <a:t> =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.value</a:t>
            </a:r>
            <a:r>
              <a:rPr lang="en-US" altLang="zh-CN" dirty="0"/>
              <a:t> + 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2</a:t>
            </a:r>
            <a:r>
              <a:rPr lang="en-US" altLang="zh-CN" dirty="0" err="1"/>
              <a:t>.value</a:t>
            </a:r>
            <a:r>
              <a:rPr lang="en-US" altLang="zh-CN" dirty="0"/>
              <a:t> }</a:t>
            </a:r>
          </a:p>
          <a:p>
            <a:r>
              <a:rPr lang="en-US" altLang="zh-CN" dirty="0"/>
              <a:t>		E → </a:t>
            </a:r>
            <a:r>
              <a:rPr lang="en-US" altLang="zh-CN" dirty="0" err="1"/>
              <a:t>i</a:t>
            </a:r>
            <a:r>
              <a:rPr lang="en-US" altLang="zh-CN" dirty="0"/>
              <a:t>  { </a:t>
            </a:r>
            <a:r>
              <a:rPr lang="en-US" altLang="zh-CN" dirty="0" err="1"/>
              <a:t>E.value</a:t>
            </a:r>
            <a:r>
              <a:rPr lang="en-US" altLang="zh-CN" dirty="0"/>
              <a:t> = </a:t>
            </a:r>
            <a:r>
              <a:rPr lang="en-US" altLang="zh-CN" dirty="0" err="1"/>
              <a:t>i.value</a:t>
            </a:r>
            <a:r>
              <a:rPr lang="en-US" altLang="zh-CN" dirty="0"/>
              <a:t> }</a:t>
            </a:r>
          </a:p>
          <a:p>
            <a:r>
              <a:rPr lang="zh-CN" altLang="en-US" dirty="0"/>
              <a:t>分析输入串 </a:t>
            </a:r>
            <a:r>
              <a:rPr lang="en-US" altLang="zh-CN" dirty="0"/>
              <a:t>1+2 </a:t>
            </a:r>
            <a:r>
              <a:rPr lang="zh-CN" altLang="en-US" dirty="0"/>
              <a:t>时，语义分析与语法分析同步进行，由语法分析判断输入串是否合法，由语义分析计算它的值：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A146BEB-F7C9-4EC6-BFF7-18BD1008394C}"/>
              </a:ext>
            </a:extLst>
          </p:cNvPr>
          <p:cNvGrpSpPr/>
          <p:nvPr/>
        </p:nvGrpSpPr>
        <p:grpSpPr>
          <a:xfrm>
            <a:off x="1278222" y="4038600"/>
            <a:ext cx="914400" cy="1600200"/>
            <a:chOff x="1066800" y="4267200"/>
            <a:chExt cx="914400" cy="16002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101C34E-9BF6-4A68-96AC-7A62BC376739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7CFDD1A-442C-4735-BC07-5EAD432D5A5E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874B800-8D0F-46A1-8DB4-5417487AC50E}"/>
              </a:ext>
            </a:extLst>
          </p:cNvPr>
          <p:cNvGrpSpPr/>
          <p:nvPr/>
        </p:nvGrpSpPr>
        <p:grpSpPr>
          <a:xfrm>
            <a:off x="2731722" y="4038600"/>
            <a:ext cx="914400" cy="1600200"/>
            <a:chOff x="1066800" y="4267200"/>
            <a:chExt cx="914400" cy="16002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8052761-73F5-4805-BF0C-464E774E3A31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i(1)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BB9A0FA3-F8E1-4CFD-9538-BBF0640C2693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6329725-67CB-4717-8D11-86A5CB1C560B}"/>
              </a:ext>
            </a:extLst>
          </p:cNvPr>
          <p:cNvGrpSpPr/>
          <p:nvPr/>
        </p:nvGrpSpPr>
        <p:grpSpPr>
          <a:xfrm>
            <a:off x="4185222" y="4038600"/>
            <a:ext cx="914400" cy="1600200"/>
            <a:chOff x="1066800" y="4267200"/>
            <a:chExt cx="914400" cy="16002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A72BF76-8706-490C-BC8A-1570A597F498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(1)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5CE92F26-5F18-458F-A06B-ABE66255408D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BE653C3-AC00-45E0-975E-5696260CE3A8}"/>
              </a:ext>
            </a:extLst>
          </p:cNvPr>
          <p:cNvGrpSpPr/>
          <p:nvPr/>
        </p:nvGrpSpPr>
        <p:grpSpPr>
          <a:xfrm>
            <a:off x="5638722" y="4038600"/>
            <a:ext cx="914400" cy="1600200"/>
            <a:chOff x="1066800" y="4267200"/>
            <a:chExt cx="914400" cy="16002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3BAE311-CB90-4636-8088-8A8E6B4C0610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(1)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AA4DC2CB-941C-4CC6-BB01-3DE837DA90AD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54DEC9E-9AF8-48D9-9516-20AF4DF2D733}"/>
              </a:ext>
            </a:extLst>
          </p:cNvPr>
          <p:cNvGrpSpPr/>
          <p:nvPr/>
        </p:nvGrpSpPr>
        <p:grpSpPr>
          <a:xfrm>
            <a:off x="7092222" y="4038600"/>
            <a:ext cx="914400" cy="1600200"/>
            <a:chOff x="1066800" y="4267200"/>
            <a:chExt cx="914400" cy="16002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BD2488C-053D-4DE5-9914-1DC5BA9C3590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(2)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(1)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60168920-C686-47CC-85D8-380D1C60B44F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237C35E-039E-4C12-84D5-849F693323C4}"/>
              </a:ext>
            </a:extLst>
          </p:cNvPr>
          <p:cNvGrpSpPr/>
          <p:nvPr/>
        </p:nvGrpSpPr>
        <p:grpSpPr>
          <a:xfrm>
            <a:off x="8545722" y="4038600"/>
            <a:ext cx="914400" cy="1600200"/>
            <a:chOff x="1066800" y="4267200"/>
            <a:chExt cx="914400" cy="16002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6132AAF-F2D3-4A63-9F82-07A126977524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 baseline="-25000">
                  <a:solidFill>
                    <a:schemeClr val="bg1"/>
                  </a:solidFill>
                  <a:latin typeface="+mj-ea"/>
                </a:rPr>
                <a:t>2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(2)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 baseline="-25000">
                  <a:solidFill>
                    <a:schemeClr val="bg1"/>
                  </a:solidFill>
                  <a:latin typeface="+mj-ea"/>
                </a:rPr>
                <a:t>1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(1)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39CA8463-6D55-4E45-82FB-5E9542E9304B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73968F6-312C-479A-A164-455DFA5DA2DB}"/>
              </a:ext>
            </a:extLst>
          </p:cNvPr>
          <p:cNvGrpSpPr/>
          <p:nvPr/>
        </p:nvGrpSpPr>
        <p:grpSpPr>
          <a:xfrm>
            <a:off x="9999222" y="4038600"/>
            <a:ext cx="914400" cy="1600200"/>
            <a:chOff x="1066800" y="4267200"/>
            <a:chExt cx="914400" cy="16002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32BCD0-7120-4479-AA6F-D38097DC9C3B}"/>
                </a:ext>
              </a:extLst>
            </p:cNvPr>
            <p:cNvSpPr/>
            <p:nvPr/>
          </p:nvSpPr>
          <p:spPr>
            <a:xfrm>
              <a:off x="1066800" y="4297298"/>
              <a:ext cx="914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</a:rPr>
                <a:t>(3)</a:t>
              </a:r>
              <a:endParaRPr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D4A419D-CFF5-437F-8A71-F49A402CD391}"/>
                </a:ext>
              </a:extLst>
            </p:cNvPr>
            <p:cNvSpPr/>
            <p:nvPr/>
          </p:nvSpPr>
          <p:spPr>
            <a:xfrm>
              <a:off x="1066800" y="4267200"/>
              <a:ext cx="914400" cy="1600200"/>
            </a:xfrm>
            <a:custGeom>
              <a:avLst/>
              <a:gdLst>
                <a:gd name="connsiteX0" fmla="*/ 0 w 933450"/>
                <a:gd name="connsiteY0" fmla="*/ 12700 h 1504950"/>
                <a:gd name="connsiteX1" fmla="*/ 0 w 933450"/>
                <a:gd name="connsiteY1" fmla="*/ 1504950 h 1504950"/>
                <a:gd name="connsiteX2" fmla="*/ 933450 w 933450"/>
                <a:gd name="connsiteY2" fmla="*/ 1504950 h 1504950"/>
                <a:gd name="connsiteX3" fmla="*/ 933450 w 933450"/>
                <a:gd name="connsiteY3" fmla="*/ 0 h 1504950"/>
                <a:gd name="connsiteX0" fmla="*/ 0 w 933450"/>
                <a:gd name="connsiteY0" fmla="*/ 0 h 1492250"/>
                <a:gd name="connsiteX1" fmla="*/ 0 w 933450"/>
                <a:gd name="connsiteY1" fmla="*/ 1492250 h 1492250"/>
                <a:gd name="connsiteX2" fmla="*/ 933450 w 933450"/>
                <a:gd name="connsiteY2" fmla="*/ 1492250 h 1492250"/>
                <a:gd name="connsiteX3" fmla="*/ 933450 w 933450"/>
                <a:gd name="connsiteY3" fmla="*/ 10913 h 149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1492250">
                  <a:moveTo>
                    <a:pt x="0" y="0"/>
                  </a:moveTo>
                  <a:lnTo>
                    <a:pt x="0" y="1492250"/>
                  </a:lnTo>
                  <a:lnTo>
                    <a:pt x="933450" y="1492250"/>
                  </a:lnTo>
                  <a:lnTo>
                    <a:pt x="933450" y="10913"/>
                  </a:ln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040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编译程序</a:t>
            </a:r>
            <a:r>
              <a:rPr lang="zh-CN" altLang="en-US" dirty="0"/>
              <a:t>的任务是将源程序</a:t>
            </a:r>
            <a:r>
              <a:rPr lang="zh-CN" altLang="en-US" dirty="0">
                <a:solidFill>
                  <a:srgbClr val="EE853E"/>
                </a:solidFill>
              </a:rPr>
              <a:t>翻译</a:t>
            </a:r>
            <a:r>
              <a:rPr lang="zh-CN" altLang="en-US" dirty="0"/>
              <a:t>成目标程序。</a:t>
            </a:r>
            <a:r>
              <a:rPr lang="zh-CN" altLang="en-US" dirty="0">
                <a:solidFill>
                  <a:srgbClr val="EE853E"/>
                </a:solidFill>
              </a:rPr>
              <a:t>语义分析</a:t>
            </a:r>
            <a:r>
              <a:rPr lang="zh-CN" altLang="en-US" dirty="0"/>
              <a:t>对语义值进行操作的同时，还需要对源程序进行</a:t>
            </a:r>
            <a:r>
              <a:rPr lang="zh-CN" altLang="en-US" dirty="0">
                <a:solidFill>
                  <a:srgbClr val="EE853E"/>
                </a:solidFill>
              </a:rPr>
              <a:t>翻译</a:t>
            </a:r>
            <a:r>
              <a:rPr lang="zh-CN" altLang="en-US" dirty="0"/>
              <a:t>。</a:t>
            </a:r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出于可移植性、优化等方面的考虑，</a:t>
            </a:r>
            <a:r>
              <a:rPr lang="zh-CN" altLang="en-US" dirty="0">
                <a:solidFill>
                  <a:srgbClr val="EE853E"/>
                </a:solidFill>
              </a:rPr>
              <a:t>语义分析</a:t>
            </a:r>
            <a:r>
              <a:rPr lang="zh-CN" altLang="en-US" dirty="0"/>
              <a:t>并不会将源程序翻译成目标程序，而是将它翻译成某种特定形式的</a:t>
            </a:r>
            <a:r>
              <a:rPr lang="zh-CN" altLang="en-US" dirty="0">
                <a:solidFill>
                  <a:srgbClr val="EE853E"/>
                </a:solidFill>
              </a:rPr>
              <a:t>中间代码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目标代码生成</a:t>
            </a:r>
            <a:r>
              <a:rPr lang="zh-CN" altLang="en-US" dirty="0"/>
              <a:t>将中间代码翻译成目标程序。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翻译</a:t>
            </a:r>
          </a:p>
        </p:txBody>
      </p:sp>
    </p:spTree>
    <p:extLst>
      <p:ext uri="{BB962C8B-B14F-4D97-AF65-F5344CB8AC3E}">
        <p14:creationId xmlns:p14="http://schemas.microsoft.com/office/powerpoint/2010/main" val="273765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随着语法分析的进行，语义子程序依次被调用，对各个符号的语义值进行操作，生成相应的中间代码，完成将源程序翻译成中间代码的任务。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在语法分析的过程中，根据每个产生式所对应的语义子程序（语义动作）进行翻译（生成中间代码）的方法称为</a:t>
            </a:r>
            <a:r>
              <a:rPr lang="zh-CN" altLang="en-US" dirty="0">
                <a:solidFill>
                  <a:srgbClr val="EE853E"/>
                </a:solidFill>
              </a:rPr>
              <a:t>语法制导翻译</a:t>
            </a:r>
            <a:r>
              <a:rPr lang="zh-CN" altLang="en-US" dirty="0"/>
              <a:t>。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语法制导翻译</a:t>
            </a:r>
          </a:p>
        </p:txBody>
      </p:sp>
    </p:spTree>
    <p:extLst>
      <p:ext uri="{BB962C8B-B14F-4D97-AF65-F5344CB8AC3E}">
        <p14:creationId xmlns:p14="http://schemas.microsoft.com/office/powerpoint/2010/main" val="1627108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中间代码是一种</a:t>
            </a:r>
            <a:r>
              <a:rPr lang="zh-CN" altLang="en-US" dirty="0">
                <a:solidFill>
                  <a:srgbClr val="EE853E"/>
                </a:solidFill>
              </a:rPr>
              <a:t>介于源程序和目标程序</a:t>
            </a:r>
            <a:r>
              <a:rPr lang="zh-CN" altLang="en-US" dirty="0"/>
              <a:t>之间的程序，它形式简单，语义明确，且不依赖于任何具体的目标机器。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使用中间代码作为语义分析的输出具有以下优点：</a:t>
            </a:r>
            <a:endParaRPr lang="en-US" altLang="zh-CN" dirty="0"/>
          </a:p>
          <a:p>
            <a:r>
              <a:rPr lang="en-US" altLang="zh-CN" dirty="0"/>
              <a:t>1.  </a:t>
            </a:r>
            <a:r>
              <a:rPr lang="zh-CN" altLang="en-US" dirty="0"/>
              <a:t>便于表达语义</a:t>
            </a:r>
            <a:endParaRPr lang="en-US" altLang="zh-CN" dirty="0"/>
          </a:p>
          <a:p>
            <a:r>
              <a:rPr lang="en-US" altLang="zh-CN" dirty="0"/>
              <a:t>2.	</a:t>
            </a:r>
            <a:r>
              <a:rPr lang="zh-CN" altLang="en-US" dirty="0"/>
              <a:t>便于优化</a:t>
            </a:r>
          </a:p>
          <a:p>
            <a:r>
              <a:rPr lang="en-US" altLang="zh-CN" dirty="0"/>
              <a:t>3.	</a:t>
            </a:r>
            <a:r>
              <a:rPr lang="zh-CN" altLang="en-US" dirty="0"/>
              <a:t>便于移植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4EB50EE-23FD-477A-A22C-DF0CFF12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中间代码</a:t>
            </a:r>
          </a:p>
        </p:txBody>
      </p:sp>
    </p:spTree>
    <p:extLst>
      <p:ext uri="{BB962C8B-B14F-4D97-AF65-F5344CB8AC3E}">
        <p14:creationId xmlns:p14="http://schemas.microsoft.com/office/powerpoint/2010/main" val="424565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中间代码有多种不同的形式，如：三地址码、四元式、后缀式、语法树等。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本课程采用三地址码的形式，具体分为以下四类：</a:t>
            </a:r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1. </a:t>
            </a:r>
            <a:r>
              <a:rPr lang="zh-CN" altLang="en-US" dirty="0">
                <a:solidFill>
                  <a:srgbClr val="EE853E"/>
                </a:solidFill>
              </a:rPr>
              <a:t>说明类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>
                <a:solidFill>
                  <a:srgbClr val="EE853E"/>
                </a:solidFill>
              </a:rPr>
              <a:t>2. </a:t>
            </a:r>
            <a:r>
              <a:rPr lang="zh-CN" altLang="en-US" dirty="0">
                <a:solidFill>
                  <a:srgbClr val="EE853E"/>
                </a:solidFill>
              </a:rPr>
              <a:t>运算类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>
                <a:solidFill>
                  <a:srgbClr val="EE853E"/>
                </a:solidFill>
              </a:rPr>
              <a:t>3. </a:t>
            </a:r>
            <a:r>
              <a:rPr lang="zh-CN" altLang="en-US" dirty="0">
                <a:solidFill>
                  <a:srgbClr val="EE853E"/>
                </a:solidFill>
              </a:rPr>
              <a:t>转移类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>
                <a:solidFill>
                  <a:srgbClr val="EE853E"/>
                </a:solidFill>
              </a:rPr>
              <a:t>4. </a:t>
            </a:r>
            <a:r>
              <a:rPr lang="zh-CN" altLang="en-US" dirty="0">
                <a:solidFill>
                  <a:srgbClr val="EE853E"/>
                </a:solidFill>
              </a:rPr>
              <a:t>函数类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en-US" altLang="zh-CN" dirty="0">
              <a:solidFill>
                <a:srgbClr val="EE853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三地址码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三地址码</a:t>
            </a:r>
            <a:endParaRPr lang="zh-CN" altLang="en-US" dirty="0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0000" y="900000"/>
            <a:ext cx="4995000" cy="5237998"/>
          </a:xfrm>
        </p:spPr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1.	</a:t>
            </a:r>
            <a:r>
              <a:rPr lang="zh-CN" altLang="en-US" dirty="0">
                <a:solidFill>
                  <a:srgbClr val="EE853E"/>
                </a:solidFill>
              </a:rPr>
              <a:t>说明类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var x</a:t>
            </a:r>
          </a:p>
          <a:p>
            <a:r>
              <a:rPr lang="en-US" altLang="zh-CN" dirty="0"/>
              <a:t>	label L</a:t>
            </a:r>
          </a:p>
          <a:p>
            <a:r>
              <a:rPr lang="en-US" altLang="zh-CN" dirty="0"/>
              <a:t>	para x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arg</a:t>
            </a:r>
            <a:r>
              <a:rPr lang="en-US" altLang="zh-CN" dirty="0"/>
              <a:t> x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2.	</a:t>
            </a:r>
            <a:r>
              <a:rPr lang="zh-CN" altLang="en-US" dirty="0">
                <a:solidFill>
                  <a:srgbClr val="EE853E"/>
                </a:solidFill>
              </a:rPr>
              <a:t>运算类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	x = y</a:t>
            </a:r>
            <a:endParaRPr lang="zh-CN" altLang="en-US" dirty="0"/>
          </a:p>
          <a:p>
            <a:r>
              <a:rPr lang="en-US" altLang="zh-CN" dirty="0"/>
              <a:t>	x = op y</a:t>
            </a:r>
            <a:endParaRPr lang="zh-CN" altLang="en-US" dirty="0"/>
          </a:p>
          <a:p>
            <a:r>
              <a:rPr lang="en-US" altLang="zh-CN" dirty="0"/>
              <a:t>	x = y op z</a:t>
            </a:r>
          </a:p>
          <a:p>
            <a:endParaRPr lang="en-US" altLang="zh-CN" dirty="0">
              <a:solidFill>
                <a:srgbClr val="EE853E"/>
              </a:solidFill>
            </a:endParaRPr>
          </a:p>
          <a:p>
            <a:endParaRPr lang="en-US" altLang="zh-CN" dirty="0">
              <a:solidFill>
                <a:srgbClr val="EE853E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94CB8B-0DD7-4C47-B20B-593B0866E249}"/>
              </a:ext>
            </a:extLst>
          </p:cNvPr>
          <p:cNvSpPr txBox="1">
            <a:spLocks noChangeArrowheads="1"/>
          </p:cNvSpPr>
          <p:nvPr/>
        </p:nvSpPr>
        <p:spPr>
          <a:xfrm>
            <a:off x="5977800" y="900000"/>
            <a:ext cx="4995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defRPr sz="20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defRPr sz="18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defRPr sz="16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EE853E"/>
                </a:solidFill>
              </a:rPr>
              <a:t>3.	</a:t>
            </a:r>
            <a:r>
              <a:rPr lang="zh-CN" altLang="en-US" dirty="0">
                <a:solidFill>
                  <a:srgbClr val="EE853E"/>
                </a:solidFill>
              </a:rPr>
              <a:t>转移类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	</a:t>
            </a:r>
            <a:r>
              <a:rPr lang="en-US" altLang="zh-CN" dirty="0" err="1"/>
              <a:t>goto</a:t>
            </a:r>
            <a:r>
              <a:rPr lang="en-US" altLang="zh-CN" dirty="0"/>
              <a:t> L</a:t>
            </a:r>
            <a:endParaRPr lang="zh-CN" altLang="en-US" dirty="0"/>
          </a:p>
          <a:p>
            <a:r>
              <a:rPr lang="en-US" altLang="zh-CN" dirty="0"/>
              <a:t>	if x </a:t>
            </a:r>
            <a:r>
              <a:rPr lang="en-US" altLang="zh-CN" dirty="0" err="1"/>
              <a:t>goto</a:t>
            </a:r>
            <a:r>
              <a:rPr lang="en-US" altLang="zh-CN" dirty="0"/>
              <a:t> L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ifz</a:t>
            </a:r>
            <a:r>
              <a:rPr lang="en-US" altLang="zh-CN" dirty="0"/>
              <a:t> x </a:t>
            </a:r>
            <a:r>
              <a:rPr lang="en-US" altLang="zh-CN" dirty="0" err="1"/>
              <a:t>goto</a:t>
            </a:r>
            <a:r>
              <a:rPr lang="en-US" altLang="zh-CN" dirty="0"/>
              <a:t> L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>
                <a:solidFill>
                  <a:srgbClr val="EE853E"/>
                </a:solidFill>
              </a:rPr>
              <a:t>4.	</a:t>
            </a:r>
            <a:r>
              <a:rPr lang="zh-CN" altLang="en-US" dirty="0">
                <a:solidFill>
                  <a:srgbClr val="EE853E"/>
                </a:solidFill>
              </a:rPr>
              <a:t>函数类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	start</a:t>
            </a:r>
          </a:p>
          <a:p>
            <a:r>
              <a:rPr lang="en-US" altLang="zh-CN" dirty="0"/>
              <a:t>	end</a:t>
            </a:r>
          </a:p>
          <a:p>
            <a:r>
              <a:rPr lang="en-US" altLang="zh-CN" dirty="0"/>
              <a:t>	call L</a:t>
            </a:r>
          </a:p>
          <a:p>
            <a:r>
              <a:rPr lang="en-US" altLang="zh-CN" dirty="0"/>
              <a:t>	return x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90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r>
              <a:rPr lang="en-US" altLang="zh-CN" dirty="0"/>
              <a:t>				</a:t>
            </a:r>
            <a:r>
              <a:rPr lang="en-US" dirty="0">
                <a:solidFill>
                  <a:srgbClr val="EE853E"/>
                </a:solidFill>
              </a:rPr>
              <a:t>int  a , b , c , d ;</a:t>
            </a:r>
          </a:p>
          <a:p>
            <a:endParaRPr lang="en-US" altLang="zh-CN" dirty="0"/>
          </a:p>
          <a:p>
            <a:r>
              <a:rPr lang="zh-CN" altLang="en-US" dirty="0"/>
              <a:t>三地址码：</a:t>
            </a:r>
            <a:r>
              <a:rPr lang="en-US" altLang="zh-CN" dirty="0"/>
              <a:t>			var a</a:t>
            </a:r>
            <a:endParaRPr lang="en-US" dirty="0"/>
          </a:p>
          <a:p>
            <a:r>
              <a:rPr lang="en-US" dirty="0"/>
              <a:t>						var b</a:t>
            </a:r>
          </a:p>
          <a:p>
            <a:r>
              <a:rPr lang="en-US" altLang="zh-CN" dirty="0"/>
              <a:t>						var c</a:t>
            </a:r>
          </a:p>
          <a:p>
            <a:r>
              <a:rPr lang="en-US" dirty="0"/>
              <a:t>						</a:t>
            </a:r>
            <a:r>
              <a:rPr lang="en-US" altLang="zh-CN" dirty="0"/>
              <a:t>var </a:t>
            </a:r>
            <a:r>
              <a:rPr lang="en-US" dirty="0"/>
              <a:t>d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206013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r>
              <a:rPr lang="en-US" altLang="zh-CN" dirty="0"/>
              <a:t>				</a:t>
            </a:r>
            <a:r>
              <a:rPr lang="en-US" dirty="0">
                <a:solidFill>
                  <a:srgbClr val="EE853E"/>
                </a:solidFill>
              </a:rPr>
              <a:t>a = - b * c + d ;</a:t>
            </a:r>
          </a:p>
          <a:p>
            <a:endParaRPr lang="en-US" altLang="zh-CN" dirty="0"/>
          </a:p>
          <a:p>
            <a:r>
              <a:rPr lang="zh-CN" altLang="en-US" dirty="0"/>
              <a:t>三地址码：</a:t>
            </a:r>
            <a:r>
              <a:rPr lang="en-US" altLang="zh-CN" dirty="0"/>
              <a:t>			</a:t>
            </a:r>
            <a:r>
              <a:rPr lang="en-US" dirty="0" err="1"/>
              <a:t>t1</a:t>
            </a:r>
            <a:r>
              <a:rPr lang="en-US" dirty="0"/>
              <a:t> = - b</a:t>
            </a:r>
          </a:p>
          <a:p>
            <a:r>
              <a:rPr lang="en-US" dirty="0"/>
              <a:t>						</a:t>
            </a:r>
            <a:r>
              <a:rPr lang="en-US" dirty="0" err="1"/>
              <a:t>t2</a:t>
            </a:r>
            <a:r>
              <a:rPr lang="en-US" dirty="0"/>
              <a:t> = t1 * c</a:t>
            </a:r>
          </a:p>
          <a:p>
            <a:r>
              <a:rPr lang="en-US" altLang="zh-CN" dirty="0"/>
              <a:t>						</a:t>
            </a:r>
            <a:r>
              <a:rPr lang="en-US" dirty="0" err="1"/>
              <a:t>t3</a:t>
            </a:r>
            <a:r>
              <a:rPr lang="en-US" dirty="0"/>
              <a:t> = t2 + d</a:t>
            </a:r>
          </a:p>
          <a:p>
            <a:r>
              <a:rPr lang="en-US" altLang="zh-CN" dirty="0"/>
              <a:t>						</a:t>
            </a:r>
            <a:r>
              <a:rPr lang="en-US" dirty="0"/>
              <a:t>a = t3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298058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r>
              <a:rPr lang="en-US" altLang="zh-CN" dirty="0"/>
              <a:t>				</a:t>
            </a:r>
            <a:r>
              <a:rPr lang="en-US" altLang="zh-CN" dirty="0">
                <a:solidFill>
                  <a:srgbClr val="EE853E"/>
                </a:solidFill>
              </a:rPr>
              <a:t>if ( a ) { a = - b * c ; }</a:t>
            </a:r>
          </a:p>
          <a:p>
            <a:endParaRPr lang="en-US" altLang="zh-CN" dirty="0"/>
          </a:p>
          <a:p>
            <a:r>
              <a:rPr lang="zh-CN" altLang="en-US" dirty="0"/>
              <a:t>三地址码：</a:t>
            </a:r>
            <a:r>
              <a:rPr lang="en-US" altLang="zh-CN" dirty="0"/>
              <a:t>			</a:t>
            </a:r>
            <a:r>
              <a:rPr lang="en-US" altLang="zh-CN" dirty="0" err="1"/>
              <a:t>ifz</a:t>
            </a:r>
            <a:r>
              <a:rPr lang="en-US" altLang="zh-CN" dirty="0"/>
              <a:t> a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endParaRPr lang="en-US" altLang="zh-CN" dirty="0"/>
          </a:p>
          <a:p>
            <a:r>
              <a:rPr lang="en-US" altLang="zh-CN" dirty="0"/>
              <a:t>						</a:t>
            </a:r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en-US" altLang="zh-CN" dirty="0"/>
              <a:t>						</a:t>
            </a:r>
            <a:r>
              <a:rPr lang="en-US" altLang="zh-CN" dirty="0" err="1"/>
              <a:t>t2</a:t>
            </a:r>
            <a:r>
              <a:rPr lang="en-US" altLang="zh-CN" dirty="0"/>
              <a:t> = </a:t>
            </a:r>
            <a:r>
              <a:rPr lang="en-US" altLang="zh-CN" dirty="0" err="1"/>
              <a:t>t1</a:t>
            </a:r>
            <a:r>
              <a:rPr lang="en-US" altLang="zh-CN" dirty="0"/>
              <a:t> * c</a:t>
            </a:r>
          </a:p>
          <a:p>
            <a:r>
              <a:rPr lang="en-US" altLang="zh-CN" dirty="0"/>
              <a:t>						a = </a:t>
            </a:r>
            <a:r>
              <a:rPr lang="en-US" altLang="zh-CN" dirty="0" err="1"/>
              <a:t>t2</a:t>
            </a:r>
            <a:endParaRPr lang="en-US" altLang="zh-CN" dirty="0"/>
          </a:p>
          <a:p>
            <a:r>
              <a:rPr lang="en-US" altLang="zh-CN" dirty="0"/>
              <a:t>						label </a:t>
            </a:r>
            <a:r>
              <a:rPr lang="en-US" altLang="zh-CN" dirty="0" err="1"/>
              <a:t>L1</a:t>
            </a:r>
            <a:endParaRPr lang="en-US" dirty="0"/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353312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r>
              <a:rPr lang="en-US" altLang="zh-CN" dirty="0"/>
              <a:t>				</a:t>
            </a:r>
            <a:r>
              <a:rPr lang="en-US" altLang="zh-CN" dirty="0">
                <a:solidFill>
                  <a:srgbClr val="EE853E"/>
                </a:solidFill>
              </a:rPr>
              <a:t>int add</a:t>
            </a:r>
            <a:r>
              <a:rPr lang="en-US" dirty="0">
                <a:solidFill>
                  <a:srgbClr val="EE853E"/>
                </a:solidFill>
              </a:rPr>
              <a:t> ( int x , int y ) { ... return a ; }</a:t>
            </a:r>
          </a:p>
          <a:p>
            <a:endParaRPr lang="en-US" altLang="zh-CN" dirty="0"/>
          </a:p>
          <a:p>
            <a:r>
              <a:rPr lang="zh-CN" altLang="en-US" dirty="0"/>
              <a:t>三地址码：</a:t>
            </a:r>
            <a:r>
              <a:rPr lang="en-US" altLang="zh-CN" dirty="0"/>
              <a:t>			label add</a:t>
            </a:r>
          </a:p>
          <a:p>
            <a:r>
              <a:rPr lang="en-US" altLang="zh-CN" dirty="0"/>
              <a:t>						start</a:t>
            </a:r>
          </a:p>
          <a:p>
            <a:r>
              <a:rPr lang="en-US" altLang="zh-CN" dirty="0"/>
              <a:t>						para x</a:t>
            </a:r>
            <a:endParaRPr lang="en-US" dirty="0"/>
          </a:p>
          <a:p>
            <a:r>
              <a:rPr lang="en-US" dirty="0"/>
              <a:t>						</a:t>
            </a:r>
            <a:r>
              <a:rPr lang="en-US" altLang="zh-CN" dirty="0"/>
              <a:t>para </a:t>
            </a:r>
            <a:r>
              <a:rPr lang="en-US" dirty="0"/>
              <a:t>y</a:t>
            </a:r>
          </a:p>
          <a:p>
            <a:r>
              <a:rPr lang="en-US" altLang="zh-CN" dirty="0"/>
              <a:t>						...</a:t>
            </a:r>
            <a:endParaRPr lang="en-US" dirty="0"/>
          </a:p>
          <a:p>
            <a:r>
              <a:rPr lang="en-US" altLang="zh-CN" dirty="0"/>
              <a:t>						return a</a:t>
            </a:r>
          </a:p>
          <a:p>
            <a:r>
              <a:rPr lang="en-US" altLang="zh-CN" dirty="0"/>
              <a:t>						end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350957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r>
              <a:rPr lang="en-US" altLang="zh-CN" dirty="0"/>
              <a:t>		</a:t>
            </a:r>
            <a:r>
              <a:rPr lang="en-US" altLang="zh-CN" dirty="0">
                <a:solidFill>
                  <a:srgbClr val="EE853E"/>
                </a:solidFill>
              </a:rPr>
              <a:t>c</a:t>
            </a:r>
            <a:r>
              <a:rPr lang="en-US" dirty="0">
                <a:solidFill>
                  <a:srgbClr val="EE853E"/>
                </a:solidFill>
              </a:rPr>
              <a:t> = add ( a + 1 , b + 2 ) ;</a:t>
            </a:r>
          </a:p>
          <a:p>
            <a:endParaRPr lang="en-US" altLang="zh-CN" dirty="0"/>
          </a:p>
          <a:p>
            <a:r>
              <a:rPr lang="zh-CN" altLang="en-US" dirty="0"/>
              <a:t>对应的三地址码：</a:t>
            </a:r>
            <a:r>
              <a:rPr lang="en-US" altLang="zh-CN" dirty="0"/>
              <a:t>	</a:t>
            </a:r>
            <a:r>
              <a:rPr lang="en-US" altLang="zh-CN" dirty="0" err="1"/>
              <a:t>t1</a:t>
            </a:r>
            <a:r>
              <a:rPr lang="en-US" altLang="zh-CN" dirty="0"/>
              <a:t> = a + 1</a:t>
            </a:r>
          </a:p>
          <a:p>
            <a:r>
              <a:rPr lang="en-US" altLang="zh-CN" dirty="0"/>
              <a:t>						</a:t>
            </a:r>
            <a:r>
              <a:rPr lang="en-US" altLang="zh-CN" dirty="0" err="1"/>
              <a:t>t2</a:t>
            </a:r>
            <a:r>
              <a:rPr lang="en-US" altLang="zh-CN" dirty="0"/>
              <a:t> = b + 2</a:t>
            </a:r>
          </a:p>
          <a:p>
            <a:r>
              <a:rPr lang="en-US" altLang="zh-CN" dirty="0"/>
              <a:t>						</a:t>
            </a:r>
            <a:r>
              <a:rPr lang="en-US" altLang="zh-CN" dirty="0" err="1"/>
              <a:t>arg</a:t>
            </a:r>
            <a:r>
              <a:rPr lang="en-US" altLang="zh-CN" dirty="0"/>
              <a:t> </a:t>
            </a:r>
            <a:r>
              <a:rPr lang="en-US" altLang="zh-CN" dirty="0" err="1"/>
              <a:t>t1</a:t>
            </a:r>
            <a:endParaRPr lang="en-US" dirty="0"/>
          </a:p>
          <a:p>
            <a:r>
              <a:rPr lang="en-US" dirty="0"/>
              <a:t>						</a:t>
            </a:r>
            <a:r>
              <a:rPr lang="en-US" altLang="zh-CN" dirty="0" err="1"/>
              <a:t>arg</a:t>
            </a:r>
            <a:r>
              <a:rPr lang="en-US" altLang="zh-CN" dirty="0"/>
              <a:t> </a:t>
            </a:r>
            <a:r>
              <a:rPr lang="en-US" altLang="zh-CN" dirty="0" err="1"/>
              <a:t>t2</a:t>
            </a:r>
            <a:endParaRPr lang="en-US" dirty="0"/>
          </a:p>
          <a:p>
            <a:r>
              <a:rPr lang="en-US" altLang="zh-CN" dirty="0"/>
              <a:t>						</a:t>
            </a:r>
            <a:r>
              <a:rPr lang="en-US" altLang="zh-CN" dirty="0" err="1"/>
              <a:t>t3</a:t>
            </a:r>
            <a:r>
              <a:rPr lang="en-US" dirty="0"/>
              <a:t> = call add</a:t>
            </a:r>
          </a:p>
          <a:p>
            <a:r>
              <a:rPr lang="en-US" dirty="0"/>
              <a:t>						c = </a:t>
            </a:r>
            <a:r>
              <a:rPr lang="en-US" dirty="0" err="1"/>
              <a:t>t3</a:t>
            </a:r>
            <a:endParaRPr lang="en-US" dirty="0"/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82341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6846</TotalTime>
  <Words>1132</Words>
  <Application>Microsoft Office PowerPoint</Application>
  <PresentationFormat>宽屏</PresentationFormat>
  <Paragraphs>217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微软雅黑</vt:lpstr>
      <vt:lpstr>Arial</vt:lpstr>
      <vt:lpstr>Wingdings</vt:lpstr>
      <vt:lpstr>环保</vt:lpstr>
      <vt:lpstr>第八章 语义分析</vt:lpstr>
      <vt:lpstr>语义分析的任务</vt:lpstr>
      <vt:lpstr>语义分析与语法分析</vt:lpstr>
      <vt:lpstr>语义分析与语法分析</vt:lpstr>
      <vt:lpstr>语义值</vt:lpstr>
      <vt:lpstr>语义动作和语义子程序</vt:lpstr>
      <vt:lpstr>例子</vt:lpstr>
      <vt:lpstr>翻译</vt:lpstr>
      <vt:lpstr>语法制导翻译</vt:lpstr>
      <vt:lpstr>中间代码</vt:lpstr>
      <vt:lpstr>三地址码</vt:lpstr>
      <vt:lpstr>三地址码</vt:lpstr>
      <vt:lpstr>例子</vt:lpstr>
      <vt:lpstr>例子</vt:lpstr>
      <vt:lpstr>例子</vt:lpstr>
      <vt:lpstr>例子</vt:lpstr>
      <vt:lpstr>例子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1235</cp:revision>
  <cp:lastPrinted>1601-01-01T00:00:00Z</cp:lastPrinted>
  <dcterms:created xsi:type="dcterms:W3CDTF">1601-01-01T00:00:00Z</dcterms:created>
  <dcterms:modified xsi:type="dcterms:W3CDTF">2020-03-28T13:14:54Z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