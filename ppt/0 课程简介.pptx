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notesMasterIdLst>
    <p:notesMasterId r:id="rId23"/>
  </p:notesMasterIdLst>
  <p:handoutMasterIdLst>
    <p:handoutMasterId r:id="rId24"/>
  </p:handoutMasterIdLst>
  <p:sldIdLst>
    <p:sldId id="257" r:id="rId2"/>
    <p:sldId id="258" r:id="rId3"/>
    <p:sldId id="259" r:id="rId4"/>
    <p:sldId id="260" r:id="rId5"/>
    <p:sldId id="430" r:id="rId6"/>
    <p:sldId id="350" r:id="rId7"/>
    <p:sldId id="351" r:id="rId8"/>
    <p:sldId id="431" r:id="rId9"/>
    <p:sldId id="434" r:id="rId10"/>
    <p:sldId id="442" r:id="rId11"/>
    <p:sldId id="353" r:id="rId12"/>
    <p:sldId id="444" r:id="rId13"/>
    <p:sldId id="445" r:id="rId14"/>
    <p:sldId id="359" r:id="rId15"/>
    <p:sldId id="446" r:id="rId16"/>
    <p:sldId id="437" r:id="rId17"/>
    <p:sldId id="264" r:id="rId18"/>
    <p:sldId id="266" r:id="rId19"/>
    <p:sldId id="361" r:id="rId20"/>
    <p:sldId id="429" r:id="rId21"/>
    <p:sldId id="443" r:id="rId22"/>
  </p:sldIdLst>
  <p:sldSz cx="12192000" cy="6858000"/>
  <p:notesSz cx="2782888" cy="3717925"/>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853E"/>
    <a:srgbClr val="A18D60"/>
    <a:srgbClr val="EE8A3E"/>
    <a:srgbClr val="E98A3E"/>
    <a:srgbClr val="04141B"/>
    <a:srgbClr val="D9B247"/>
    <a:srgbClr val="2A9995"/>
    <a:srgbClr val="54D0CA"/>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13" autoAdjust="0"/>
    <p:restoredTop sz="89127" autoAdjust="0"/>
  </p:normalViewPr>
  <p:slideViewPr>
    <p:cSldViewPr>
      <p:cViewPr varScale="1">
        <p:scale>
          <a:sx n="80" d="100"/>
          <a:sy n="80" d="100"/>
        </p:scale>
        <p:origin x="176" y="6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2148"/>
    </p:cViewPr>
  </p:sorterViewPr>
  <p:notesViewPr>
    <p:cSldViewPr>
      <p:cViewPr varScale="1">
        <p:scale>
          <a:sx n="183" d="100"/>
          <a:sy n="183" d="100"/>
        </p:scale>
        <p:origin x="266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4594"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5" name="Rectangle 3"/>
          <p:cNvSpPr>
            <a:spLocks noGrp="1" noChangeArrowheads="1"/>
          </p:cNvSpPr>
          <p:nvPr>
            <p:ph type="dt" sz="quarter"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494596" name="Rectangle 4"/>
          <p:cNvSpPr>
            <a:spLocks noGrp="1" noChangeArrowheads="1"/>
          </p:cNvSpPr>
          <p:nvPr>
            <p:ph type="ftr" sz="quarter" idx="2"/>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94597" name="Rectangle 5"/>
          <p:cNvSpPr>
            <a:spLocks noGrp="1" noChangeArrowheads="1"/>
          </p:cNvSpPr>
          <p:nvPr>
            <p:ph type="sldNum" sz="quarter" idx="3"/>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F22DA3B-951B-42A7-9A91-80A8B753C47B}" type="slidenum">
              <a:rPr lang="en-US" altLang="zh-CN"/>
              <a:pPr/>
              <a:t>‹#›</a:t>
            </a:fld>
            <a:endParaRPr lang="en-US" altLang="zh-CN"/>
          </a:p>
        </p:txBody>
      </p:sp>
    </p:spTree>
    <p:extLst>
      <p:ext uri="{BB962C8B-B14F-4D97-AF65-F5344CB8AC3E}">
        <p14:creationId xmlns:p14="http://schemas.microsoft.com/office/powerpoint/2010/main" val="116196182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4786" name="Rectangle 2"/>
          <p:cNvSpPr>
            <a:spLocks noGrp="1" noChangeArrowheads="1"/>
          </p:cNvSpPr>
          <p:nvPr>
            <p:ph type="hdr" sz="quarter"/>
          </p:nvPr>
        </p:nvSpPr>
        <p:spPr bwMode="auto">
          <a:xfrm>
            <a:off x="0"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87" name="Rectangle 3"/>
          <p:cNvSpPr>
            <a:spLocks noGrp="1" noChangeArrowheads="1"/>
          </p:cNvSpPr>
          <p:nvPr>
            <p:ph type="dt" idx="1"/>
          </p:nvPr>
        </p:nvSpPr>
        <p:spPr bwMode="auto">
          <a:xfrm>
            <a:off x="1576388" y="0"/>
            <a:ext cx="1206500" cy="18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lvl1pPr algn="r" defTabSz="371475">
              <a:defRPr sz="500">
                <a:latin typeface="Arial" charset="0"/>
                <a:ea typeface="宋体" pitchFamily="2" charset="-122"/>
              </a:defRPr>
            </a:lvl1pPr>
          </a:lstStyle>
          <a:p>
            <a:pPr>
              <a:defRPr/>
            </a:pPr>
            <a:endParaRPr lang="en-US" altLang="zh-CN"/>
          </a:p>
        </p:txBody>
      </p:sp>
      <p:sp>
        <p:nvSpPr>
          <p:cNvPr id="58372" name="Rectangle 4"/>
          <p:cNvSpPr>
            <a:spLocks noGrp="1" noRot="1" noChangeAspect="1" noChangeArrowheads="1" noTextEdit="1"/>
          </p:cNvSpPr>
          <p:nvPr>
            <p:ph type="sldImg" idx="2"/>
          </p:nvPr>
        </p:nvSpPr>
        <p:spPr bwMode="auto">
          <a:xfrm>
            <a:off x="153988" y="279400"/>
            <a:ext cx="2474912" cy="1393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4789" name="Rectangle 5"/>
          <p:cNvSpPr>
            <a:spLocks noGrp="1" noChangeArrowheads="1"/>
          </p:cNvSpPr>
          <p:nvPr>
            <p:ph type="body" sz="quarter" idx="3"/>
          </p:nvPr>
        </p:nvSpPr>
        <p:spPr bwMode="auto">
          <a:xfrm>
            <a:off x="277813" y="1765300"/>
            <a:ext cx="2227262"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74790" name="Rectangle 6"/>
          <p:cNvSpPr>
            <a:spLocks noGrp="1" noChangeArrowheads="1"/>
          </p:cNvSpPr>
          <p:nvPr>
            <p:ph type="ftr" sz="quarter" idx="4"/>
          </p:nvPr>
        </p:nvSpPr>
        <p:spPr bwMode="auto">
          <a:xfrm>
            <a:off x="0"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defTabSz="371475">
              <a:defRPr sz="500">
                <a:latin typeface="Arial" charset="0"/>
                <a:ea typeface="宋体" pitchFamily="2" charset="-122"/>
              </a:defRPr>
            </a:lvl1pPr>
          </a:lstStyle>
          <a:p>
            <a:pPr>
              <a:defRPr/>
            </a:pPr>
            <a:endParaRPr lang="en-US" altLang="zh-CN"/>
          </a:p>
        </p:txBody>
      </p:sp>
      <p:sp>
        <p:nvSpPr>
          <p:cNvPr id="374791" name="Rectangle 7"/>
          <p:cNvSpPr>
            <a:spLocks noGrp="1" noChangeArrowheads="1"/>
          </p:cNvSpPr>
          <p:nvPr>
            <p:ph type="sldNum" sz="quarter" idx="5"/>
          </p:nvPr>
        </p:nvSpPr>
        <p:spPr bwMode="auto">
          <a:xfrm>
            <a:off x="1576388" y="3530600"/>
            <a:ext cx="1206500"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143" tIns="18571" rIns="37143" bIns="18571" numCol="1" anchor="b" anchorCtr="0" compatLnSpc="1">
            <a:prstTxWarp prst="textNoShape">
              <a:avLst/>
            </a:prstTxWarp>
          </a:bodyPr>
          <a:lstStyle>
            <a:lvl1pPr algn="r" defTabSz="371475">
              <a:defRPr sz="500"/>
            </a:lvl1pPr>
          </a:lstStyle>
          <a:p>
            <a:fld id="{7C94B347-5D95-4F16-91F2-C12A0B20C48C}" type="slidenum">
              <a:rPr lang="en-US" altLang="zh-CN"/>
              <a:pPr/>
              <a:t>‹#›</a:t>
            </a:fld>
            <a:endParaRPr lang="en-US" altLang="zh-CN"/>
          </a:p>
        </p:txBody>
      </p:sp>
    </p:spTree>
    <p:extLst>
      <p:ext uri="{BB962C8B-B14F-4D97-AF65-F5344CB8AC3E}">
        <p14:creationId xmlns:p14="http://schemas.microsoft.com/office/powerpoint/2010/main" val="284277146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3783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99750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9460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91229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692398" y="3623737"/>
            <a:ext cx="6815669" cy="948260"/>
          </a:xfrm>
          <a:prstGeom prst="rect">
            <a:avLst/>
          </a:prstGeom>
        </p:spPr>
        <p:txBody>
          <a:bodyPr anchor="ctr">
            <a:normAutofit/>
          </a:bodyPr>
          <a:lstStyle>
            <a:lvl1pPr marL="0" indent="0" algn="ctr">
              <a:lnSpc>
                <a:spcPct val="100000"/>
              </a:lnSpc>
              <a:buNone/>
              <a:defRPr sz="3200" b="1">
                <a:solidFill>
                  <a:schemeClr val="bg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单击此处添加副标题</a:t>
            </a:r>
            <a:endParaRPr lang="en-US" dirty="0"/>
          </a:p>
        </p:txBody>
      </p:sp>
      <p:sp>
        <p:nvSpPr>
          <p:cNvPr id="2" name="标题 1"/>
          <p:cNvSpPr>
            <a:spLocks noGrp="1"/>
          </p:cNvSpPr>
          <p:nvPr>
            <p:ph type="title" hasCustomPrompt="1"/>
          </p:nvPr>
        </p:nvSpPr>
        <p:spPr>
          <a:xfrm>
            <a:off x="2692398" y="2057406"/>
            <a:ext cx="6815669" cy="1329259"/>
          </a:xfrm>
          <a:prstGeom prst="rect">
            <a:avLst/>
          </a:prstGeom>
        </p:spPr>
        <p:txBody>
          <a:bodyPr anchor="ctr"/>
          <a:lstStyle>
            <a:lvl1pPr>
              <a:defRPr sz="6000" b="1">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cxnSp>
        <p:nvCxnSpPr>
          <p:cNvPr id="5" name="直接连接符 4">
            <a:extLst>
              <a:ext uri="{FF2B5EF4-FFF2-40B4-BE49-F238E27FC236}">
                <a16:creationId xmlns:a16="http://schemas.microsoft.com/office/drawing/2014/main" id="{78557376-49C6-4381-B102-72EEC70D751A}"/>
              </a:ext>
            </a:extLst>
          </p:cNvPr>
          <p:cNvCxnSpPr>
            <a:cxnSpLocks/>
          </p:cNvCxnSpPr>
          <p:nvPr userDrawn="1"/>
        </p:nvCxnSpPr>
        <p:spPr>
          <a:xfrm>
            <a:off x="2692398" y="3505200"/>
            <a:ext cx="6815669" cy="0"/>
          </a:xfrm>
          <a:prstGeom prst="line">
            <a:avLst/>
          </a:prstGeom>
          <a:ln w="12700">
            <a:gradFill flip="none" rotWithShape="1">
              <a:gsLst>
                <a:gs pos="59000">
                  <a:schemeClr val="bg1">
                    <a:alpha val="21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78469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4CDCAD84-E465-486F-85C0-B8CA0688ED29}"/>
              </a:ext>
            </a:extLst>
          </p:cNvPr>
          <p:cNvSpPr>
            <a:spLocks noGrp="1"/>
          </p:cNvSpPr>
          <p:nvPr>
            <p:ph idx="1" hasCustomPrompt="1"/>
          </p:nvPr>
        </p:nvSpPr>
        <p:spPr>
          <a:xfrm>
            <a:off x="720000" y="900000"/>
            <a:ext cx="10751844" cy="5237998"/>
          </a:xfrm>
          <a:prstGeom prst="rect">
            <a:avLst/>
          </a:prstGeom>
        </p:spPr>
        <p:txBody>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a:latin typeface="微软雅黑" panose="020B0503020204020204" pitchFamily="34" charset="-122"/>
                <a:ea typeface="微软雅黑" panose="020B0503020204020204" pitchFamily="34" charset="-122"/>
              </a:defRPr>
            </a:lvl1pPr>
            <a:lvl2pPr marL="457200" indent="0">
              <a:lnSpc>
                <a:spcPct val="150000"/>
              </a:lnSpc>
              <a:spcBef>
                <a:spcPts val="0"/>
              </a:spcBef>
              <a:spcAft>
                <a:spcPts val="0"/>
              </a:spcAft>
              <a:buFontTx/>
              <a:buNone/>
              <a:defRPr sz="2000" b="1">
                <a:latin typeface="微软雅黑" panose="020B0503020204020204" pitchFamily="34" charset="-122"/>
                <a:ea typeface="微软雅黑" panose="020B0503020204020204" pitchFamily="34" charset="-122"/>
              </a:defRPr>
            </a:lvl2pPr>
            <a:lvl3pPr marL="914400" indent="0">
              <a:lnSpc>
                <a:spcPct val="150000"/>
              </a:lnSpc>
              <a:spcBef>
                <a:spcPts val="0"/>
              </a:spcBef>
              <a:spcAft>
                <a:spcPts val="0"/>
              </a:spcAft>
              <a:buFontTx/>
              <a:buNone/>
              <a:defRPr sz="1800" b="1">
                <a:latin typeface="微软雅黑" panose="020B0503020204020204" pitchFamily="34" charset="-122"/>
                <a:ea typeface="微软雅黑" panose="020B0503020204020204" pitchFamily="34" charset="-122"/>
              </a:defRPr>
            </a:lvl3pPr>
            <a:lvl4pPr marL="1371600" indent="0">
              <a:lnSpc>
                <a:spcPct val="150000"/>
              </a:lnSpc>
              <a:spcBef>
                <a:spcPts val="0"/>
              </a:spcBef>
              <a:spcAft>
                <a:spcPts val="0"/>
              </a:spcAft>
              <a:buFontTx/>
              <a:buNone/>
              <a:defRPr sz="1600" b="1">
                <a:latin typeface="微软雅黑" panose="020B0503020204020204" pitchFamily="34" charset="-122"/>
                <a:ea typeface="微软雅黑" panose="020B0503020204020204" pitchFamily="34" charset="-122"/>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a:latin typeface="微软雅黑" panose="020B0503020204020204" pitchFamily="34" charset="-122"/>
                <a:ea typeface="微软雅黑" panose="020B0503020204020204" pitchFamily="34" charset="-122"/>
              </a:defRPr>
            </a:lvl5pPr>
          </a:lstStyle>
          <a:p>
            <a:pPr lvl="0"/>
            <a:r>
              <a:rPr lang="zh-CN" altLang="en-US" dirty="0"/>
              <a:t>单击此处添加正文</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7" name="标题 1">
            <a:extLst>
              <a:ext uri="{FF2B5EF4-FFF2-40B4-BE49-F238E27FC236}">
                <a16:creationId xmlns:a16="http://schemas.microsoft.com/office/drawing/2014/main" id="{A8E36B22-94F4-4875-8A46-5B092EAFACD4}"/>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7" name="直接连接符 6">
            <a:extLst>
              <a:ext uri="{FF2B5EF4-FFF2-40B4-BE49-F238E27FC236}">
                <a16:creationId xmlns:a16="http://schemas.microsoft.com/office/drawing/2014/main" id="{2E0F09CF-38EF-40AF-8852-E6AA05DD2C4C}"/>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4E725819-6F84-4DA7-A045-AF9FEFD8BDE3}"/>
              </a:ext>
            </a:extLst>
          </p:cNvPr>
          <p:cNvGrpSpPr/>
          <p:nvPr userDrawn="1"/>
        </p:nvGrpSpPr>
        <p:grpSpPr>
          <a:xfrm>
            <a:off x="0" y="759581"/>
            <a:ext cx="5800195" cy="78378"/>
            <a:chOff x="-1" y="759581"/>
            <a:chExt cx="5800195" cy="78378"/>
          </a:xfrm>
        </p:grpSpPr>
        <p:sp>
          <p:nvSpPr>
            <p:cNvPr id="9" name="任意多边形 41">
              <a:extLst>
                <a:ext uri="{FF2B5EF4-FFF2-40B4-BE49-F238E27FC236}">
                  <a16:creationId xmlns:a16="http://schemas.microsoft.com/office/drawing/2014/main" id="{9E81EAE9-575A-411E-ACBB-AB8DB96140AB}"/>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C33C9AF3-5E2C-4CED-9B65-BB1F009F74CA}"/>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11923961-9316-450E-8E0C-6159462127C6}"/>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26317C85-12BB-4EC9-8CD4-FE3D7DB6AB10}"/>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EC1B1CD-714D-4D4C-AA93-7517ADCCDF65}"/>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4E566B63-83F1-4353-B6DA-291D2A2431AE}"/>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29287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4CDCAD84-E465-486F-85C0-B8CA0688ED29}"/>
              </a:ext>
            </a:extLst>
          </p:cNvPr>
          <p:cNvSpPr>
            <a:spLocks noGrp="1"/>
          </p:cNvSpPr>
          <p:nvPr>
            <p:ph idx="1" hasCustomPrompt="1"/>
          </p:nvPr>
        </p:nvSpPr>
        <p:spPr>
          <a:xfrm>
            <a:off x="720000" y="900000"/>
            <a:ext cx="5376000" cy="5237998"/>
          </a:xfrm>
          <a:prstGeom prst="rect">
            <a:avLst/>
          </a:prstGeom>
        </p:spPr>
        <p:txBody>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a:latin typeface="微软雅黑" panose="020B0503020204020204" pitchFamily="34" charset="-122"/>
                <a:ea typeface="微软雅黑" panose="020B0503020204020204" pitchFamily="34" charset="-122"/>
              </a:defRPr>
            </a:lvl1pPr>
            <a:lvl2pPr marL="457200" indent="0">
              <a:lnSpc>
                <a:spcPct val="150000"/>
              </a:lnSpc>
              <a:spcBef>
                <a:spcPts val="0"/>
              </a:spcBef>
              <a:spcAft>
                <a:spcPts val="0"/>
              </a:spcAft>
              <a:buFontTx/>
              <a:buNone/>
              <a:defRPr sz="2000" b="1">
                <a:latin typeface="微软雅黑" panose="020B0503020204020204" pitchFamily="34" charset="-122"/>
                <a:ea typeface="微软雅黑" panose="020B0503020204020204" pitchFamily="34" charset="-122"/>
              </a:defRPr>
            </a:lvl2pPr>
            <a:lvl3pPr marL="914400" indent="0">
              <a:lnSpc>
                <a:spcPct val="150000"/>
              </a:lnSpc>
              <a:spcBef>
                <a:spcPts val="0"/>
              </a:spcBef>
              <a:spcAft>
                <a:spcPts val="0"/>
              </a:spcAft>
              <a:buFontTx/>
              <a:buNone/>
              <a:defRPr sz="1800" b="1">
                <a:latin typeface="微软雅黑" panose="020B0503020204020204" pitchFamily="34" charset="-122"/>
                <a:ea typeface="微软雅黑" panose="020B0503020204020204" pitchFamily="34" charset="-122"/>
              </a:defRPr>
            </a:lvl3pPr>
            <a:lvl4pPr marL="1371600" indent="0">
              <a:lnSpc>
                <a:spcPct val="150000"/>
              </a:lnSpc>
              <a:spcBef>
                <a:spcPts val="0"/>
              </a:spcBef>
              <a:spcAft>
                <a:spcPts val="0"/>
              </a:spcAft>
              <a:buFontTx/>
              <a:buNone/>
              <a:defRPr sz="1600" b="1">
                <a:latin typeface="微软雅黑" panose="020B0503020204020204" pitchFamily="34" charset="-122"/>
                <a:ea typeface="微软雅黑" panose="020B0503020204020204" pitchFamily="34" charset="-122"/>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a:latin typeface="微软雅黑" panose="020B0503020204020204" pitchFamily="34" charset="-122"/>
                <a:ea typeface="微软雅黑" panose="020B0503020204020204" pitchFamily="34" charset="-122"/>
              </a:defRPr>
            </a:lvl5pPr>
          </a:lstStyle>
          <a:p>
            <a:pPr lvl="0"/>
            <a:r>
              <a:rPr lang="zh-CN" altLang="en-US" dirty="0"/>
              <a:t>单击此处添加正文</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7" name="标题 1">
            <a:extLst>
              <a:ext uri="{FF2B5EF4-FFF2-40B4-BE49-F238E27FC236}">
                <a16:creationId xmlns:a16="http://schemas.microsoft.com/office/drawing/2014/main" id="{A8E36B22-94F4-4875-8A46-5B092EAFACD4}"/>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7" name="直接连接符 6">
            <a:extLst>
              <a:ext uri="{FF2B5EF4-FFF2-40B4-BE49-F238E27FC236}">
                <a16:creationId xmlns:a16="http://schemas.microsoft.com/office/drawing/2014/main" id="{2E0F09CF-38EF-40AF-8852-E6AA05DD2C4C}"/>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4E725819-6F84-4DA7-A045-AF9FEFD8BDE3}"/>
              </a:ext>
            </a:extLst>
          </p:cNvPr>
          <p:cNvGrpSpPr/>
          <p:nvPr userDrawn="1"/>
        </p:nvGrpSpPr>
        <p:grpSpPr>
          <a:xfrm>
            <a:off x="0" y="759581"/>
            <a:ext cx="5800195" cy="78378"/>
            <a:chOff x="-1" y="759581"/>
            <a:chExt cx="5800195" cy="78378"/>
          </a:xfrm>
        </p:grpSpPr>
        <p:sp>
          <p:nvSpPr>
            <p:cNvPr id="9" name="任意多边形 41">
              <a:extLst>
                <a:ext uri="{FF2B5EF4-FFF2-40B4-BE49-F238E27FC236}">
                  <a16:creationId xmlns:a16="http://schemas.microsoft.com/office/drawing/2014/main" id="{9E81EAE9-575A-411E-ACBB-AB8DB96140AB}"/>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C33C9AF3-5E2C-4CED-9B65-BB1F009F74CA}"/>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11923961-9316-450E-8E0C-6159462127C6}"/>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26317C85-12BB-4EC9-8CD4-FE3D7DB6AB10}"/>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EC1B1CD-714D-4D4C-AA93-7517ADCCDF65}"/>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a:extLst>
                <a:ext uri="{FF2B5EF4-FFF2-40B4-BE49-F238E27FC236}">
                  <a16:creationId xmlns:a16="http://schemas.microsoft.com/office/drawing/2014/main" id="{4E566B63-83F1-4353-B6DA-291D2A2431AE}"/>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内容占位符 2">
            <a:extLst>
              <a:ext uri="{FF2B5EF4-FFF2-40B4-BE49-F238E27FC236}">
                <a16:creationId xmlns:a16="http://schemas.microsoft.com/office/drawing/2014/main" id="{89B37D8E-CB6C-47AC-B8BC-867B2E2EC03A}"/>
              </a:ext>
            </a:extLst>
          </p:cNvPr>
          <p:cNvSpPr>
            <a:spLocks noGrp="1"/>
          </p:cNvSpPr>
          <p:nvPr>
            <p:ph idx="10" hasCustomPrompt="1"/>
          </p:nvPr>
        </p:nvSpPr>
        <p:spPr>
          <a:xfrm>
            <a:off x="6096000" y="899410"/>
            <a:ext cx="5380220" cy="5237998"/>
          </a:xfrm>
          <a:prstGeom prst="rect">
            <a:avLst/>
          </a:prstGeom>
        </p:spPr>
        <p:txBody>
          <a:bodyPr/>
          <a:lstStyle>
            <a:lvl1pPr marL="0" marR="0" indent="0" algn="l" defTabSz="457200" rtl="0" eaLnBrk="1" fontAlgn="auto" latinLnBrk="0" hangingPunct="1">
              <a:lnSpc>
                <a:spcPct val="150000"/>
              </a:lnSpc>
              <a:spcBef>
                <a:spcPts val="0"/>
              </a:spcBef>
              <a:spcAft>
                <a:spcPts val="0"/>
              </a:spcAft>
              <a:buClr>
                <a:schemeClr val="accent1"/>
              </a:buClr>
              <a:buSzPct val="115000"/>
              <a:buFontTx/>
              <a:buNone/>
              <a:tabLst/>
              <a:defRPr sz="2400" b="1">
                <a:latin typeface="微软雅黑" panose="020B0503020204020204" pitchFamily="34" charset="-122"/>
                <a:ea typeface="微软雅黑" panose="020B0503020204020204" pitchFamily="34" charset="-122"/>
              </a:defRPr>
            </a:lvl1pPr>
            <a:lvl2pPr marL="457200" indent="0">
              <a:lnSpc>
                <a:spcPct val="150000"/>
              </a:lnSpc>
              <a:spcBef>
                <a:spcPts val="0"/>
              </a:spcBef>
              <a:spcAft>
                <a:spcPts val="0"/>
              </a:spcAft>
              <a:buFontTx/>
              <a:buNone/>
              <a:defRPr sz="2000" b="1">
                <a:latin typeface="微软雅黑" panose="020B0503020204020204" pitchFamily="34" charset="-122"/>
                <a:ea typeface="微软雅黑" panose="020B0503020204020204" pitchFamily="34" charset="-122"/>
              </a:defRPr>
            </a:lvl2pPr>
            <a:lvl3pPr marL="914400" indent="0">
              <a:lnSpc>
                <a:spcPct val="150000"/>
              </a:lnSpc>
              <a:spcBef>
                <a:spcPts val="0"/>
              </a:spcBef>
              <a:spcAft>
                <a:spcPts val="0"/>
              </a:spcAft>
              <a:buFontTx/>
              <a:buNone/>
              <a:defRPr sz="1800" b="1">
                <a:latin typeface="微软雅黑" panose="020B0503020204020204" pitchFamily="34" charset="-122"/>
                <a:ea typeface="微软雅黑" panose="020B0503020204020204" pitchFamily="34" charset="-122"/>
              </a:defRPr>
            </a:lvl3pPr>
            <a:lvl4pPr marL="1371600" indent="0">
              <a:lnSpc>
                <a:spcPct val="150000"/>
              </a:lnSpc>
              <a:spcBef>
                <a:spcPts val="0"/>
              </a:spcBef>
              <a:spcAft>
                <a:spcPts val="0"/>
              </a:spcAft>
              <a:buFontTx/>
              <a:buNone/>
              <a:defRPr sz="1600" b="1">
                <a:latin typeface="微软雅黑" panose="020B0503020204020204" pitchFamily="34" charset="-122"/>
                <a:ea typeface="微软雅黑" panose="020B0503020204020204" pitchFamily="34" charset="-122"/>
              </a:defRPr>
            </a:lvl4pPr>
            <a:lvl5pPr marL="1828800" marR="0" indent="0" algn="l" defTabSz="457200" rtl="0" eaLnBrk="1" fontAlgn="auto" latinLnBrk="0" hangingPunct="1">
              <a:lnSpc>
                <a:spcPct val="150000"/>
              </a:lnSpc>
              <a:spcBef>
                <a:spcPts val="0"/>
              </a:spcBef>
              <a:spcAft>
                <a:spcPts val="0"/>
              </a:spcAft>
              <a:buClr>
                <a:schemeClr val="accent1"/>
              </a:buClr>
              <a:buSzPct val="115000"/>
              <a:buFontTx/>
              <a:buNone/>
              <a:tabLst/>
              <a:defRPr sz="1400" b="1">
                <a:latin typeface="微软雅黑" panose="020B0503020204020204" pitchFamily="34" charset="-122"/>
                <a:ea typeface="微软雅黑" panose="020B0503020204020204" pitchFamily="34" charset="-122"/>
              </a:defRPr>
            </a:lvl5pPr>
          </a:lstStyle>
          <a:p>
            <a:pPr lvl="0"/>
            <a:r>
              <a:rPr lang="zh-CN" altLang="en-US" dirty="0"/>
              <a:t>单击此处添加正文</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Tree>
    <p:extLst>
      <p:ext uri="{BB962C8B-B14F-4D97-AF65-F5344CB8AC3E}">
        <p14:creationId xmlns:p14="http://schemas.microsoft.com/office/powerpoint/2010/main" val="4486477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5E28B1FC-3605-4CC3-A226-94C02D2641C3}"/>
              </a:ext>
            </a:extLst>
          </p:cNvPr>
          <p:cNvSpPr>
            <a:spLocks noGrp="1"/>
          </p:cNvSpPr>
          <p:nvPr>
            <p:ph type="title" hasCustomPrompt="1"/>
          </p:nvPr>
        </p:nvSpPr>
        <p:spPr>
          <a:xfrm>
            <a:off x="0" y="0"/>
            <a:ext cx="12192000" cy="900000"/>
          </a:xfrm>
          <a:prstGeom prst="rect">
            <a:avLst/>
          </a:prstGeom>
        </p:spPr>
        <p:txBody>
          <a:bodyPr anchor="ctr"/>
          <a:lstStyle>
            <a:lvl1pPr marL="0" indent="0" algn="ctr">
              <a:buFont typeface="Wingdings" panose="05000000000000000000" pitchFamily="2" charset="2"/>
              <a:buNone/>
              <a:defRPr lang="zh-CN" altLang="en-US" sz="2800" b="1" kern="1200" cap="none" dirty="0">
                <a:ln w="3175" cmpd="sng">
                  <a:noFill/>
                </a:ln>
                <a:solidFill>
                  <a:schemeClr val="bg1"/>
                </a:solidFill>
                <a:effectLst>
                  <a:glow rad="88900">
                    <a:srgbClr val="073780">
                      <a:alpha val="58000"/>
                    </a:srgbClr>
                  </a:glow>
                </a:effectLst>
                <a:latin typeface="微软雅黑" panose="020B0503020204020204" pitchFamily="34" charset="-122"/>
                <a:ea typeface="微软雅黑" panose="020B0503020204020204" pitchFamily="34" charset="-122"/>
                <a:cs typeface="+mj-cs"/>
              </a:defRPr>
            </a:lvl1pPr>
          </a:lstStyle>
          <a:p>
            <a:r>
              <a:rPr lang="zh-CN" altLang="en-US" dirty="0"/>
              <a:t>单击此处添加标题</a:t>
            </a:r>
            <a:endParaRPr lang="en-US" dirty="0"/>
          </a:p>
        </p:txBody>
      </p:sp>
      <p:cxnSp>
        <p:nvCxnSpPr>
          <p:cNvPr id="6" name="直接连接符 5">
            <a:extLst>
              <a:ext uri="{FF2B5EF4-FFF2-40B4-BE49-F238E27FC236}">
                <a16:creationId xmlns:a16="http://schemas.microsoft.com/office/drawing/2014/main" id="{8A153692-77AD-465A-A07A-1F236B045846}"/>
              </a:ext>
            </a:extLst>
          </p:cNvPr>
          <p:cNvCxnSpPr/>
          <p:nvPr userDrawn="1"/>
        </p:nvCxnSpPr>
        <p:spPr>
          <a:xfrm>
            <a:off x="0" y="900000"/>
            <a:ext cx="11273869" cy="0"/>
          </a:xfrm>
          <a:prstGeom prst="line">
            <a:avLst/>
          </a:prstGeom>
          <a:ln w="12700">
            <a:gradFill flip="none" rotWithShape="1">
              <a:gsLst>
                <a:gs pos="6000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1A30A995-568B-4288-A1AE-69EE8DAF081C}"/>
              </a:ext>
            </a:extLst>
          </p:cNvPr>
          <p:cNvGrpSpPr/>
          <p:nvPr userDrawn="1"/>
        </p:nvGrpSpPr>
        <p:grpSpPr>
          <a:xfrm>
            <a:off x="0" y="759581"/>
            <a:ext cx="5800195" cy="78378"/>
            <a:chOff x="-1" y="759581"/>
            <a:chExt cx="5800195" cy="78378"/>
          </a:xfrm>
        </p:grpSpPr>
        <p:sp>
          <p:nvSpPr>
            <p:cNvPr id="8" name="任意多边形 41">
              <a:extLst>
                <a:ext uri="{FF2B5EF4-FFF2-40B4-BE49-F238E27FC236}">
                  <a16:creationId xmlns:a16="http://schemas.microsoft.com/office/drawing/2014/main" id="{548C9EB0-9642-44C5-B2B7-07F802F76B58}"/>
                </a:ext>
              </a:extLst>
            </p:cNvPr>
            <p:cNvSpPr/>
            <p:nvPr/>
          </p:nvSpPr>
          <p:spPr>
            <a:xfrm flipV="1">
              <a:off x="-1" y="759581"/>
              <a:ext cx="2052000" cy="78378"/>
            </a:xfrm>
            <a:custGeom>
              <a:avLst/>
              <a:gdLst>
                <a:gd name="connsiteX0" fmla="*/ 1585578 w 1713495"/>
                <a:gd name="connsiteY0" fmla="*/ 78378 h 78378"/>
                <a:gd name="connsiteX1" fmla="*/ 0 w 1713495"/>
                <a:gd name="connsiteY1" fmla="*/ 78378 h 78378"/>
                <a:gd name="connsiteX2" fmla="*/ 0 w 1713495"/>
                <a:gd name="connsiteY2" fmla="*/ 0 h 78378"/>
                <a:gd name="connsiteX3" fmla="*/ 1713495 w 1713495"/>
                <a:gd name="connsiteY3" fmla="*/ 0 h 78378"/>
              </a:gdLst>
              <a:ahLst/>
              <a:cxnLst>
                <a:cxn ang="0">
                  <a:pos x="connsiteX0" y="connsiteY0"/>
                </a:cxn>
                <a:cxn ang="0">
                  <a:pos x="connsiteX1" y="connsiteY1"/>
                </a:cxn>
                <a:cxn ang="0">
                  <a:pos x="connsiteX2" y="connsiteY2"/>
                </a:cxn>
                <a:cxn ang="0">
                  <a:pos x="connsiteX3" y="connsiteY3"/>
                </a:cxn>
              </a:cxnLst>
              <a:rect l="l" t="t" r="r" b="b"/>
              <a:pathLst>
                <a:path w="1713495" h="78378">
                  <a:moveTo>
                    <a:pt x="1585578" y="78378"/>
                  </a:moveTo>
                  <a:lnTo>
                    <a:pt x="0" y="78378"/>
                  </a:lnTo>
                  <a:lnTo>
                    <a:pt x="0" y="0"/>
                  </a:lnTo>
                  <a:lnTo>
                    <a:pt x="1713495" y="0"/>
                  </a:lnTo>
                  <a:close/>
                </a:path>
              </a:pathLst>
            </a:custGeom>
            <a:solidFill>
              <a:srgbClr val="61D6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a:extLst>
                <a:ext uri="{FF2B5EF4-FFF2-40B4-BE49-F238E27FC236}">
                  <a16:creationId xmlns:a16="http://schemas.microsoft.com/office/drawing/2014/main" id="{19E95DC8-161D-40C4-9683-31996CC1D0AF}"/>
                </a:ext>
              </a:extLst>
            </p:cNvPr>
            <p:cNvSpPr/>
            <p:nvPr/>
          </p:nvSpPr>
          <p:spPr>
            <a:xfrm flipV="1">
              <a:off x="2017888" y="759581"/>
              <a:ext cx="1488141" cy="78378"/>
            </a:xfrm>
            <a:prstGeom prst="parallelogram">
              <a:avLst>
                <a:gd name="adj" fmla="val 163205"/>
              </a:avLst>
            </a:prstGeom>
            <a:solidFill>
              <a:srgbClr val="61D6F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1F05C3C9-12CA-416C-9887-3B295CCCFB74}"/>
                </a:ext>
              </a:extLst>
            </p:cNvPr>
            <p:cNvSpPr/>
            <p:nvPr/>
          </p:nvSpPr>
          <p:spPr>
            <a:xfrm flipV="1">
              <a:off x="3480184" y="759581"/>
              <a:ext cx="1033430" cy="78378"/>
            </a:xfrm>
            <a:prstGeom prst="parallelogram">
              <a:avLst>
                <a:gd name="adj" fmla="val 163205"/>
              </a:avLst>
            </a:prstGeom>
            <a:solidFill>
              <a:srgbClr val="61D6FE">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a:extLst>
                <a:ext uri="{FF2B5EF4-FFF2-40B4-BE49-F238E27FC236}">
                  <a16:creationId xmlns:a16="http://schemas.microsoft.com/office/drawing/2014/main" id="{F7FFC115-1EE8-42CC-B656-23881B4B180E}"/>
                </a:ext>
              </a:extLst>
            </p:cNvPr>
            <p:cNvSpPr/>
            <p:nvPr/>
          </p:nvSpPr>
          <p:spPr>
            <a:xfrm flipV="1">
              <a:off x="4487765" y="759581"/>
              <a:ext cx="454710" cy="78378"/>
            </a:xfrm>
            <a:prstGeom prst="parallelogram">
              <a:avLst>
                <a:gd name="adj" fmla="val 163205"/>
              </a:avLst>
            </a:prstGeom>
            <a:solidFill>
              <a:srgbClr val="61D6F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a:extLst>
                <a:ext uri="{FF2B5EF4-FFF2-40B4-BE49-F238E27FC236}">
                  <a16:creationId xmlns:a16="http://schemas.microsoft.com/office/drawing/2014/main" id="{0214CFBE-9CFB-4E8F-ACC6-A52DE709F3F1}"/>
                </a:ext>
              </a:extLst>
            </p:cNvPr>
            <p:cNvSpPr/>
            <p:nvPr/>
          </p:nvSpPr>
          <p:spPr>
            <a:xfrm flipV="1">
              <a:off x="4916628" y="759581"/>
              <a:ext cx="454710" cy="78378"/>
            </a:xfrm>
            <a:prstGeom prst="parallelogram">
              <a:avLst>
                <a:gd name="adj" fmla="val 163205"/>
              </a:avLst>
            </a:prstGeom>
            <a:solidFill>
              <a:srgbClr val="61D6F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898DDCA7-1785-41D9-A6F9-240A9B2251D5}"/>
                </a:ext>
              </a:extLst>
            </p:cNvPr>
            <p:cNvSpPr/>
            <p:nvPr/>
          </p:nvSpPr>
          <p:spPr>
            <a:xfrm flipV="1">
              <a:off x="5345484" y="759581"/>
              <a:ext cx="454710" cy="78378"/>
            </a:xfrm>
            <a:prstGeom prst="parallelogram">
              <a:avLst>
                <a:gd name="adj" fmla="val 163205"/>
              </a:avLst>
            </a:prstGeom>
            <a:solidFill>
              <a:srgbClr val="61D6F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7316799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404091"/>
      </p:ext>
    </p:extLst>
  </p:cSld>
  <p:clrMap bg1="lt1" tx1="dk1" bg2="lt2" tx2="dk2" accent1="accent1" accent2="accent2" accent3="accent3" accent4="accent4" accent5="accent5" accent6="accent6" hlink="hlink" folHlink="folHlink"/>
  <p:sldLayoutIdLst>
    <p:sldLayoutId id="2147484302" r:id="rId1"/>
    <p:sldLayoutId id="2147484303" r:id="rId2"/>
    <p:sldLayoutId id="2147484310" r:id="rId3"/>
    <p:sldLayoutId id="2147484308" r:id="rId4"/>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hf sldNum="0" hdr="0" ftr="0" dt="0"/>
  <p:txStyles>
    <p:titleStyle>
      <a:lvl1pPr algn="ctr" defTabSz="457200" rtl="0" eaLnBrk="1" latinLnBrk="0" hangingPunct="1">
        <a:spcBef>
          <a:spcPct val="0"/>
        </a:spcBef>
        <a:buNone/>
        <a:defRPr sz="3600" kern="1200" cap="none">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457200" rtl="0" eaLnBrk="1" latinLnBrk="0" hangingPunct="1">
        <a:spcBef>
          <a:spcPct val="20000"/>
        </a:spcBef>
        <a:spcAft>
          <a:spcPts val="600"/>
        </a:spcAft>
        <a:buClr>
          <a:schemeClr val="accent1"/>
        </a:buClr>
        <a:buSzPct val="115000"/>
        <a:buFont typeface="Arial"/>
        <a:buNone/>
        <a:defRPr sz="2800" kern="1200" cap="none">
          <a:solidFill>
            <a:schemeClr val="bg1"/>
          </a:solidFill>
          <a:effectLst/>
          <a:latin typeface="+mn-lt"/>
          <a:ea typeface="+mn-ea"/>
          <a:cs typeface="+mn-cs"/>
        </a:defRPr>
      </a:lvl1pPr>
      <a:lvl2pPr marL="457200" indent="0" algn="l" defTabSz="457200" rtl="0" eaLnBrk="1" latinLnBrk="0" hangingPunct="1">
        <a:spcBef>
          <a:spcPct val="20000"/>
        </a:spcBef>
        <a:spcAft>
          <a:spcPts val="600"/>
        </a:spcAft>
        <a:buClr>
          <a:schemeClr val="accent1"/>
        </a:buClr>
        <a:buSzPct val="115000"/>
        <a:buFont typeface="Arial"/>
        <a:buNone/>
        <a:defRPr sz="2400" kern="1200" cap="none">
          <a:solidFill>
            <a:schemeClr val="bg1"/>
          </a:solidFill>
          <a:effectLst/>
          <a:latin typeface="+mn-lt"/>
          <a:ea typeface="+mn-ea"/>
          <a:cs typeface="+mn-cs"/>
        </a:defRPr>
      </a:lvl2pPr>
      <a:lvl3pPr marL="914400" indent="0" algn="l" defTabSz="457200" rtl="0" eaLnBrk="1" latinLnBrk="0" hangingPunct="1">
        <a:spcBef>
          <a:spcPct val="20000"/>
        </a:spcBef>
        <a:spcAft>
          <a:spcPts val="600"/>
        </a:spcAft>
        <a:buClr>
          <a:schemeClr val="accent1"/>
        </a:buClr>
        <a:buSzPct val="115000"/>
        <a:buFont typeface="Arial"/>
        <a:buNone/>
        <a:defRPr sz="2000" kern="1200" cap="none">
          <a:solidFill>
            <a:schemeClr val="bg1"/>
          </a:solidFill>
          <a:effectLst/>
          <a:latin typeface="+mn-lt"/>
          <a:ea typeface="+mn-ea"/>
          <a:cs typeface="+mn-cs"/>
        </a:defRPr>
      </a:lvl3pPr>
      <a:lvl4pPr marL="1371600" indent="0" algn="l" defTabSz="457200" rtl="0" eaLnBrk="1" latinLnBrk="0" hangingPunct="1">
        <a:spcBef>
          <a:spcPct val="20000"/>
        </a:spcBef>
        <a:spcAft>
          <a:spcPts val="600"/>
        </a:spcAft>
        <a:buClr>
          <a:schemeClr val="accent1"/>
        </a:buClr>
        <a:buSzPct val="115000"/>
        <a:buFont typeface="Arial"/>
        <a:buNone/>
        <a:defRPr sz="1800" kern="1200" cap="none">
          <a:solidFill>
            <a:schemeClr val="bg1"/>
          </a:solidFill>
          <a:effectLst/>
          <a:latin typeface="+mn-lt"/>
          <a:ea typeface="+mn-ea"/>
          <a:cs typeface="+mn-cs"/>
        </a:defRPr>
      </a:lvl4pPr>
      <a:lvl5pPr marL="1828800" indent="0" algn="l" defTabSz="457200" rtl="0" eaLnBrk="1" latinLnBrk="0" hangingPunct="1">
        <a:spcBef>
          <a:spcPct val="20000"/>
        </a:spcBef>
        <a:spcAft>
          <a:spcPts val="600"/>
        </a:spcAft>
        <a:buClr>
          <a:schemeClr val="accent1"/>
        </a:buClr>
        <a:buSzPct val="115000"/>
        <a:buFont typeface="Arial"/>
        <a:buNone/>
        <a:defRPr sz="16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p:cNvSpPr>
            <a:spLocks noGrp="1"/>
          </p:cNvSpPr>
          <p:nvPr>
            <p:ph type="subTitle" idx="1"/>
          </p:nvPr>
        </p:nvSpPr>
        <p:spPr>
          <a:xfrm>
            <a:off x="2692398" y="3623737"/>
            <a:ext cx="6815669" cy="1329258"/>
          </a:xfrm>
        </p:spPr>
        <p:txBody>
          <a:bodyPr>
            <a:normAutofit/>
          </a:bodyPr>
          <a:lstStyle/>
          <a:p>
            <a:r>
              <a:rPr lang="zh-CN" altLang="en-US" sz="2000" dirty="0"/>
              <a:t>电子科技大学</a:t>
            </a:r>
          </a:p>
          <a:p>
            <a:r>
              <a:rPr lang="zh-CN" altLang="en-US" sz="2000" dirty="0"/>
              <a:t>计算机科学与工程学院</a:t>
            </a:r>
            <a:endParaRPr lang="en-US" altLang="zh-CN" sz="2000" dirty="0"/>
          </a:p>
          <a:p>
            <a:r>
              <a:rPr lang="zh-CN" altLang="en-US" sz="2000" dirty="0"/>
              <a:t>余盛季</a:t>
            </a:r>
            <a:endParaRPr lang="en-US" altLang="zh-CN" sz="2000" dirty="0"/>
          </a:p>
        </p:txBody>
      </p:sp>
      <p:sp>
        <p:nvSpPr>
          <p:cNvPr id="4" name="标题 3"/>
          <p:cNvSpPr>
            <a:spLocks noGrp="1"/>
          </p:cNvSpPr>
          <p:nvPr>
            <p:ph type="title"/>
          </p:nvPr>
        </p:nvSpPr>
        <p:spPr/>
        <p:txBody>
          <a:bodyPr/>
          <a:lstStyle/>
          <a:p>
            <a:r>
              <a:rPr lang="zh-CN" altLang="en-US" sz="5400" dirty="0"/>
              <a:t>程序设计语言与编译</a:t>
            </a:r>
            <a:endParaRPr lang="en-US" sz="5400" dirty="0"/>
          </a:p>
        </p:txBody>
      </p:sp>
    </p:spTree>
    <p:extLst>
      <p:ext uri="{BB962C8B-B14F-4D97-AF65-F5344CB8AC3E}">
        <p14:creationId xmlns:p14="http://schemas.microsoft.com/office/powerpoint/2010/main" val="33633623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a:t>教材</a:t>
            </a:r>
          </a:p>
        </p:txBody>
      </p:sp>
      <p:pic>
        <p:nvPicPr>
          <p:cNvPr id="512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3946" y="1433399"/>
            <a:ext cx="2944108" cy="4362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631006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a:t>参考书（语言部分）</a:t>
            </a:r>
          </a:p>
        </p:txBody>
      </p:sp>
      <p:grpSp>
        <p:nvGrpSpPr>
          <p:cNvPr id="2" name="组合 1">
            <a:extLst>
              <a:ext uri="{FF2B5EF4-FFF2-40B4-BE49-F238E27FC236}">
                <a16:creationId xmlns:a16="http://schemas.microsoft.com/office/drawing/2014/main" id="{FA695497-CBBB-4C6A-81AE-99F587D609D4}"/>
              </a:ext>
            </a:extLst>
          </p:cNvPr>
          <p:cNvGrpSpPr/>
          <p:nvPr/>
        </p:nvGrpSpPr>
        <p:grpSpPr>
          <a:xfrm>
            <a:off x="1295400" y="1665135"/>
            <a:ext cx="9601200" cy="4033523"/>
            <a:chOff x="1295400" y="1665135"/>
            <a:chExt cx="9601200" cy="4033523"/>
          </a:xfrm>
        </p:grpSpPr>
        <p:pic>
          <p:nvPicPr>
            <p:cNvPr id="4" name="图片 3"/>
            <p:cNvPicPr>
              <a:picLocks noChangeAspect="1"/>
            </p:cNvPicPr>
            <p:nvPr/>
          </p:nvPicPr>
          <p:blipFill>
            <a:blip r:embed="rId2"/>
            <a:stretch>
              <a:fillRect/>
            </a:stretch>
          </p:blipFill>
          <p:spPr>
            <a:xfrm>
              <a:off x="4314037" y="1667123"/>
              <a:ext cx="3116894" cy="4026234"/>
            </a:xfrm>
            <a:prstGeom prst="rect">
              <a:avLst/>
            </a:prstGeom>
          </p:spPr>
        </p:pic>
        <p:pic>
          <p:nvPicPr>
            <p:cNvPr id="5" name="图片 4"/>
            <p:cNvPicPr>
              <a:picLocks noChangeAspect="1"/>
            </p:cNvPicPr>
            <p:nvPr/>
          </p:nvPicPr>
          <p:blipFill>
            <a:blip r:embed="rId3"/>
            <a:stretch>
              <a:fillRect/>
            </a:stretch>
          </p:blipFill>
          <p:spPr>
            <a:xfrm>
              <a:off x="7762723" y="1665135"/>
              <a:ext cx="3133877" cy="4026234"/>
            </a:xfrm>
            <a:prstGeom prst="rect">
              <a:avLst/>
            </a:prstGeom>
          </p:spPr>
        </p:pic>
        <p:pic>
          <p:nvPicPr>
            <p:cNvPr id="3" name="图片 2">
              <a:extLst>
                <a:ext uri="{FF2B5EF4-FFF2-40B4-BE49-F238E27FC236}">
                  <a16:creationId xmlns:a16="http://schemas.microsoft.com/office/drawing/2014/main" id="{EB06D922-B511-41CB-A83A-57A9722057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0" y="1672424"/>
              <a:ext cx="2686845" cy="4026234"/>
            </a:xfrm>
            <a:prstGeom prst="rect">
              <a:avLst/>
            </a:prstGeom>
          </p:spPr>
        </p:pic>
      </p:grpSp>
    </p:spTree>
    <p:extLst>
      <p:ext uri="{BB962C8B-B14F-4D97-AF65-F5344CB8AC3E}">
        <p14:creationId xmlns:p14="http://schemas.microsoft.com/office/powerpoint/2010/main" val="76107331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a:t>参考书（编译部分）</a:t>
            </a:r>
          </a:p>
        </p:txBody>
      </p:sp>
      <p:grpSp>
        <p:nvGrpSpPr>
          <p:cNvPr id="4" name="组合 3">
            <a:extLst>
              <a:ext uri="{FF2B5EF4-FFF2-40B4-BE49-F238E27FC236}">
                <a16:creationId xmlns:a16="http://schemas.microsoft.com/office/drawing/2014/main" id="{ED104763-C548-4815-811B-D848B46D9211}"/>
              </a:ext>
            </a:extLst>
          </p:cNvPr>
          <p:cNvGrpSpPr/>
          <p:nvPr/>
        </p:nvGrpSpPr>
        <p:grpSpPr>
          <a:xfrm>
            <a:off x="1524000" y="1692648"/>
            <a:ext cx="9144000" cy="4174752"/>
            <a:chOff x="1524000" y="1692648"/>
            <a:chExt cx="9144000" cy="4174752"/>
          </a:xfrm>
        </p:grpSpPr>
        <p:pic>
          <p:nvPicPr>
            <p:cNvPr id="2" name="图片 1"/>
            <p:cNvPicPr>
              <a:picLocks noChangeAspect="1"/>
            </p:cNvPicPr>
            <p:nvPr/>
          </p:nvPicPr>
          <p:blipFill>
            <a:blip r:embed="rId3"/>
            <a:stretch>
              <a:fillRect/>
            </a:stretch>
          </p:blipFill>
          <p:spPr>
            <a:xfrm>
              <a:off x="7982786" y="1692648"/>
              <a:ext cx="2685214" cy="4174752"/>
            </a:xfrm>
            <a:prstGeom prst="rect">
              <a:avLst/>
            </a:prstGeom>
          </p:spPr>
        </p:pic>
        <p:pic>
          <p:nvPicPr>
            <p:cNvPr id="3" name="图片 2"/>
            <p:cNvPicPr>
              <a:picLocks noChangeAspect="1"/>
            </p:cNvPicPr>
            <p:nvPr/>
          </p:nvPicPr>
          <p:blipFill>
            <a:blip r:embed="rId4"/>
            <a:stretch>
              <a:fillRect/>
            </a:stretch>
          </p:blipFill>
          <p:spPr>
            <a:xfrm>
              <a:off x="4835243" y="1692648"/>
              <a:ext cx="2758105" cy="4174752"/>
            </a:xfrm>
            <a:prstGeom prst="rect">
              <a:avLst/>
            </a:prstGeom>
          </p:spPr>
        </p:pic>
        <p:pic>
          <p:nvPicPr>
            <p:cNvPr id="6" name="图片 5"/>
            <p:cNvPicPr>
              <a:picLocks noChangeAspect="1"/>
            </p:cNvPicPr>
            <p:nvPr/>
          </p:nvPicPr>
          <p:blipFill>
            <a:blip r:embed="rId5"/>
            <a:stretch>
              <a:fillRect/>
            </a:stretch>
          </p:blipFill>
          <p:spPr>
            <a:xfrm>
              <a:off x="1524000" y="1692648"/>
              <a:ext cx="2921805" cy="4174752"/>
            </a:xfrm>
            <a:prstGeom prst="rect">
              <a:avLst/>
            </a:prstGeom>
          </p:spPr>
        </p:pic>
      </p:grpSp>
    </p:spTree>
    <p:extLst>
      <p:ext uri="{BB962C8B-B14F-4D97-AF65-F5344CB8AC3E}">
        <p14:creationId xmlns:p14="http://schemas.microsoft.com/office/powerpoint/2010/main" val="40009076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3"/>
          <p:cNvSpPr>
            <a:spLocks noGrp="1" noChangeArrowheads="1"/>
          </p:cNvSpPr>
          <p:nvPr>
            <p:ph idx="1"/>
          </p:nvPr>
        </p:nvSpPr>
        <p:spPr/>
        <p:txBody>
          <a:bodyPr/>
          <a:lstStyle/>
          <a:p>
            <a:r>
              <a:rPr lang="zh-CN" altLang="en-US">
                <a:solidFill>
                  <a:srgbClr val="EE853E"/>
                </a:solidFill>
              </a:rPr>
              <a:t>语言</a:t>
            </a:r>
            <a:endParaRPr lang="en-US" altLang="zh-CN" dirty="0">
              <a:solidFill>
                <a:srgbClr val="EE853E"/>
              </a:solidFill>
            </a:endParaRPr>
          </a:p>
          <a:p>
            <a:r>
              <a:rPr lang="zh-CN" altLang="en-US"/>
              <a:t>人类</a:t>
            </a:r>
            <a:r>
              <a:rPr lang="zh-CN" altLang="en-US" dirty="0"/>
              <a:t>所特有的用来表达意思、</a:t>
            </a:r>
            <a:r>
              <a:rPr lang="zh-CN" altLang="en-US" dirty="0">
                <a:solidFill>
                  <a:srgbClr val="EE853E"/>
                </a:solidFill>
              </a:rPr>
              <a:t>交流</a:t>
            </a:r>
            <a:r>
              <a:rPr lang="zh-CN" altLang="en-US" dirty="0"/>
              <a:t>思想</a:t>
            </a:r>
            <a:r>
              <a:rPr lang="zh-CN" altLang="en-US" dirty="0">
                <a:solidFill>
                  <a:srgbClr val="EE853E"/>
                </a:solidFill>
              </a:rPr>
              <a:t>的工具</a:t>
            </a:r>
            <a:r>
              <a:rPr lang="zh-CN" altLang="en-US" dirty="0"/>
              <a:t>，是一种特殊的社会现象，由语音、词汇和语法构成一定</a:t>
            </a:r>
            <a:r>
              <a:rPr lang="zh-CN" altLang="en-US"/>
              <a:t>的系统。</a:t>
            </a:r>
            <a:r>
              <a:rPr lang="en-US" altLang="zh-CN"/>
              <a:t>——《</a:t>
            </a:r>
            <a:r>
              <a:rPr lang="zh-CN" altLang="en-US"/>
              <a:t>现代汉语词典</a:t>
            </a:r>
            <a:r>
              <a:rPr lang="en-US" altLang="zh-CN"/>
              <a:t>》</a:t>
            </a:r>
            <a:endParaRPr lang="en-US" altLang="zh-CN" dirty="0"/>
          </a:p>
          <a:p>
            <a:endParaRPr lang="zh-CN" altLang="en-US" dirty="0"/>
          </a:p>
          <a:p>
            <a:r>
              <a:rPr lang="zh-CN" altLang="en-US">
                <a:solidFill>
                  <a:srgbClr val="EE853E"/>
                </a:solidFill>
              </a:rPr>
              <a:t>自然语言</a:t>
            </a:r>
            <a:endParaRPr lang="en-US" altLang="zh-CN" dirty="0">
              <a:solidFill>
                <a:srgbClr val="EE853E"/>
              </a:solidFill>
            </a:endParaRPr>
          </a:p>
          <a:p>
            <a:r>
              <a:rPr lang="zh-CN" altLang="en-US"/>
              <a:t>人</a:t>
            </a:r>
            <a:r>
              <a:rPr lang="zh-CN" altLang="en-US" dirty="0"/>
              <a:t>类社会发展的过程中</a:t>
            </a:r>
            <a:r>
              <a:rPr lang="zh-CN" altLang="en-US" dirty="0">
                <a:solidFill>
                  <a:srgbClr val="EE853E"/>
                </a:solidFill>
              </a:rPr>
              <a:t>自然形成</a:t>
            </a:r>
            <a:r>
              <a:rPr lang="zh-CN" altLang="en-US" dirty="0"/>
              <a:t>的语言。</a:t>
            </a:r>
          </a:p>
        </p:txBody>
      </p:sp>
      <p:sp>
        <p:nvSpPr>
          <p:cNvPr id="14339" name="Rectangle 2"/>
          <p:cNvSpPr>
            <a:spLocks noGrp="1" noChangeArrowheads="1"/>
          </p:cNvSpPr>
          <p:nvPr>
            <p:ph type="title"/>
          </p:nvPr>
        </p:nvSpPr>
        <p:spPr>
          <a:xfrm>
            <a:off x="0" y="0"/>
            <a:ext cx="12192000" cy="900000"/>
          </a:xfrm>
        </p:spPr>
        <p:txBody>
          <a:bodyPr/>
          <a:lstStyle/>
          <a:p>
            <a:r>
              <a:rPr lang="zh-CN" altLang="en-US" dirty="0"/>
              <a:t>什么是程序设计语言</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5" name="Rectangle 3"/>
          <p:cNvSpPr>
            <a:spLocks noGrp="1" noChangeArrowheads="1"/>
          </p:cNvSpPr>
          <p:nvPr>
            <p:ph idx="1"/>
          </p:nvPr>
        </p:nvSpPr>
        <p:spPr/>
        <p:txBody>
          <a:bodyPr/>
          <a:lstStyle/>
          <a:p>
            <a:r>
              <a:rPr lang="zh-CN" altLang="en-US">
                <a:solidFill>
                  <a:srgbClr val="EE853E"/>
                </a:solidFill>
              </a:rPr>
              <a:t>人工语言</a:t>
            </a:r>
            <a:endParaRPr lang="en-US" altLang="zh-CN" dirty="0">
              <a:solidFill>
                <a:srgbClr val="EE853E"/>
              </a:solidFill>
            </a:endParaRPr>
          </a:p>
          <a:p>
            <a:r>
              <a:rPr lang="zh-CN" altLang="en-US"/>
              <a:t>人类</a:t>
            </a:r>
            <a:r>
              <a:rPr lang="zh-CN" altLang="en-US" dirty="0"/>
              <a:t>为了某种用途而</a:t>
            </a:r>
            <a:r>
              <a:rPr lang="zh-CN" altLang="en-US" dirty="0">
                <a:solidFill>
                  <a:srgbClr val="EE853E"/>
                </a:solidFill>
              </a:rPr>
              <a:t>特意创造</a:t>
            </a:r>
            <a:r>
              <a:rPr lang="zh-CN" altLang="en-US" dirty="0"/>
              <a:t>的语言。</a:t>
            </a:r>
          </a:p>
          <a:p>
            <a:endParaRPr lang="en-US" altLang="zh-CN" dirty="0"/>
          </a:p>
          <a:p>
            <a:r>
              <a:rPr lang="zh-CN" altLang="en-US">
                <a:solidFill>
                  <a:srgbClr val="EE853E"/>
                </a:solidFill>
              </a:rPr>
              <a:t>程序设计语言</a:t>
            </a:r>
            <a:endParaRPr lang="en-US" altLang="zh-CN" dirty="0">
              <a:solidFill>
                <a:srgbClr val="EE853E"/>
              </a:solidFill>
            </a:endParaRPr>
          </a:p>
          <a:p>
            <a:r>
              <a:rPr lang="zh-CN" altLang="en-US"/>
              <a:t>人类</a:t>
            </a:r>
            <a:r>
              <a:rPr lang="zh-CN" altLang="en-US" dirty="0"/>
              <a:t>为了</a:t>
            </a:r>
            <a:r>
              <a:rPr lang="zh-CN" altLang="en-US" dirty="0">
                <a:solidFill>
                  <a:srgbClr val="EE853E"/>
                </a:solidFill>
              </a:rPr>
              <a:t>与计算机交流</a:t>
            </a:r>
            <a:r>
              <a:rPr lang="zh-CN" altLang="en-US" dirty="0"/>
              <a:t>而特意创造的语言，也称为</a:t>
            </a:r>
            <a:r>
              <a:rPr lang="zh-CN" altLang="en-US" dirty="0">
                <a:solidFill>
                  <a:srgbClr val="EE853E"/>
                </a:solidFill>
              </a:rPr>
              <a:t>计算机语言</a:t>
            </a:r>
            <a:r>
              <a:rPr lang="zh-CN" altLang="en-US" dirty="0"/>
              <a:t>。</a:t>
            </a:r>
          </a:p>
        </p:txBody>
      </p:sp>
      <p:sp>
        <p:nvSpPr>
          <p:cNvPr id="3" name="标题 2">
            <a:extLst>
              <a:ext uri="{FF2B5EF4-FFF2-40B4-BE49-F238E27FC236}">
                <a16:creationId xmlns:a16="http://schemas.microsoft.com/office/drawing/2014/main" id="{56EDC6A8-654B-4576-A337-F89AA52113D6}"/>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p:cNvSpPr>
            <a:spLocks noGrp="1" noChangeArrowheads="1"/>
          </p:cNvSpPr>
          <p:nvPr>
            <p:ph idx="1"/>
          </p:nvPr>
        </p:nvSpPr>
        <p:spPr>
          <a:xfrm>
            <a:off x="720000" y="900000"/>
            <a:ext cx="4842600" cy="5237998"/>
          </a:xfrm>
        </p:spPr>
        <p:txBody>
          <a:bodyPr/>
          <a:lstStyle/>
          <a:p>
            <a:r>
              <a:rPr lang="zh-CN" altLang="en-US"/>
              <a:t>机器语言 → 汇编语言 → 高级语言</a:t>
            </a:r>
          </a:p>
          <a:p>
            <a:endParaRPr lang="zh-CN" altLang="en-US" dirty="0"/>
          </a:p>
          <a:p>
            <a:r>
              <a:rPr lang="zh-CN" altLang="en-US">
                <a:solidFill>
                  <a:srgbClr val="EE853E"/>
                </a:solidFill>
              </a:rPr>
              <a:t>机器语言</a:t>
            </a:r>
            <a:endParaRPr lang="en-US" altLang="zh-CN" dirty="0">
              <a:solidFill>
                <a:srgbClr val="EE853E"/>
              </a:solidFill>
            </a:endParaRPr>
          </a:p>
          <a:p>
            <a:r>
              <a:rPr lang="zh-CN" altLang="en-US"/>
              <a:t>也称为</a:t>
            </a:r>
            <a:r>
              <a:rPr lang="zh-CN" altLang="en-US">
                <a:solidFill>
                  <a:srgbClr val="EE853E"/>
                </a:solidFill>
              </a:rPr>
              <a:t>二进制语言</a:t>
            </a:r>
            <a:r>
              <a:rPr lang="zh-CN" altLang="en-US"/>
              <a:t>，计算机</a:t>
            </a:r>
            <a:r>
              <a:rPr lang="zh-CN" altLang="en-US" dirty="0"/>
              <a:t>可以直接理解</a:t>
            </a:r>
            <a:r>
              <a:rPr lang="zh-CN" altLang="en-US"/>
              <a:t>与执行。</a:t>
            </a:r>
            <a:endParaRPr lang="zh-CN" altLang="en-US" dirty="0"/>
          </a:p>
        </p:txBody>
      </p:sp>
      <p:sp>
        <p:nvSpPr>
          <p:cNvPr id="16387" name="Rectangle 2"/>
          <p:cNvSpPr>
            <a:spLocks noGrp="1" noChangeArrowheads="1"/>
          </p:cNvSpPr>
          <p:nvPr>
            <p:ph type="title"/>
          </p:nvPr>
        </p:nvSpPr>
        <p:spPr/>
        <p:txBody>
          <a:bodyPr/>
          <a:lstStyle/>
          <a:p>
            <a:r>
              <a:rPr lang="zh-CN" altLang="en-US" dirty="0"/>
              <a:t>程序设计语言的发展</a:t>
            </a:r>
          </a:p>
        </p:txBody>
      </p:sp>
      <p:sp>
        <p:nvSpPr>
          <p:cNvPr id="2" name="内容占位符 1">
            <a:extLst>
              <a:ext uri="{FF2B5EF4-FFF2-40B4-BE49-F238E27FC236}">
                <a16:creationId xmlns:a16="http://schemas.microsoft.com/office/drawing/2014/main" id="{C1090695-546D-4A1A-8D97-D4C0C18D74B3}"/>
              </a:ext>
            </a:extLst>
          </p:cNvPr>
          <p:cNvSpPr>
            <a:spLocks noGrp="1"/>
          </p:cNvSpPr>
          <p:nvPr>
            <p:ph idx="10"/>
          </p:nvPr>
        </p:nvSpPr>
        <p:spPr/>
        <p:txBody>
          <a:bodyPr/>
          <a:lstStyle/>
          <a:p>
            <a:r>
              <a:rPr lang="zh-CN" altLang="en-US">
                <a:solidFill>
                  <a:srgbClr val="EE853E"/>
                </a:solidFill>
              </a:rPr>
              <a:t>机器语言实例</a:t>
            </a:r>
            <a:endParaRPr lang="en-US" altLang="zh-CN"/>
          </a:p>
          <a:p>
            <a:r>
              <a:rPr lang="en-US" altLang="zh-CN"/>
              <a:t>…</a:t>
            </a:r>
          </a:p>
          <a:p>
            <a:r>
              <a:rPr lang="en-US" altLang="zh-CN"/>
              <a:t>0001 10 10 10001000</a:t>
            </a:r>
          </a:p>
          <a:p>
            <a:r>
              <a:rPr lang="en-US" altLang="zh-CN"/>
              <a:t>0100 10 00 01100100</a:t>
            </a:r>
          </a:p>
          <a:p>
            <a:r>
              <a:rPr lang="en-US" altLang="zh-CN"/>
              <a:t>0001 01 10 10000100</a:t>
            </a:r>
          </a:p>
          <a:p>
            <a:r>
              <a:rPr lang="en-US" altLang="zh-CN"/>
              <a:t>0011 01 01 00000010</a:t>
            </a:r>
          </a:p>
          <a:p>
            <a:r>
              <a:rPr lang="en-US" altLang="zh-CN"/>
              <a:t>0010 01 10 10000000</a:t>
            </a:r>
          </a:p>
          <a:p>
            <a:r>
              <a:rPr lang="en-US" altLang="zh-CN"/>
              <a:t>…</a:t>
            </a: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p:cNvSpPr>
            <a:spLocks noGrp="1" noChangeArrowheads="1"/>
          </p:cNvSpPr>
          <p:nvPr>
            <p:ph idx="1"/>
          </p:nvPr>
        </p:nvSpPr>
        <p:spPr>
          <a:xfrm>
            <a:off x="720000" y="900000"/>
            <a:ext cx="4080600" cy="5237998"/>
          </a:xfrm>
        </p:spPr>
        <p:txBody>
          <a:bodyPr/>
          <a:lstStyle/>
          <a:p>
            <a:r>
              <a:rPr lang="zh-CN" altLang="en-US">
                <a:solidFill>
                  <a:srgbClr val="EE853E"/>
                </a:solidFill>
              </a:rPr>
              <a:t>汇编语言</a:t>
            </a:r>
            <a:endParaRPr lang="en-US" altLang="zh-CN" dirty="0">
              <a:solidFill>
                <a:srgbClr val="EE853E"/>
              </a:solidFill>
            </a:endParaRPr>
          </a:p>
          <a:p>
            <a:r>
              <a:rPr lang="zh-CN" altLang="en-US"/>
              <a:t>将</a:t>
            </a:r>
            <a:r>
              <a:rPr lang="zh-CN" altLang="en-US" dirty="0"/>
              <a:t>机器语言</a:t>
            </a:r>
            <a:r>
              <a:rPr lang="zh-CN" altLang="en-US" dirty="0">
                <a:solidFill>
                  <a:srgbClr val="EE853E"/>
                </a:solidFill>
              </a:rPr>
              <a:t>符号化</a:t>
            </a:r>
            <a:r>
              <a:rPr lang="zh-CN" altLang="en-US" dirty="0"/>
              <a:t>，以方便开发人员理解和掌握。</a:t>
            </a:r>
          </a:p>
        </p:txBody>
      </p:sp>
      <p:sp>
        <p:nvSpPr>
          <p:cNvPr id="2" name="标题 1">
            <a:extLst>
              <a:ext uri="{FF2B5EF4-FFF2-40B4-BE49-F238E27FC236}">
                <a16:creationId xmlns:a16="http://schemas.microsoft.com/office/drawing/2014/main" id="{A8E8964C-FDEE-43FB-B655-E30167BFBB30}"/>
              </a:ext>
            </a:extLst>
          </p:cNvPr>
          <p:cNvSpPr>
            <a:spLocks noGrp="1"/>
          </p:cNvSpPr>
          <p:nvPr>
            <p:ph type="title"/>
          </p:nvPr>
        </p:nvSpPr>
        <p:spPr/>
        <p:txBody>
          <a:bodyPr/>
          <a:lstStyle/>
          <a:p>
            <a:endParaRPr lang="zh-CN" altLang="en-US"/>
          </a:p>
        </p:txBody>
      </p:sp>
      <p:sp>
        <p:nvSpPr>
          <p:cNvPr id="4" name="内容占位符 3">
            <a:extLst>
              <a:ext uri="{FF2B5EF4-FFF2-40B4-BE49-F238E27FC236}">
                <a16:creationId xmlns:a16="http://schemas.microsoft.com/office/drawing/2014/main" id="{7405335B-6182-4841-933D-D8350D81730C}"/>
              </a:ext>
            </a:extLst>
          </p:cNvPr>
          <p:cNvSpPr>
            <a:spLocks noGrp="1"/>
          </p:cNvSpPr>
          <p:nvPr>
            <p:ph idx="10"/>
          </p:nvPr>
        </p:nvSpPr>
        <p:spPr/>
        <p:txBody>
          <a:bodyPr/>
          <a:lstStyle/>
          <a:p>
            <a:r>
              <a:rPr lang="zh-CN" altLang="en-US">
                <a:solidFill>
                  <a:srgbClr val="EE853E"/>
                </a:solidFill>
              </a:rPr>
              <a:t>汇编语言实例</a:t>
            </a:r>
            <a:endParaRPr lang="en-US" altLang="zh-CN">
              <a:solidFill>
                <a:srgbClr val="EE853E"/>
              </a:solidFill>
            </a:endParaRPr>
          </a:p>
          <a:p>
            <a:r>
              <a:rPr lang="en-US" altLang="zh-CN"/>
              <a:t>…</a:t>
            </a:r>
          </a:p>
          <a:p>
            <a:r>
              <a:rPr lang="en-US" altLang="zh-CN"/>
              <a:t>MOV  R2, sym3</a:t>
            </a:r>
          </a:p>
          <a:p>
            <a:r>
              <a:rPr lang="en-US" altLang="zh-CN"/>
              <a:t>MUL  R2, 100</a:t>
            </a:r>
          </a:p>
          <a:p>
            <a:r>
              <a:rPr lang="en-US" altLang="zh-CN"/>
              <a:t>MOV  R1, sym2 </a:t>
            </a:r>
          </a:p>
          <a:p>
            <a:r>
              <a:rPr lang="en-US" altLang="zh-CN"/>
              <a:t>ADD  R1, R2</a:t>
            </a:r>
          </a:p>
          <a:p>
            <a:r>
              <a:rPr lang="en-US" altLang="zh-CN"/>
              <a:t>MOV  sym1, R1</a:t>
            </a:r>
          </a:p>
          <a:p>
            <a:r>
              <a:rPr lang="en-US" altLang="zh-CN"/>
              <a:t>…</a:t>
            </a:r>
          </a:p>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idx="1"/>
          </p:nvPr>
        </p:nvSpPr>
        <p:spPr/>
        <p:txBody>
          <a:bodyPr/>
          <a:lstStyle/>
          <a:p>
            <a:r>
              <a:rPr lang="zh-CN" altLang="en-US">
                <a:solidFill>
                  <a:srgbClr val="EE853E"/>
                </a:solidFill>
              </a:rPr>
              <a:t>低级语言</a:t>
            </a:r>
            <a:endParaRPr lang="en-US" altLang="zh-CN" dirty="0">
              <a:solidFill>
                <a:srgbClr val="EE853E"/>
              </a:solidFill>
            </a:endParaRPr>
          </a:p>
          <a:p>
            <a:r>
              <a:rPr lang="zh-CN" altLang="en-US"/>
              <a:t>机器语言</a:t>
            </a:r>
            <a:r>
              <a:rPr lang="zh-CN" altLang="en-US" dirty="0"/>
              <a:t>和汇编语言都是与计算机底层硬件密切相关（简称：</a:t>
            </a:r>
            <a:r>
              <a:rPr lang="zh-CN" altLang="en-US" dirty="0">
                <a:solidFill>
                  <a:srgbClr val="EE853E"/>
                </a:solidFill>
              </a:rPr>
              <a:t>机器相关</a:t>
            </a:r>
            <a:r>
              <a:rPr lang="zh-CN" altLang="en-US" dirty="0"/>
              <a:t>）的程序设计语言，通常称为低级语言。</a:t>
            </a:r>
            <a:endParaRPr lang="en-US" altLang="zh-CN" dirty="0"/>
          </a:p>
          <a:p>
            <a:endParaRPr lang="en-US" altLang="zh-CN" dirty="0"/>
          </a:p>
          <a:p>
            <a:r>
              <a:rPr lang="zh-CN" altLang="en-US">
                <a:solidFill>
                  <a:srgbClr val="EE853E"/>
                </a:solidFill>
              </a:rPr>
              <a:t>高级语言</a:t>
            </a:r>
            <a:endParaRPr lang="en-US" altLang="zh-CN" dirty="0">
              <a:solidFill>
                <a:srgbClr val="EE853E"/>
              </a:solidFill>
            </a:endParaRPr>
          </a:p>
          <a:p>
            <a:r>
              <a:rPr lang="zh-CN" altLang="en-US"/>
              <a:t>其它</a:t>
            </a:r>
            <a:r>
              <a:rPr lang="zh-CN" altLang="en-US" dirty="0"/>
              <a:t>与计算机底层硬件没有直接关系（简称：</a:t>
            </a:r>
            <a:r>
              <a:rPr lang="zh-CN" altLang="en-US" dirty="0">
                <a:solidFill>
                  <a:srgbClr val="EE853E"/>
                </a:solidFill>
              </a:rPr>
              <a:t>机器无关</a:t>
            </a:r>
            <a:r>
              <a:rPr lang="zh-CN" altLang="en-US" dirty="0"/>
              <a:t>）的程序设计语言，通常称为高级语言。</a:t>
            </a:r>
          </a:p>
        </p:txBody>
      </p:sp>
      <p:sp>
        <p:nvSpPr>
          <p:cNvPr id="3" name="标题 2">
            <a:extLst>
              <a:ext uri="{FF2B5EF4-FFF2-40B4-BE49-F238E27FC236}">
                <a16:creationId xmlns:a16="http://schemas.microsoft.com/office/drawing/2014/main" id="{30D37E0B-302B-4F32-9929-87F6E6DA1BB4}"/>
              </a:ext>
            </a:extLst>
          </p:cNvPr>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idx="1"/>
          </p:nvPr>
        </p:nvSpPr>
        <p:spPr/>
        <p:txBody>
          <a:bodyPr/>
          <a:lstStyle/>
          <a:p>
            <a:r>
              <a:rPr lang="en-US" altLang="zh-CN" dirty="0"/>
              <a:t>C</a:t>
            </a:r>
            <a:r>
              <a:rPr lang="zh-CN" altLang="en-US" dirty="0"/>
              <a:t>语言实例</a:t>
            </a:r>
          </a:p>
          <a:p>
            <a:r>
              <a:rPr lang="en-US" altLang="zh-CN" dirty="0"/>
              <a:t>…</a:t>
            </a:r>
          </a:p>
          <a:p>
            <a:r>
              <a:rPr lang="en-US" altLang="zh-CN" dirty="0"/>
              <a:t>float </a:t>
            </a:r>
            <a:r>
              <a:rPr lang="en-US" altLang="zh-CN" dirty="0" err="1"/>
              <a:t>aaa</a:t>
            </a:r>
            <a:r>
              <a:rPr lang="en-US" altLang="zh-CN" dirty="0"/>
              <a:t>, </a:t>
            </a:r>
            <a:r>
              <a:rPr lang="en-US" altLang="zh-CN" dirty="0" err="1"/>
              <a:t>bbb</a:t>
            </a:r>
            <a:r>
              <a:rPr lang="en-US" altLang="zh-CN" dirty="0"/>
              <a:t>, ccc;</a:t>
            </a:r>
          </a:p>
          <a:p>
            <a:r>
              <a:rPr lang="en-US" altLang="zh-CN" dirty="0" err="1"/>
              <a:t>aaa</a:t>
            </a:r>
            <a:r>
              <a:rPr lang="en-US" altLang="zh-CN" dirty="0"/>
              <a:t> = </a:t>
            </a:r>
            <a:r>
              <a:rPr lang="en-US" altLang="zh-CN" dirty="0" err="1"/>
              <a:t>bbb</a:t>
            </a:r>
            <a:r>
              <a:rPr lang="en-US" altLang="zh-CN" dirty="0"/>
              <a:t> + ccc * 100</a:t>
            </a:r>
            <a:r>
              <a:rPr lang="zh-CN" altLang="en-US" dirty="0"/>
              <a:t>；</a:t>
            </a:r>
          </a:p>
          <a:p>
            <a:r>
              <a:rPr lang="en-US" altLang="zh-CN" dirty="0"/>
              <a:t>…</a:t>
            </a:r>
          </a:p>
        </p:txBody>
      </p:sp>
      <p:sp>
        <p:nvSpPr>
          <p:cNvPr id="22531" name="Rectangle 2"/>
          <p:cNvSpPr>
            <a:spLocks noGrp="1" noChangeArrowheads="1"/>
          </p:cNvSpPr>
          <p:nvPr>
            <p:ph type="title"/>
          </p:nvPr>
        </p:nvSpPr>
        <p:spPr/>
        <p:txBody>
          <a:bodyPr/>
          <a:lstStyle/>
          <a:p>
            <a:r>
              <a:rPr lang="zh-CN" altLang="en-US"/>
              <a:t>高级语言</a:t>
            </a:r>
            <a:r>
              <a:rPr lang="zh-CN" altLang="en-US" dirty="0"/>
              <a:t>实例</a:t>
            </a:r>
          </a:p>
        </p:txBody>
      </p:sp>
      <p:sp>
        <p:nvSpPr>
          <p:cNvPr id="5" name="内容占位符 4">
            <a:extLst>
              <a:ext uri="{FF2B5EF4-FFF2-40B4-BE49-F238E27FC236}">
                <a16:creationId xmlns:a16="http://schemas.microsoft.com/office/drawing/2014/main" id="{D00272D1-E273-4556-B0E0-F4A35BB8314D}"/>
              </a:ext>
            </a:extLst>
          </p:cNvPr>
          <p:cNvSpPr>
            <a:spLocks noGrp="1"/>
          </p:cNvSpPr>
          <p:nvPr>
            <p:ph idx="10"/>
          </p:nvPr>
        </p:nvSpPr>
        <p:spPr/>
        <p:txBody>
          <a:bodyPr/>
          <a:lstStyle/>
          <a:p>
            <a:r>
              <a:rPr lang="en-US" altLang="zh-CN"/>
              <a:t>Pascal</a:t>
            </a:r>
            <a:r>
              <a:rPr lang="zh-CN" altLang="en-US"/>
              <a:t>语言实例</a:t>
            </a:r>
          </a:p>
          <a:p>
            <a:r>
              <a:rPr lang="en-US" altLang="zh-CN"/>
              <a:t>…</a:t>
            </a:r>
          </a:p>
          <a:p>
            <a:r>
              <a:rPr lang="en-US" altLang="zh-CN"/>
              <a:t>var aaa, bbb, ccc: real;</a:t>
            </a:r>
          </a:p>
          <a:p>
            <a:r>
              <a:rPr lang="en-US" altLang="zh-CN"/>
              <a:t>aaa := bbb + ccc * 100</a:t>
            </a:r>
            <a:r>
              <a:rPr lang="zh-CN" altLang="en-US"/>
              <a:t>；</a:t>
            </a:r>
          </a:p>
          <a:p>
            <a:r>
              <a:rPr lang="en-US" altLang="zh-CN"/>
              <a:t>…</a:t>
            </a:r>
          </a:p>
          <a:p>
            <a:endParaRPr lang="zh-CN" altLang="en-US"/>
          </a:p>
        </p:txBody>
      </p:sp>
    </p:spTree>
    <p:extLst>
      <p:ext uri="{BB962C8B-B14F-4D97-AF65-F5344CB8AC3E}">
        <p14:creationId xmlns:p14="http://schemas.microsoft.com/office/powerpoint/2010/main" val="179885002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7" name="Rectangle 3"/>
          <p:cNvSpPr>
            <a:spLocks noGrp="1" noChangeArrowheads="1"/>
          </p:cNvSpPr>
          <p:nvPr>
            <p:ph idx="1"/>
          </p:nvPr>
        </p:nvSpPr>
        <p:spPr/>
        <p:txBody>
          <a:bodyPr/>
          <a:lstStyle/>
          <a:p>
            <a:r>
              <a:rPr lang="en-US" altLang="zh-CN" dirty="0"/>
              <a:t>1) </a:t>
            </a:r>
            <a:r>
              <a:rPr lang="zh-CN" altLang="en-US" dirty="0"/>
              <a:t>直观、自然、易理解</a:t>
            </a:r>
          </a:p>
          <a:p>
            <a:r>
              <a:rPr lang="en-US" altLang="zh-CN" dirty="0"/>
              <a:t>2) </a:t>
            </a:r>
            <a:r>
              <a:rPr lang="zh-CN" altLang="en-US" dirty="0"/>
              <a:t>易读、易写、易维护</a:t>
            </a:r>
          </a:p>
          <a:p>
            <a:r>
              <a:rPr lang="en-US" altLang="zh-CN" dirty="0"/>
              <a:t>3) </a:t>
            </a:r>
            <a:r>
              <a:rPr lang="zh-CN" altLang="en-US" dirty="0"/>
              <a:t>独立于机器，易移植</a:t>
            </a:r>
          </a:p>
        </p:txBody>
      </p:sp>
      <p:sp>
        <p:nvSpPr>
          <p:cNvPr id="23555" name="Rectangle 2"/>
          <p:cNvSpPr>
            <a:spLocks noGrp="1" noChangeArrowheads="1"/>
          </p:cNvSpPr>
          <p:nvPr>
            <p:ph type="title"/>
          </p:nvPr>
        </p:nvSpPr>
        <p:spPr/>
        <p:txBody>
          <a:bodyPr/>
          <a:lstStyle/>
          <a:p>
            <a:r>
              <a:rPr lang="zh-CN" altLang="en-US" dirty="0"/>
              <a:t>高级语言的特点</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EE61091-4B96-4D17-AD48-A6E7D57942C3}"/>
              </a:ext>
            </a:extLst>
          </p:cNvPr>
          <p:cNvSpPr>
            <a:spLocks noGrp="1"/>
          </p:cNvSpPr>
          <p:nvPr>
            <p:ph idx="1"/>
          </p:nvPr>
        </p:nvSpPr>
        <p:spPr/>
        <p:txBody>
          <a:bodyPr/>
          <a:lstStyle/>
          <a:p>
            <a:r>
              <a:rPr lang="zh-CN" altLang="en-US" dirty="0"/>
              <a:t>计算机</a:t>
            </a:r>
            <a:r>
              <a:rPr lang="zh-CN" altLang="en-US" dirty="0">
                <a:solidFill>
                  <a:srgbClr val="EE853E"/>
                </a:solidFill>
              </a:rPr>
              <a:t>硬件</a:t>
            </a:r>
            <a:r>
              <a:rPr lang="zh-CN" altLang="en-US" dirty="0"/>
              <a:t>只能理解和执行机器语言程序（</a:t>
            </a:r>
            <a:r>
              <a:rPr lang="zh-CN" altLang="en-US" dirty="0">
                <a:solidFill>
                  <a:srgbClr val="EE853E"/>
                </a:solidFill>
              </a:rPr>
              <a:t>二进制程序</a:t>
            </a:r>
            <a:r>
              <a:rPr lang="zh-CN" altLang="en-US" dirty="0"/>
              <a:t>）。</a:t>
            </a:r>
          </a:p>
          <a:p>
            <a:endParaRPr lang="zh-CN" altLang="en-US" dirty="0"/>
          </a:p>
          <a:p>
            <a:r>
              <a:rPr lang="zh-CN" altLang="en-US" dirty="0"/>
              <a:t>计算机硬件不能直接理解和执行汇编语言和高级语言程序。</a:t>
            </a:r>
          </a:p>
          <a:p>
            <a:endParaRPr lang="zh-CN" altLang="en-US" dirty="0"/>
          </a:p>
          <a:p>
            <a:r>
              <a:rPr lang="zh-CN" altLang="en-US" dirty="0">
                <a:solidFill>
                  <a:srgbClr val="EE853E"/>
                </a:solidFill>
              </a:rPr>
              <a:t>如何解决？</a:t>
            </a:r>
          </a:p>
        </p:txBody>
      </p:sp>
      <p:sp>
        <p:nvSpPr>
          <p:cNvPr id="3" name="标题 2">
            <a:extLst>
              <a:ext uri="{FF2B5EF4-FFF2-40B4-BE49-F238E27FC236}">
                <a16:creationId xmlns:a16="http://schemas.microsoft.com/office/drawing/2014/main" id="{FBE79EBA-CFC0-45B6-A23D-F087C0A0252A}"/>
              </a:ext>
            </a:extLst>
          </p:cNvPr>
          <p:cNvSpPr>
            <a:spLocks noGrp="1"/>
          </p:cNvSpPr>
          <p:nvPr>
            <p:ph type="title"/>
          </p:nvPr>
        </p:nvSpPr>
        <p:spPr/>
        <p:txBody>
          <a:bodyPr/>
          <a:lstStyle/>
          <a:p>
            <a:r>
              <a:rPr lang="zh-CN" altLang="en-US" dirty="0"/>
              <a:t>问题</a:t>
            </a:r>
          </a:p>
        </p:txBody>
      </p:sp>
    </p:spTree>
    <p:extLst>
      <p:ext uri="{BB962C8B-B14F-4D97-AF65-F5344CB8AC3E}">
        <p14:creationId xmlns:p14="http://schemas.microsoft.com/office/powerpoint/2010/main" val="283224573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idx="1"/>
          </p:nvPr>
        </p:nvSpPr>
        <p:spPr/>
        <p:txBody>
          <a:bodyPr/>
          <a:lstStyle/>
          <a:p>
            <a:r>
              <a:rPr lang="zh-CN" altLang="en-US" dirty="0"/>
              <a:t>把汇编语言程序或高级语言程序</a:t>
            </a:r>
            <a:r>
              <a:rPr lang="zh-CN" altLang="en-US" dirty="0">
                <a:solidFill>
                  <a:srgbClr val="EE853E"/>
                </a:solidFill>
              </a:rPr>
              <a:t>翻译</a:t>
            </a:r>
            <a:r>
              <a:rPr lang="zh-CN" altLang="en-US" dirty="0"/>
              <a:t>成完全等价的机器语言程序。</a:t>
            </a:r>
          </a:p>
          <a:p>
            <a:endParaRPr lang="en-US" altLang="zh-CN" dirty="0"/>
          </a:p>
          <a:p>
            <a:endParaRPr lang="en-US" altLang="zh-CN" dirty="0"/>
          </a:p>
          <a:p>
            <a:endParaRPr lang="en-US" altLang="zh-CN" dirty="0"/>
          </a:p>
          <a:p>
            <a:endParaRPr lang="en-US" altLang="zh-CN" dirty="0"/>
          </a:p>
          <a:p>
            <a:endParaRPr lang="en-US" altLang="zh-CN" dirty="0"/>
          </a:p>
          <a:p>
            <a:r>
              <a:rPr lang="zh-CN" altLang="en-US"/>
              <a:t>根据源语言和目标语言</a:t>
            </a:r>
            <a:r>
              <a:rPr lang="zh-CN" altLang="en-US" dirty="0"/>
              <a:t>的不同类型，又可以把翻译分为</a:t>
            </a:r>
            <a:r>
              <a:rPr lang="zh-CN" altLang="en-US" dirty="0">
                <a:solidFill>
                  <a:srgbClr val="EE853E"/>
                </a:solidFill>
              </a:rPr>
              <a:t>汇编</a:t>
            </a:r>
            <a:r>
              <a:rPr lang="zh-CN" altLang="en-US" dirty="0"/>
              <a:t>和</a:t>
            </a:r>
            <a:r>
              <a:rPr lang="zh-CN" altLang="en-US" dirty="0">
                <a:solidFill>
                  <a:srgbClr val="EE853E"/>
                </a:solidFill>
              </a:rPr>
              <a:t>编译</a:t>
            </a:r>
            <a:r>
              <a:rPr lang="zh-CN" altLang="en-US" dirty="0"/>
              <a:t>两种类型。</a:t>
            </a:r>
            <a:endParaRPr lang="en-US" altLang="zh-CN" dirty="0"/>
          </a:p>
          <a:p>
            <a:endParaRPr lang="en-US" altLang="zh-CN" dirty="0"/>
          </a:p>
          <a:p>
            <a:endParaRPr lang="en-US" altLang="zh-CN" dirty="0"/>
          </a:p>
          <a:p>
            <a:endParaRPr lang="en-US" altLang="zh-CN" dirty="0"/>
          </a:p>
          <a:p>
            <a:endParaRPr lang="en-US" altLang="zh-CN" dirty="0">
              <a:solidFill>
                <a:srgbClr val="EE853E"/>
              </a:solidFill>
            </a:endParaRPr>
          </a:p>
        </p:txBody>
      </p:sp>
      <p:sp>
        <p:nvSpPr>
          <p:cNvPr id="3074" name="Rectangle 2"/>
          <p:cNvSpPr>
            <a:spLocks noGrp="1" noChangeArrowheads="1"/>
          </p:cNvSpPr>
          <p:nvPr>
            <p:ph type="title"/>
          </p:nvPr>
        </p:nvSpPr>
        <p:spPr/>
        <p:txBody>
          <a:bodyPr/>
          <a:lstStyle/>
          <a:p>
            <a:r>
              <a:rPr lang="zh-CN" altLang="en-US" dirty="0"/>
              <a:t>解决方法</a:t>
            </a:r>
            <a:endParaRPr lang="en-US" altLang="zh-CN" dirty="0"/>
          </a:p>
        </p:txBody>
      </p:sp>
      <p:sp>
        <p:nvSpPr>
          <p:cNvPr id="3076" name="Rectangle 4"/>
          <p:cNvSpPr>
            <a:spLocks noChangeArrowheads="1"/>
          </p:cNvSpPr>
          <p:nvPr/>
        </p:nvSpPr>
        <p:spPr bwMode="auto">
          <a:xfrm>
            <a:off x="1524001" y="2777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bg2"/>
              </a:buClr>
              <a:buSzPct val="75000"/>
              <a:buFont typeface="Wingdings" panose="05000000000000000000" pitchFamily="2" charset="2"/>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pic>
        <p:nvPicPr>
          <p:cNvPr id="3" name="图片 2">
            <a:extLst>
              <a:ext uri="{FF2B5EF4-FFF2-40B4-BE49-F238E27FC236}">
                <a16:creationId xmlns:a16="http://schemas.microsoft.com/office/drawing/2014/main" id="{3745DA76-E60B-4F1F-A3EF-194C9E155A34}"/>
              </a:ext>
            </a:extLst>
          </p:cNvPr>
          <p:cNvPicPr>
            <a:picLocks noChangeAspect="1"/>
          </p:cNvPicPr>
          <p:nvPr/>
        </p:nvPicPr>
        <p:blipFill>
          <a:blip r:embed="rId2"/>
          <a:stretch>
            <a:fillRect/>
          </a:stretch>
        </p:blipFill>
        <p:spPr>
          <a:xfrm>
            <a:off x="2019300" y="2218764"/>
            <a:ext cx="8153401" cy="1438836"/>
          </a:xfrm>
          <a:prstGeom prst="rect">
            <a:avLst/>
          </a:prstGeom>
        </p:spPr>
      </p:pic>
    </p:spTree>
    <p:extLst>
      <p:ext uri="{BB962C8B-B14F-4D97-AF65-F5344CB8AC3E}">
        <p14:creationId xmlns:p14="http://schemas.microsoft.com/office/powerpoint/2010/main" val="264764845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idx="1"/>
          </p:nvPr>
        </p:nvSpPr>
        <p:spPr/>
        <p:txBody>
          <a:bodyPr/>
          <a:lstStyle/>
          <a:p>
            <a:r>
              <a:rPr lang="zh-CN" altLang="en-US" dirty="0"/>
              <a:t>将汇编语言翻译成机器语言的过程称为</a:t>
            </a:r>
            <a:r>
              <a:rPr lang="zh-CN" altLang="en-US" dirty="0">
                <a:solidFill>
                  <a:srgbClr val="EE853E"/>
                </a:solidFill>
              </a:rPr>
              <a:t>汇编</a:t>
            </a:r>
            <a:r>
              <a:rPr lang="zh-CN" altLang="en-US" dirty="0"/>
              <a:t>。</a:t>
            </a:r>
          </a:p>
          <a:p>
            <a:r>
              <a:rPr lang="zh-CN" altLang="en-US" dirty="0"/>
              <a:t>将汇编语言翻译成机器语言的程序称为</a:t>
            </a:r>
            <a:r>
              <a:rPr lang="zh-CN" altLang="en-US" dirty="0">
                <a:solidFill>
                  <a:srgbClr val="EE853E"/>
                </a:solidFill>
              </a:rPr>
              <a:t>汇编程序</a:t>
            </a:r>
            <a:r>
              <a:rPr lang="zh-CN" altLang="en-US" dirty="0"/>
              <a:t>或</a:t>
            </a:r>
            <a:r>
              <a:rPr lang="zh-CN" altLang="en-US" dirty="0">
                <a:solidFill>
                  <a:srgbClr val="EE853E"/>
                </a:solidFill>
              </a:rPr>
              <a:t>汇编器</a:t>
            </a:r>
            <a:r>
              <a:rPr lang="zh-CN" altLang="en-US" dirty="0"/>
              <a:t>。</a:t>
            </a:r>
            <a:endParaRPr lang="en-US" altLang="zh-CN" dirty="0"/>
          </a:p>
          <a:p>
            <a:endParaRPr lang="zh-CN" altLang="en-US" dirty="0"/>
          </a:p>
        </p:txBody>
      </p:sp>
      <p:sp>
        <p:nvSpPr>
          <p:cNvPr id="25603" name="Rectangle 2"/>
          <p:cNvSpPr>
            <a:spLocks noGrp="1" noChangeArrowheads="1"/>
          </p:cNvSpPr>
          <p:nvPr>
            <p:ph type="title"/>
          </p:nvPr>
        </p:nvSpPr>
        <p:spPr/>
        <p:txBody>
          <a:bodyPr/>
          <a:lstStyle/>
          <a:p>
            <a:r>
              <a:rPr lang="zh-CN" altLang="en-US" dirty="0"/>
              <a:t>汇编</a:t>
            </a:r>
          </a:p>
        </p:txBody>
      </p:sp>
      <p:pic>
        <p:nvPicPr>
          <p:cNvPr id="3" name="图片 2">
            <a:extLst>
              <a:ext uri="{FF2B5EF4-FFF2-40B4-BE49-F238E27FC236}">
                <a16:creationId xmlns:a16="http://schemas.microsoft.com/office/drawing/2014/main" id="{7E526DB1-C3F8-4062-8F9A-E5B16468398B}"/>
              </a:ext>
            </a:extLst>
          </p:cNvPr>
          <p:cNvPicPr>
            <a:picLocks noChangeAspect="1"/>
          </p:cNvPicPr>
          <p:nvPr/>
        </p:nvPicPr>
        <p:blipFill>
          <a:blip r:embed="rId2"/>
          <a:stretch>
            <a:fillRect/>
          </a:stretch>
        </p:blipFill>
        <p:spPr>
          <a:xfrm>
            <a:off x="1946832" y="2798909"/>
            <a:ext cx="8298180" cy="14401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idx="1"/>
          </p:nvPr>
        </p:nvSpPr>
        <p:spPr/>
        <p:txBody>
          <a:bodyPr/>
          <a:lstStyle/>
          <a:p>
            <a:r>
              <a:rPr lang="zh-CN" altLang="en-US" dirty="0"/>
              <a:t>将高级语言翻译成低级语言的过程称为</a:t>
            </a:r>
            <a:r>
              <a:rPr lang="zh-CN" altLang="en-US" dirty="0">
                <a:solidFill>
                  <a:srgbClr val="EE853E"/>
                </a:solidFill>
              </a:rPr>
              <a:t>编译</a:t>
            </a:r>
            <a:r>
              <a:rPr lang="zh-CN" altLang="en-US" dirty="0"/>
              <a:t>。</a:t>
            </a:r>
          </a:p>
          <a:p>
            <a:r>
              <a:rPr lang="zh-CN" altLang="en-US" dirty="0"/>
              <a:t>将高级语言翻译成低级语言的程序称为</a:t>
            </a:r>
            <a:r>
              <a:rPr lang="zh-CN" altLang="en-US" dirty="0">
                <a:solidFill>
                  <a:srgbClr val="EE853E"/>
                </a:solidFill>
              </a:rPr>
              <a:t>编译程序</a:t>
            </a:r>
            <a:r>
              <a:rPr lang="zh-CN" altLang="en-US" dirty="0"/>
              <a:t>或</a:t>
            </a:r>
            <a:r>
              <a:rPr lang="zh-CN" altLang="en-US" dirty="0">
                <a:solidFill>
                  <a:srgbClr val="EE853E"/>
                </a:solidFill>
              </a:rPr>
              <a:t>编译器</a:t>
            </a:r>
            <a:r>
              <a:rPr lang="zh-CN" altLang="en-US" dirty="0"/>
              <a:t>。</a:t>
            </a:r>
          </a:p>
          <a:p>
            <a:endParaRPr lang="zh-CN" altLang="en-US" dirty="0"/>
          </a:p>
          <a:p>
            <a:endParaRPr lang="zh-CN" altLang="en-US" dirty="0"/>
          </a:p>
        </p:txBody>
      </p:sp>
      <p:sp>
        <p:nvSpPr>
          <p:cNvPr id="25603" name="Rectangle 2"/>
          <p:cNvSpPr>
            <a:spLocks noGrp="1" noChangeArrowheads="1"/>
          </p:cNvSpPr>
          <p:nvPr>
            <p:ph type="title"/>
          </p:nvPr>
        </p:nvSpPr>
        <p:spPr/>
        <p:txBody>
          <a:bodyPr/>
          <a:lstStyle/>
          <a:p>
            <a:r>
              <a:rPr lang="zh-CN" altLang="en-US" dirty="0"/>
              <a:t>编译</a:t>
            </a:r>
          </a:p>
        </p:txBody>
      </p:sp>
      <p:pic>
        <p:nvPicPr>
          <p:cNvPr id="3" name="图片 2">
            <a:extLst>
              <a:ext uri="{FF2B5EF4-FFF2-40B4-BE49-F238E27FC236}">
                <a16:creationId xmlns:a16="http://schemas.microsoft.com/office/drawing/2014/main" id="{915CEB20-6294-403B-8344-AA7C26925C21}"/>
              </a:ext>
            </a:extLst>
          </p:cNvPr>
          <p:cNvPicPr>
            <a:picLocks noChangeAspect="1"/>
          </p:cNvPicPr>
          <p:nvPr/>
        </p:nvPicPr>
        <p:blipFill>
          <a:blip r:embed="rId2"/>
          <a:stretch>
            <a:fillRect/>
          </a:stretch>
        </p:blipFill>
        <p:spPr>
          <a:xfrm>
            <a:off x="1946832" y="2798909"/>
            <a:ext cx="8298180" cy="1440180"/>
          </a:xfrm>
          <a:prstGeom prst="rect">
            <a:avLst/>
          </a:prstGeom>
        </p:spPr>
      </p:pic>
    </p:spTree>
    <p:extLst>
      <p:ext uri="{BB962C8B-B14F-4D97-AF65-F5344CB8AC3E}">
        <p14:creationId xmlns:p14="http://schemas.microsoft.com/office/powerpoint/2010/main" val="126309975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p:txBody>
          <a:bodyPr/>
          <a:lstStyle/>
          <a:p>
            <a:r>
              <a:rPr lang="en-US" altLang="zh-CN"/>
              <a:t>20</a:t>
            </a:r>
            <a:r>
              <a:rPr lang="zh-CN" altLang="en-US"/>
              <a:t>世纪</a:t>
            </a:r>
            <a:r>
              <a:rPr lang="en-US" altLang="zh-CN"/>
              <a:t>50</a:t>
            </a:r>
            <a:r>
              <a:rPr lang="zh-CN" altLang="en-US"/>
              <a:t>年代，出现了与机器无关的编程语言（</a:t>
            </a:r>
            <a:r>
              <a:rPr lang="zh-CN" altLang="en-US">
                <a:solidFill>
                  <a:srgbClr val="EE853E"/>
                </a:solidFill>
              </a:rPr>
              <a:t>高级程序设计语言</a:t>
            </a:r>
            <a:r>
              <a:rPr lang="zh-CN" altLang="en-US"/>
              <a:t>）。</a:t>
            </a:r>
          </a:p>
          <a:p>
            <a:endParaRPr lang="en-US" altLang="zh-CN"/>
          </a:p>
          <a:p>
            <a:r>
              <a:rPr lang="zh-CN" altLang="en-US"/>
              <a:t>第一个编译器是由葛丽丝</a:t>
            </a:r>
            <a:r>
              <a:rPr lang="en-US" altLang="zh-CN"/>
              <a:t>·</a:t>
            </a:r>
            <a:r>
              <a:rPr lang="zh-CN" altLang="en-US"/>
              <a:t>穆雷</a:t>
            </a:r>
            <a:r>
              <a:rPr lang="en-US" altLang="zh-CN"/>
              <a:t>·</a:t>
            </a:r>
            <a:r>
              <a:rPr lang="zh-CN" altLang="en-US"/>
              <a:t>霍普（ </a:t>
            </a:r>
            <a:r>
              <a:rPr lang="en-US" altLang="zh-CN"/>
              <a:t>Grace Murray Hopper </a:t>
            </a:r>
            <a:r>
              <a:rPr lang="zh-CN" altLang="en-US"/>
              <a:t>）于</a:t>
            </a:r>
            <a:r>
              <a:rPr lang="en-US" altLang="zh-CN">
                <a:solidFill>
                  <a:srgbClr val="EE853E"/>
                </a:solidFill>
              </a:rPr>
              <a:t>1952</a:t>
            </a:r>
            <a:r>
              <a:rPr lang="zh-CN" altLang="en-US"/>
              <a:t>年为</a:t>
            </a:r>
            <a:r>
              <a:rPr lang="en-US" altLang="zh-CN">
                <a:solidFill>
                  <a:srgbClr val="EE853E"/>
                </a:solidFill>
              </a:rPr>
              <a:t>A-0</a:t>
            </a:r>
            <a:r>
              <a:rPr lang="zh-CN" altLang="en-US"/>
              <a:t>系统编写的。</a:t>
            </a:r>
          </a:p>
          <a:p>
            <a:endParaRPr lang="en-US" altLang="zh-CN">
              <a:solidFill>
                <a:srgbClr val="EE853E"/>
              </a:solidFill>
            </a:endParaRPr>
          </a:p>
          <a:p>
            <a:r>
              <a:rPr lang="en-US" altLang="zh-CN">
                <a:solidFill>
                  <a:srgbClr val="EE853E"/>
                </a:solidFill>
              </a:rPr>
              <a:t>1957</a:t>
            </a:r>
            <a:r>
              <a:rPr lang="zh-CN" altLang="en-US"/>
              <a:t>年由</a:t>
            </a:r>
            <a:r>
              <a:rPr lang="en-US" altLang="zh-CN"/>
              <a:t>IBM</a:t>
            </a:r>
            <a:r>
              <a:rPr lang="zh-CN" altLang="en-US"/>
              <a:t>的约翰</a:t>
            </a:r>
            <a:r>
              <a:rPr lang="en-US" altLang="zh-CN"/>
              <a:t>·</a:t>
            </a:r>
            <a:r>
              <a:rPr lang="zh-CN" altLang="en-US"/>
              <a:t>巴科斯领导开发的</a:t>
            </a:r>
            <a:r>
              <a:rPr lang="en-US" altLang="zh-CN">
                <a:solidFill>
                  <a:srgbClr val="EE853E"/>
                </a:solidFill>
              </a:rPr>
              <a:t>FORTRAN</a:t>
            </a:r>
            <a:r>
              <a:rPr lang="zh-CN" altLang="en-US">
                <a:solidFill>
                  <a:srgbClr val="EE853E"/>
                </a:solidFill>
              </a:rPr>
              <a:t>语言编译器</a:t>
            </a:r>
            <a:r>
              <a:rPr lang="zh-CN" altLang="en-US"/>
              <a:t>则是第一个具备完整功能的编译器。</a:t>
            </a:r>
          </a:p>
        </p:txBody>
      </p:sp>
      <p:sp>
        <p:nvSpPr>
          <p:cNvPr id="10243" name="Rectangle 2"/>
          <p:cNvSpPr>
            <a:spLocks noGrp="1" noChangeArrowheads="1"/>
          </p:cNvSpPr>
          <p:nvPr>
            <p:ph type="title"/>
          </p:nvPr>
        </p:nvSpPr>
        <p:spPr/>
        <p:txBody>
          <a:bodyPr/>
          <a:lstStyle/>
          <a:p>
            <a:r>
              <a:rPr lang="zh-CN" altLang="en-US" dirty="0"/>
              <a:t>语言与编译的重要性</a:t>
            </a:r>
          </a:p>
        </p:txBody>
      </p:sp>
    </p:spTree>
    <p:extLst>
      <p:ext uri="{BB962C8B-B14F-4D97-AF65-F5344CB8AC3E}">
        <p14:creationId xmlns:p14="http://schemas.microsoft.com/office/powerpoint/2010/main" val="201291438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a:t>自</a:t>
            </a:r>
            <a:r>
              <a:rPr lang="en-US" altLang="zh-CN">
                <a:solidFill>
                  <a:srgbClr val="EE853E"/>
                </a:solidFill>
              </a:rPr>
              <a:t>1957</a:t>
            </a:r>
            <a:r>
              <a:rPr lang="zh-CN" altLang="en-US"/>
              <a:t>年</a:t>
            </a:r>
            <a:r>
              <a:rPr lang="en-US" altLang="zh-CN"/>
              <a:t>Fortran</a:t>
            </a:r>
            <a:r>
              <a:rPr lang="zh-CN" altLang="en-US"/>
              <a:t>语言编译器诞生以来，编译技术不断进步，已经成为计算机科学中发展</a:t>
            </a:r>
            <a:r>
              <a:rPr lang="zh-CN" altLang="en-US">
                <a:solidFill>
                  <a:srgbClr val="EE853E"/>
                </a:solidFill>
              </a:rPr>
              <a:t>最迅速</a:t>
            </a:r>
            <a:r>
              <a:rPr lang="zh-CN" altLang="en-US"/>
              <a:t>、</a:t>
            </a:r>
            <a:r>
              <a:rPr lang="zh-CN" altLang="en-US">
                <a:solidFill>
                  <a:srgbClr val="EE853E"/>
                </a:solidFill>
              </a:rPr>
              <a:t>最成熟</a:t>
            </a:r>
            <a:r>
              <a:rPr lang="zh-CN" altLang="en-US"/>
              <a:t>的一个重要分支。</a:t>
            </a:r>
          </a:p>
          <a:p>
            <a:endParaRPr lang="en-US" altLang="zh-CN"/>
          </a:p>
          <a:p>
            <a:r>
              <a:rPr lang="zh-CN" altLang="en-US"/>
              <a:t>编译技术集中体现了</a:t>
            </a:r>
            <a:r>
              <a:rPr lang="zh-CN" altLang="en-US">
                <a:solidFill>
                  <a:srgbClr val="EE853E"/>
                </a:solidFill>
              </a:rPr>
              <a:t>计算机科学</a:t>
            </a:r>
            <a:r>
              <a:rPr lang="zh-CN" altLang="en-US"/>
              <a:t>发展的重要</a:t>
            </a:r>
            <a:r>
              <a:rPr lang="zh-CN" altLang="en-US">
                <a:solidFill>
                  <a:srgbClr val="EE853E"/>
                </a:solidFill>
              </a:rPr>
              <a:t>成果与精华</a:t>
            </a:r>
            <a:r>
              <a:rPr lang="zh-CN" altLang="en-US"/>
              <a:t>。</a:t>
            </a:r>
          </a:p>
          <a:p>
            <a:endParaRPr lang="en-US" altLang="zh-CN"/>
          </a:p>
          <a:p>
            <a:r>
              <a:rPr lang="zh-CN" altLang="en-US">
                <a:solidFill>
                  <a:srgbClr val="EE853E"/>
                </a:solidFill>
              </a:rPr>
              <a:t>图灵奖</a:t>
            </a:r>
            <a:r>
              <a:rPr lang="zh-CN" altLang="en-US"/>
              <a:t>是授予在计算机技术领域作出突出贡献的科学家的最高奖励。自</a:t>
            </a:r>
            <a:r>
              <a:rPr lang="en-US" altLang="zh-CN">
                <a:solidFill>
                  <a:srgbClr val="EE853E"/>
                </a:solidFill>
              </a:rPr>
              <a:t>1966</a:t>
            </a:r>
            <a:r>
              <a:rPr lang="zh-CN" altLang="en-US"/>
              <a:t>年设立以来，</a:t>
            </a:r>
            <a:r>
              <a:rPr lang="zh-CN" altLang="en-US">
                <a:solidFill>
                  <a:srgbClr val="EE853E"/>
                </a:solidFill>
              </a:rPr>
              <a:t>程序语言设计</a:t>
            </a:r>
            <a:r>
              <a:rPr lang="zh-CN" altLang="en-US"/>
              <a:t>、</a:t>
            </a:r>
            <a:r>
              <a:rPr lang="zh-CN" altLang="en-US">
                <a:solidFill>
                  <a:srgbClr val="EE853E"/>
                </a:solidFill>
              </a:rPr>
              <a:t>编译理论与方法</a:t>
            </a:r>
            <a:r>
              <a:rPr lang="zh-CN" altLang="en-US"/>
              <a:t>方面的得奖成果约占总数的</a:t>
            </a:r>
            <a:r>
              <a:rPr lang="en-US" altLang="zh-CN">
                <a:solidFill>
                  <a:srgbClr val="EE853E"/>
                </a:solidFill>
              </a:rPr>
              <a:t>1/3</a:t>
            </a:r>
            <a:r>
              <a:rPr lang="zh-CN" altLang="en-US"/>
              <a:t>。</a:t>
            </a:r>
          </a:p>
          <a:p>
            <a:r>
              <a:rPr lang="zh-CN" altLang="en-US"/>
              <a:t>（参考网址：</a:t>
            </a:r>
            <a:r>
              <a:rPr lang="en-US" altLang="zh-CN"/>
              <a:t>zh.wikipedia.org/wiki/</a:t>
            </a:r>
            <a:r>
              <a:rPr lang="zh-CN" altLang="en-US"/>
              <a:t>图灵奖）</a:t>
            </a:r>
          </a:p>
          <a:p>
            <a:endParaRPr lang="en-US" altLang="zh-CN" dirty="0"/>
          </a:p>
          <a:p>
            <a:endParaRPr lang="en-US" altLang="zh-CN" dirty="0"/>
          </a:p>
        </p:txBody>
      </p:sp>
      <p:sp>
        <p:nvSpPr>
          <p:cNvPr id="6" name="标题 5">
            <a:extLst>
              <a:ext uri="{FF2B5EF4-FFF2-40B4-BE49-F238E27FC236}">
                <a16:creationId xmlns:a16="http://schemas.microsoft.com/office/drawing/2014/main" id="{6D5D978B-8027-4B13-9BC3-AD7283158D49}"/>
              </a:ext>
            </a:extLst>
          </p:cNvPr>
          <p:cNvSpPr>
            <a:spLocks noGrp="1"/>
          </p:cNvSpPr>
          <p:nvPr>
            <p:ph type="title"/>
          </p:nvPr>
        </p:nvSpPr>
        <p:spPr/>
        <p:txBody>
          <a:bodyPr/>
          <a:lstStyle/>
          <a:p>
            <a:endParaRPr lang="zh-CN" altLang="en-US" dirty="0"/>
          </a:p>
        </p:txBody>
      </p:sp>
    </p:spTree>
    <p:extLst>
      <p:ext uri="{BB962C8B-B14F-4D97-AF65-F5344CB8AC3E}">
        <p14:creationId xmlns:p14="http://schemas.microsoft.com/office/powerpoint/2010/main" val="125665889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从</a:t>
            </a:r>
            <a:r>
              <a:rPr lang="zh-CN" altLang="en-US" dirty="0">
                <a:solidFill>
                  <a:srgbClr val="EE853E"/>
                </a:solidFill>
              </a:rPr>
              <a:t>计算机应用的发展</a:t>
            </a:r>
            <a:r>
              <a:rPr lang="zh-CN" altLang="en-US" dirty="0"/>
              <a:t>来看，编译技术在其中有着极其重要的和不可替代的作用。</a:t>
            </a:r>
          </a:p>
          <a:p>
            <a:endParaRPr lang="en-US" altLang="zh-CN"/>
          </a:p>
          <a:p>
            <a:r>
              <a:rPr lang="zh-CN" altLang="en-US"/>
              <a:t>正是</a:t>
            </a:r>
            <a:r>
              <a:rPr lang="zh-CN" altLang="en-US" dirty="0"/>
              <a:t>在</a:t>
            </a:r>
            <a:r>
              <a:rPr lang="zh-CN" altLang="en-US" dirty="0">
                <a:solidFill>
                  <a:srgbClr val="EE853E"/>
                </a:solidFill>
              </a:rPr>
              <a:t>编译技术</a:t>
            </a:r>
            <a:r>
              <a:rPr lang="zh-CN" altLang="en-US" dirty="0"/>
              <a:t>的支持下</a:t>
            </a:r>
            <a:r>
              <a:rPr lang="zh-CN" altLang="en-US"/>
              <a:t>，程序设计语言才从繁琐的低级语言，发展到接近</a:t>
            </a:r>
            <a:r>
              <a:rPr lang="zh-CN" altLang="en-US" dirty="0">
                <a:solidFill>
                  <a:srgbClr val="EE853E"/>
                </a:solidFill>
              </a:rPr>
              <a:t>自然语言和数学语言</a:t>
            </a:r>
            <a:r>
              <a:rPr lang="zh-CN" altLang="en-US" dirty="0"/>
              <a:t>的</a:t>
            </a:r>
            <a:r>
              <a:rPr lang="zh-CN" altLang="en-US"/>
              <a:t>高级程序设计语言。编译</a:t>
            </a:r>
            <a:r>
              <a:rPr lang="zh-CN" altLang="en-US" dirty="0"/>
              <a:t>技术的发展极大地提高了软件开发的</a:t>
            </a:r>
            <a:r>
              <a:rPr lang="zh-CN" altLang="en-US" dirty="0">
                <a:solidFill>
                  <a:srgbClr val="EE853E"/>
                </a:solidFill>
              </a:rPr>
              <a:t>效率</a:t>
            </a:r>
            <a:r>
              <a:rPr lang="zh-CN" altLang="en-US" dirty="0"/>
              <a:t>，深刻地影响着</a:t>
            </a:r>
            <a:r>
              <a:rPr lang="zh-CN" altLang="en-US" dirty="0">
                <a:solidFill>
                  <a:srgbClr val="EE853E"/>
                </a:solidFill>
              </a:rPr>
              <a:t>软件开发方法的</a:t>
            </a:r>
            <a:r>
              <a:rPr lang="zh-CN" altLang="en-US">
                <a:solidFill>
                  <a:srgbClr val="EE853E"/>
                </a:solidFill>
              </a:rPr>
              <a:t>变革</a:t>
            </a:r>
            <a:r>
              <a:rPr lang="zh-CN" altLang="en-US"/>
              <a:t>。</a:t>
            </a:r>
            <a:endParaRPr lang="en-US" altLang="zh-CN"/>
          </a:p>
          <a:p>
            <a:endParaRPr lang="en-US" altLang="zh-CN"/>
          </a:p>
          <a:p>
            <a:r>
              <a:rPr lang="zh-CN" altLang="en-US"/>
              <a:t>程序设计语言与编译是计算机专业人员区别于一般计算机人员的重要知识结构，是高等学校培养计算机专业人才的</a:t>
            </a:r>
            <a:r>
              <a:rPr lang="zh-CN" altLang="en-US">
                <a:solidFill>
                  <a:srgbClr val="EE853E"/>
                </a:solidFill>
              </a:rPr>
              <a:t>核心课程</a:t>
            </a:r>
            <a:r>
              <a:rPr lang="zh-CN" altLang="en-US"/>
              <a:t>。</a:t>
            </a:r>
            <a:endParaRPr lang="en-US" dirty="0"/>
          </a:p>
        </p:txBody>
      </p:sp>
      <p:sp>
        <p:nvSpPr>
          <p:cNvPr id="6" name="标题 5">
            <a:extLst>
              <a:ext uri="{FF2B5EF4-FFF2-40B4-BE49-F238E27FC236}">
                <a16:creationId xmlns:a16="http://schemas.microsoft.com/office/drawing/2014/main" id="{594FF1C0-E107-46AA-A600-5CF5DBD7842A}"/>
              </a:ext>
            </a:extLst>
          </p:cNvPr>
          <p:cNvSpPr>
            <a:spLocks noGrp="1"/>
          </p:cNvSpPr>
          <p:nvPr>
            <p:ph type="title"/>
          </p:nvPr>
        </p:nvSpPr>
        <p:spPr/>
        <p:txBody>
          <a:bodyPr/>
          <a:lstStyle/>
          <a:p>
            <a:endParaRPr lang="zh-CN" altLang="en-US" dirty="0"/>
          </a:p>
        </p:txBody>
      </p:sp>
    </p:spTree>
    <p:extLst>
      <p:ext uri="{BB962C8B-B14F-4D97-AF65-F5344CB8AC3E}">
        <p14:creationId xmlns:p14="http://schemas.microsoft.com/office/powerpoint/2010/main" val="176109211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p:cNvSpPr>
            <a:spLocks noGrp="1" noChangeArrowheads="1"/>
          </p:cNvSpPr>
          <p:nvPr>
            <p:ph idx="1"/>
          </p:nvPr>
        </p:nvSpPr>
        <p:spPr/>
        <p:txBody>
          <a:bodyPr/>
          <a:lstStyle/>
          <a:p>
            <a:r>
              <a:rPr lang="zh-CN" altLang="en-US" dirty="0"/>
              <a:t>高级语言涉及的三类人：</a:t>
            </a:r>
            <a:endParaRPr lang="en-US" altLang="zh-CN" dirty="0"/>
          </a:p>
          <a:p>
            <a:r>
              <a:rPr lang="zh-CN" altLang="en-US" dirty="0"/>
              <a:t>设计者、实现者、使用者</a:t>
            </a:r>
            <a:endParaRPr lang="en-US" altLang="zh-CN" dirty="0"/>
          </a:p>
          <a:p>
            <a:r>
              <a:rPr lang="zh-CN" altLang="en-US" dirty="0"/>
              <a:t>编写一个高级语言的</a:t>
            </a:r>
            <a:r>
              <a:rPr lang="zh-CN" altLang="en-US" dirty="0">
                <a:solidFill>
                  <a:srgbClr val="EE853E"/>
                </a:solidFill>
              </a:rPr>
              <a:t>编译器</a:t>
            </a:r>
            <a:r>
              <a:rPr lang="zh-CN" altLang="en-US" dirty="0"/>
              <a:t>的工作，称为对这个语言的</a:t>
            </a:r>
            <a:r>
              <a:rPr lang="zh-CN" altLang="en-US" dirty="0">
                <a:solidFill>
                  <a:srgbClr val="EE853E"/>
                </a:solidFill>
              </a:rPr>
              <a:t>实现</a:t>
            </a:r>
            <a:r>
              <a:rPr lang="zh-CN" altLang="en-US" dirty="0"/>
              <a:t>。</a:t>
            </a:r>
            <a:endParaRPr lang="en-US" altLang="zh-CN" dirty="0"/>
          </a:p>
          <a:p>
            <a:endParaRPr lang="en-US" altLang="zh-CN" dirty="0"/>
          </a:p>
          <a:p>
            <a:r>
              <a:rPr lang="zh-CN" altLang="en-US" dirty="0"/>
              <a:t>教学目标：</a:t>
            </a:r>
            <a:endParaRPr lang="en-US" altLang="zh-CN" dirty="0"/>
          </a:p>
          <a:p>
            <a:r>
              <a:rPr lang="zh-CN" altLang="en-US" dirty="0"/>
              <a:t>掌握</a:t>
            </a:r>
            <a:r>
              <a:rPr lang="zh-CN" altLang="en-US" dirty="0">
                <a:solidFill>
                  <a:srgbClr val="EE853E"/>
                </a:solidFill>
              </a:rPr>
              <a:t>设计和实现</a:t>
            </a:r>
            <a:r>
              <a:rPr lang="zh-CN" altLang="en-US" dirty="0"/>
              <a:t>一个程序设计语言的基本理论和技术。</a:t>
            </a:r>
          </a:p>
          <a:p>
            <a:r>
              <a:rPr lang="zh-CN" altLang="en-US" dirty="0"/>
              <a:t>培养分析、鉴赏、评价、选择、</a:t>
            </a:r>
            <a:r>
              <a:rPr lang="zh-CN" altLang="en-US" dirty="0">
                <a:solidFill>
                  <a:srgbClr val="EE853E"/>
                </a:solidFill>
              </a:rPr>
              <a:t>设计和实现</a:t>
            </a:r>
            <a:r>
              <a:rPr lang="zh-CN" altLang="en-US" dirty="0"/>
              <a:t>一个程序设计语言的基本能力。</a:t>
            </a:r>
          </a:p>
          <a:p>
            <a:endParaRPr lang="en-US" altLang="zh-CN" dirty="0"/>
          </a:p>
          <a:p>
            <a:endParaRPr lang="zh-CN" altLang="en-US" dirty="0"/>
          </a:p>
          <a:p>
            <a:endParaRPr lang="zh-CN" altLang="en-US" dirty="0"/>
          </a:p>
          <a:p>
            <a:endParaRPr lang="zh-CN" altLang="en-US" dirty="0"/>
          </a:p>
        </p:txBody>
      </p:sp>
      <p:sp>
        <p:nvSpPr>
          <p:cNvPr id="27651" name="Rectangle 2"/>
          <p:cNvSpPr>
            <a:spLocks noGrp="1" noChangeArrowheads="1"/>
          </p:cNvSpPr>
          <p:nvPr>
            <p:ph type="title"/>
          </p:nvPr>
        </p:nvSpPr>
        <p:spPr/>
        <p:txBody>
          <a:bodyPr/>
          <a:lstStyle/>
          <a:p>
            <a:r>
              <a:rPr lang="zh-CN" altLang="en-US" dirty="0"/>
              <a:t>教学目标</a:t>
            </a:r>
          </a:p>
        </p:txBody>
      </p:sp>
    </p:spTree>
    <p:extLst>
      <p:ext uri="{BB962C8B-B14F-4D97-AF65-F5344CB8AC3E}">
        <p14:creationId xmlns:p14="http://schemas.microsoft.com/office/powerpoint/2010/main" val="91554977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idx="1"/>
          </p:nvPr>
        </p:nvSpPr>
        <p:spPr/>
        <p:txBody>
          <a:bodyPr/>
          <a:lstStyle/>
          <a:p>
            <a:r>
              <a:rPr lang="zh-CN" altLang="en-US" dirty="0"/>
              <a:t>上篇：</a:t>
            </a:r>
            <a:endParaRPr lang="en-US" altLang="zh-CN" dirty="0"/>
          </a:p>
          <a:p>
            <a:r>
              <a:rPr lang="zh-CN" altLang="en-US" dirty="0"/>
              <a:t>程序设计语言的</a:t>
            </a:r>
            <a:r>
              <a:rPr lang="zh-CN" altLang="en-US" dirty="0">
                <a:solidFill>
                  <a:srgbClr val="EE853E"/>
                </a:solidFill>
              </a:rPr>
              <a:t>设计</a:t>
            </a:r>
            <a:r>
              <a:rPr lang="zh-CN" altLang="en-US" dirty="0"/>
              <a:t>（语言部分）</a:t>
            </a:r>
          </a:p>
          <a:p>
            <a:endParaRPr lang="en-US" altLang="zh-CN" dirty="0"/>
          </a:p>
          <a:p>
            <a:r>
              <a:rPr lang="zh-CN" altLang="en-US" dirty="0"/>
              <a:t>下篇：</a:t>
            </a:r>
            <a:endParaRPr lang="en-US" altLang="zh-CN" dirty="0"/>
          </a:p>
          <a:p>
            <a:r>
              <a:rPr lang="zh-CN" altLang="en-US" dirty="0"/>
              <a:t>程序设计语言的</a:t>
            </a:r>
            <a:r>
              <a:rPr lang="zh-CN" altLang="en-US" dirty="0">
                <a:solidFill>
                  <a:srgbClr val="EE853E"/>
                </a:solidFill>
              </a:rPr>
              <a:t>实现</a:t>
            </a:r>
            <a:r>
              <a:rPr lang="zh-CN" altLang="en-US" dirty="0"/>
              <a:t>（编译部分）</a:t>
            </a:r>
          </a:p>
        </p:txBody>
      </p:sp>
      <p:sp>
        <p:nvSpPr>
          <p:cNvPr id="29699" name="Rectangle 2"/>
          <p:cNvSpPr>
            <a:spLocks noGrp="1" noChangeArrowheads="1"/>
          </p:cNvSpPr>
          <p:nvPr>
            <p:ph type="title"/>
          </p:nvPr>
        </p:nvSpPr>
        <p:spPr/>
        <p:txBody>
          <a:bodyPr/>
          <a:lstStyle/>
          <a:p>
            <a:r>
              <a:rPr lang="zh-CN" altLang="en-US" dirty="0"/>
              <a:t>教学内容</a:t>
            </a:r>
          </a:p>
        </p:txBody>
      </p:sp>
    </p:spTree>
    <p:extLst>
      <p:ext uri="{BB962C8B-B14F-4D97-AF65-F5344CB8AC3E}">
        <p14:creationId xmlns:p14="http://schemas.microsoft.com/office/powerpoint/2010/main" val="271914520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5E7EA7B-D3EC-42A8-8DD6-0A6BC8DE5770}"/>
              </a:ext>
            </a:extLst>
          </p:cNvPr>
          <p:cNvSpPr>
            <a:spLocks noGrp="1"/>
          </p:cNvSpPr>
          <p:nvPr>
            <p:ph idx="1"/>
          </p:nvPr>
        </p:nvSpPr>
        <p:spPr/>
        <p:txBody>
          <a:bodyPr/>
          <a:lstStyle/>
          <a:p>
            <a:r>
              <a:rPr lang="zh-CN" altLang="en-US" dirty="0">
                <a:solidFill>
                  <a:srgbClr val="EE853E"/>
                </a:solidFill>
              </a:rPr>
              <a:t>课程</a:t>
            </a:r>
            <a:r>
              <a:rPr lang="en-US" altLang="zh-CN" dirty="0">
                <a:solidFill>
                  <a:srgbClr val="EE853E"/>
                </a:solidFill>
              </a:rPr>
              <a:t>MOOC</a:t>
            </a:r>
            <a:r>
              <a:rPr lang="zh-CN" altLang="en-US" dirty="0">
                <a:solidFill>
                  <a:srgbClr val="EE853E"/>
                </a:solidFill>
              </a:rPr>
              <a:t>地址</a:t>
            </a:r>
          </a:p>
          <a:p>
            <a:r>
              <a:rPr lang="en-US" altLang="zh-CN" dirty="0"/>
              <a:t>http://</a:t>
            </a:r>
            <a:r>
              <a:rPr lang="en-US" altLang="zh-CN" dirty="0" err="1"/>
              <a:t>www.icourse163.org</a:t>
            </a:r>
            <a:r>
              <a:rPr lang="en-US" altLang="zh-CN" dirty="0"/>
              <a:t>/learn/preview/</a:t>
            </a:r>
            <a:r>
              <a:rPr lang="en-US" altLang="zh-CN" dirty="0" err="1"/>
              <a:t>UESTC</a:t>
            </a:r>
            <a:r>
              <a:rPr lang="en-US" altLang="zh-CN" dirty="0"/>
              <a:t>-1205764806</a:t>
            </a:r>
          </a:p>
          <a:p>
            <a:endParaRPr lang="en-US" altLang="zh-CN" dirty="0"/>
          </a:p>
          <a:p>
            <a:r>
              <a:rPr lang="zh-CN" altLang="en-US" dirty="0">
                <a:solidFill>
                  <a:srgbClr val="EE853E"/>
                </a:solidFill>
              </a:rPr>
              <a:t>课程源码地址</a:t>
            </a:r>
          </a:p>
          <a:p>
            <a:r>
              <a:rPr lang="en-US" altLang="zh-CN" dirty="0"/>
              <a:t>https://</a:t>
            </a:r>
            <a:r>
              <a:rPr lang="en-US" altLang="zh-CN" dirty="0" err="1"/>
              <a:t>github.com</a:t>
            </a:r>
            <a:r>
              <a:rPr lang="en-US" altLang="zh-CN" dirty="0"/>
              <a:t>/</a:t>
            </a:r>
            <a:r>
              <a:rPr lang="en-US" altLang="zh-CN" dirty="0" err="1"/>
              <a:t>misterfishing</a:t>
            </a:r>
            <a:endParaRPr lang="en-US" altLang="zh-CN" dirty="0"/>
          </a:p>
          <a:p>
            <a:endParaRPr lang="zh-CN" altLang="en-US" dirty="0"/>
          </a:p>
        </p:txBody>
      </p:sp>
      <p:sp>
        <p:nvSpPr>
          <p:cNvPr id="3" name="标题 2">
            <a:extLst>
              <a:ext uri="{FF2B5EF4-FFF2-40B4-BE49-F238E27FC236}">
                <a16:creationId xmlns:a16="http://schemas.microsoft.com/office/drawing/2014/main" id="{9CB2A1FE-D024-4686-AAA0-AEE3B148C737}"/>
              </a:ext>
            </a:extLst>
          </p:cNvPr>
          <p:cNvSpPr>
            <a:spLocks noGrp="1"/>
          </p:cNvSpPr>
          <p:nvPr>
            <p:ph type="title"/>
          </p:nvPr>
        </p:nvSpPr>
        <p:spPr/>
        <p:txBody>
          <a:bodyPr/>
          <a:lstStyle/>
          <a:p>
            <a:r>
              <a:rPr lang="zh-CN" altLang="en-US"/>
              <a:t>教学资源</a:t>
            </a:r>
            <a:endParaRPr lang="zh-CN" altLang="en-US" dirty="0"/>
          </a:p>
        </p:txBody>
      </p:sp>
    </p:spTree>
    <p:extLst>
      <p:ext uri="{BB962C8B-B14F-4D97-AF65-F5344CB8AC3E}">
        <p14:creationId xmlns:p14="http://schemas.microsoft.com/office/powerpoint/2010/main" val="42976195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5787</TotalTime>
  <Words>790</Words>
  <Application>Microsoft Office PowerPoint</Application>
  <PresentationFormat>宽屏</PresentationFormat>
  <Paragraphs>122</Paragraphs>
  <Slides>21</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微软雅黑</vt:lpstr>
      <vt:lpstr>Arial</vt:lpstr>
      <vt:lpstr>Wingdings</vt:lpstr>
      <vt:lpstr>环保</vt:lpstr>
      <vt:lpstr>程序设计语言与编译</vt:lpstr>
      <vt:lpstr>教材</vt:lpstr>
      <vt:lpstr>参考书（语言部分）</vt:lpstr>
      <vt:lpstr>参考书（编译部分）</vt:lpstr>
      <vt:lpstr>什么是程序设计语言</vt:lpstr>
      <vt:lpstr>PowerPoint 演示文稿</vt:lpstr>
      <vt:lpstr>程序设计语言的发展</vt:lpstr>
      <vt:lpstr>PowerPoint 演示文稿</vt:lpstr>
      <vt:lpstr>PowerPoint 演示文稿</vt:lpstr>
      <vt:lpstr>高级语言实例</vt:lpstr>
      <vt:lpstr>高级语言的特点</vt:lpstr>
      <vt:lpstr>问题</vt:lpstr>
      <vt:lpstr>解决方法</vt:lpstr>
      <vt:lpstr>汇编</vt:lpstr>
      <vt:lpstr>编译</vt:lpstr>
      <vt:lpstr>语言与编译的重要性</vt:lpstr>
      <vt:lpstr>PowerPoint 演示文稿</vt:lpstr>
      <vt:lpstr>PowerPoint 演示文稿</vt:lpstr>
      <vt:lpstr>教学目标</vt:lpstr>
      <vt:lpstr>教学内容</vt:lpstr>
      <vt:lpstr>教学资源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TEST</dc:creator>
  <cp:lastModifiedBy>TEST</cp:lastModifiedBy>
  <cp:revision>1072</cp:revision>
  <cp:lastPrinted>1601-01-01T00:00:00Z</cp:lastPrinted>
  <dcterms:created xsi:type="dcterms:W3CDTF">1601-01-01T00:00:00Z</dcterms:created>
  <dcterms:modified xsi:type="dcterms:W3CDTF">2021-03-01T09:37:49Z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