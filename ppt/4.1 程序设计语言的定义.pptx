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5"/>
  </p:notesMasterIdLst>
  <p:handoutMasterIdLst>
    <p:handoutMasterId r:id="rId16"/>
  </p:handoutMasterIdLst>
  <p:sldIdLst>
    <p:sldId id="922" r:id="rId2"/>
    <p:sldId id="259" r:id="rId3"/>
    <p:sldId id="260" r:id="rId4"/>
    <p:sldId id="340" r:id="rId5"/>
    <p:sldId id="341" r:id="rId6"/>
    <p:sldId id="265" r:id="rId7"/>
    <p:sldId id="266" r:id="rId8"/>
    <p:sldId id="268" r:id="rId9"/>
    <p:sldId id="269" r:id="rId10"/>
    <p:sldId id="270" r:id="rId11"/>
    <p:sldId id="272" r:id="rId12"/>
    <p:sldId id="276" r:id="rId13"/>
    <p:sldId id="278" r:id="rId14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E853E"/>
    <a:srgbClr val="A18D60"/>
    <a:srgbClr val="EE8A3E"/>
    <a:srgbClr val="E98A3E"/>
    <a:srgbClr val="04141B"/>
    <a:srgbClr val="D9B247"/>
    <a:srgbClr val="2A9995"/>
    <a:srgbClr val="54D0CA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40" d="100"/>
          <a:sy n="40" d="100"/>
        </p:scale>
        <p:origin x="69" y="6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使用者先使用语义规则  后使用语法规则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实现者 相反</a:t>
            </a:r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413DE6-5D6D-40FA-A276-F36C4B52F431}" type="slidenum">
              <a:rPr lang="zh-CN" altLang="en-US" smtClean="0">
                <a:ea typeface="宋体" charset="-122"/>
              </a:rPr>
              <a:pPr/>
              <a:t>8</a:t>
            </a:fld>
            <a:endParaRPr lang="en-US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3718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程序语言的设计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863816" y="1638300"/>
            <a:ext cx="6464368" cy="372023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</a:rPr>
                <a:t>第一</a:t>
              </a:r>
              <a:r>
                <a:rPr lang="zh-CN" altLang="en-US" sz="2400" b="1">
                  <a:solidFill>
                    <a:srgbClr val="EE853E"/>
                  </a:solidFill>
                  <a:latin typeface="+mj-ea"/>
                  <a:ea typeface="+mj-ea"/>
                </a:rPr>
                <a:t>节 程序设计语言</a:t>
              </a:r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</a:rPr>
                <a:t>的定义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第二节 形式语言与文法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第三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</a:rPr>
                <a:t>节 程序设计语言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的设计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程序设计语言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实例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972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语言 ＝ </a:t>
            </a:r>
            <a:r>
              <a:rPr lang="zh-CN" altLang="en-US" dirty="0">
                <a:solidFill>
                  <a:srgbClr val="EE853E"/>
                </a:solidFill>
              </a:rPr>
              <a:t>语法（</a:t>
            </a:r>
            <a:r>
              <a:rPr lang="zh-CN" altLang="en-GB" dirty="0">
                <a:solidFill>
                  <a:srgbClr val="EE853E"/>
                </a:solidFill>
              </a:rPr>
              <a:t>规则</a:t>
            </a:r>
            <a:r>
              <a:rPr lang="zh-CN" altLang="en-US" dirty="0">
                <a:solidFill>
                  <a:srgbClr val="EE853E"/>
                </a:solidFill>
              </a:rPr>
              <a:t>）＋ 语义（</a:t>
            </a:r>
            <a:r>
              <a:rPr lang="zh-CN" altLang="en-GB" dirty="0">
                <a:solidFill>
                  <a:srgbClr val="EE853E"/>
                </a:solidFill>
              </a:rPr>
              <a:t>规则</a:t>
            </a:r>
            <a:r>
              <a:rPr lang="zh-CN" altLang="en-US" dirty="0">
                <a:solidFill>
                  <a:srgbClr val="EE853E"/>
                </a:solidFill>
              </a:rPr>
              <a:t>）</a:t>
            </a:r>
            <a:r>
              <a:rPr lang="en-US" altLang="zh-CN" dirty="0"/>
              <a:t>+</a:t>
            </a:r>
            <a:r>
              <a:rPr lang="zh-CN" altLang="en-US" dirty="0"/>
              <a:t>语用（</a:t>
            </a:r>
            <a:r>
              <a:rPr lang="zh-CN" altLang="en-GB" dirty="0"/>
              <a:t>规则</a:t>
            </a:r>
            <a:r>
              <a:rPr lang="zh-CN" altLang="en-US" dirty="0"/>
              <a:t>）</a:t>
            </a:r>
            <a:r>
              <a:rPr lang="en-US" altLang="zh-CN" dirty="0"/>
              <a:t>+</a:t>
            </a:r>
            <a:r>
              <a:rPr lang="zh-CN" altLang="en-US" dirty="0"/>
              <a:t>其他</a:t>
            </a:r>
            <a:r>
              <a:rPr lang="zh-CN" altLang="en-GB" dirty="0"/>
              <a:t>规则</a:t>
            </a:r>
            <a:endParaRPr lang="zh-CN" altLang="en-US" dirty="0"/>
          </a:p>
          <a:p>
            <a:r>
              <a:rPr lang="zh-CN" altLang="en-US" dirty="0"/>
              <a:t>语法：</a:t>
            </a:r>
            <a:endParaRPr lang="en-US" altLang="zh-CN" dirty="0"/>
          </a:p>
          <a:p>
            <a:r>
              <a:rPr lang="zh-CN" altLang="en-US" dirty="0"/>
              <a:t>  规定</a:t>
            </a:r>
            <a:r>
              <a:rPr lang="zh-CN" altLang="en-US" dirty="0">
                <a:solidFill>
                  <a:srgbClr val="EE853E"/>
                </a:solidFill>
              </a:rPr>
              <a:t>单词符号和</a:t>
            </a:r>
            <a:r>
              <a:rPr lang="zh-CN" altLang="en-GB" dirty="0">
                <a:solidFill>
                  <a:srgbClr val="EE853E"/>
                </a:solidFill>
              </a:rPr>
              <a:t>语法单位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FF00"/>
                </a:solidFill>
              </a:rPr>
              <a:t>表达式、语句、程序单元、程序</a:t>
            </a:r>
            <a:r>
              <a:rPr lang="en-US" altLang="zh-CN" dirty="0"/>
              <a:t>)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EE853E"/>
                </a:solidFill>
              </a:rPr>
              <a:t>形成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EE853E"/>
                </a:solidFill>
              </a:rPr>
              <a:t>规则</a:t>
            </a:r>
            <a:r>
              <a:rPr lang="zh-CN" altLang="en-US" dirty="0"/>
              <a:t>集合。</a:t>
            </a:r>
          </a:p>
          <a:p>
            <a:r>
              <a:rPr lang="zh-CN" altLang="en-US" dirty="0"/>
              <a:t>语义：</a:t>
            </a:r>
            <a:endParaRPr lang="en-US" altLang="zh-CN" dirty="0"/>
          </a:p>
          <a:p>
            <a:r>
              <a:rPr lang="zh-CN" altLang="en-US" dirty="0"/>
              <a:t>  规定语法正确的单词符号和</a:t>
            </a:r>
            <a:r>
              <a:rPr lang="zh-CN" altLang="en-GB" dirty="0"/>
              <a:t>语法单位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EE853E"/>
                </a:solidFill>
              </a:rPr>
              <a:t>含义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EE853E"/>
                </a:solidFill>
              </a:rPr>
              <a:t>规则</a:t>
            </a:r>
            <a:r>
              <a:rPr lang="zh-CN" altLang="en-US" dirty="0"/>
              <a:t>集合。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E6B02BE-BCE2-4379-BBBE-8A0338DA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高级程序设计语言的定义</a:t>
            </a:r>
          </a:p>
        </p:txBody>
      </p:sp>
    </p:spTree>
    <p:extLst>
      <p:ext uri="{BB962C8B-B14F-4D97-AF65-F5344CB8AC3E}">
        <p14:creationId xmlns:p14="http://schemas.microsoft.com/office/powerpoint/2010/main" val="86010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4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4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4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787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可以从</a:t>
            </a:r>
            <a:r>
              <a:rPr lang="zh-CN" altLang="en-US" dirty="0">
                <a:solidFill>
                  <a:srgbClr val="EE853E"/>
                </a:solidFill>
              </a:rPr>
              <a:t>生成</a:t>
            </a:r>
            <a:r>
              <a:rPr lang="zh-CN" altLang="en-US" dirty="0"/>
              <a:t>（文法）和</a:t>
            </a:r>
            <a:r>
              <a:rPr lang="zh-CN" altLang="en-US" dirty="0">
                <a:solidFill>
                  <a:srgbClr val="EE853E"/>
                </a:solidFill>
              </a:rPr>
              <a:t>识别</a:t>
            </a:r>
            <a:r>
              <a:rPr lang="zh-CN" altLang="en-US" dirty="0"/>
              <a:t>（语法图）的角度描述语法规则。</a:t>
            </a:r>
            <a:endParaRPr lang="en-US" altLang="zh-CN" dirty="0"/>
          </a:p>
          <a:p>
            <a:r>
              <a:rPr lang="zh-CN" altLang="en-US" dirty="0"/>
              <a:t>文法描述语法规则：</a:t>
            </a:r>
            <a:r>
              <a:rPr lang="zh-CN" altLang="en-US" dirty="0">
                <a:solidFill>
                  <a:srgbClr val="EE853E"/>
                </a:solidFill>
              </a:rPr>
              <a:t>生成</a:t>
            </a:r>
            <a:r>
              <a:rPr lang="zh-CN" altLang="en-US" dirty="0"/>
              <a:t>角度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标识符</a:t>
            </a:r>
            <a:r>
              <a:rPr lang="en-US" altLang="zh-CN" dirty="0"/>
              <a:t>&gt; → &lt;</a:t>
            </a:r>
            <a:r>
              <a:rPr lang="zh-CN" altLang="en-US" dirty="0"/>
              <a:t>字母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标识符</a:t>
            </a:r>
            <a:r>
              <a:rPr lang="en-US" altLang="zh-CN" dirty="0"/>
              <a:t>&gt; → &lt;</a:t>
            </a:r>
            <a:r>
              <a:rPr lang="zh-CN" altLang="en-US" dirty="0"/>
              <a:t>标识符</a:t>
            </a:r>
            <a:r>
              <a:rPr lang="en-US" altLang="zh-CN" dirty="0"/>
              <a:t>&gt;&lt;</a:t>
            </a:r>
            <a:r>
              <a:rPr lang="zh-CN" altLang="en-US" dirty="0"/>
              <a:t>字母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标识符</a:t>
            </a:r>
            <a:r>
              <a:rPr lang="en-US" altLang="zh-CN" dirty="0"/>
              <a:t>&gt; → &lt;</a:t>
            </a:r>
            <a:r>
              <a:rPr lang="zh-CN" altLang="en-US" dirty="0"/>
              <a:t>标识符</a:t>
            </a:r>
            <a:r>
              <a:rPr lang="en-US" altLang="zh-CN" dirty="0"/>
              <a:t>&gt;&lt;</a:t>
            </a:r>
            <a:r>
              <a:rPr lang="zh-CN" altLang="en-US" dirty="0"/>
              <a:t>数字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字母</a:t>
            </a:r>
            <a:r>
              <a:rPr lang="en-US" altLang="zh-CN" dirty="0"/>
              <a:t>&gt;  →a | b | c | d | e | f | g | h | </a:t>
            </a:r>
            <a:r>
              <a:rPr lang="en-US" altLang="zh-CN" dirty="0" err="1"/>
              <a:t>i</a:t>
            </a:r>
            <a:r>
              <a:rPr lang="en-US" altLang="zh-CN" dirty="0"/>
              <a:t> | j | k | l | m | n | o | p | q | r | s | t</a:t>
            </a:r>
          </a:p>
          <a:p>
            <a:r>
              <a:rPr lang="en-US" altLang="zh-CN" dirty="0"/>
              <a:t>		|u | v | w | x | y | z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数字</a:t>
            </a:r>
            <a:r>
              <a:rPr lang="en-US" altLang="zh-CN" dirty="0"/>
              <a:t>&gt; → 0 | 1 | 2 | 3 | 4 | 5 | 6 | 7 | 8 | 9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57DAAE2-9C3F-4B31-A145-0421D38C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语法描述</a:t>
            </a:r>
          </a:p>
        </p:txBody>
      </p:sp>
    </p:spTree>
    <p:extLst>
      <p:ext uri="{BB962C8B-B14F-4D97-AF65-F5344CB8AC3E}">
        <p14:creationId xmlns:p14="http://schemas.microsoft.com/office/powerpoint/2010/main" val="227121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5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5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5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504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表达式（算术）</a:t>
            </a:r>
            <a:endParaRPr lang="en-US" altLang="zh-CN" dirty="0"/>
          </a:p>
          <a:p>
            <a:r>
              <a:rPr lang="en-US" altLang="zh-CN" dirty="0"/>
              <a:t>&lt;</a:t>
            </a:r>
            <a:r>
              <a:rPr lang="zh-CN" altLang="en-US" dirty="0"/>
              <a:t>表达式</a:t>
            </a:r>
            <a:r>
              <a:rPr lang="en-US" altLang="zh-CN" dirty="0"/>
              <a:t>&gt; → &lt;</a:t>
            </a:r>
            <a:r>
              <a:rPr lang="zh-CN" altLang="en-US" dirty="0"/>
              <a:t>标识符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表达式</a:t>
            </a:r>
            <a:r>
              <a:rPr lang="en-US" altLang="zh-CN" dirty="0"/>
              <a:t>&gt; → (&lt;</a:t>
            </a:r>
            <a:r>
              <a:rPr lang="zh-CN" altLang="en-US" dirty="0"/>
              <a:t>表达式</a:t>
            </a:r>
            <a:r>
              <a:rPr lang="en-US" altLang="zh-CN" dirty="0"/>
              <a:t>&gt;)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表达式</a:t>
            </a:r>
            <a:r>
              <a:rPr lang="en-US" altLang="zh-CN" dirty="0"/>
              <a:t>&gt; → &lt;</a:t>
            </a:r>
            <a:r>
              <a:rPr lang="zh-CN" altLang="en-US" dirty="0"/>
              <a:t>表达式</a:t>
            </a:r>
            <a:r>
              <a:rPr lang="en-US" altLang="zh-CN" dirty="0"/>
              <a:t>&gt;&lt;</a:t>
            </a:r>
            <a:r>
              <a:rPr lang="zh-CN" altLang="en-US" dirty="0"/>
              <a:t>运算符</a:t>
            </a:r>
            <a:r>
              <a:rPr lang="en-US" altLang="zh-CN" dirty="0"/>
              <a:t>&gt;&lt;</a:t>
            </a:r>
            <a:r>
              <a:rPr lang="zh-CN" altLang="en-US" dirty="0"/>
              <a:t>表达式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运算符</a:t>
            </a:r>
            <a:r>
              <a:rPr lang="en-US" altLang="zh-CN" dirty="0"/>
              <a:t>&gt; → + | - | * | /</a:t>
            </a:r>
          </a:p>
          <a:p>
            <a:endParaRPr 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5B3AC5F6-32F2-473D-B423-AB3FB70A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语法描述</a:t>
            </a:r>
          </a:p>
        </p:txBody>
      </p:sp>
    </p:spTree>
    <p:extLst>
      <p:ext uri="{BB962C8B-B14F-4D97-AF65-F5344CB8AC3E}">
        <p14:creationId xmlns:p14="http://schemas.microsoft.com/office/powerpoint/2010/main" val="29864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语法图描述语法：识别角度</a:t>
            </a:r>
          </a:p>
          <a:p>
            <a:endParaRPr lang="en-US" altLang="zh-CN" dirty="0"/>
          </a:p>
          <a:p>
            <a:r>
              <a:rPr lang="zh-CN" altLang="en-US" dirty="0"/>
              <a:t>标识符：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表达式：</a:t>
            </a:r>
            <a:endParaRPr lang="en-US" altLang="zh-CN" dirty="0"/>
          </a:p>
          <a:p>
            <a:endParaRPr lang="zh-CN" altLang="en-US" dirty="0"/>
          </a:p>
          <a:p>
            <a:endParaRPr lang="en-US" dirty="0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2D372A8A-8447-4BFF-88D7-98A91FCAA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语法描述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60F8B7-B0A6-46BE-9BC3-34FB29D14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938" y="1524001"/>
            <a:ext cx="3443461" cy="178757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6767D14-D649-470F-9E29-59810E509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938" y="3699390"/>
            <a:ext cx="4916226" cy="216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92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FORTRAN</a:t>
            </a:r>
            <a:r>
              <a:rPr lang="zh-CN" altLang="en-US" dirty="0"/>
              <a:t>采用自然语言描述语法；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ALGOL 60</a:t>
            </a:r>
            <a:r>
              <a:rPr lang="zh-CN" altLang="en-US" dirty="0"/>
              <a:t>首次用</a:t>
            </a:r>
            <a:r>
              <a:rPr lang="en-US" altLang="zh-CN" dirty="0">
                <a:solidFill>
                  <a:srgbClr val="EE853E"/>
                </a:solidFill>
              </a:rPr>
              <a:t>BNF</a:t>
            </a:r>
            <a:r>
              <a:rPr lang="zh-CN" altLang="en-US" dirty="0"/>
              <a:t>对语法进行形式描述，为语言定义做出了重要贡献； 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Pascal</a:t>
            </a:r>
            <a:r>
              <a:rPr lang="zh-CN" altLang="en-US" dirty="0"/>
              <a:t>首次采用</a:t>
            </a:r>
            <a:r>
              <a:rPr lang="zh-CN" altLang="en-US" dirty="0">
                <a:solidFill>
                  <a:srgbClr val="EE853E"/>
                </a:solidFill>
              </a:rPr>
              <a:t>语法图</a:t>
            </a:r>
            <a:r>
              <a:rPr lang="zh-CN" altLang="en-US" dirty="0"/>
              <a:t>来定义语言，给出了较为直观的语法结构。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高级语言语法规则的描述方法</a:t>
            </a:r>
          </a:p>
        </p:txBody>
      </p:sp>
    </p:spTree>
    <p:extLst>
      <p:ext uri="{BB962C8B-B14F-4D97-AF65-F5344CB8AC3E}">
        <p14:creationId xmlns:p14="http://schemas.microsoft.com/office/powerpoint/2010/main" val="365746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1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1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97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文法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语法图</a:t>
            </a:r>
            <a:r>
              <a:rPr lang="zh-CN" altLang="en-US" dirty="0"/>
              <a:t>是语言语法的</a:t>
            </a:r>
            <a:r>
              <a:rPr lang="zh-CN" altLang="en-US" dirty="0">
                <a:solidFill>
                  <a:srgbClr val="EE853E"/>
                </a:solidFill>
              </a:rPr>
              <a:t>等价</a:t>
            </a:r>
            <a:r>
              <a:rPr lang="zh-CN" altLang="en-US" dirty="0"/>
              <a:t>表示。</a:t>
            </a:r>
          </a:p>
          <a:p>
            <a:r>
              <a:rPr lang="zh-CN" altLang="en-US" dirty="0"/>
              <a:t>文法从</a:t>
            </a:r>
            <a:r>
              <a:rPr lang="zh-CN" altLang="en-US" dirty="0">
                <a:solidFill>
                  <a:srgbClr val="EE853E"/>
                </a:solidFill>
              </a:rPr>
              <a:t>产生</a:t>
            </a:r>
            <a:r>
              <a:rPr lang="zh-CN" altLang="en-US" dirty="0"/>
              <a:t>的观点来定义语言的语法，通用性好。</a:t>
            </a:r>
          </a:p>
          <a:p>
            <a:r>
              <a:rPr lang="zh-CN" altLang="en-US" dirty="0"/>
              <a:t>语法图以</a:t>
            </a:r>
            <a:r>
              <a:rPr lang="zh-CN" altLang="en-US" dirty="0">
                <a:solidFill>
                  <a:srgbClr val="EE853E"/>
                </a:solidFill>
              </a:rPr>
              <a:t>识别</a:t>
            </a:r>
            <a:r>
              <a:rPr lang="zh-CN" altLang="en-US" dirty="0"/>
              <a:t>的观点定义语言的语法，更直观和清晰。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采用</a:t>
            </a:r>
            <a:r>
              <a:rPr lang="zh-CN" altLang="en-US" dirty="0">
                <a:solidFill>
                  <a:srgbClr val="EE853E"/>
                </a:solidFill>
              </a:rPr>
              <a:t>生成</a:t>
            </a:r>
            <a:r>
              <a:rPr lang="zh-CN" altLang="en-US" dirty="0"/>
              <a:t>的方法还是采用</a:t>
            </a:r>
            <a:r>
              <a:rPr lang="zh-CN" altLang="en-US" dirty="0">
                <a:solidFill>
                  <a:srgbClr val="EE853E"/>
                </a:solidFill>
              </a:rPr>
              <a:t>识别</a:t>
            </a:r>
            <a:r>
              <a:rPr lang="zh-CN" altLang="en-US" dirty="0"/>
              <a:t>的方法来描述语言的语法，</a:t>
            </a:r>
          </a:p>
          <a:p>
            <a:r>
              <a:rPr lang="zh-CN" altLang="en-US" dirty="0"/>
              <a:t>由语言的设计者确定。</a:t>
            </a:r>
          </a:p>
          <a:p>
            <a:endParaRPr lang="zh-CN" alt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语法描述方法等价</a:t>
            </a:r>
          </a:p>
        </p:txBody>
      </p:sp>
    </p:spTree>
    <p:extLst>
      <p:ext uri="{BB962C8B-B14F-4D97-AF65-F5344CB8AC3E}">
        <p14:creationId xmlns:p14="http://schemas.microsoft.com/office/powerpoint/2010/main" val="199898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5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29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表达语言</a:t>
            </a:r>
            <a:r>
              <a:rPr lang="zh-CN" altLang="en-US" dirty="0">
                <a:solidFill>
                  <a:srgbClr val="EE853E"/>
                </a:solidFill>
              </a:rPr>
              <a:t>设计者</a:t>
            </a:r>
            <a:r>
              <a:rPr lang="zh-CN" altLang="en-US" dirty="0"/>
              <a:t>的意图和设计目标；</a:t>
            </a:r>
          </a:p>
          <a:p>
            <a:r>
              <a:rPr lang="en-US" altLang="zh-CN" dirty="0"/>
              <a:t>(2) </a:t>
            </a:r>
            <a:r>
              <a:rPr lang="zh-CN" altLang="en-US" dirty="0"/>
              <a:t>指导语言的</a:t>
            </a:r>
            <a:r>
              <a:rPr lang="zh-CN" altLang="en-US" dirty="0">
                <a:solidFill>
                  <a:srgbClr val="EE853E"/>
                </a:solidFill>
              </a:rPr>
              <a:t>使用者</a:t>
            </a:r>
            <a:r>
              <a:rPr lang="zh-CN" altLang="en-US" dirty="0"/>
              <a:t>编写正确的程序；</a:t>
            </a:r>
          </a:p>
          <a:p>
            <a:r>
              <a:rPr lang="en-US" altLang="zh-CN" dirty="0"/>
              <a:t>(3) </a:t>
            </a:r>
            <a:r>
              <a:rPr lang="zh-CN" altLang="en-US" dirty="0"/>
              <a:t>指导语言的</a:t>
            </a:r>
            <a:r>
              <a:rPr lang="zh-CN" altLang="en-US" dirty="0">
                <a:solidFill>
                  <a:srgbClr val="EE853E"/>
                </a:solidFill>
              </a:rPr>
              <a:t>实现者</a:t>
            </a:r>
            <a:r>
              <a:rPr lang="zh-CN" altLang="en-US" dirty="0"/>
              <a:t>识别所有语法单位。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语法的作用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7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6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6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6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667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语义（规则）</a:t>
            </a:r>
          </a:p>
          <a:p>
            <a:r>
              <a:rPr lang="zh-CN" altLang="en-US" dirty="0"/>
              <a:t>定义语言的</a:t>
            </a:r>
            <a:r>
              <a:rPr lang="zh-CN" altLang="en-US" dirty="0">
                <a:solidFill>
                  <a:srgbClr val="EE853E"/>
                </a:solidFill>
              </a:rPr>
              <a:t>单词符号和语法单位</a:t>
            </a:r>
            <a:r>
              <a:rPr lang="zh-CN" altLang="en-US" dirty="0"/>
              <a:t>的含义的规则组合。</a:t>
            </a:r>
          </a:p>
          <a:p>
            <a:r>
              <a:rPr lang="zh-CN" altLang="en-US" dirty="0"/>
              <a:t>例：</a:t>
            </a:r>
            <a:r>
              <a:rPr lang="en-US" altLang="zh-CN" dirty="0"/>
              <a:t>if(a&gt;b) then max:=a else max:=b </a:t>
            </a:r>
          </a:p>
          <a:p>
            <a:r>
              <a:rPr lang="zh-CN" altLang="en-US" dirty="0"/>
              <a:t>二选一的控制机制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46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文法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语法图</a:t>
            </a:r>
            <a:r>
              <a:rPr lang="zh-CN" altLang="en-US" dirty="0"/>
              <a:t>已成为</a:t>
            </a:r>
            <a:r>
              <a:rPr lang="zh-CN" altLang="en-US" dirty="0">
                <a:solidFill>
                  <a:srgbClr val="EE853E"/>
                </a:solidFill>
              </a:rPr>
              <a:t>语法</a:t>
            </a:r>
            <a:r>
              <a:rPr lang="zh-CN" altLang="en-US" dirty="0"/>
              <a:t>描述的典型工具，但</a:t>
            </a:r>
            <a:r>
              <a:rPr lang="zh-CN" altLang="en-US" dirty="0">
                <a:solidFill>
                  <a:srgbClr val="EE853E"/>
                </a:solidFill>
              </a:rPr>
              <a:t>语义</a:t>
            </a:r>
            <a:r>
              <a:rPr lang="zh-CN" altLang="en-US" dirty="0"/>
              <a:t>描述至今</a:t>
            </a:r>
            <a:r>
              <a:rPr lang="zh-CN" altLang="en-US" dirty="0">
                <a:solidFill>
                  <a:srgbClr val="EE853E"/>
                </a:solidFill>
              </a:rPr>
              <a:t>尚无</a:t>
            </a:r>
            <a:r>
              <a:rPr lang="zh-CN" altLang="en-US" dirty="0"/>
              <a:t>人们普遍接受的典型描述工具。</a:t>
            </a:r>
          </a:p>
          <a:p>
            <a:r>
              <a:rPr lang="zh-CN" altLang="en-US" dirty="0"/>
              <a:t>许多语言仍采用</a:t>
            </a:r>
            <a:r>
              <a:rPr lang="zh-CN" altLang="en-US" dirty="0">
                <a:solidFill>
                  <a:srgbClr val="EE853E"/>
                </a:solidFill>
              </a:rPr>
              <a:t>自然语言</a:t>
            </a:r>
            <a:r>
              <a:rPr lang="zh-CN" altLang="en-US" dirty="0"/>
              <a:t>描述</a:t>
            </a:r>
            <a:r>
              <a:rPr lang="zh-CN" altLang="en-US" dirty="0">
                <a:solidFill>
                  <a:srgbClr val="EE853E"/>
                </a:solidFill>
              </a:rPr>
              <a:t>语义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（本章的）</a:t>
            </a:r>
            <a:r>
              <a:rPr lang="zh-CN" altLang="en-US" dirty="0">
                <a:solidFill>
                  <a:srgbClr val="EE853E"/>
                </a:solidFill>
              </a:rPr>
              <a:t>语言设计</a:t>
            </a:r>
            <a:r>
              <a:rPr lang="zh-CN" altLang="en-US" dirty="0"/>
              <a:t>，采用</a:t>
            </a:r>
            <a:r>
              <a:rPr lang="zh-CN" altLang="en-US" dirty="0">
                <a:solidFill>
                  <a:srgbClr val="EE853E"/>
                </a:solidFill>
              </a:rPr>
              <a:t>自然语言</a:t>
            </a:r>
            <a:r>
              <a:rPr lang="zh-CN" altLang="en-US" dirty="0"/>
              <a:t>来描述语义。</a:t>
            </a:r>
          </a:p>
          <a:p>
            <a:r>
              <a:rPr lang="zh-CN" altLang="en-US" dirty="0"/>
              <a:t>（下篇）</a:t>
            </a:r>
            <a:r>
              <a:rPr lang="zh-CN" altLang="en-US" dirty="0">
                <a:solidFill>
                  <a:srgbClr val="EE853E"/>
                </a:solidFill>
              </a:rPr>
              <a:t>语言实现</a:t>
            </a:r>
            <a:r>
              <a:rPr lang="zh-CN" altLang="en-US" dirty="0"/>
              <a:t>，涉及到的语义，将以</a:t>
            </a:r>
            <a:r>
              <a:rPr lang="zh-CN" altLang="en-US" dirty="0">
                <a:solidFill>
                  <a:srgbClr val="EE853E"/>
                </a:solidFill>
              </a:rPr>
              <a:t>操作语义学</a:t>
            </a:r>
            <a:r>
              <a:rPr lang="zh-CN" altLang="en-US" dirty="0"/>
              <a:t>的方法来描述。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操作语义学：</a:t>
            </a:r>
            <a:r>
              <a:rPr lang="zh-CN" altLang="en-US" dirty="0"/>
              <a:t>以</a:t>
            </a:r>
            <a:r>
              <a:rPr lang="zh-CN" altLang="en-US" dirty="0">
                <a:solidFill>
                  <a:srgbClr val="EE853E"/>
                </a:solidFill>
              </a:rPr>
              <a:t>抽象机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EE853E"/>
                </a:solidFill>
              </a:rPr>
              <a:t>行为</a:t>
            </a:r>
            <a:r>
              <a:rPr lang="zh-CN" altLang="en-US" dirty="0"/>
              <a:t>来</a:t>
            </a:r>
            <a:r>
              <a:rPr lang="zh-CN" altLang="en-US" dirty="0">
                <a:solidFill>
                  <a:srgbClr val="EE853E"/>
                </a:solidFill>
              </a:rPr>
              <a:t>描述语言</a:t>
            </a:r>
            <a:r>
              <a:rPr lang="zh-CN" altLang="en-US" dirty="0"/>
              <a:t>的语法单位的作用和意义。</a:t>
            </a:r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7B19AA9-407F-4B2B-959C-45294FFFF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语义描述</a:t>
            </a:r>
          </a:p>
        </p:txBody>
      </p:sp>
    </p:spTree>
    <p:extLst>
      <p:ext uri="{BB962C8B-B14F-4D97-AF65-F5344CB8AC3E}">
        <p14:creationId xmlns:p14="http://schemas.microsoft.com/office/powerpoint/2010/main" val="368304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2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</a:t>
            </a:r>
            <a:r>
              <a:rPr lang="zh-CN" altLang="en-US" dirty="0">
                <a:solidFill>
                  <a:srgbClr val="EE853E"/>
                </a:solidFill>
              </a:rPr>
              <a:t>存储器，控制器，处理器</a:t>
            </a:r>
            <a:r>
              <a:rPr lang="zh-CN" altLang="en-US" dirty="0"/>
              <a:t>，指令指针 </a:t>
            </a:r>
            <a:r>
              <a:rPr lang="en-US" altLang="zh-CN" dirty="0" err="1">
                <a:solidFill>
                  <a:srgbClr val="EE853E"/>
                </a:solidFill>
              </a:rPr>
              <a:t>ip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zh-CN" altLang="en-US" dirty="0"/>
              <a:t>组成。</a:t>
            </a:r>
          </a:p>
          <a:p>
            <a:r>
              <a:rPr lang="zh-CN" altLang="en-US" dirty="0"/>
              <a:t>存储器分为</a:t>
            </a:r>
            <a:r>
              <a:rPr lang="zh-CN" altLang="en-US" dirty="0">
                <a:solidFill>
                  <a:srgbClr val="EE853E"/>
                </a:solidFill>
              </a:rPr>
              <a:t>代码区</a:t>
            </a:r>
            <a:r>
              <a:rPr lang="zh-CN" altLang="en-US" dirty="0"/>
              <a:t>（代码存储器）和</a:t>
            </a:r>
            <a:r>
              <a:rPr lang="zh-CN" altLang="en-US" dirty="0">
                <a:solidFill>
                  <a:srgbClr val="EE853E"/>
                </a:solidFill>
              </a:rPr>
              <a:t>数据区</a:t>
            </a:r>
            <a:r>
              <a:rPr lang="zh-CN" altLang="en-US" dirty="0"/>
              <a:t>（数据存储器）。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代码区</a:t>
            </a:r>
            <a:r>
              <a:rPr lang="zh-CN" altLang="en-US" dirty="0"/>
              <a:t>：存放程序指令。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数据区</a:t>
            </a:r>
            <a:r>
              <a:rPr lang="zh-CN" altLang="en-US" dirty="0"/>
              <a:t>：存放信息和数据。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抽象机</a:t>
            </a:r>
            <a:r>
              <a:rPr lang="en-US" altLang="zh-CN"/>
              <a:t>GAM</a:t>
            </a:r>
            <a:r>
              <a:rPr lang="zh-CN" altLang="en-US"/>
              <a:t>的组成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26BB51-3089-40E2-95CA-D9023D97D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286000"/>
            <a:ext cx="6629399" cy="356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86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74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GAM</a:t>
            </a:r>
            <a:r>
              <a:rPr lang="zh-CN" altLang="en-US" dirty="0"/>
              <a:t>一旦启动，由</a:t>
            </a:r>
            <a:r>
              <a:rPr lang="zh-CN" altLang="en-US" dirty="0">
                <a:solidFill>
                  <a:srgbClr val="EE853E"/>
                </a:solidFill>
              </a:rPr>
              <a:t>装入程序</a:t>
            </a:r>
            <a:r>
              <a:rPr lang="zh-CN" altLang="en-US" dirty="0"/>
              <a:t>将待运行的程序装入代码存储器，</a:t>
            </a:r>
          </a:p>
          <a:p>
            <a:r>
              <a:rPr lang="zh-CN" altLang="en-US" dirty="0"/>
              <a:t>并设置 </a:t>
            </a:r>
            <a:r>
              <a:rPr lang="en-US" altLang="zh-CN" dirty="0" err="1">
                <a:solidFill>
                  <a:srgbClr val="EE853E"/>
                </a:solidFill>
              </a:rPr>
              <a:t>ip</a:t>
            </a:r>
            <a:r>
              <a:rPr lang="en-US" altLang="zh-CN" dirty="0"/>
              <a:t> </a:t>
            </a:r>
            <a:r>
              <a:rPr lang="zh-CN" altLang="en-US" dirty="0"/>
              <a:t>指向该程序的第一条指令，</a:t>
            </a:r>
          </a:p>
          <a:p>
            <a:r>
              <a:rPr lang="zh-CN" altLang="en-US" dirty="0"/>
              <a:t>然后依次完成下述工作： </a:t>
            </a:r>
            <a:endParaRPr lang="en-US" altLang="zh-CN" dirty="0"/>
          </a:p>
          <a:p>
            <a:r>
              <a:rPr lang="en-GB" altLang="zh-CN" dirty="0"/>
              <a:t>(1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zh-CN" altLang="en-US" dirty="0">
                <a:solidFill>
                  <a:srgbClr val="EE853E"/>
                </a:solidFill>
              </a:rPr>
              <a:t>执行</a:t>
            </a:r>
            <a:r>
              <a:rPr lang="zh-CN" altLang="en-US" dirty="0"/>
              <a:t> </a:t>
            </a:r>
            <a:r>
              <a:rPr lang="en-US" altLang="zh-CN" dirty="0" err="1"/>
              <a:t>ip</a:t>
            </a:r>
            <a:r>
              <a:rPr lang="en-US" altLang="zh-CN" dirty="0"/>
              <a:t> </a:t>
            </a:r>
            <a:r>
              <a:rPr lang="zh-CN" altLang="en-US" dirty="0"/>
              <a:t>所指向的</a:t>
            </a:r>
            <a:r>
              <a:rPr lang="zh-CN" altLang="en-US" dirty="0">
                <a:solidFill>
                  <a:srgbClr val="EE853E"/>
                </a:solidFill>
              </a:rPr>
              <a:t>指令（可能直接修改</a:t>
            </a:r>
            <a:r>
              <a:rPr lang="en-US" altLang="zh-CN" dirty="0" err="1">
                <a:solidFill>
                  <a:srgbClr val="EE853E"/>
                </a:solidFill>
              </a:rPr>
              <a:t>ip</a:t>
            </a:r>
            <a:r>
              <a:rPr lang="zh-CN" altLang="en-US" dirty="0">
                <a:solidFill>
                  <a:srgbClr val="EE853E"/>
                </a:solidFill>
              </a:rPr>
              <a:t>）；</a:t>
            </a:r>
          </a:p>
          <a:p>
            <a:r>
              <a:rPr lang="en-US" altLang="zh-CN" dirty="0"/>
              <a:t>(2) </a:t>
            </a:r>
            <a:r>
              <a:rPr lang="zh-CN" altLang="en-US" dirty="0"/>
              <a:t>若所执行的指令未修改</a:t>
            </a:r>
            <a:r>
              <a:rPr lang="en-US" altLang="zh-CN" dirty="0" err="1"/>
              <a:t>ip</a:t>
            </a:r>
            <a:r>
              <a:rPr lang="zh-CN" altLang="en-US" dirty="0"/>
              <a:t>，则</a:t>
            </a:r>
            <a:r>
              <a:rPr lang="en-US" altLang="zh-CN" dirty="0" err="1"/>
              <a:t>ip</a:t>
            </a:r>
            <a:r>
              <a:rPr lang="zh-CN" altLang="en-US" dirty="0"/>
              <a:t>指向下一条指令；</a:t>
            </a:r>
            <a:endParaRPr lang="en-US" altLang="zh-CN" dirty="0"/>
          </a:p>
          <a:p>
            <a:r>
              <a:rPr lang="en-US" altLang="zh-CN" dirty="0"/>
              <a:t>(3) </a:t>
            </a:r>
            <a:r>
              <a:rPr lang="zh-CN" altLang="en-US" dirty="0"/>
              <a:t>若所执行的指令修改了</a:t>
            </a:r>
            <a:r>
              <a:rPr lang="en-US" altLang="zh-CN" dirty="0" err="1"/>
              <a:t>ip</a:t>
            </a:r>
            <a:r>
              <a:rPr lang="zh-CN" altLang="en-US" dirty="0"/>
              <a:t>，则</a:t>
            </a:r>
            <a:r>
              <a:rPr lang="en-US" altLang="zh-CN" dirty="0" err="1"/>
              <a:t>ip</a:t>
            </a:r>
            <a:r>
              <a:rPr lang="zh-CN" altLang="en-US" dirty="0"/>
              <a:t>指向对应位置的指令；</a:t>
            </a:r>
          </a:p>
          <a:p>
            <a:r>
              <a:rPr lang="en-US" altLang="zh-CN" dirty="0"/>
              <a:t>(3) </a:t>
            </a:r>
            <a:r>
              <a:rPr lang="zh-CN" altLang="en-US" dirty="0"/>
              <a:t>若 </a:t>
            </a:r>
            <a:r>
              <a:rPr lang="en-US" altLang="zh-CN" dirty="0" err="1"/>
              <a:t>ip</a:t>
            </a:r>
            <a:r>
              <a:rPr lang="en-US" altLang="zh-CN" dirty="0"/>
              <a:t> </a:t>
            </a:r>
            <a:r>
              <a:rPr lang="zh-CN" altLang="en-US" dirty="0"/>
              <a:t>指向终止指令，则程序终止执行，否则回到</a:t>
            </a:r>
            <a:r>
              <a:rPr lang="en-US" altLang="zh-CN" dirty="0"/>
              <a:t>(1)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GAM</a:t>
            </a:r>
            <a:r>
              <a:rPr lang="zh-CN" altLang="en-US" dirty="0"/>
              <a:t>抽象机</a:t>
            </a:r>
          </a:p>
        </p:txBody>
      </p:sp>
    </p:spTree>
    <p:extLst>
      <p:ext uri="{BB962C8B-B14F-4D97-AF65-F5344CB8AC3E}">
        <p14:creationId xmlns:p14="http://schemas.microsoft.com/office/powerpoint/2010/main" val="396070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0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0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02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02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281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假设</a:t>
            </a:r>
            <a:r>
              <a:rPr lang="en-US" altLang="zh-CN" dirty="0"/>
              <a:t>GAM</a:t>
            </a:r>
            <a:r>
              <a:rPr lang="zh-CN" altLang="en-US" dirty="0"/>
              <a:t>对程序设计语言的各类运算符都有相应的</a:t>
            </a:r>
            <a:r>
              <a:rPr lang="zh-CN" altLang="en-US" dirty="0">
                <a:solidFill>
                  <a:srgbClr val="EE853E"/>
                </a:solidFill>
              </a:rPr>
              <a:t>指令</a:t>
            </a:r>
            <a:r>
              <a:rPr lang="zh-CN" altLang="en-US" dirty="0"/>
              <a:t>与之对应。</a:t>
            </a:r>
            <a:endParaRPr lang="en-US" altLang="zh-CN" dirty="0"/>
          </a:p>
          <a:p>
            <a:r>
              <a:rPr lang="zh-CN" altLang="en-US" dirty="0"/>
              <a:t>基于</a:t>
            </a:r>
            <a:r>
              <a:rPr lang="en-US" altLang="zh-CN" dirty="0"/>
              <a:t>GAM</a:t>
            </a:r>
            <a:r>
              <a:rPr lang="zh-CN" altLang="en-US" dirty="0"/>
              <a:t>的语义，以</a:t>
            </a:r>
            <a:r>
              <a:rPr lang="en-US" altLang="zh-CN" dirty="0"/>
              <a:t>GAM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EE853E"/>
                </a:solidFill>
              </a:rPr>
              <a:t>操作行为</a:t>
            </a:r>
            <a:r>
              <a:rPr lang="zh-CN" altLang="en-US" dirty="0"/>
              <a:t>可以定义语言语法单位的语义。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GAM</a:t>
            </a:r>
            <a:r>
              <a:rPr lang="zh-CN" altLang="en-US" dirty="0"/>
              <a:t>抽象机的结构</a:t>
            </a:r>
          </a:p>
        </p:txBody>
      </p:sp>
    </p:spTree>
    <p:extLst>
      <p:ext uri="{BB962C8B-B14F-4D97-AF65-F5344CB8AC3E}">
        <p14:creationId xmlns:p14="http://schemas.microsoft.com/office/powerpoint/2010/main" val="193648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3843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5903</TotalTime>
  <Words>766</Words>
  <Application>Microsoft Office PowerPoint</Application>
  <PresentationFormat>宽屏</PresentationFormat>
  <Paragraphs>78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微软雅黑</vt:lpstr>
      <vt:lpstr>Arial</vt:lpstr>
      <vt:lpstr>Wingdings</vt:lpstr>
      <vt:lpstr>环保</vt:lpstr>
      <vt:lpstr>第四章 程序语言的设计</vt:lpstr>
      <vt:lpstr>高级程序设计语言的定义</vt:lpstr>
      <vt:lpstr>语法描述</vt:lpstr>
      <vt:lpstr>语法描述</vt:lpstr>
      <vt:lpstr>语法描述</vt:lpstr>
      <vt:lpstr>高级语言语法规则的描述方法</vt:lpstr>
      <vt:lpstr>语法描述方法等价</vt:lpstr>
      <vt:lpstr>语法的作用</vt:lpstr>
      <vt:lpstr>语义</vt:lpstr>
      <vt:lpstr>语义描述</vt:lpstr>
      <vt:lpstr>抽象机GAM的组成</vt:lpstr>
      <vt:lpstr>GAM抽象机</vt:lpstr>
      <vt:lpstr>GAM抽象机的结构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1056</cp:revision>
  <cp:lastPrinted>1601-01-01T00:00:00Z</cp:lastPrinted>
  <dcterms:created xsi:type="dcterms:W3CDTF">1601-01-01T00:00:00Z</dcterms:created>
  <dcterms:modified xsi:type="dcterms:W3CDTF">2019-12-24T08:48:33Z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