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2"/>
  </p:notesMasterIdLst>
  <p:handoutMasterIdLst>
    <p:handoutMasterId r:id="rId13"/>
  </p:handoutMasterIdLst>
  <p:sldIdLst>
    <p:sldId id="370" r:id="rId2"/>
    <p:sldId id="275" r:id="rId3"/>
    <p:sldId id="276" r:id="rId4"/>
    <p:sldId id="278" r:id="rId5"/>
    <p:sldId id="279" r:id="rId6"/>
    <p:sldId id="371" r:id="rId7"/>
    <p:sldId id="372" r:id="rId8"/>
    <p:sldId id="373" r:id="rId9"/>
    <p:sldId id="281" r:id="rId10"/>
    <p:sldId id="374" r:id="rId1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127" autoAdjust="0"/>
  </p:normalViewPr>
  <p:slideViewPr>
    <p:cSldViewPr>
      <p:cViewPr varScale="1">
        <p:scale>
          <a:sx n="80" d="100"/>
          <a:sy n="80" d="100"/>
        </p:scale>
        <p:origin x="4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27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187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575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393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875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3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60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484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第九章 代码优化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优化的概念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局部优化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全局优化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F274FDB2-ED7B-4156-B54B-7AB42E3BFB17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优化是一种等价的，有效的程序变换（等价 </a:t>
            </a:r>
            <a:r>
              <a:rPr lang="en-US" altLang="zh-CN" dirty="0"/>
              <a:t>—— </a:t>
            </a:r>
            <a:r>
              <a:rPr lang="zh-CN" altLang="en-US" dirty="0"/>
              <a:t>不改变程序运行结果；有效 </a:t>
            </a:r>
            <a:r>
              <a:rPr lang="en-US" altLang="zh-CN" dirty="0"/>
              <a:t>—— </a:t>
            </a:r>
            <a:r>
              <a:rPr lang="zh-CN" altLang="en-US" dirty="0"/>
              <a:t>提高程序的效率，包括时间效率和空间效率）。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优化的时间</a:t>
            </a:r>
          </a:p>
          <a:p>
            <a:r>
              <a:rPr lang="zh-CN" altLang="en-US" dirty="0"/>
              <a:t>编码阶段的优化：源代码优化（数据结构和算法）。</a:t>
            </a:r>
          </a:p>
          <a:p>
            <a:r>
              <a:rPr lang="zh-CN" altLang="en-US" dirty="0"/>
              <a:t>编译阶段的优化：中间代码优化、目标代码优化。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优化的概念</a:t>
            </a:r>
          </a:p>
        </p:txBody>
      </p:sp>
    </p:spTree>
    <p:extLst>
      <p:ext uri="{BB962C8B-B14F-4D97-AF65-F5344CB8AC3E}">
        <p14:creationId xmlns:p14="http://schemas.microsoft.com/office/powerpoint/2010/main" val="142420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中间代码优化</a:t>
            </a:r>
            <a:endParaRPr lang="en-US" altLang="zh-CN" dirty="0"/>
          </a:p>
          <a:p>
            <a:r>
              <a:rPr lang="zh-CN" altLang="en-US" dirty="0"/>
              <a:t>局部优化：基本块内的优化</a:t>
            </a:r>
          </a:p>
          <a:p>
            <a:r>
              <a:rPr lang="zh-CN" altLang="en-US" dirty="0"/>
              <a:t>全局优化：基本块外的优化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基本块的定义</a:t>
            </a:r>
            <a:endParaRPr lang="en-US" altLang="zh-CN" dirty="0"/>
          </a:p>
          <a:p>
            <a:r>
              <a:rPr lang="zh-CN" altLang="en-US" dirty="0"/>
              <a:t>程序中的一段语句序列，它有一个唯一的入口语句，和一个唯一的出口语句。基本块内的所有语句的执行次数都是相同的。</a:t>
            </a:r>
          </a:p>
          <a:p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中间代码优化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10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	</a:t>
            </a:r>
            <a:r>
              <a:rPr lang="zh-CN" altLang="en-US" dirty="0"/>
              <a:t>找到所有</a:t>
            </a:r>
            <a:r>
              <a:rPr lang="zh-CN" altLang="en-US" dirty="0">
                <a:solidFill>
                  <a:srgbClr val="EE853E"/>
                </a:solidFill>
              </a:rPr>
              <a:t>入口语句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程序的第一条语句；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能由转移</a:t>
            </a:r>
            <a:r>
              <a:rPr lang="zh-CN" altLang="en-US" dirty="0">
                <a:solidFill>
                  <a:srgbClr val="EE853E"/>
                </a:solidFill>
              </a:rPr>
              <a:t>（条件转移</a:t>
            </a:r>
            <a:r>
              <a:rPr lang="en-US" altLang="zh-CN" dirty="0">
                <a:solidFill>
                  <a:srgbClr val="EE853E"/>
                </a:solidFill>
              </a:rPr>
              <a:t>/</a:t>
            </a:r>
            <a:r>
              <a:rPr lang="zh-CN" altLang="en-US" dirty="0">
                <a:solidFill>
                  <a:srgbClr val="EE853E"/>
                </a:solidFill>
              </a:rPr>
              <a:t>无条件转移）</a:t>
            </a:r>
            <a:r>
              <a:rPr lang="zh-CN" altLang="en-US" dirty="0"/>
              <a:t>语句转移到的语句；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紧跟在</a:t>
            </a:r>
            <a:r>
              <a:rPr lang="zh-CN" altLang="en-US" dirty="0">
                <a:solidFill>
                  <a:srgbClr val="EE853E"/>
                </a:solidFill>
              </a:rPr>
              <a:t>条件转移</a:t>
            </a:r>
            <a:r>
              <a:rPr lang="zh-CN" altLang="en-US" dirty="0"/>
              <a:t>语句后的语句。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找到所有</a:t>
            </a:r>
            <a:r>
              <a:rPr lang="zh-CN" altLang="en-US" dirty="0">
                <a:solidFill>
                  <a:srgbClr val="EE853E"/>
                </a:solidFill>
              </a:rPr>
              <a:t>出口语句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转移</a:t>
            </a:r>
            <a:r>
              <a:rPr lang="zh-CN" altLang="en-US" dirty="0">
                <a:solidFill>
                  <a:srgbClr val="EE853E"/>
                </a:solidFill>
              </a:rPr>
              <a:t>（条件转移</a:t>
            </a:r>
            <a:r>
              <a:rPr lang="en-US" altLang="zh-CN" dirty="0">
                <a:solidFill>
                  <a:srgbClr val="EE853E"/>
                </a:solidFill>
              </a:rPr>
              <a:t>/</a:t>
            </a:r>
            <a:r>
              <a:rPr lang="zh-CN" altLang="en-US" dirty="0">
                <a:solidFill>
                  <a:srgbClr val="EE853E"/>
                </a:solidFill>
              </a:rPr>
              <a:t>无条件转移）</a:t>
            </a:r>
            <a:r>
              <a:rPr lang="zh-CN" altLang="en-US" dirty="0"/>
              <a:t>语句；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停止语句。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划分基本块</a:t>
            </a:r>
          </a:p>
        </p:txBody>
      </p:sp>
    </p:spTree>
    <p:extLst>
      <p:ext uri="{BB962C8B-B14F-4D97-AF65-F5344CB8AC3E}">
        <p14:creationId xmlns:p14="http://schemas.microsoft.com/office/powerpoint/2010/main" val="361250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	</a:t>
            </a:r>
            <a:r>
              <a:rPr lang="zh-CN" altLang="en-US" dirty="0"/>
              <a:t>划分基本块</a:t>
            </a:r>
          </a:p>
          <a:p>
            <a:r>
              <a:rPr lang="zh-CN" altLang="en-US" dirty="0"/>
              <a:t>	一个</a:t>
            </a:r>
            <a:r>
              <a:rPr lang="zh-CN" altLang="en-US" dirty="0">
                <a:solidFill>
                  <a:srgbClr val="EE853E"/>
                </a:solidFill>
              </a:rPr>
              <a:t>入口语句</a:t>
            </a:r>
            <a:r>
              <a:rPr lang="zh-CN" altLang="en-US" dirty="0"/>
              <a:t>到下一个</a:t>
            </a:r>
            <a:r>
              <a:rPr lang="zh-CN" altLang="en-US" dirty="0">
                <a:solidFill>
                  <a:srgbClr val="EE853E"/>
                </a:solidFill>
              </a:rPr>
              <a:t>入口语句（不包括）</a:t>
            </a:r>
            <a:r>
              <a:rPr lang="zh-CN" altLang="en-US" dirty="0"/>
              <a:t>之间的所有语句；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一个</a:t>
            </a:r>
            <a:r>
              <a:rPr lang="zh-CN" altLang="en-US" dirty="0">
                <a:solidFill>
                  <a:srgbClr val="EE853E"/>
                </a:solidFill>
              </a:rPr>
              <a:t>入口语句</a:t>
            </a:r>
            <a:r>
              <a:rPr lang="zh-CN" altLang="en-US" dirty="0"/>
              <a:t>到下一个</a:t>
            </a:r>
            <a:r>
              <a:rPr lang="zh-CN" altLang="en-US" dirty="0">
                <a:solidFill>
                  <a:srgbClr val="EE853E"/>
                </a:solidFill>
              </a:rPr>
              <a:t>出口语句（包括）</a:t>
            </a:r>
            <a:r>
              <a:rPr lang="zh-CN" altLang="en-US" dirty="0"/>
              <a:t>之间的所有语句。</a:t>
            </a:r>
            <a:endParaRPr lang="en-US" altLang="zh-CN" dirty="0"/>
          </a:p>
          <a:p>
            <a:r>
              <a:rPr lang="en-US" altLang="zh-CN" dirty="0"/>
              <a:t>	</a:t>
            </a:r>
          </a:p>
          <a:p>
            <a:r>
              <a:rPr lang="en-US" altLang="zh-CN" dirty="0"/>
              <a:t>4.	</a:t>
            </a:r>
            <a:r>
              <a:rPr lang="zh-CN" altLang="en-US" dirty="0"/>
              <a:t>删除未被划入基本块的语句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划分基本块</a:t>
            </a:r>
          </a:p>
        </p:txBody>
      </p:sp>
    </p:spTree>
    <p:extLst>
      <p:ext uri="{BB962C8B-B14F-4D97-AF65-F5344CB8AC3E}">
        <p14:creationId xmlns:p14="http://schemas.microsoft.com/office/powerpoint/2010/main" val="127293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1DD6AA-B3DD-4DCC-91EB-5054CFFFF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</a:t>
            </a:r>
            <a:r>
              <a:rPr lang="en-US" altLang="zh-CN" dirty="0"/>
              <a:t>=1;</a:t>
            </a:r>
          </a:p>
          <a:p>
            <a:r>
              <a:rPr lang="en-US" altLang="zh-CN" dirty="0"/>
              <a:t>j=</a:t>
            </a:r>
            <a:r>
              <a:rPr lang="en-US" altLang="zh-CN" dirty="0" err="1"/>
              <a:t>i+2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x=j;</a:t>
            </a:r>
          </a:p>
          <a:p>
            <a:r>
              <a:rPr lang="en-US" altLang="zh-CN" dirty="0"/>
              <a:t>y=a*</a:t>
            </a:r>
            <a:r>
              <a:rPr lang="en-US" altLang="zh-CN" dirty="0" err="1"/>
              <a:t>b+a</a:t>
            </a:r>
            <a:r>
              <a:rPr lang="en-US" altLang="zh-CN" dirty="0"/>
              <a:t>*b*</a:t>
            </a:r>
            <a:r>
              <a:rPr lang="en-US" altLang="zh-CN" dirty="0" err="1"/>
              <a:t>c+a</a:t>
            </a:r>
            <a:r>
              <a:rPr lang="en-US" altLang="zh-CN" dirty="0"/>
              <a:t>*b*c*x;</a:t>
            </a:r>
          </a:p>
          <a:p>
            <a:r>
              <a:rPr lang="en-US" altLang="zh-CN" dirty="0"/>
              <a:t>x=1;</a:t>
            </a:r>
          </a:p>
          <a:p>
            <a:r>
              <a:rPr lang="es-ES" altLang="zh-CN" dirty="0"/>
              <a:t>if(x&gt;0)  { </a:t>
            </a:r>
          </a:p>
          <a:p>
            <a:r>
              <a:rPr lang="es-ES" altLang="zh-CN" dirty="0"/>
              <a:t>	y=x+y;</a:t>
            </a:r>
          </a:p>
          <a:p>
            <a:r>
              <a:rPr lang="es-ES" altLang="zh-CN" dirty="0"/>
              <a:t>}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FA0118-D3DD-46C4-AEA2-7F574477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例子：源代码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D0025D-9CBB-4C6C-B2FF-16A58B5480D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ES" altLang="zh-CN" dirty="0"/>
              <a:t>else  {</a:t>
            </a:r>
          </a:p>
          <a:p>
            <a:r>
              <a:rPr lang="es-ES" altLang="zh-CN" dirty="0"/>
              <a:t>	y=x-y;</a:t>
            </a:r>
          </a:p>
          <a:p>
            <a:r>
              <a:rPr lang="es-ES" altLang="zh-CN" dirty="0"/>
              <a:t>}</a:t>
            </a:r>
          </a:p>
          <a:p>
            <a:r>
              <a:rPr lang="en-US" altLang="zh-CN" dirty="0"/>
              <a:t>while(x&gt;0)  { 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i</a:t>
            </a:r>
            <a:r>
              <a:rPr lang="en-US" altLang="zh-CN" dirty="0"/>
              <a:t>=a*</a:t>
            </a:r>
            <a:r>
              <a:rPr lang="en-US" altLang="zh-CN" dirty="0" err="1"/>
              <a:t>b+c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j=a*</a:t>
            </a:r>
            <a:r>
              <a:rPr lang="en-US" altLang="zh-CN" dirty="0" err="1"/>
              <a:t>x+c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x=x-1;</a:t>
            </a:r>
          </a:p>
          <a:p>
            <a:r>
              <a:rPr lang="en-US" altLang="zh-CN" dirty="0"/>
              <a:t>}</a:t>
            </a:r>
          </a:p>
          <a:p>
            <a:endParaRPr lang="es-E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70D01F-6C82-4A8E-A8EF-A0AE26728C1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28075" y="900113"/>
            <a:ext cx="3463925" cy="5237162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84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sz="2000" dirty="0"/>
              <a:t>i = 1</a:t>
            </a:r>
          </a:p>
          <a:p>
            <a:r>
              <a:rPr lang="fr-FR" altLang="zh-CN" sz="2000" dirty="0"/>
              <a:t>t0 = i + 2</a:t>
            </a:r>
          </a:p>
          <a:p>
            <a:r>
              <a:rPr lang="fr-FR" altLang="zh-CN" sz="2000" dirty="0"/>
              <a:t>j = t0</a:t>
            </a:r>
          </a:p>
          <a:p>
            <a:r>
              <a:rPr lang="fr-FR" altLang="zh-CN" sz="2000" dirty="0"/>
              <a:t>x = j</a:t>
            </a:r>
          </a:p>
          <a:p>
            <a:r>
              <a:rPr lang="fr-FR" altLang="zh-CN" sz="2000" dirty="0"/>
              <a:t>t1 = a * b</a:t>
            </a:r>
          </a:p>
          <a:p>
            <a:r>
              <a:rPr lang="fr-FR" altLang="zh-CN" sz="2000" dirty="0"/>
              <a:t>t2 = a * b</a:t>
            </a:r>
          </a:p>
          <a:p>
            <a:r>
              <a:rPr lang="fr-FR" altLang="zh-CN" sz="2000" dirty="0"/>
              <a:t>t3 = t2 * c</a:t>
            </a:r>
          </a:p>
          <a:p>
            <a:r>
              <a:rPr lang="fr-FR" altLang="zh-CN" sz="2000" dirty="0"/>
              <a:t>t4 = t1 + t3</a:t>
            </a:r>
          </a:p>
          <a:p>
            <a:r>
              <a:rPr lang="fr-FR" altLang="zh-CN" sz="2000" dirty="0"/>
              <a:t>t5 = a * b</a:t>
            </a:r>
          </a:p>
          <a:p>
            <a:r>
              <a:rPr lang="fr-FR" altLang="zh-CN" sz="2000" dirty="0"/>
              <a:t>t6 = t5 * c</a:t>
            </a:r>
          </a:p>
          <a:p>
            <a:endParaRPr lang="fr-FR" altLang="zh-CN" sz="20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例子：三地址码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sz="2000" dirty="0"/>
              <a:t>t7 = t6 * x</a:t>
            </a:r>
          </a:p>
          <a:p>
            <a:r>
              <a:rPr lang="fr-FR" altLang="zh-CN" sz="2000" dirty="0"/>
              <a:t>t8 = t4 + t7</a:t>
            </a:r>
          </a:p>
          <a:p>
            <a:r>
              <a:rPr lang="fr-FR" altLang="zh-CN" sz="2000" dirty="0"/>
              <a:t>y = t8</a:t>
            </a:r>
          </a:p>
          <a:p>
            <a:r>
              <a:rPr lang="fr-FR" altLang="zh-CN" sz="2000" dirty="0"/>
              <a:t>x = 1</a:t>
            </a:r>
          </a:p>
          <a:p>
            <a:r>
              <a:rPr lang="fr-FR" altLang="zh-CN" sz="2000" dirty="0"/>
              <a:t>t9 = (x &gt; 0)</a:t>
            </a:r>
          </a:p>
          <a:p>
            <a:r>
              <a:rPr lang="fr-FR" altLang="zh-CN" sz="2000" dirty="0"/>
              <a:t>ifz t9 goto L10</a:t>
            </a:r>
          </a:p>
          <a:p>
            <a:r>
              <a:rPr lang="fr-FR" altLang="zh-CN" sz="2000" dirty="0"/>
              <a:t>t10 = x + y</a:t>
            </a:r>
          </a:p>
          <a:p>
            <a:r>
              <a:rPr lang="fr-FR" altLang="zh-CN" sz="2000" dirty="0"/>
              <a:t>y = t10</a:t>
            </a:r>
          </a:p>
          <a:p>
            <a:r>
              <a:rPr lang="fr-FR" altLang="zh-CN" sz="2000" dirty="0"/>
              <a:t>goto L11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L10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66C19E5-75D8-454D-83F6-7169AEEA13A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zh-CN" sz="2000" dirty="0" err="1"/>
              <a:t>t11</a:t>
            </a:r>
            <a:r>
              <a:rPr lang="en-US" altLang="zh-CN" sz="2000" dirty="0"/>
              <a:t> = x - y</a:t>
            </a:r>
          </a:p>
          <a:p>
            <a:r>
              <a:rPr lang="en-US" altLang="zh-CN" sz="2000" dirty="0"/>
              <a:t>y = </a:t>
            </a:r>
            <a:r>
              <a:rPr lang="en-US" altLang="zh-CN" sz="2000" dirty="0" err="1"/>
              <a:t>t11</a:t>
            </a:r>
            <a:endParaRPr lang="en-US" altLang="zh-CN" sz="2000" dirty="0"/>
          </a:p>
          <a:p>
            <a:r>
              <a:rPr lang="de-DE" altLang="zh-CN" sz="2000" dirty="0"/>
              <a:t>label L11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r>
              <a:rPr lang="en-US" altLang="zh-CN" sz="2000" dirty="0" err="1"/>
              <a:t>t13</a:t>
            </a:r>
            <a:r>
              <a:rPr lang="en-US" altLang="zh-CN" sz="2000" dirty="0"/>
              <a:t> = a * b</a:t>
            </a:r>
          </a:p>
          <a:p>
            <a:r>
              <a:rPr lang="en-US" altLang="zh-CN" sz="2000" dirty="0" err="1"/>
              <a:t>t14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t13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t14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r>
              <a:rPr lang="en-US" altLang="zh-CN" sz="2000" dirty="0"/>
              <a:t> = a * x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CN" sz="2000" dirty="0" err="1"/>
              <a:t>t16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t15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/>
              <a:t>j = </a:t>
            </a:r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 err="1"/>
              <a:t>t17</a:t>
            </a:r>
            <a:r>
              <a:rPr lang="en-US" altLang="zh-CN" sz="2000" dirty="0"/>
              <a:t> = x - 1</a:t>
            </a:r>
          </a:p>
          <a:p>
            <a:r>
              <a:rPr lang="en-US" altLang="zh-CN" sz="2000" dirty="0"/>
              <a:t>x = </a:t>
            </a:r>
            <a:r>
              <a:rPr lang="en-US" altLang="zh-CN" sz="2000" dirty="0" err="1"/>
              <a:t>t17</a:t>
            </a:r>
            <a:endParaRPr lang="en-US" altLang="zh-CN" sz="2000" dirty="0"/>
          </a:p>
          <a:p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2443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</a:t>
            </a:r>
            <a:r>
              <a:rPr lang="zh-CN" altLang="en-US" sz="2000" dirty="0">
                <a:solidFill>
                  <a:srgbClr val="EE853E"/>
                </a:solidFill>
              </a:rPr>
              <a:t> </a:t>
            </a:r>
            <a:r>
              <a:rPr lang="en-US" altLang="zh-CN" sz="2000" dirty="0" err="1">
                <a:solidFill>
                  <a:srgbClr val="EE853E"/>
                </a:solidFill>
              </a:rPr>
              <a:t>B1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  <a:endParaRPr lang="fr-FR" altLang="zh-CN" sz="2000" dirty="0">
              <a:solidFill>
                <a:srgbClr val="EE853E"/>
              </a:solidFill>
            </a:endParaRPr>
          </a:p>
          <a:p>
            <a:r>
              <a:rPr lang="fr-FR" altLang="zh-CN" sz="2000" dirty="0"/>
              <a:t>i = 1</a:t>
            </a:r>
          </a:p>
          <a:p>
            <a:r>
              <a:rPr lang="fr-FR" altLang="zh-CN" sz="2000" dirty="0"/>
              <a:t>t0 = i + 2</a:t>
            </a:r>
          </a:p>
          <a:p>
            <a:r>
              <a:rPr lang="fr-FR" altLang="zh-CN" sz="2000" dirty="0"/>
              <a:t>j = t0</a:t>
            </a:r>
          </a:p>
          <a:p>
            <a:r>
              <a:rPr lang="fr-FR" altLang="zh-CN" sz="2000" dirty="0"/>
              <a:t>x = j</a:t>
            </a:r>
          </a:p>
          <a:p>
            <a:r>
              <a:rPr lang="fr-FR" altLang="zh-CN" sz="2000" dirty="0"/>
              <a:t>t1 = a * b</a:t>
            </a:r>
          </a:p>
          <a:p>
            <a:r>
              <a:rPr lang="fr-FR" altLang="zh-CN" sz="2000" dirty="0"/>
              <a:t>t2 = a * b</a:t>
            </a:r>
          </a:p>
          <a:p>
            <a:r>
              <a:rPr lang="fr-FR" altLang="zh-CN" sz="2000" dirty="0"/>
              <a:t>t3 = t2 * c</a:t>
            </a:r>
          </a:p>
          <a:p>
            <a:r>
              <a:rPr lang="fr-FR" altLang="zh-CN" sz="2000" dirty="0"/>
              <a:t>t4 = t1 + t3</a:t>
            </a:r>
          </a:p>
          <a:p>
            <a:r>
              <a:rPr lang="fr-FR" altLang="zh-CN" sz="2000" dirty="0"/>
              <a:t>t5 = a * b</a:t>
            </a:r>
          </a:p>
          <a:p>
            <a:r>
              <a:rPr lang="fr-FR" altLang="zh-CN" sz="2000" dirty="0"/>
              <a:t>t6 = t5 * c</a:t>
            </a:r>
          </a:p>
          <a:p>
            <a:endParaRPr lang="fr-FR" altLang="zh-CN" sz="20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例子：基本块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sz="2000" dirty="0"/>
              <a:t>t7 = t6 * x</a:t>
            </a:r>
          </a:p>
          <a:p>
            <a:r>
              <a:rPr lang="fr-FR" altLang="zh-CN" sz="2000" dirty="0"/>
              <a:t>t8 = t4 + t7</a:t>
            </a:r>
          </a:p>
          <a:p>
            <a:r>
              <a:rPr lang="fr-FR" altLang="zh-CN" sz="2000" dirty="0"/>
              <a:t>y = t8</a:t>
            </a:r>
          </a:p>
          <a:p>
            <a:r>
              <a:rPr lang="fr-FR" altLang="zh-CN" sz="2000" dirty="0"/>
              <a:t>x = 1</a:t>
            </a:r>
          </a:p>
          <a:p>
            <a:r>
              <a:rPr lang="fr-FR" altLang="zh-CN" sz="2000" dirty="0"/>
              <a:t>t9 = (x &gt; 0)</a:t>
            </a:r>
          </a:p>
          <a:p>
            <a:r>
              <a:rPr lang="fr-FR" altLang="zh-CN" sz="2000" dirty="0"/>
              <a:t>ifz t9 goto L10</a:t>
            </a: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</a:t>
            </a:r>
            <a:r>
              <a:rPr lang="zh-CN" altLang="en-US" sz="2000" dirty="0">
                <a:solidFill>
                  <a:srgbClr val="EE853E"/>
                </a:solidFill>
              </a:rPr>
              <a:t> </a:t>
            </a:r>
            <a:r>
              <a:rPr lang="en-US" altLang="zh-CN" sz="2000" dirty="0" err="1">
                <a:solidFill>
                  <a:srgbClr val="EE853E"/>
                </a:solidFill>
              </a:rPr>
              <a:t>B2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  <a:endParaRPr lang="fr-FR" altLang="zh-CN" sz="2000" dirty="0">
              <a:solidFill>
                <a:srgbClr val="EE853E"/>
              </a:solidFill>
            </a:endParaRPr>
          </a:p>
          <a:p>
            <a:r>
              <a:rPr lang="fr-FR" altLang="zh-CN" sz="2000" dirty="0"/>
              <a:t>t10 = x + y</a:t>
            </a:r>
          </a:p>
          <a:p>
            <a:r>
              <a:rPr lang="fr-FR" altLang="zh-CN" sz="2000" dirty="0"/>
              <a:t>y = t10</a:t>
            </a:r>
          </a:p>
          <a:p>
            <a:r>
              <a:rPr lang="fr-FR" altLang="zh-CN" sz="2000" dirty="0"/>
              <a:t>goto L11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66C19E5-75D8-454D-83F6-7169AEEA13A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fr-FR" altLang="zh-CN" sz="2000" dirty="0">
                <a:solidFill>
                  <a:srgbClr val="EE853E"/>
                </a:solidFill>
              </a:rPr>
              <a:t>[ B3 ]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L10</a:t>
            </a:r>
            <a:endParaRPr lang="en-US" altLang="zh-CN" sz="2000" dirty="0"/>
          </a:p>
          <a:p>
            <a:r>
              <a:rPr lang="en-US" altLang="zh-CN" sz="2000" dirty="0" err="1"/>
              <a:t>t11</a:t>
            </a:r>
            <a:r>
              <a:rPr lang="en-US" altLang="zh-CN" sz="2000" dirty="0"/>
              <a:t> = x - y</a:t>
            </a:r>
          </a:p>
          <a:p>
            <a:r>
              <a:rPr lang="en-US" altLang="zh-CN" sz="2000" dirty="0"/>
              <a:t>y = </a:t>
            </a:r>
            <a:r>
              <a:rPr lang="en-US" altLang="zh-CN" sz="2000" dirty="0" err="1"/>
              <a:t>t11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B4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de-DE" altLang="zh-CN" sz="2000" dirty="0"/>
              <a:t>label L11</a:t>
            </a: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CN" sz="2000" dirty="0" err="1"/>
              <a:t>t13</a:t>
            </a:r>
            <a:r>
              <a:rPr lang="en-US" altLang="zh-CN" sz="2000" dirty="0"/>
              <a:t> = a * b</a:t>
            </a:r>
          </a:p>
          <a:p>
            <a:r>
              <a:rPr lang="en-US" altLang="zh-CN" sz="2000" dirty="0" err="1"/>
              <a:t>t14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t13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t14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r>
              <a:rPr lang="en-US" altLang="zh-CN" sz="2000" dirty="0"/>
              <a:t> = a * x</a:t>
            </a:r>
          </a:p>
          <a:p>
            <a:r>
              <a:rPr lang="en-US" altLang="zh-CN" sz="2000" dirty="0" err="1"/>
              <a:t>t16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t15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/>
              <a:t>j = </a:t>
            </a:r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 err="1"/>
              <a:t>t17</a:t>
            </a:r>
            <a:r>
              <a:rPr lang="en-US" altLang="zh-CN" sz="2000" dirty="0"/>
              <a:t> = x - 1</a:t>
            </a:r>
          </a:p>
          <a:p>
            <a:r>
              <a:rPr lang="en-US" altLang="zh-CN" sz="2000" dirty="0"/>
              <a:t>x = </a:t>
            </a:r>
            <a:r>
              <a:rPr lang="en-US" altLang="zh-CN" sz="2000" dirty="0" err="1"/>
              <a:t>t17</a:t>
            </a:r>
            <a:endParaRPr lang="en-US" altLang="zh-CN" sz="2000" dirty="0"/>
          </a:p>
          <a:p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693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程序流图是程序结构的图形表示，程序流图可定义为：</a:t>
            </a:r>
            <a:endParaRPr lang="en-US" altLang="zh-CN" dirty="0"/>
          </a:p>
          <a:p>
            <a:r>
              <a:rPr lang="en-US" altLang="zh-CN" dirty="0"/>
              <a:t>									G = ( N , E , 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0</a:t>
            </a:r>
            <a:r>
              <a:rPr lang="en-US" altLang="zh-CN" baseline="-25000" dirty="0"/>
              <a:t> 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N	—— </a:t>
            </a:r>
            <a:r>
              <a:rPr lang="zh-CN" altLang="en-US" dirty="0"/>
              <a:t>结点的集合，每个结点代表一个基本块。</a:t>
            </a:r>
            <a:endParaRPr lang="en-US" altLang="zh-CN" dirty="0"/>
          </a:p>
          <a:p>
            <a:r>
              <a:rPr lang="en-US" altLang="zh-CN" dirty="0" err="1"/>
              <a:t>n</a:t>
            </a:r>
            <a:r>
              <a:rPr lang="en-US" altLang="zh-CN" baseline="-25000" dirty="0" err="1"/>
              <a:t>0</a:t>
            </a:r>
            <a:r>
              <a:rPr lang="en-US" altLang="zh-CN" baseline="-25000" dirty="0"/>
              <a:t>	</a:t>
            </a:r>
            <a:r>
              <a:rPr lang="en-US" altLang="zh-CN" dirty="0"/>
              <a:t>—— </a:t>
            </a:r>
            <a:r>
              <a:rPr lang="zh-CN" altLang="en-US" dirty="0"/>
              <a:t>首结点（包含程序第一条语句的基本块）。</a:t>
            </a:r>
            <a:endParaRPr lang="en-US" altLang="zh-CN" dirty="0"/>
          </a:p>
          <a:p>
            <a:r>
              <a:rPr lang="en-US" altLang="zh-CN" dirty="0"/>
              <a:t>E	—— </a:t>
            </a:r>
            <a:r>
              <a:rPr lang="zh-CN" altLang="en-US" dirty="0"/>
              <a:t>有向边的集合。如果</a:t>
            </a:r>
            <a:r>
              <a:rPr lang="en-US" altLang="zh-CN" dirty="0" err="1"/>
              <a:t>Bj</a:t>
            </a:r>
            <a:r>
              <a:rPr lang="en-US" altLang="zh-CN" dirty="0"/>
              <a:t> </a:t>
            </a:r>
            <a:r>
              <a:rPr lang="zh-CN" altLang="en-US" dirty="0"/>
              <a:t>紧跟在 </a:t>
            </a:r>
            <a:r>
              <a:rPr lang="en-US" altLang="zh-CN" dirty="0"/>
              <a:t>Bi </a:t>
            </a:r>
            <a:r>
              <a:rPr lang="zh-CN" altLang="en-US" dirty="0"/>
              <a:t>之后，且 </a:t>
            </a:r>
            <a:r>
              <a:rPr lang="en-US" altLang="zh-CN" dirty="0"/>
              <a:t>Bi </a:t>
            </a:r>
            <a:r>
              <a:rPr lang="zh-CN" altLang="en-US" dirty="0"/>
              <a:t>的出口语句不是无条件转移或停止语句，则</a:t>
            </a:r>
            <a:r>
              <a:rPr lang="en-US" altLang="zh-CN" dirty="0"/>
              <a:t>Bi</a:t>
            </a:r>
            <a:r>
              <a:rPr lang="zh-CN" altLang="en-US" dirty="0"/>
              <a:t>与</a:t>
            </a:r>
            <a:r>
              <a:rPr lang="en-US" altLang="zh-CN" dirty="0" err="1"/>
              <a:t>Bj</a:t>
            </a:r>
            <a:r>
              <a:rPr lang="zh-CN" altLang="en-US" dirty="0"/>
              <a:t>之间有一条有向边；如果 </a:t>
            </a:r>
            <a:r>
              <a:rPr lang="en-US" altLang="zh-CN" dirty="0"/>
              <a:t>Bi </a:t>
            </a:r>
            <a:r>
              <a:rPr lang="zh-CN" altLang="en-US" dirty="0"/>
              <a:t>的出口语句为转移语句，其转移的目标为 </a:t>
            </a:r>
            <a:r>
              <a:rPr lang="en-US" altLang="zh-CN" dirty="0" err="1"/>
              <a:t>Bj</a:t>
            </a:r>
            <a:r>
              <a:rPr lang="en-US" altLang="zh-CN" dirty="0"/>
              <a:t> </a:t>
            </a:r>
            <a:r>
              <a:rPr lang="zh-CN" altLang="en-US" dirty="0"/>
              <a:t>的入口语句，则</a:t>
            </a:r>
            <a:r>
              <a:rPr lang="en-US" altLang="zh-CN" dirty="0"/>
              <a:t>Bi</a:t>
            </a:r>
            <a:r>
              <a:rPr lang="zh-CN" altLang="en-US" dirty="0"/>
              <a:t>与</a:t>
            </a:r>
            <a:r>
              <a:rPr lang="en-US" altLang="zh-CN" dirty="0" err="1"/>
              <a:t>Bj</a:t>
            </a:r>
            <a:r>
              <a:rPr lang="zh-CN" altLang="en-US" dirty="0"/>
              <a:t>之间有一条有向边。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程序流图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021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例子：</a:t>
            </a:r>
            <a:r>
              <a:rPr lang="zh-CN" altLang="en-US" dirty="0"/>
              <a:t>程序流图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4CA33F-EB54-4138-B627-6ABD0D381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990600"/>
            <a:ext cx="2895600" cy="51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7000</TotalTime>
  <Words>818</Words>
  <Application>Microsoft Office PowerPoint</Application>
  <PresentationFormat>宽屏</PresentationFormat>
  <Paragraphs>138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Wingdings</vt:lpstr>
      <vt:lpstr>环保</vt:lpstr>
      <vt:lpstr>第九章 代码优化</vt:lpstr>
      <vt:lpstr>优化的概念</vt:lpstr>
      <vt:lpstr>中间代码优化</vt:lpstr>
      <vt:lpstr>划分基本块</vt:lpstr>
      <vt:lpstr>划分基本块</vt:lpstr>
      <vt:lpstr>例子：源代码</vt:lpstr>
      <vt:lpstr>例子：三地址码</vt:lpstr>
      <vt:lpstr>例子：基本块</vt:lpstr>
      <vt:lpstr>程序流图</vt:lpstr>
      <vt:lpstr>例子：程序流图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1226</cp:revision>
  <cp:lastPrinted>1601-01-01T00:00:00Z</cp:lastPrinted>
  <dcterms:created xsi:type="dcterms:W3CDTF">1601-01-01T00:00:00Z</dcterms:created>
  <dcterms:modified xsi:type="dcterms:W3CDTF">2020-04-18T11:15:14Z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