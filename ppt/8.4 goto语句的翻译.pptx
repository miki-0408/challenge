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9"/>
  </p:notesMasterIdLst>
  <p:handoutMasterIdLst>
    <p:handoutMasterId r:id="rId10"/>
  </p:handoutMasterIdLst>
  <p:sldIdLst>
    <p:sldId id="370" r:id="rId2"/>
    <p:sldId id="286" r:id="rId3"/>
    <p:sldId id="384" r:id="rId4"/>
    <p:sldId id="373" r:id="rId5"/>
    <p:sldId id="379" r:id="rId6"/>
    <p:sldId id="385" r:id="rId7"/>
    <p:sldId id="386" r:id="rId8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2" autoAdjust="0"/>
    <p:restoredTop sz="89127" autoAdjust="0"/>
  </p:normalViewPr>
  <p:slideViewPr>
    <p:cSldViewPr>
      <p:cViewPr varScale="1">
        <p:scale>
          <a:sx n="51" d="100"/>
          <a:sy n="51" d="100"/>
        </p:scale>
        <p:origin x="276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26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3838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8261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188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932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8807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08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语义分析概述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说明语句的翻译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赋值语句的翻译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 err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goto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7A86CED-018A-4EB7-B5CF-DDCED3DA3F3C}"/>
              </a:ext>
            </a:extLst>
          </p:cNvPr>
          <p:cNvSpPr/>
          <p:nvPr/>
        </p:nvSpPr>
        <p:spPr>
          <a:xfrm>
            <a:off x="2983159" y="4162506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zh-CN" altLang="en-US" dirty="0"/>
              <a:t>语句：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L1</a:t>
            </a:r>
            <a:r>
              <a:rPr lang="en-US" altLang="zh-CN" dirty="0"/>
              <a:t> :</a:t>
            </a:r>
          </a:p>
          <a:p>
            <a:endParaRPr lang="en-US" altLang="zh-CN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1C27F4A-9DCC-492A-8838-88FE1770D76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采用下列语法规则： </a:t>
            </a:r>
          </a:p>
          <a:p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:</a:t>
            </a:r>
          </a:p>
          <a:p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;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54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 err="1"/>
              <a:t>L1</a:t>
            </a:r>
            <a:r>
              <a:rPr lang="en-US" altLang="zh-CN" dirty="0"/>
              <a:t> :</a:t>
            </a:r>
          </a:p>
          <a:p>
            <a:endParaRPr lang="en-US" altLang="zh-CN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</a:t>
            </a:r>
            <a:endParaRPr lang="nn-NO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62400" y="900000"/>
            <a:ext cx="2743200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934200" y="899999"/>
            <a:ext cx="4530181" cy="5237998"/>
          </a:xfrm>
        </p:spPr>
        <p:txBody>
          <a:bodyPr/>
          <a:lstStyle/>
          <a:p>
            <a:r>
              <a:rPr lang="zh-CN" altLang="en-US" dirty="0"/>
              <a:t>符号表：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F31E271-1D0B-4B10-ACE2-161BDDEB9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201000"/>
              </p:ext>
            </p:extLst>
          </p:nvPr>
        </p:nvGraphicFramePr>
        <p:xfrm>
          <a:off x="7086600" y="1706880"/>
          <a:ext cx="3548184" cy="370332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038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3938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6961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c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6433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宋体"/>
                        </a:rPr>
                        <a:t>…</a:t>
                      </a: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33746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4115BBFB-FC23-4E27-98D9-46665D40888C}"/>
              </a:ext>
            </a:extLst>
          </p:cNvPr>
          <p:cNvSpPr/>
          <p:nvPr/>
        </p:nvSpPr>
        <p:spPr>
          <a:xfrm>
            <a:off x="7351355" y="3781274"/>
            <a:ext cx="32834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cs typeface="宋体"/>
              </a:rPr>
              <a:t>11      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zh-CN" sz="2000" b="1" kern="100" dirty="0" err="1">
                <a:solidFill>
                  <a:schemeClr val="bg1"/>
                </a:solidFill>
                <a:latin typeface="+mj-ea"/>
                <a:ea typeface="+mj-ea"/>
              </a:rPr>
              <a:t>L1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</a:rPr>
              <a:t>、标号、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</a:rPr>
              <a:t>label</a:t>
            </a:r>
            <a:endParaRPr lang="zh-CN" altLang="en-US" sz="2000" b="1" kern="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267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41587E5-3C09-4D48-BABA-B0402C3E9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: 					{	symbol ( </a:t>
            </a:r>
            <a:r>
              <a:rPr lang="en-US" altLang="zh-CN" dirty="0" err="1"/>
              <a:t>i</a:t>
            </a:r>
            <a:r>
              <a:rPr lang="en-US" altLang="zh-CN" dirty="0"/>
              <a:t> , label ) 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label </a:t>
            </a:r>
            <a:r>
              <a:rPr lang="en-US" altLang="zh-CN" dirty="0" err="1"/>
              <a:t>i</a:t>
            </a:r>
            <a:r>
              <a:rPr lang="en-US" altLang="zh-CN" dirty="0"/>
              <a:t>    }  </a:t>
            </a:r>
          </a:p>
          <a:p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;				{	symbol ( </a:t>
            </a:r>
            <a:r>
              <a:rPr lang="en-US" altLang="zh-CN" dirty="0" err="1"/>
              <a:t>i</a:t>
            </a:r>
            <a:r>
              <a:rPr lang="en-US" altLang="zh-CN" dirty="0"/>
              <a:t> , label ) 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   } 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4AAD614-365E-41BF-86A3-6204AEBFB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367253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4B9370F-82BD-43F8-9240-5CD2CCD6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语法规则： 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: </a:t>
            </a:r>
          </a:p>
          <a:p>
            <a:endParaRPr lang="en-US" altLang="zh-CN" dirty="0"/>
          </a:p>
          <a:p>
            <a:r>
              <a:rPr lang="zh-CN" altLang="en-US" dirty="0"/>
              <a:t>输入串 </a:t>
            </a:r>
            <a:r>
              <a:rPr lang="en-US" altLang="zh-CN" dirty="0" err="1"/>
              <a:t>L1</a:t>
            </a:r>
            <a:r>
              <a:rPr lang="en-US" altLang="zh-CN" dirty="0"/>
              <a:t> : </a:t>
            </a:r>
            <a:r>
              <a:rPr lang="zh-CN" altLang="en-US" dirty="0"/>
              <a:t>的语法分析过程：</a:t>
            </a:r>
            <a:endParaRPr lang="en-US" altLang="zh-CN" dirty="0"/>
          </a:p>
          <a:p>
            <a:r>
              <a:rPr lang="nn-NO" altLang="zh-CN" dirty="0"/>
              <a:t>1.   ● </a:t>
            </a:r>
            <a:r>
              <a:rPr lang="en-US" altLang="zh-CN" dirty="0" err="1"/>
              <a:t>L1</a:t>
            </a:r>
            <a:r>
              <a:rPr lang="nn-NO" altLang="zh-CN" dirty="0"/>
              <a:t> :</a:t>
            </a:r>
          </a:p>
          <a:p>
            <a:r>
              <a:rPr lang="nn-NO" altLang="zh-CN" dirty="0"/>
              <a:t>2.	 </a:t>
            </a:r>
            <a:r>
              <a:rPr lang="en-US" altLang="zh-CN" dirty="0" err="1"/>
              <a:t>L1</a:t>
            </a:r>
            <a:r>
              <a:rPr lang="nn-NO" altLang="zh-CN" dirty="0"/>
              <a:t> ● :</a:t>
            </a:r>
          </a:p>
          <a:p>
            <a:r>
              <a:rPr lang="nn-NO" altLang="zh-CN" dirty="0"/>
              <a:t>3.	 </a:t>
            </a:r>
            <a:r>
              <a:rPr lang="en-US" altLang="zh-CN" dirty="0" err="1"/>
              <a:t>L1</a:t>
            </a:r>
            <a:r>
              <a:rPr lang="nn-NO" altLang="zh-CN" dirty="0"/>
              <a:t> : ●</a:t>
            </a:r>
          </a:p>
          <a:p>
            <a:r>
              <a:rPr lang="en-US" altLang="zh-CN" dirty="0"/>
              <a:t>4.	 S </a:t>
            </a:r>
            <a:r>
              <a:rPr lang="nn-NO" altLang="zh-CN" dirty="0"/>
              <a:t>●</a:t>
            </a:r>
            <a:endParaRPr lang="en-US" altLang="zh-CN" dirty="0"/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4E3A54-CA38-4DFB-8BAD-1CEEECBF562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语法规则： 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;</a:t>
            </a:r>
          </a:p>
          <a:p>
            <a:endParaRPr lang="en-US" altLang="zh-CN" dirty="0"/>
          </a:p>
          <a:p>
            <a:r>
              <a:rPr lang="zh-CN" altLang="en-US" dirty="0"/>
              <a:t>输入串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 </a:t>
            </a:r>
            <a:r>
              <a:rPr lang="zh-CN" altLang="en-US" dirty="0"/>
              <a:t>的语法分析过程：</a:t>
            </a:r>
            <a:endParaRPr lang="en-US" altLang="zh-CN" dirty="0"/>
          </a:p>
          <a:p>
            <a:r>
              <a:rPr lang="nn-NO" altLang="zh-CN" dirty="0"/>
              <a:t>1.   ●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 </a:t>
            </a:r>
            <a:endParaRPr lang="nn-NO" altLang="zh-CN" dirty="0"/>
          </a:p>
          <a:p>
            <a:r>
              <a:rPr lang="nn-NO" altLang="zh-CN" dirty="0"/>
              <a:t>2.	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nn-NO" altLang="zh-CN" dirty="0"/>
              <a:t>● </a:t>
            </a:r>
            <a:r>
              <a:rPr lang="en-US" altLang="zh-CN" dirty="0" err="1"/>
              <a:t>L1</a:t>
            </a:r>
            <a:r>
              <a:rPr lang="en-US" altLang="zh-CN" dirty="0"/>
              <a:t> ; </a:t>
            </a:r>
            <a:endParaRPr lang="nn-NO" altLang="zh-CN" dirty="0"/>
          </a:p>
          <a:p>
            <a:r>
              <a:rPr lang="nn-NO" altLang="zh-CN" dirty="0"/>
              <a:t>3.	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</a:t>
            </a:r>
            <a:r>
              <a:rPr lang="nn-NO" altLang="zh-CN" dirty="0"/>
              <a:t>● </a:t>
            </a:r>
            <a:r>
              <a:rPr lang="en-US" altLang="zh-CN" dirty="0"/>
              <a:t>; </a:t>
            </a:r>
            <a:endParaRPr lang="nn-NO" altLang="zh-CN" dirty="0"/>
          </a:p>
          <a:p>
            <a:r>
              <a:rPr lang="en-US" altLang="zh-CN" dirty="0"/>
              <a:t>4.	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 </a:t>
            </a:r>
            <a:r>
              <a:rPr lang="nn-NO" altLang="zh-CN" dirty="0"/>
              <a:t>●</a:t>
            </a:r>
          </a:p>
          <a:p>
            <a:r>
              <a:rPr lang="en-US" altLang="zh-CN" dirty="0"/>
              <a:t>5.	 S </a:t>
            </a:r>
            <a:r>
              <a:rPr lang="nn-NO" altLang="zh-CN" dirty="0"/>
              <a:t>●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40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nn-NO" altLang="zh-CN" dirty="0"/>
              <a:t>3.	 </a:t>
            </a:r>
            <a:r>
              <a:rPr lang="en-US" altLang="zh-CN" dirty="0" err="1"/>
              <a:t>L1</a:t>
            </a:r>
            <a:r>
              <a:rPr lang="nn-NO" altLang="zh-CN" dirty="0"/>
              <a:t> : ●</a:t>
            </a:r>
          </a:p>
          <a:p>
            <a:r>
              <a:rPr lang="en-US" altLang="zh-CN" dirty="0"/>
              <a:t>4.	 S </a:t>
            </a:r>
            <a:r>
              <a:rPr lang="nn-NO" altLang="zh-CN" dirty="0"/>
              <a:t>●</a:t>
            </a:r>
            <a:endParaRPr lang="en-US" altLang="zh-CN" dirty="0"/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i</a:t>
            </a:r>
            <a:r>
              <a:rPr lang="en-US" altLang="zh-CN" dirty="0"/>
              <a:t> :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3602401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label </a:t>
            </a:r>
            <a:r>
              <a:rPr lang="en-US" altLang="zh-CN" dirty="0" err="1"/>
              <a:t>L1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pPr algn="ctr"/>
            <a:r>
              <a:rPr lang="zh-CN" altLang="en-US" dirty="0"/>
              <a:t>符号表：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78499EF-31C6-4638-832E-2174A8024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37437"/>
              </p:ext>
            </p:extLst>
          </p:nvPr>
        </p:nvGraphicFramePr>
        <p:xfrm>
          <a:off x="7577016" y="1667338"/>
          <a:ext cx="3548184" cy="370332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038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3938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6961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c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6433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11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 L1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33746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1F73094-C27F-42B9-BC2A-7583AEF7DB2B}"/>
              </a:ext>
            </a:extLst>
          </p:cNvPr>
          <p:cNvSpPr/>
          <p:nvPr/>
        </p:nvSpPr>
        <p:spPr>
          <a:xfrm>
            <a:off x="9083431" y="3736108"/>
            <a:ext cx="18293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、标号、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label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8849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4.	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; </a:t>
            </a:r>
            <a:r>
              <a:rPr lang="nn-NO" altLang="zh-CN" dirty="0"/>
              <a:t>●</a:t>
            </a:r>
          </a:p>
          <a:p>
            <a:r>
              <a:rPr lang="en-US" altLang="zh-CN" dirty="0"/>
              <a:t>5.	 S </a:t>
            </a:r>
            <a:r>
              <a:rPr lang="nn-NO" altLang="zh-CN" dirty="0"/>
              <a:t>●</a:t>
            </a:r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;	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2932777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pPr algn="ctr"/>
            <a:r>
              <a:rPr lang="zh-CN" altLang="en-US" dirty="0"/>
              <a:t>符号表：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78499EF-31C6-4638-832E-2174A8024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121999"/>
              </p:ext>
            </p:extLst>
          </p:nvPr>
        </p:nvGraphicFramePr>
        <p:xfrm>
          <a:off x="7577016" y="1667338"/>
          <a:ext cx="3548184" cy="370332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1038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a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33938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2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b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96961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3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c</a:t>
                      </a: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、变量、</a:t>
                      </a: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int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6433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11</a:t>
                      </a:r>
                      <a:endParaRPr lang="en-US" sz="2000" b="1" kern="1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  L1</a:t>
                      </a:r>
                      <a:endParaRPr lang="zh-CN" altLang="en-US" sz="2000" b="1" kern="100"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n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33746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1F73094-C27F-42B9-BC2A-7583AEF7DB2B}"/>
              </a:ext>
            </a:extLst>
          </p:cNvPr>
          <p:cNvSpPr/>
          <p:nvPr/>
        </p:nvSpPr>
        <p:spPr>
          <a:xfrm>
            <a:off x="9083431" y="3736108"/>
            <a:ext cx="18293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、标号、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label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8502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6150</TotalTime>
  <Words>406</Words>
  <Application>Microsoft Office PowerPoint</Application>
  <PresentationFormat>宽屏</PresentationFormat>
  <Paragraphs>115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语法分析过程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1207</cp:revision>
  <cp:lastPrinted>1601-01-01T00:00:00Z</cp:lastPrinted>
  <dcterms:created xsi:type="dcterms:W3CDTF">1601-01-01T00:00:00Z</dcterms:created>
  <dcterms:modified xsi:type="dcterms:W3CDTF">2020-04-05T03:44:50Z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