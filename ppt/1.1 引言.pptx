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4"/>
  </p:notesMasterIdLst>
  <p:handoutMasterIdLst>
    <p:handoutMasterId r:id="rId25"/>
  </p:handoutMasterIdLst>
  <p:sldIdLst>
    <p:sldId id="370" r:id="rId2"/>
    <p:sldId id="376" r:id="rId3"/>
    <p:sldId id="259" r:id="rId4"/>
    <p:sldId id="261" r:id="rId5"/>
    <p:sldId id="263" r:id="rId6"/>
    <p:sldId id="264" r:id="rId7"/>
    <p:sldId id="266" r:id="rId8"/>
    <p:sldId id="372" r:id="rId9"/>
    <p:sldId id="269" r:id="rId10"/>
    <p:sldId id="271" r:id="rId11"/>
    <p:sldId id="272" r:id="rId12"/>
    <p:sldId id="273" r:id="rId13"/>
    <p:sldId id="274" r:id="rId14"/>
    <p:sldId id="377" r:id="rId15"/>
    <p:sldId id="275" r:id="rId16"/>
    <p:sldId id="276" r:id="rId17"/>
    <p:sldId id="277" r:id="rId18"/>
    <p:sldId id="278" r:id="rId19"/>
    <p:sldId id="378" r:id="rId20"/>
    <p:sldId id="380" r:id="rId21"/>
    <p:sldId id="379" r:id="rId22"/>
    <p:sldId id="338" r:id="rId2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3" autoAdjust="0"/>
    <p:restoredTop sz="89127" autoAdjust="0"/>
  </p:normalViewPr>
  <p:slideViewPr>
    <p:cSldViewPr>
      <p:cViewPr varScale="1">
        <p:scale>
          <a:sx n="62" d="100"/>
          <a:sy n="62" d="100"/>
        </p:scale>
        <p:origin x="27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语言的本质是？</a:t>
            </a:r>
            <a:endParaRPr lang="en-US" altLang="zh-CN" dirty="0"/>
          </a:p>
          <a:p>
            <a:r>
              <a:rPr lang="zh-CN" altLang="zh-CN" b="1" dirty="0"/>
              <a:t>一个单词对应一条形成规则</a:t>
            </a:r>
            <a:r>
              <a:rPr lang="en-US" altLang="zh-CN" b="1" dirty="0"/>
              <a:t>—</a:t>
            </a:r>
            <a:r>
              <a:rPr lang="zh-CN" altLang="en-US" b="1" dirty="0"/>
              <a:t>词法规则</a:t>
            </a:r>
            <a:r>
              <a:rPr lang="zh-CN" altLang="zh-CN" b="1" dirty="0"/>
              <a:t>，规定了该单词由哪些字母按照什么顺序进行排列</a:t>
            </a:r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941133-D085-464C-A21B-467349D504E9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809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7568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6AA5B3-C116-4463-BF5C-AB4F21E5179F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374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B1A206-22A4-4023-9388-0EFAEDC5ECA1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280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程序设计语言的产生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程序设计语言的发展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翻译与执行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三种语言与三种程序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语言的设计与实现</a:t>
            </a:r>
          </a:p>
          <a:p>
            <a:pPr algn="ctr"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86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语言是人们</a:t>
            </a:r>
            <a:r>
              <a:rPr lang="zh-CN" altLang="en-US" dirty="0">
                <a:solidFill>
                  <a:srgbClr val="EE853E"/>
                </a:solidFill>
              </a:rPr>
              <a:t>交流</a:t>
            </a:r>
            <a:r>
              <a:rPr lang="zh-CN" altLang="en-US" dirty="0"/>
              <a:t>思想</a:t>
            </a:r>
            <a:r>
              <a:rPr lang="zh-CN" altLang="en-US" dirty="0">
                <a:solidFill>
                  <a:srgbClr val="EE853E"/>
                </a:solidFill>
              </a:rPr>
              <a:t>的工具</a:t>
            </a:r>
            <a:r>
              <a:rPr lang="zh-CN" altLang="en-US" dirty="0"/>
              <a:t>。人类在长期的历史发展过程中，为了交流思想、表达感情和交换信息，逐步形成了语言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EE853E"/>
                </a:solidFill>
              </a:rPr>
              <a:t>自然语言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思考（以英语为例）</a:t>
            </a:r>
            <a:endParaRPr lang="en-US" altLang="zh-CN" dirty="0"/>
          </a:p>
          <a:p>
            <a:r>
              <a:rPr lang="zh-CN" altLang="en-US" dirty="0"/>
              <a:t>语言的本质是？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语言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EE853E"/>
                </a:solidFill>
              </a:rPr>
              <a:t>文章</a:t>
            </a:r>
            <a:r>
              <a:rPr lang="zh-CN" altLang="en-US" dirty="0"/>
              <a:t>的关系？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程序设计语言的产生</a:t>
            </a:r>
          </a:p>
        </p:txBody>
      </p:sp>
    </p:spTree>
    <p:extLst>
      <p:ext uri="{BB962C8B-B14F-4D97-AF65-F5344CB8AC3E}">
        <p14:creationId xmlns:p14="http://schemas.microsoft.com/office/powerpoint/2010/main" val="241795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7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语言本质</a:t>
            </a:r>
            <a:r>
              <a:rPr lang="zh-CN" altLang="en-US" dirty="0"/>
              <a:t>：一组</a:t>
            </a:r>
            <a:r>
              <a:rPr lang="zh-CN" altLang="en-US" dirty="0">
                <a:solidFill>
                  <a:srgbClr val="EE853E"/>
                </a:solidFill>
              </a:rPr>
              <a:t>规则</a:t>
            </a:r>
            <a:r>
              <a:rPr lang="zh-CN" altLang="en-US" dirty="0"/>
              <a:t>的组合。</a:t>
            </a:r>
            <a:endParaRPr lang="en-US" altLang="zh-CN" dirty="0"/>
          </a:p>
          <a:p>
            <a:r>
              <a:rPr lang="en-US" altLang="zh-CN" dirty="0"/>
              <a:t>(1)	</a:t>
            </a:r>
            <a:r>
              <a:rPr lang="zh-CN" altLang="en-US" dirty="0">
                <a:solidFill>
                  <a:srgbClr val="EE853E"/>
                </a:solidFill>
              </a:rPr>
              <a:t>字母表</a:t>
            </a:r>
            <a:r>
              <a:rPr lang="zh-CN" altLang="en-US" dirty="0"/>
              <a:t>的定义</a:t>
            </a:r>
          </a:p>
          <a:p>
            <a:r>
              <a:rPr lang="en-US" altLang="zh-CN" dirty="0"/>
              <a:t>(2)	</a:t>
            </a:r>
            <a:r>
              <a:rPr lang="zh-CN" altLang="en-US" dirty="0">
                <a:solidFill>
                  <a:srgbClr val="EE853E"/>
                </a:solidFill>
              </a:rPr>
              <a:t>词法</a:t>
            </a:r>
            <a:r>
              <a:rPr lang="zh-CN" altLang="en-US" dirty="0"/>
              <a:t>规则</a:t>
            </a:r>
            <a:endParaRPr lang="en-US" altLang="zh-CN" dirty="0"/>
          </a:p>
          <a:p>
            <a:pPr lvl="1"/>
            <a:r>
              <a:rPr lang="zh-CN" altLang="en-US" dirty="0"/>
              <a:t>单词符号的形成规则</a:t>
            </a:r>
          </a:p>
          <a:p>
            <a:pPr lvl="1"/>
            <a:r>
              <a:rPr lang="zh-CN" altLang="en-US" dirty="0"/>
              <a:t>一个单词对应一条词法规则</a:t>
            </a:r>
            <a:endParaRPr lang="en-US" altLang="zh-CN" dirty="0"/>
          </a:p>
          <a:p>
            <a:pPr lvl="1"/>
            <a:r>
              <a:rPr lang="zh-CN" altLang="en-US" dirty="0"/>
              <a:t>规定了该单词由哪些字母、按照什么顺序进行排列</a:t>
            </a:r>
          </a:p>
          <a:p>
            <a:r>
              <a:rPr lang="en-US" altLang="zh-CN" dirty="0"/>
              <a:t>(3)	</a:t>
            </a:r>
            <a:r>
              <a:rPr lang="zh-CN" altLang="en-US" dirty="0">
                <a:solidFill>
                  <a:srgbClr val="EE853E"/>
                </a:solidFill>
              </a:rPr>
              <a:t>语法</a:t>
            </a:r>
            <a:r>
              <a:rPr lang="zh-CN" altLang="en-US" dirty="0"/>
              <a:t>规则</a:t>
            </a:r>
            <a:endParaRPr lang="en-US" altLang="zh-CN" dirty="0"/>
          </a:p>
          <a:p>
            <a:pPr lvl="1"/>
            <a:r>
              <a:rPr lang="zh-CN" altLang="en-US" dirty="0"/>
              <a:t>语法单位的形成规则</a:t>
            </a:r>
          </a:p>
          <a:p>
            <a:pPr lvl="1"/>
            <a:r>
              <a:rPr lang="zh-CN" altLang="en-US" dirty="0"/>
              <a:t>短语、从句、句子、段落、文章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程序设计语言的产生</a:t>
            </a:r>
          </a:p>
        </p:txBody>
      </p:sp>
    </p:spTree>
    <p:extLst>
      <p:ext uri="{BB962C8B-B14F-4D97-AF65-F5344CB8AC3E}">
        <p14:creationId xmlns:p14="http://schemas.microsoft.com/office/powerpoint/2010/main" val="321514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70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70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500"/>
                                        <p:tgtEl>
                                          <p:spTgt spid="70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(4)	</a:t>
            </a:r>
            <a:r>
              <a:rPr lang="zh-CN" altLang="en-US" dirty="0">
                <a:solidFill>
                  <a:srgbClr val="EE853E"/>
                </a:solidFill>
              </a:rPr>
              <a:t>语义</a:t>
            </a:r>
            <a:r>
              <a:rPr lang="zh-CN" altLang="en-US" dirty="0"/>
              <a:t>规则</a:t>
            </a:r>
          </a:p>
          <a:p>
            <a:pPr lvl="1"/>
            <a:r>
              <a:rPr lang="zh-CN" altLang="en-US" dirty="0"/>
              <a:t>单词符号和语法单位的含义规则</a:t>
            </a:r>
          </a:p>
          <a:p>
            <a:r>
              <a:rPr lang="en-US" altLang="zh-CN" dirty="0"/>
              <a:t>(5)	</a:t>
            </a:r>
            <a:r>
              <a:rPr lang="zh-CN" altLang="en-US" dirty="0">
                <a:solidFill>
                  <a:srgbClr val="EE853E"/>
                </a:solidFill>
              </a:rPr>
              <a:t>语用</a:t>
            </a:r>
            <a:r>
              <a:rPr lang="zh-CN" altLang="en-US" dirty="0"/>
              <a:t>规则</a:t>
            </a:r>
          </a:p>
          <a:p>
            <a:pPr lvl="1"/>
            <a:r>
              <a:rPr lang="zh-CN" altLang="en-US" dirty="0"/>
              <a:t>语义规则的发展和延伸</a:t>
            </a:r>
          </a:p>
          <a:p>
            <a:pPr lvl="1"/>
            <a:r>
              <a:rPr lang="zh-CN" altLang="en-US" dirty="0"/>
              <a:t>在一定的语境中，单词和语法单位体现出来的具体意义</a:t>
            </a:r>
          </a:p>
          <a:p>
            <a:pPr lvl="1"/>
            <a:r>
              <a:rPr lang="zh-CN" altLang="en-US" dirty="0"/>
              <a:t>需要根据上下文进行明确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程序设计语言的产生</a:t>
            </a:r>
          </a:p>
        </p:txBody>
      </p:sp>
    </p:spTree>
    <p:extLst>
      <p:ext uri="{BB962C8B-B14F-4D97-AF65-F5344CB8AC3E}">
        <p14:creationId xmlns:p14="http://schemas.microsoft.com/office/powerpoint/2010/main" val="334894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5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5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75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75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75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75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 dirty="0">
                <a:solidFill>
                  <a:srgbClr val="EE853E"/>
                </a:solidFill>
              </a:rPr>
              <a:t>程序设计</a:t>
            </a:r>
            <a:endParaRPr lang="en-US" altLang="zh-CN" dirty="0"/>
          </a:p>
          <a:p>
            <a:r>
              <a:rPr lang="zh-CN" altLang="en-US" dirty="0"/>
              <a:t>给出解决特定问题的</a:t>
            </a:r>
            <a:r>
              <a:rPr lang="zh-CN" altLang="en-US" dirty="0">
                <a:solidFill>
                  <a:srgbClr val="EE853E"/>
                </a:solidFill>
              </a:rPr>
              <a:t>方法和过程，</a:t>
            </a:r>
            <a:r>
              <a:rPr lang="zh-CN" altLang="en-US" dirty="0"/>
              <a:t>并以某种程序设计</a:t>
            </a:r>
            <a:r>
              <a:rPr lang="zh-CN" altLang="en-US" dirty="0">
                <a:solidFill>
                  <a:srgbClr val="EE853E"/>
                </a:solidFill>
              </a:rPr>
              <a:t>语言</a:t>
            </a:r>
            <a:r>
              <a:rPr lang="zh-CN" altLang="en-US" dirty="0"/>
              <a:t>为工具， 编写出该语言的</a:t>
            </a:r>
            <a:r>
              <a:rPr lang="zh-CN" altLang="en-US" dirty="0">
                <a:solidFill>
                  <a:srgbClr val="EE853E"/>
                </a:solidFill>
              </a:rPr>
              <a:t>程序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>
                <a:solidFill>
                  <a:srgbClr val="EE853E"/>
                </a:solidFill>
              </a:rPr>
              <a:t>程序设计语言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zh-CN" dirty="0"/>
              <a:t>程序设计语言是一组</a:t>
            </a:r>
            <a:r>
              <a:rPr lang="zh-CN" altLang="zh-CN" dirty="0">
                <a:solidFill>
                  <a:srgbClr val="EE853E"/>
                </a:solidFill>
              </a:rPr>
              <a:t>规则</a:t>
            </a:r>
            <a:r>
              <a:rPr lang="zh-CN" altLang="en-US" dirty="0"/>
              <a:t>，</a:t>
            </a:r>
            <a:r>
              <a:rPr lang="zh-CN" altLang="zh-CN" dirty="0"/>
              <a:t>包括：</a:t>
            </a:r>
          </a:p>
          <a:p>
            <a:r>
              <a:rPr lang="en-US" altLang="zh-CN" dirty="0"/>
              <a:t>(1)	</a:t>
            </a:r>
            <a:r>
              <a:rPr lang="zh-CN" altLang="zh-CN" dirty="0"/>
              <a:t>字母表的定义</a:t>
            </a:r>
          </a:p>
          <a:p>
            <a:r>
              <a:rPr lang="en-US" altLang="zh-CN" dirty="0"/>
              <a:t>(2)	</a:t>
            </a:r>
            <a:r>
              <a:rPr lang="zh-CN" altLang="zh-CN" dirty="0"/>
              <a:t>词法规则：</a:t>
            </a:r>
            <a:r>
              <a:rPr lang="zh-CN" altLang="zh-CN" dirty="0">
                <a:solidFill>
                  <a:srgbClr val="EE853E"/>
                </a:solidFill>
              </a:rPr>
              <a:t>单词符号的形成规则</a:t>
            </a:r>
            <a:endParaRPr lang="en-US" altLang="zh-CN" dirty="0">
              <a:solidFill>
                <a:srgbClr val="EE853E"/>
              </a:solidFill>
            </a:endParaRPr>
          </a:p>
          <a:p>
            <a:pPr lvl="1"/>
            <a:r>
              <a:rPr lang="zh-CN" altLang="en-US" dirty="0"/>
              <a:t>例如：</a:t>
            </a:r>
            <a:r>
              <a:rPr lang="en-US" altLang="zh-CN" dirty="0"/>
              <a:t>C</a:t>
            </a:r>
            <a:r>
              <a:rPr lang="zh-CN" altLang="en-US" dirty="0"/>
              <a:t>语言单词符号</a:t>
            </a:r>
            <a:r>
              <a:rPr lang="zh-CN" altLang="zh-CN" dirty="0"/>
              <a:t>包括</a:t>
            </a:r>
            <a:r>
              <a:rPr lang="zh-CN" altLang="en-US" dirty="0"/>
              <a:t>关键字、 标识符、 运算符、常量 、分界符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程序设计语言的产生</a:t>
            </a:r>
          </a:p>
        </p:txBody>
      </p:sp>
    </p:spTree>
    <p:extLst>
      <p:ext uri="{BB962C8B-B14F-4D97-AF65-F5344CB8AC3E}">
        <p14:creationId xmlns:p14="http://schemas.microsoft.com/office/powerpoint/2010/main" val="74745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(3)	</a:t>
            </a:r>
            <a:r>
              <a:rPr lang="zh-CN" altLang="zh-CN" dirty="0"/>
              <a:t>语法规则：</a:t>
            </a:r>
            <a:r>
              <a:rPr lang="zh-CN" altLang="zh-CN" dirty="0">
                <a:solidFill>
                  <a:srgbClr val="EE853E"/>
                </a:solidFill>
              </a:rPr>
              <a:t>语法单位的形成规则</a:t>
            </a:r>
            <a:endParaRPr lang="en-US" altLang="zh-CN" dirty="0">
              <a:solidFill>
                <a:srgbClr val="EE853E"/>
              </a:solidFill>
            </a:endParaRPr>
          </a:p>
          <a:p>
            <a:pPr lvl="1"/>
            <a:r>
              <a:rPr lang="zh-CN" altLang="en-US" dirty="0"/>
              <a:t>例如</a:t>
            </a:r>
            <a:r>
              <a:rPr lang="en-US" altLang="zh-CN" dirty="0"/>
              <a:t>C</a:t>
            </a:r>
            <a:r>
              <a:rPr lang="zh-CN" altLang="en-US" dirty="0"/>
              <a:t>语言</a:t>
            </a:r>
            <a:r>
              <a:rPr lang="zh-CN" altLang="zh-CN" dirty="0"/>
              <a:t>语法单位包括：表达式、语句、</a:t>
            </a:r>
            <a:r>
              <a:rPr lang="zh-CN" altLang="en-US" dirty="0"/>
              <a:t>函数</a:t>
            </a:r>
            <a:r>
              <a:rPr lang="zh-CN" altLang="zh-CN" dirty="0"/>
              <a:t>、程序</a:t>
            </a:r>
            <a:r>
              <a:rPr lang="en-US" altLang="zh-CN" dirty="0"/>
              <a:t> </a:t>
            </a:r>
            <a:endParaRPr lang="zh-CN" altLang="zh-CN" dirty="0"/>
          </a:p>
          <a:p>
            <a:r>
              <a:rPr lang="en-US" altLang="zh-CN" dirty="0"/>
              <a:t>(4)	</a:t>
            </a:r>
            <a:r>
              <a:rPr lang="zh-CN" altLang="zh-CN" dirty="0"/>
              <a:t>语义规则：单词符号和语法单位的</a:t>
            </a:r>
            <a:r>
              <a:rPr lang="zh-CN" altLang="zh-CN" dirty="0">
                <a:solidFill>
                  <a:srgbClr val="EE853E"/>
                </a:solidFill>
              </a:rPr>
              <a:t>含义规则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(5)	</a:t>
            </a:r>
            <a:r>
              <a:rPr lang="zh-CN" altLang="zh-CN" dirty="0"/>
              <a:t>语用规则：语义规则的发展和延伸</a:t>
            </a:r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r>
              <a:rPr lang="en-US" altLang="zh-CN" dirty="0"/>
              <a:t>C</a:t>
            </a:r>
            <a:r>
              <a:rPr lang="zh-CN" altLang="en-US" dirty="0"/>
              <a:t>语言中的 </a:t>
            </a:r>
            <a:r>
              <a:rPr lang="en-US" altLang="zh-CN" sz="4000" baseline="-16000" dirty="0">
                <a:solidFill>
                  <a:srgbClr val="FF0000"/>
                </a:solidFill>
              </a:rPr>
              <a:t>*</a:t>
            </a:r>
            <a:endParaRPr lang="zh-CN" altLang="zh-CN" sz="4000" baseline="-16000" dirty="0">
              <a:solidFill>
                <a:srgbClr val="FF0000"/>
              </a:solidFill>
            </a:endParaRPr>
          </a:p>
          <a:p>
            <a:pPr marL="457200" indent="-457200">
              <a:buAutoNum type="arabicParenBoth" startAt="6"/>
            </a:pPr>
            <a:r>
              <a:rPr lang="zh-CN" altLang="zh-CN" dirty="0"/>
              <a:t>其他规则：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zh-CN" dirty="0"/>
              <a:t>包括类型使用规则，参数传递规则，作用域规则等。</a:t>
            </a:r>
            <a:endParaRPr lang="zh-CN" altLang="en-US" dirty="0">
              <a:solidFill>
                <a:srgbClr val="EE853E"/>
              </a:solidFill>
            </a:endParaRPr>
          </a:p>
        </p:txBody>
      </p:sp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程序设计语言的产生</a:t>
            </a:r>
          </a:p>
        </p:txBody>
      </p:sp>
    </p:spTree>
    <p:extLst>
      <p:ext uri="{BB962C8B-B14F-4D97-AF65-F5344CB8AC3E}">
        <p14:creationId xmlns:p14="http://schemas.microsoft.com/office/powerpoint/2010/main" val="303974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程序设计语言的产生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程序设计语言的发展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翻译与执行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三种语言与三种程序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语言的设计与实现</a:t>
            </a:r>
          </a:p>
          <a:p>
            <a:pPr algn="ctr"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591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机器语言 → 汇编语言 → 高级语言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机器语言</a:t>
            </a:r>
            <a:endParaRPr lang="en-US" altLang="zh-CN" dirty="0">
              <a:solidFill>
                <a:srgbClr val="EE853E"/>
              </a:solidFill>
            </a:endParaRPr>
          </a:p>
          <a:p>
            <a:pPr lvl="1"/>
            <a:r>
              <a:rPr lang="zh-CN" altLang="en-US" dirty="0"/>
              <a:t>机器语言：</a:t>
            </a:r>
            <a:r>
              <a:rPr lang="en-US" altLang="zh-CN" dirty="0"/>
              <a:t>	</a:t>
            </a:r>
            <a:r>
              <a:rPr lang="zh-CN" altLang="en-US" dirty="0"/>
              <a:t>第一代程序设计语言</a:t>
            </a:r>
          </a:p>
          <a:p>
            <a:pPr lvl="1"/>
            <a:r>
              <a:rPr lang="zh-CN" altLang="en-US" dirty="0"/>
              <a:t>字母表：</a:t>
            </a:r>
            <a:r>
              <a:rPr lang="en-US" altLang="zh-CN" dirty="0"/>
              <a:t>	{ 0 , 1 </a:t>
            </a:r>
            <a:r>
              <a:rPr lang="zh-CN" altLang="en-US" dirty="0"/>
              <a:t>｝</a:t>
            </a:r>
          </a:p>
          <a:p>
            <a:pPr lvl="1"/>
            <a:r>
              <a:rPr lang="zh-CN" altLang="en-US" dirty="0"/>
              <a:t>单词符号：</a:t>
            </a:r>
            <a:r>
              <a:rPr lang="en-US" altLang="zh-CN" dirty="0"/>
              <a:t>	</a:t>
            </a:r>
            <a:r>
              <a:rPr lang="zh-CN" altLang="en-US" dirty="0"/>
              <a:t>操作码、地址</a:t>
            </a:r>
          </a:p>
          <a:p>
            <a:pPr lvl="1"/>
            <a:r>
              <a:rPr lang="zh-CN" altLang="en-US" dirty="0"/>
              <a:t>语法单位：</a:t>
            </a:r>
            <a:r>
              <a:rPr lang="en-US" altLang="zh-CN" dirty="0"/>
              <a:t>	</a:t>
            </a:r>
            <a:r>
              <a:rPr lang="zh-CN" altLang="en-US" dirty="0"/>
              <a:t>指令（</a:t>
            </a:r>
            <a:r>
              <a:rPr lang="en-US" altLang="zh-CN" b="0" dirty="0"/>
              <a:t>01100001  </a:t>
            </a:r>
            <a:r>
              <a:rPr lang="en-US" altLang="zh-CN" dirty="0">
                <a:solidFill>
                  <a:srgbClr val="EE853E"/>
                </a:solidFill>
              </a:rPr>
              <a:t>1001  1110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			</a:t>
            </a:r>
            <a:r>
              <a:rPr lang="zh-CN" altLang="en-US" dirty="0"/>
              <a:t>程序（指令的组合）</a:t>
            </a:r>
          </a:p>
          <a:p>
            <a:endParaRPr lang="en-US" altLang="zh-CN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程序设计语言的发展</a:t>
            </a:r>
          </a:p>
        </p:txBody>
      </p:sp>
    </p:spTree>
    <p:extLst>
      <p:ext uri="{BB962C8B-B14F-4D97-AF65-F5344CB8AC3E}">
        <p14:creationId xmlns:p14="http://schemas.microsoft.com/office/powerpoint/2010/main" val="156542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84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484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484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zh-CN" altLang="en-US" dirty="0">
                <a:solidFill>
                  <a:srgbClr val="EE853E"/>
                </a:solidFill>
              </a:rPr>
              <a:t>机器语言</a:t>
            </a:r>
            <a:r>
              <a:rPr lang="zh-CN" altLang="en-US" dirty="0"/>
              <a:t>编写的程序由二进制指令组成，计算机可以直接执行。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zh-CN" altLang="en-US" dirty="0"/>
              <a:t>编写程序十分</a:t>
            </a:r>
            <a:r>
              <a:rPr lang="zh-CN" altLang="en-US" dirty="0">
                <a:solidFill>
                  <a:srgbClr val="EE853E"/>
                </a:solidFill>
              </a:rPr>
              <a:t>繁琐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痛苦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程序不便于记忆、阅读和书写，</a:t>
            </a:r>
            <a:r>
              <a:rPr lang="zh-CN" altLang="en-US" dirty="0">
                <a:solidFill>
                  <a:srgbClr val="EE853E"/>
                </a:solidFill>
              </a:rPr>
              <a:t>容易出错</a:t>
            </a:r>
            <a:r>
              <a:rPr lang="zh-CN" altLang="en-US" dirty="0"/>
              <a:t>（查错和改错，十分困难）；</a:t>
            </a:r>
          </a:p>
          <a:p>
            <a:r>
              <a:rPr lang="zh-CN" altLang="en-US" dirty="0"/>
              <a:t>每类计算机的指令系统各不相同，</a:t>
            </a:r>
            <a:r>
              <a:rPr lang="zh-CN" altLang="en-US" dirty="0">
                <a:solidFill>
                  <a:srgbClr val="EE853E"/>
                </a:solidFill>
              </a:rPr>
              <a:t>可移植性</a:t>
            </a:r>
            <a:r>
              <a:rPr lang="zh-CN" altLang="en-US" dirty="0"/>
              <a:t>很差，造成了重复工作。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程序设计语言的发展</a:t>
            </a:r>
          </a:p>
        </p:txBody>
      </p:sp>
    </p:spTree>
    <p:extLst>
      <p:ext uri="{BB962C8B-B14F-4D97-AF65-F5344CB8AC3E}">
        <p14:creationId xmlns:p14="http://schemas.microsoft.com/office/powerpoint/2010/main" val="30116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1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71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71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汇编语言</a:t>
            </a:r>
            <a:endParaRPr lang="en-US" altLang="zh-CN" dirty="0">
              <a:solidFill>
                <a:srgbClr val="EE853E"/>
              </a:solidFill>
            </a:endParaRPr>
          </a:p>
          <a:p>
            <a:pPr lvl="1"/>
            <a:r>
              <a:rPr lang="zh-CN" altLang="en-US" sz="2400" dirty="0"/>
              <a:t>汇编语言：</a:t>
            </a:r>
            <a:r>
              <a:rPr lang="en-US" altLang="zh-CN" sz="2400" dirty="0"/>
              <a:t>	</a:t>
            </a:r>
            <a:r>
              <a:rPr lang="zh-CN" altLang="en-US" sz="2400" dirty="0"/>
              <a:t>将机器语言</a:t>
            </a:r>
            <a:r>
              <a:rPr lang="zh-CN" altLang="en-US" sz="2400" dirty="0">
                <a:solidFill>
                  <a:srgbClr val="EE853E"/>
                </a:solidFill>
              </a:rPr>
              <a:t>符号化</a:t>
            </a:r>
            <a:r>
              <a:rPr lang="zh-CN" altLang="en-US" sz="2400" dirty="0"/>
              <a:t>，产生了汇编语言。</a:t>
            </a:r>
          </a:p>
          <a:p>
            <a:pPr lvl="1"/>
            <a:r>
              <a:rPr lang="zh-CN" altLang="en-US" sz="2400" dirty="0"/>
              <a:t>字母表：</a:t>
            </a:r>
            <a:r>
              <a:rPr lang="en-US" altLang="zh-CN" sz="2400" dirty="0"/>
              <a:t>	</a:t>
            </a:r>
            <a:r>
              <a:rPr lang="zh-CN" altLang="en-US" sz="2400" dirty="0"/>
              <a:t>主要增加了英文字母</a:t>
            </a:r>
          </a:p>
          <a:p>
            <a:pPr lvl="1"/>
            <a:r>
              <a:rPr lang="zh-CN" altLang="en-US" sz="2400" dirty="0"/>
              <a:t>单词符号：</a:t>
            </a:r>
            <a:r>
              <a:rPr lang="en-US" altLang="zh-CN" sz="2400" dirty="0"/>
              <a:t>	</a:t>
            </a:r>
            <a:r>
              <a:rPr lang="zh-CN" altLang="en-US" sz="2400" dirty="0"/>
              <a:t>操作码、</a:t>
            </a:r>
            <a:r>
              <a:rPr lang="zh-CN" altLang="en-US" sz="2400" dirty="0">
                <a:solidFill>
                  <a:srgbClr val="EE853E"/>
                </a:solidFill>
              </a:rPr>
              <a:t>内存符号、寄存器</a:t>
            </a:r>
            <a:r>
              <a:rPr lang="zh-CN" altLang="en-US" sz="2400" dirty="0"/>
              <a:t>、数据</a:t>
            </a:r>
          </a:p>
          <a:p>
            <a:pPr lvl="1"/>
            <a:r>
              <a:rPr lang="zh-CN" altLang="en-US" sz="2400" dirty="0"/>
              <a:t>语法单位：</a:t>
            </a:r>
            <a:r>
              <a:rPr lang="en-US" altLang="zh-CN" sz="2400" dirty="0"/>
              <a:t>	</a:t>
            </a:r>
            <a:r>
              <a:rPr lang="zh-CN" altLang="en-US" sz="2400" dirty="0"/>
              <a:t>指令（</a:t>
            </a:r>
            <a:r>
              <a:rPr lang="en-US" altLang="zh-CN" sz="2400" dirty="0"/>
              <a:t>ADD  </a:t>
            </a:r>
            <a:r>
              <a:rPr lang="en-US" altLang="zh-CN" sz="2400" dirty="0">
                <a:solidFill>
                  <a:srgbClr val="EE853E"/>
                </a:solidFill>
              </a:rPr>
              <a:t>A</a:t>
            </a:r>
            <a:r>
              <a:rPr lang="zh-CN" altLang="en-US" sz="2400" dirty="0">
                <a:solidFill>
                  <a:srgbClr val="EE853E"/>
                </a:solidFill>
              </a:rPr>
              <a:t>  </a:t>
            </a:r>
            <a:r>
              <a:rPr lang="en-US" altLang="zh-CN" sz="2400" dirty="0">
                <a:solidFill>
                  <a:srgbClr val="EE853E"/>
                </a:solidFill>
              </a:rPr>
              <a:t>R0</a:t>
            </a:r>
            <a:r>
              <a:rPr lang="zh-CN" altLang="en-US" sz="2400" dirty="0">
                <a:solidFill>
                  <a:srgbClr val="EE853E"/>
                </a:solidFill>
              </a:rPr>
              <a:t>）</a:t>
            </a:r>
            <a:endParaRPr lang="en-US" altLang="zh-CN" sz="2400" dirty="0">
              <a:solidFill>
                <a:srgbClr val="EE853E"/>
              </a:solidFill>
            </a:endParaRPr>
          </a:p>
          <a:p>
            <a:pPr lvl="1"/>
            <a:r>
              <a:rPr lang="en-US" altLang="zh-CN" sz="2400" dirty="0">
                <a:solidFill>
                  <a:srgbClr val="EE853E"/>
                </a:solidFill>
              </a:rPr>
              <a:t>			     </a:t>
            </a:r>
            <a:r>
              <a:rPr lang="zh-CN" altLang="en-US" sz="2400" dirty="0"/>
              <a:t>程序（指令的组合）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程序设计语言的发展</a:t>
            </a:r>
          </a:p>
        </p:txBody>
      </p:sp>
    </p:spTree>
    <p:extLst>
      <p:ext uri="{BB962C8B-B14F-4D97-AF65-F5344CB8AC3E}">
        <p14:creationId xmlns:p14="http://schemas.microsoft.com/office/powerpoint/2010/main" val="416396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1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71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71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对于</a:t>
            </a:r>
            <a:r>
              <a:rPr lang="zh-CN" altLang="en-US" dirty="0">
                <a:solidFill>
                  <a:srgbClr val="EE853E"/>
                </a:solidFill>
              </a:rPr>
              <a:t>机器语言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汇编语言</a:t>
            </a:r>
            <a:r>
              <a:rPr lang="zh-CN" altLang="en-US" dirty="0"/>
              <a:t>，指令的操作码、指令格式、寻址方式、数据格式等，不同的计算机有不同的规定。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</a:t>
            </a:r>
            <a:r>
              <a:rPr lang="zh-CN" altLang="en-US" dirty="0">
                <a:solidFill>
                  <a:srgbClr val="EE853E"/>
                </a:solidFill>
              </a:rPr>
              <a:t>机器有关</a:t>
            </a:r>
            <a:r>
              <a:rPr lang="zh-CN" altLang="en-US" dirty="0"/>
              <a:t>的语言，称为</a:t>
            </a:r>
            <a:r>
              <a:rPr lang="zh-CN" altLang="en-US" dirty="0">
                <a:solidFill>
                  <a:srgbClr val="EE853E"/>
                </a:solidFill>
              </a:rPr>
              <a:t>低级语言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与</a:t>
            </a:r>
            <a:r>
              <a:rPr lang="zh-CN" altLang="en-US" dirty="0">
                <a:solidFill>
                  <a:srgbClr val="EE853E"/>
                </a:solidFill>
              </a:rPr>
              <a:t>机器无关</a:t>
            </a:r>
            <a:r>
              <a:rPr lang="zh-CN" altLang="en-US" dirty="0"/>
              <a:t>的程序设计语言，通常称为</a:t>
            </a:r>
            <a:r>
              <a:rPr lang="zh-CN" altLang="en-US" dirty="0">
                <a:solidFill>
                  <a:srgbClr val="EE853E"/>
                </a:solidFill>
              </a:rPr>
              <a:t>高级语言</a:t>
            </a:r>
            <a:r>
              <a:rPr lang="zh-CN" altLang="en-US" dirty="0"/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5C6255B-A074-4686-8775-648BADFF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程序设计语言的发展</a:t>
            </a:r>
          </a:p>
        </p:txBody>
      </p:sp>
    </p:spTree>
    <p:extLst>
      <p:ext uri="{BB962C8B-B14F-4D97-AF65-F5344CB8AC3E}">
        <p14:creationId xmlns:p14="http://schemas.microsoft.com/office/powerpoint/2010/main" val="200623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35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535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(1)	</a:t>
            </a:r>
            <a:r>
              <a:rPr lang="zh-CN" altLang="en-US" dirty="0"/>
              <a:t>直观、自然、易于理解</a:t>
            </a:r>
          </a:p>
          <a:p>
            <a:r>
              <a:rPr lang="en-US" altLang="zh-CN" dirty="0"/>
              <a:t>(2)	</a:t>
            </a:r>
            <a:r>
              <a:rPr lang="zh-CN" altLang="en-US" dirty="0"/>
              <a:t>易读，易写，易于交流、存档</a:t>
            </a:r>
          </a:p>
          <a:p>
            <a:r>
              <a:rPr lang="en-US" altLang="zh-CN" dirty="0"/>
              <a:t>(3)	</a:t>
            </a:r>
            <a:r>
              <a:rPr lang="zh-CN" altLang="en-US" dirty="0"/>
              <a:t>易于移植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高级语言的特点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458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程序设计语言的产生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程序设计语言的发展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翻译与执行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三种语言与三种程序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语言的设计与实现</a:t>
            </a:r>
          </a:p>
          <a:p>
            <a:pPr algn="ctr"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083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7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翻译</a:t>
            </a:r>
            <a:r>
              <a:rPr lang="zh-CN" altLang="en-US" dirty="0"/>
              <a:t>：等价的变换</a:t>
            </a:r>
            <a:endParaRPr lang="en-US" altLang="zh-CN" dirty="0"/>
          </a:p>
          <a:p>
            <a:r>
              <a:rPr lang="zh-CN" altLang="en-US" dirty="0"/>
              <a:t>计算机只可直接</a:t>
            </a:r>
            <a:r>
              <a:rPr lang="zh-CN" altLang="en-US" dirty="0">
                <a:solidFill>
                  <a:srgbClr val="EE853E"/>
                </a:solidFill>
              </a:rPr>
              <a:t>执行</a:t>
            </a:r>
            <a:r>
              <a:rPr lang="zh-CN" altLang="en-US" dirty="0"/>
              <a:t>用机器语言编写的程序。</a:t>
            </a:r>
          </a:p>
          <a:p>
            <a:r>
              <a:rPr lang="zh-CN" altLang="en-US" dirty="0"/>
              <a:t>而用汇编语言和高级语言编写的程序，机器不能直接执行，</a:t>
            </a:r>
          </a:p>
          <a:p>
            <a:r>
              <a:rPr lang="zh-CN" altLang="en-US" dirty="0"/>
              <a:t>必须将它们</a:t>
            </a:r>
            <a:r>
              <a:rPr lang="zh-CN" altLang="en-US" dirty="0">
                <a:solidFill>
                  <a:srgbClr val="EE853E"/>
                </a:solidFill>
              </a:rPr>
              <a:t>翻译</a:t>
            </a:r>
            <a:r>
              <a:rPr lang="zh-CN" altLang="en-US" dirty="0"/>
              <a:t>成完全等价的机器语言程序才能</a:t>
            </a:r>
            <a:r>
              <a:rPr lang="zh-CN" altLang="en-US" dirty="0">
                <a:solidFill>
                  <a:srgbClr val="EE853E"/>
                </a:solidFill>
              </a:rPr>
              <a:t>执行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翻译与执行</a:t>
            </a:r>
          </a:p>
        </p:txBody>
      </p:sp>
    </p:spTree>
    <p:extLst>
      <p:ext uri="{BB962C8B-B14F-4D97-AF65-F5344CB8AC3E}">
        <p14:creationId xmlns:p14="http://schemas.microsoft.com/office/powerpoint/2010/main" val="405457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87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将</a:t>
            </a:r>
            <a:r>
              <a:rPr lang="zh-CN" altLang="en-US" dirty="0">
                <a:solidFill>
                  <a:srgbClr val="EE853E"/>
                </a:solidFill>
              </a:rPr>
              <a:t>汇编语言</a:t>
            </a:r>
            <a:r>
              <a:rPr lang="zh-CN" altLang="en-US" dirty="0"/>
              <a:t>程序翻译为</a:t>
            </a:r>
            <a:r>
              <a:rPr lang="zh-CN" altLang="en-US" dirty="0">
                <a:solidFill>
                  <a:srgbClr val="EE853E"/>
                </a:solidFill>
              </a:rPr>
              <a:t>机器语言</a:t>
            </a:r>
            <a:r>
              <a:rPr lang="zh-CN" altLang="en-US" dirty="0"/>
              <a:t>程序的程序称为</a:t>
            </a:r>
            <a:r>
              <a:rPr lang="zh-CN" altLang="en-US" dirty="0">
                <a:solidFill>
                  <a:srgbClr val="EE853E"/>
                </a:solidFill>
              </a:rPr>
              <a:t>汇编</a:t>
            </a:r>
            <a:r>
              <a:rPr lang="zh-CN" altLang="en-US" dirty="0"/>
              <a:t>程序（汇编器）</a:t>
            </a:r>
          </a:p>
          <a:p>
            <a:r>
              <a:rPr lang="zh-CN" altLang="en-US" dirty="0"/>
              <a:t>将</a:t>
            </a:r>
            <a:r>
              <a:rPr lang="zh-CN" altLang="en-US" dirty="0">
                <a:solidFill>
                  <a:srgbClr val="EE853E"/>
                </a:solidFill>
              </a:rPr>
              <a:t>高级语言</a:t>
            </a:r>
            <a:r>
              <a:rPr lang="zh-CN" altLang="en-US" dirty="0"/>
              <a:t>程序翻译为</a:t>
            </a:r>
            <a:r>
              <a:rPr lang="zh-CN" altLang="en-US" dirty="0">
                <a:solidFill>
                  <a:srgbClr val="EE853E"/>
                </a:solidFill>
              </a:rPr>
              <a:t>低级语言</a:t>
            </a:r>
            <a:r>
              <a:rPr lang="zh-CN" altLang="en-US" dirty="0"/>
              <a:t>程序的程序称为</a:t>
            </a:r>
            <a:r>
              <a:rPr lang="zh-CN" altLang="en-US" dirty="0">
                <a:solidFill>
                  <a:srgbClr val="EE853E"/>
                </a:solidFill>
              </a:rPr>
              <a:t>编译</a:t>
            </a:r>
            <a:r>
              <a:rPr lang="zh-CN" altLang="en-US" dirty="0"/>
              <a:t>程序（编译器）</a:t>
            </a:r>
          </a:p>
          <a:p>
            <a:r>
              <a:rPr lang="zh-CN" altLang="en-US" dirty="0"/>
              <a:t>编写一个高级语言的编译程序的工作，通常称为对这个语言的</a:t>
            </a:r>
            <a:r>
              <a:rPr lang="zh-CN" altLang="en-US" dirty="0">
                <a:solidFill>
                  <a:srgbClr val="EE853E"/>
                </a:solidFill>
              </a:rPr>
              <a:t>实现</a:t>
            </a:r>
            <a:r>
              <a:rPr lang="zh-CN" altLang="en-US" dirty="0"/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8EF5FF-45C8-4BF0-A4D0-953E81E72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翻译与执行</a:t>
            </a:r>
          </a:p>
        </p:txBody>
      </p:sp>
    </p:spTree>
    <p:extLst>
      <p:ext uri="{BB962C8B-B14F-4D97-AF65-F5344CB8AC3E}">
        <p14:creationId xmlns:p14="http://schemas.microsoft.com/office/powerpoint/2010/main" val="111044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36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解释</a:t>
            </a:r>
            <a:r>
              <a:rPr lang="zh-CN" altLang="en-US" dirty="0"/>
              <a:t>：语言另一种翻译与执行方式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>
                <a:solidFill>
                  <a:srgbClr val="EE853E"/>
                </a:solidFill>
              </a:rPr>
              <a:t>BASIC</a:t>
            </a:r>
            <a:r>
              <a:rPr lang="zh-CN" altLang="en-US" dirty="0"/>
              <a:t>是最简单的</a:t>
            </a:r>
            <a:r>
              <a:rPr lang="zh-CN" altLang="en-US" dirty="0">
                <a:solidFill>
                  <a:srgbClr val="EE853E"/>
                </a:solidFill>
              </a:rPr>
              <a:t>解释型高级语言</a:t>
            </a:r>
            <a:r>
              <a:rPr lang="zh-CN" altLang="en-US" dirty="0"/>
              <a:t>，它不是编译执行，而是由</a:t>
            </a:r>
            <a:r>
              <a:rPr lang="en-US" altLang="zh-CN" dirty="0"/>
              <a:t>BASIC</a:t>
            </a:r>
            <a:r>
              <a:rPr lang="zh-CN" altLang="en-US" dirty="0"/>
              <a:t>的解释程序（解释器）对源程序进行分析（翻译），并直接计算出结果；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LISP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ML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Prolog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EE853E"/>
                </a:solidFill>
              </a:rPr>
              <a:t>Smalltalk</a:t>
            </a:r>
            <a:r>
              <a:rPr lang="zh-CN" altLang="en-US" dirty="0"/>
              <a:t>均是解释型的语言；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Java</a:t>
            </a:r>
            <a:r>
              <a:rPr lang="zh-CN" altLang="en-US" dirty="0"/>
              <a:t>也常被当作一种解释型语言，翻译产生字节码的中间代码，可以在</a:t>
            </a:r>
            <a:r>
              <a:rPr lang="en-US" altLang="zh-CN" dirty="0"/>
              <a:t>Java</a:t>
            </a:r>
            <a:r>
              <a:rPr lang="zh-CN" altLang="en-US" dirty="0"/>
              <a:t>虚拟机（解释器）上运行。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翻译与执行</a:t>
            </a:r>
          </a:p>
        </p:txBody>
      </p:sp>
    </p:spTree>
    <p:extLst>
      <p:ext uri="{BB962C8B-B14F-4D97-AF65-F5344CB8AC3E}">
        <p14:creationId xmlns:p14="http://schemas.microsoft.com/office/powerpoint/2010/main" val="20074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3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解释执行特别适合于</a:t>
            </a:r>
            <a:r>
              <a:rPr lang="zh-CN" altLang="en-US" dirty="0">
                <a:solidFill>
                  <a:srgbClr val="EE853E"/>
                </a:solidFill>
              </a:rPr>
              <a:t>动态语言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交互式环境</a:t>
            </a:r>
            <a:r>
              <a:rPr lang="zh-CN" altLang="en-US" dirty="0"/>
              <a:t>，便于人机对话。</a:t>
            </a:r>
          </a:p>
          <a:p>
            <a:r>
              <a:rPr lang="zh-CN" altLang="en-US" dirty="0"/>
              <a:t>解释器边翻译边解释执行，</a:t>
            </a:r>
            <a:r>
              <a:rPr lang="zh-CN" altLang="en-US" dirty="0">
                <a:solidFill>
                  <a:srgbClr val="EE853E"/>
                </a:solidFill>
              </a:rPr>
              <a:t>重复</a:t>
            </a:r>
            <a:r>
              <a:rPr lang="zh-CN" altLang="en-US" dirty="0"/>
              <a:t>执行的语句需要重复翻译，比编译执行要花去更多的时间，执行效率较低。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E0A6158-B29E-4B69-8997-8CB5CAFB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翻译与执行</a:t>
            </a:r>
          </a:p>
        </p:txBody>
      </p:sp>
    </p:spTree>
    <p:extLst>
      <p:ext uri="{BB962C8B-B14F-4D97-AF65-F5344CB8AC3E}">
        <p14:creationId xmlns:p14="http://schemas.microsoft.com/office/powerpoint/2010/main" val="343276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程序设计语言的产生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程序设计语言的发展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翻译与执行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三种语言与三种程序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语言的设计与实现</a:t>
            </a:r>
          </a:p>
          <a:p>
            <a:pPr algn="ctr"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236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源</a:t>
            </a:r>
            <a:r>
              <a:rPr lang="zh-CN" altLang="en-US" dirty="0"/>
              <a:t>语言、</a:t>
            </a:r>
            <a:r>
              <a:rPr lang="zh-CN" altLang="en-US" dirty="0">
                <a:solidFill>
                  <a:srgbClr val="EE853E"/>
                </a:solidFill>
              </a:rPr>
              <a:t>宿主</a:t>
            </a:r>
            <a:r>
              <a:rPr lang="zh-CN" altLang="en-US" dirty="0"/>
              <a:t>语言、</a:t>
            </a:r>
            <a:r>
              <a:rPr lang="zh-CN" altLang="en-US" dirty="0">
                <a:solidFill>
                  <a:srgbClr val="EE853E"/>
                </a:solidFill>
              </a:rPr>
              <a:t>目标</a:t>
            </a:r>
            <a:r>
              <a:rPr lang="zh-CN" altLang="en-US" dirty="0"/>
              <a:t>语言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源</a:t>
            </a:r>
            <a:r>
              <a:rPr lang="zh-CN" altLang="en-US" dirty="0"/>
              <a:t>程序、</a:t>
            </a:r>
            <a:r>
              <a:rPr lang="zh-CN" altLang="en-US" dirty="0">
                <a:solidFill>
                  <a:srgbClr val="EE853E"/>
                </a:solidFill>
              </a:rPr>
              <a:t>翻译</a:t>
            </a:r>
            <a:r>
              <a:rPr lang="zh-CN" altLang="en-US" dirty="0"/>
              <a:t>程序、</a:t>
            </a:r>
            <a:r>
              <a:rPr lang="zh-CN" altLang="en-US" dirty="0">
                <a:solidFill>
                  <a:srgbClr val="EE853E"/>
                </a:solidFill>
              </a:rPr>
              <a:t>目标</a:t>
            </a:r>
            <a:r>
              <a:rPr lang="zh-CN" altLang="en-US" dirty="0"/>
              <a:t>程序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三种语言与三种程序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15A6F1-2BFB-4BE5-906D-E263BF39C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30009"/>
            <a:ext cx="8241840" cy="17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3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程序设计语言的产生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程序设计语言的发展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翻译与执行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三种语言与三种程序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语言的设计与实现</a:t>
            </a:r>
          </a:p>
          <a:p>
            <a:pPr algn="ctr"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63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高级语言涉及的三类人：</a:t>
            </a:r>
            <a:r>
              <a:rPr lang="zh-CN" altLang="en-US" dirty="0">
                <a:solidFill>
                  <a:srgbClr val="EE853E"/>
                </a:solidFill>
              </a:rPr>
              <a:t>设计者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EE853E"/>
                </a:solidFill>
              </a:rPr>
              <a:t>实现者</a:t>
            </a:r>
            <a:r>
              <a:rPr lang="zh-CN" altLang="en-US" dirty="0"/>
              <a:t>、使用者</a:t>
            </a:r>
          </a:p>
          <a:p>
            <a:endParaRPr lang="en-US" altLang="zh-CN" dirty="0"/>
          </a:p>
          <a:p>
            <a:r>
              <a:rPr lang="zh-CN" altLang="en-US" dirty="0"/>
              <a:t>确定一个高级语言的各种规则（字母表、词法、语法、语义、语用等规则）的工作，称为对这个语言的</a:t>
            </a:r>
            <a:r>
              <a:rPr lang="zh-CN" altLang="en-US" dirty="0">
                <a:solidFill>
                  <a:srgbClr val="EE853E"/>
                </a:solidFill>
              </a:rPr>
              <a:t>设计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编写一个高级语言的编译器的工作，称为对这个语言的</a:t>
            </a:r>
            <a:r>
              <a:rPr lang="zh-CN" altLang="en-US" dirty="0">
                <a:solidFill>
                  <a:srgbClr val="EE853E"/>
                </a:solidFill>
              </a:rPr>
              <a:t>实现</a:t>
            </a:r>
            <a:r>
              <a:rPr lang="zh-CN" altLang="en-US" dirty="0"/>
              <a:t>。</a:t>
            </a:r>
          </a:p>
          <a:p>
            <a:endParaRPr lang="en-US" dirty="0"/>
          </a:p>
          <a:p>
            <a:r>
              <a:rPr lang="zh-CN" altLang="en-US" dirty="0"/>
              <a:t>本课程的学习目标：</a:t>
            </a:r>
            <a:endParaRPr lang="en-US" dirty="0"/>
          </a:p>
          <a:p>
            <a:r>
              <a:rPr lang="zh-CN" altLang="en-US" dirty="0"/>
              <a:t>掌握</a:t>
            </a:r>
            <a:r>
              <a:rPr lang="zh-CN" altLang="en-US" dirty="0">
                <a:solidFill>
                  <a:srgbClr val="EE853E"/>
                </a:solidFill>
              </a:rPr>
              <a:t>设计和实现</a:t>
            </a:r>
            <a:r>
              <a:rPr lang="zh-CN" altLang="en-US" dirty="0"/>
              <a:t>一个程序设计语言的基本理论和技术；</a:t>
            </a:r>
          </a:p>
          <a:p>
            <a:r>
              <a:rPr lang="zh-CN" altLang="en-US" dirty="0"/>
              <a:t>培养分析、鉴赏、评价、选择、</a:t>
            </a:r>
            <a:r>
              <a:rPr lang="zh-CN" altLang="en-US" dirty="0">
                <a:solidFill>
                  <a:srgbClr val="EE853E"/>
                </a:solidFill>
              </a:rPr>
              <a:t>设计和实现</a:t>
            </a:r>
            <a:r>
              <a:rPr lang="zh-CN" altLang="en-US" dirty="0"/>
              <a:t>一个程序设计语言的基本能力。</a:t>
            </a: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语言的设计与实现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6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5623</TotalTime>
  <Words>1225</Words>
  <Application>Microsoft Office PowerPoint</Application>
  <PresentationFormat>宽屏</PresentationFormat>
  <Paragraphs>163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微软雅黑</vt:lpstr>
      <vt:lpstr>Arial</vt:lpstr>
      <vt:lpstr>Wingdings</vt:lpstr>
      <vt:lpstr>环保</vt:lpstr>
      <vt:lpstr>第一章 绪论</vt:lpstr>
      <vt:lpstr>第一章 绪论</vt:lpstr>
      <vt:lpstr>程序设计语言的产生</vt:lpstr>
      <vt:lpstr>程序设计语言的产生</vt:lpstr>
      <vt:lpstr>程序设计语言的产生</vt:lpstr>
      <vt:lpstr>程序设计语言的产生</vt:lpstr>
      <vt:lpstr>程序设计语言的产生</vt:lpstr>
      <vt:lpstr>第一章 绪论</vt:lpstr>
      <vt:lpstr>程序设计语言的发展</vt:lpstr>
      <vt:lpstr>程序设计语言的发展</vt:lpstr>
      <vt:lpstr>程序设计语言的发展</vt:lpstr>
      <vt:lpstr>程序设计语言的发展</vt:lpstr>
      <vt:lpstr>高级语言的特点</vt:lpstr>
      <vt:lpstr>第一章 绪论</vt:lpstr>
      <vt:lpstr>翻译与执行</vt:lpstr>
      <vt:lpstr>翻译与执行</vt:lpstr>
      <vt:lpstr>翻译与执行</vt:lpstr>
      <vt:lpstr>翻译与执行</vt:lpstr>
      <vt:lpstr>第一章 绪论</vt:lpstr>
      <vt:lpstr>三种语言与三种程序</vt:lpstr>
      <vt:lpstr>第一章 绪论</vt:lpstr>
      <vt:lpstr>语言的设计与实现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1020</cp:revision>
  <cp:lastPrinted>1601-01-01T00:00:00Z</cp:lastPrinted>
  <dcterms:created xsi:type="dcterms:W3CDTF">1601-01-01T00:00:00Z</dcterms:created>
  <dcterms:modified xsi:type="dcterms:W3CDTF">2019-12-24T08:44:18Z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