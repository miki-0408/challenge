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4"/>
  </p:notesMasterIdLst>
  <p:handoutMasterIdLst>
    <p:handoutMasterId r:id="rId25"/>
  </p:handoutMasterIdLst>
  <p:sldIdLst>
    <p:sldId id="370" r:id="rId2"/>
    <p:sldId id="283" r:id="rId3"/>
    <p:sldId id="371" r:id="rId4"/>
    <p:sldId id="382" r:id="rId5"/>
    <p:sldId id="372" r:id="rId6"/>
    <p:sldId id="383" r:id="rId7"/>
    <p:sldId id="373" r:id="rId8"/>
    <p:sldId id="384" r:id="rId9"/>
    <p:sldId id="374" r:id="rId10"/>
    <p:sldId id="385" r:id="rId11"/>
    <p:sldId id="375" r:id="rId12"/>
    <p:sldId id="386" r:id="rId13"/>
    <p:sldId id="376" r:id="rId14"/>
    <p:sldId id="387" r:id="rId15"/>
    <p:sldId id="377" r:id="rId16"/>
    <p:sldId id="388" r:id="rId17"/>
    <p:sldId id="378" r:id="rId18"/>
    <p:sldId id="389" r:id="rId19"/>
    <p:sldId id="379" r:id="rId20"/>
    <p:sldId id="390" r:id="rId21"/>
    <p:sldId id="380" r:id="rId22"/>
    <p:sldId id="381" r:id="rId2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80" d="100"/>
          <a:sy n="80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534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869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60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46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8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790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648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139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643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24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042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582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366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717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838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04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1096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3645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34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394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33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第九章 代码优化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优化的概念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局部优化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全局优化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F274FDB2-ED7B-4156-B54B-7AB42E3BFB17}"/>
              </a:ext>
            </a:extLst>
          </p:cNvPr>
          <p:cNvSpPr/>
          <p:nvPr/>
        </p:nvSpPr>
        <p:spPr>
          <a:xfrm>
            <a:off x="2983159" y="2690445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8195400" cy="5237998"/>
          </a:xfrm>
        </p:spPr>
        <p:txBody>
          <a:bodyPr/>
          <a:lstStyle/>
          <a:p>
            <a:r>
              <a:rPr lang="zh-CN" altLang="en-US" dirty="0"/>
              <a:t>局部优化就是基本块内的优化，常用的方法包括</a:t>
            </a:r>
          </a:p>
          <a:p>
            <a:r>
              <a:rPr lang="en-US" altLang="zh-CN" dirty="0"/>
              <a:t>1.	</a:t>
            </a:r>
            <a:r>
              <a:rPr lang="zh-CN" altLang="en-US" dirty="0"/>
              <a:t>复制传播</a:t>
            </a:r>
            <a:endParaRPr lang="en-US" altLang="zh-CN" dirty="0"/>
          </a:p>
          <a:p>
            <a:r>
              <a:rPr lang="en-US" altLang="zh-CN" dirty="0"/>
              <a:t>	a = b</a:t>
            </a:r>
          </a:p>
          <a:p>
            <a:r>
              <a:rPr lang="en-US" altLang="zh-CN" dirty="0"/>
              <a:t>	c = a + d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改为：</a:t>
            </a:r>
            <a:endParaRPr lang="en-US" altLang="zh-CN" dirty="0"/>
          </a:p>
          <a:p>
            <a:r>
              <a:rPr lang="en-US" altLang="zh-CN" dirty="0"/>
              <a:t>	a = b</a:t>
            </a:r>
          </a:p>
          <a:p>
            <a:r>
              <a:rPr lang="en-US" altLang="zh-CN" dirty="0"/>
              <a:t>	c = b + d</a:t>
            </a:r>
          </a:p>
          <a:p>
            <a:endParaRPr lang="en-US" altLang="zh-CN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局部优化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878B42F-C397-4583-B0BF-A3F15CB20B3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/>
              <a:t>常量折叠</a:t>
            </a:r>
            <a:endParaRPr lang="en-US" altLang="zh-CN" dirty="0"/>
          </a:p>
          <a:p>
            <a:r>
              <a:rPr lang="en-US" altLang="zh-CN" dirty="0"/>
              <a:t>	a = 1 + 2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改为：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a = 3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746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C0EE79-5AC8-4A81-AAD0-29371FECF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	</a:t>
            </a:r>
            <a:r>
              <a:rPr lang="zh-CN" altLang="en-US" dirty="0"/>
              <a:t>删除公共子表达式</a:t>
            </a:r>
          </a:p>
          <a:p>
            <a:r>
              <a:rPr lang="en-US" altLang="zh-CN" dirty="0"/>
              <a:t>	a = b * c</a:t>
            </a:r>
          </a:p>
          <a:p>
            <a:r>
              <a:rPr lang="en-US" altLang="zh-CN" dirty="0"/>
              <a:t>	d = b * c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改为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a = b * c</a:t>
            </a:r>
          </a:p>
          <a:p>
            <a:r>
              <a:rPr lang="en-US" altLang="zh-CN" dirty="0"/>
              <a:t>	d = a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44ED64-075F-4FC8-A8BF-58C0021B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局部优化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690604-FA48-4046-9F80-1F48256B7FC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/>
              <a:t>4.	</a:t>
            </a:r>
            <a:r>
              <a:rPr lang="zh-CN" altLang="en-US" dirty="0"/>
              <a:t>删除无用赋值</a:t>
            </a:r>
            <a:endParaRPr lang="en-US" altLang="zh-CN" dirty="0"/>
          </a:p>
          <a:p>
            <a:r>
              <a:rPr lang="en-US" altLang="zh-CN" dirty="0"/>
              <a:t>	a = 1</a:t>
            </a:r>
          </a:p>
          <a:p>
            <a:r>
              <a:rPr lang="en-US" altLang="zh-CN" dirty="0"/>
              <a:t>	a = 2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改为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a = 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948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</a:t>
            </a:r>
            <a:r>
              <a:rPr lang="zh-CN" altLang="en-US" sz="2000" dirty="0">
                <a:solidFill>
                  <a:srgbClr val="EE853E"/>
                </a:solidFill>
              </a:rPr>
              <a:t> </a:t>
            </a:r>
            <a:r>
              <a:rPr lang="en-US" altLang="zh-CN" sz="2000" dirty="0" err="1">
                <a:solidFill>
                  <a:srgbClr val="EE853E"/>
                </a:solidFill>
              </a:rPr>
              <a:t>B1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  <a:endParaRPr lang="fr-FR" altLang="zh-CN" sz="2000" dirty="0">
              <a:solidFill>
                <a:srgbClr val="EE853E"/>
              </a:solidFill>
            </a:endParaRPr>
          </a:p>
          <a:p>
            <a:r>
              <a:rPr lang="fr-FR" altLang="zh-CN" sz="2000" dirty="0"/>
              <a:t>i = 1</a:t>
            </a:r>
          </a:p>
          <a:p>
            <a:r>
              <a:rPr lang="fr-FR" altLang="zh-CN" sz="2000" dirty="0"/>
              <a:t>t0 = i + 2</a:t>
            </a:r>
          </a:p>
          <a:p>
            <a:r>
              <a:rPr lang="fr-FR" altLang="zh-CN" sz="2000" dirty="0"/>
              <a:t>j = t0</a:t>
            </a:r>
          </a:p>
          <a:p>
            <a:r>
              <a:rPr lang="fr-FR" altLang="zh-CN" sz="2000" dirty="0"/>
              <a:t>x = j</a:t>
            </a:r>
          </a:p>
          <a:p>
            <a:r>
              <a:rPr lang="fr-FR" altLang="zh-CN" sz="2000" dirty="0"/>
              <a:t>t1 = a * b</a:t>
            </a:r>
          </a:p>
          <a:p>
            <a:r>
              <a:rPr lang="fr-FR" altLang="zh-CN" sz="2000" dirty="0"/>
              <a:t>t2 = a * b</a:t>
            </a:r>
          </a:p>
          <a:p>
            <a:r>
              <a:rPr lang="fr-FR" altLang="zh-CN" sz="2000" dirty="0"/>
              <a:t>t3 = t2 * c</a:t>
            </a:r>
          </a:p>
          <a:p>
            <a:r>
              <a:rPr lang="fr-FR" altLang="zh-CN" sz="2000" dirty="0"/>
              <a:t>t4 = t1 + t3</a:t>
            </a:r>
          </a:p>
          <a:p>
            <a:r>
              <a:rPr lang="fr-FR" altLang="zh-CN" sz="2000" dirty="0"/>
              <a:t>t5 = a * b</a:t>
            </a:r>
          </a:p>
          <a:p>
            <a:r>
              <a:rPr lang="fr-FR" altLang="zh-CN" sz="2000" dirty="0"/>
              <a:t>t6 = t5 * c</a:t>
            </a:r>
          </a:p>
          <a:p>
            <a:endParaRPr lang="fr-FR" altLang="zh-CN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例子：基本块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sz="2000" dirty="0"/>
              <a:t>t7 = t6 * x</a:t>
            </a:r>
          </a:p>
          <a:p>
            <a:r>
              <a:rPr lang="fr-FR" altLang="zh-CN" sz="2000" dirty="0"/>
              <a:t>t8 = t4 + t7</a:t>
            </a:r>
          </a:p>
          <a:p>
            <a:r>
              <a:rPr lang="fr-FR" altLang="zh-CN" sz="2000" dirty="0"/>
              <a:t>y = t8</a:t>
            </a:r>
          </a:p>
          <a:p>
            <a:r>
              <a:rPr lang="fr-FR" altLang="zh-CN" sz="2000" dirty="0"/>
              <a:t>x = 1</a:t>
            </a:r>
          </a:p>
          <a:p>
            <a:r>
              <a:rPr lang="fr-FR" altLang="zh-CN" sz="2000" dirty="0"/>
              <a:t>t9 = (x &gt; 0)</a:t>
            </a:r>
          </a:p>
          <a:p>
            <a:r>
              <a:rPr lang="fr-FR" altLang="zh-CN" sz="2000" dirty="0"/>
              <a:t>ifz t9 goto L10</a:t>
            </a:r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</a:t>
            </a:r>
            <a:r>
              <a:rPr lang="zh-CN" altLang="en-US" sz="2000" dirty="0">
                <a:solidFill>
                  <a:srgbClr val="EE853E"/>
                </a:solidFill>
              </a:rPr>
              <a:t> </a:t>
            </a:r>
            <a:r>
              <a:rPr lang="en-US" altLang="zh-CN" sz="2000" dirty="0" err="1">
                <a:solidFill>
                  <a:srgbClr val="EE853E"/>
                </a:solidFill>
              </a:rPr>
              <a:t>B2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  <a:endParaRPr lang="fr-FR" altLang="zh-CN" sz="2000" dirty="0">
              <a:solidFill>
                <a:srgbClr val="EE853E"/>
              </a:solidFill>
            </a:endParaRPr>
          </a:p>
          <a:p>
            <a:r>
              <a:rPr lang="fr-FR" altLang="zh-CN" sz="2000" dirty="0"/>
              <a:t>t10 = x + y</a:t>
            </a:r>
          </a:p>
          <a:p>
            <a:r>
              <a:rPr lang="fr-FR" altLang="zh-CN" sz="2000" dirty="0"/>
              <a:t>y = t10</a:t>
            </a:r>
          </a:p>
          <a:p>
            <a:r>
              <a:rPr lang="fr-FR" altLang="zh-CN" sz="2000" dirty="0"/>
              <a:t>goto L11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66C19E5-75D8-454D-83F6-7169AEEA13A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fr-FR" altLang="zh-CN" sz="2000" dirty="0">
                <a:solidFill>
                  <a:srgbClr val="EE853E"/>
                </a:solidFill>
              </a:rPr>
              <a:t>[ B3 ]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L10</a:t>
            </a:r>
            <a:endParaRPr lang="en-US" altLang="zh-CN" sz="2000" dirty="0"/>
          </a:p>
          <a:p>
            <a:r>
              <a:rPr lang="en-US" altLang="zh-CN" sz="2000" dirty="0" err="1"/>
              <a:t>t11</a:t>
            </a:r>
            <a:r>
              <a:rPr lang="en-US" altLang="zh-CN" sz="2000" dirty="0"/>
              <a:t> = x - y</a:t>
            </a:r>
          </a:p>
          <a:p>
            <a:r>
              <a:rPr lang="en-US" altLang="zh-CN" sz="2000" dirty="0"/>
              <a:t>y = </a:t>
            </a:r>
            <a:r>
              <a:rPr lang="en-US" altLang="zh-CN" sz="2000" dirty="0" err="1"/>
              <a:t>t11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B4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de-DE" altLang="zh-CN" sz="2000" dirty="0"/>
              <a:t>label L11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sz="2000" dirty="0" err="1"/>
              <a:t>t13</a:t>
            </a:r>
            <a:r>
              <a:rPr lang="en-US" altLang="zh-CN" sz="2000" dirty="0"/>
              <a:t> = a * b</a:t>
            </a:r>
          </a:p>
          <a:p>
            <a:r>
              <a:rPr lang="en-US" altLang="zh-CN" sz="2000" dirty="0" err="1"/>
              <a:t>t14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t13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t14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r>
              <a:rPr lang="en-US" altLang="zh-CN" sz="2000" dirty="0"/>
              <a:t> = a * x</a:t>
            </a:r>
          </a:p>
          <a:p>
            <a:r>
              <a:rPr lang="en-US" altLang="zh-CN" sz="2000" dirty="0" err="1"/>
              <a:t>t16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t15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/>
              <a:t>j = </a:t>
            </a:r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 err="1"/>
              <a:t>t17</a:t>
            </a:r>
            <a:r>
              <a:rPr lang="en-US" altLang="zh-CN" sz="2000" dirty="0"/>
              <a:t> = x - 1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t17</a:t>
            </a:r>
            <a:endParaRPr lang="en-US" altLang="zh-CN" sz="2000" dirty="0"/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6932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i + 2</a:t>
            </a:r>
          </a:p>
          <a:p>
            <a:r>
              <a:rPr lang="fr-FR" altLang="zh-CN"/>
              <a:t>j = t0</a:t>
            </a:r>
          </a:p>
          <a:p>
            <a:r>
              <a:rPr lang="fr-FR" altLang="zh-CN"/>
              <a:t>x = j</a:t>
            </a:r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例子：基本块</a:t>
            </a:r>
            <a:r>
              <a:rPr lang="en-US" altLang="zh-CN" dirty="0" err="1"/>
              <a:t>B1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a * b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x</a:t>
            </a:r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(x &gt; 0)</a:t>
            </a:r>
          </a:p>
          <a:p>
            <a:r>
              <a:rPr lang="fr-FR" altLang="zh-CN"/>
              <a:t>ifz t9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250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i + 2</a:t>
            </a:r>
          </a:p>
          <a:p>
            <a:r>
              <a:rPr lang="fr-FR" altLang="zh-CN" dirty="0"/>
              <a:t>j = t0</a:t>
            </a:r>
          </a:p>
          <a:p>
            <a:r>
              <a:rPr lang="fr-FR" altLang="zh-CN" dirty="0"/>
              <a:t>x = j</a:t>
            </a:r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a * b</a:t>
            </a:r>
          </a:p>
          <a:p>
            <a:r>
              <a:rPr lang="fr-FR" altLang="zh-CN" dirty="0"/>
              <a:t>t3 = t2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a * b</a:t>
            </a:r>
          </a:p>
          <a:p>
            <a:r>
              <a:rPr lang="fr-FR" altLang="zh-CN" dirty="0"/>
              <a:t>t6 = t5 * c</a:t>
            </a:r>
          </a:p>
          <a:p>
            <a:r>
              <a:rPr lang="fr-FR" altLang="zh-CN" dirty="0"/>
              <a:t>t7 = t6 * x</a:t>
            </a:r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(x &gt; 0)</a:t>
            </a:r>
          </a:p>
          <a:p>
            <a:r>
              <a:rPr lang="fr-FR" altLang="zh-CN" dirty="0"/>
              <a:t>ifz t9 goto L10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8A4B7B0-FA74-42AA-8A81-43C420E10582}"/>
              </a:ext>
            </a:extLst>
          </p:cNvPr>
          <p:cNvGrpSpPr/>
          <p:nvPr/>
        </p:nvGrpSpPr>
        <p:grpSpPr>
          <a:xfrm>
            <a:off x="533400" y="1579878"/>
            <a:ext cx="4267200" cy="461665"/>
            <a:chOff x="533400" y="1569167"/>
            <a:chExt cx="4267200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200ABA-7607-49E1-8804-2D8743BCE470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t0 =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+ 2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82E3199-5C79-44D0-B955-386FB3356CDB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962840E-7F82-46F3-B07B-6B99AADC372F}"/>
              </a:ext>
            </a:extLst>
          </p:cNvPr>
          <p:cNvGrpSpPr/>
          <p:nvPr/>
        </p:nvGrpSpPr>
        <p:grpSpPr>
          <a:xfrm>
            <a:off x="533400" y="2710710"/>
            <a:ext cx="4267200" cy="461665"/>
            <a:chOff x="533400" y="1569167"/>
            <a:chExt cx="4267200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7F350C7-8BA7-4CD4-8DC6-9295185EAA38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= t0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8CDA72B-C295-479A-B8B9-C1F502062E67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57B6ECF-32E9-426B-ABF6-4E7A4D85F510}"/>
              </a:ext>
            </a:extLst>
          </p:cNvPr>
          <p:cNvGrpSpPr/>
          <p:nvPr/>
        </p:nvGrpSpPr>
        <p:grpSpPr>
          <a:xfrm>
            <a:off x="6096000" y="2133600"/>
            <a:ext cx="4267200" cy="461665"/>
            <a:chOff x="533400" y="1569167"/>
            <a:chExt cx="4267200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350146C-4C8E-480F-A55C-CA0E44AFC00E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t7 = t6 * t0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CCC0CA4-06A9-44E6-BC75-C66D8C895195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3CA92E8-862E-4C58-AC12-8BDE09EF4345}"/>
              </a:ext>
            </a:extLst>
          </p:cNvPr>
          <p:cNvGrpSpPr/>
          <p:nvPr/>
        </p:nvGrpSpPr>
        <p:grpSpPr>
          <a:xfrm>
            <a:off x="6096000" y="4343400"/>
            <a:ext cx="4267200" cy="461665"/>
            <a:chOff x="533400" y="1569167"/>
            <a:chExt cx="4267200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6A6621D-CCC3-4702-B418-7841F83C5F78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t9 = (1 &gt; 0)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181283C-3422-4D1F-B287-4275BBE48F91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8954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1</a:t>
            </a:r>
            <a:r>
              <a:rPr lang="fr-FR" altLang="zh-CN" dirty="0"/>
              <a:t> + 2</a:t>
            </a:r>
          </a:p>
          <a:p>
            <a:r>
              <a:rPr lang="fr-FR" altLang="zh-CN" dirty="0"/>
              <a:t>j = t0</a:t>
            </a:r>
          </a:p>
          <a:p>
            <a:r>
              <a:rPr lang="fr-FR" altLang="zh-CN" dirty="0"/>
              <a:t>x = t0</a:t>
            </a:r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a * b</a:t>
            </a:r>
          </a:p>
          <a:p>
            <a:r>
              <a:rPr lang="fr-FR" altLang="zh-CN" dirty="0"/>
              <a:t>t3 = t2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a * b</a:t>
            </a:r>
          </a:p>
          <a:p>
            <a:r>
              <a:rPr lang="fr-FR" altLang="zh-CN" dirty="0"/>
              <a:t>t6 = t5 * c</a:t>
            </a:r>
          </a:p>
          <a:p>
            <a:r>
              <a:rPr lang="fr-FR" altLang="zh-CN" dirty="0"/>
              <a:t>t7 = t6 * t0</a:t>
            </a:r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(1 &gt; 0)</a:t>
            </a:r>
          </a:p>
          <a:p>
            <a:r>
              <a:rPr lang="fr-FR" altLang="zh-CN" dirty="0"/>
              <a:t>ifz t9 goto L10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1239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1</a:t>
            </a:r>
            <a:r>
              <a:rPr lang="fr-FR" altLang="zh-CN" dirty="0"/>
              <a:t> + 2</a:t>
            </a:r>
          </a:p>
          <a:p>
            <a:r>
              <a:rPr lang="fr-FR" altLang="zh-CN" dirty="0"/>
              <a:t>j = t0</a:t>
            </a:r>
          </a:p>
          <a:p>
            <a:r>
              <a:rPr lang="fr-FR" altLang="zh-CN" dirty="0"/>
              <a:t>x = t0</a:t>
            </a:r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a * b</a:t>
            </a:r>
          </a:p>
          <a:p>
            <a:r>
              <a:rPr lang="fr-FR" altLang="zh-CN" dirty="0"/>
              <a:t>t3 = t2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步：常量折叠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a * b</a:t>
            </a:r>
          </a:p>
          <a:p>
            <a:r>
              <a:rPr lang="fr-FR" altLang="zh-CN" dirty="0"/>
              <a:t>t6 = t5 * c</a:t>
            </a:r>
          </a:p>
          <a:p>
            <a:r>
              <a:rPr lang="fr-FR" altLang="zh-CN" dirty="0"/>
              <a:t>t7 = t6 * t0</a:t>
            </a:r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(1 &gt; 0)</a:t>
            </a:r>
          </a:p>
          <a:p>
            <a:r>
              <a:rPr lang="fr-FR" altLang="zh-CN" dirty="0"/>
              <a:t>ifz t9 goto L10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B258624-1A57-46EF-A0F4-FC7EAE6D8F4D}"/>
              </a:ext>
            </a:extLst>
          </p:cNvPr>
          <p:cNvGrpSpPr/>
          <p:nvPr/>
        </p:nvGrpSpPr>
        <p:grpSpPr>
          <a:xfrm>
            <a:off x="533400" y="1579878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B7835E3-A0E2-4336-9437-75C4BCB0A58C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t0 =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fr-F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8CE63C0-2E56-41F2-9CA5-B3C494E3FB48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C35CDB-1E29-46A4-AB0E-CC7A33B926B7}"/>
              </a:ext>
            </a:extLst>
          </p:cNvPr>
          <p:cNvGrpSpPr/>
          <p:nvPr/>
        </p:nvGrpSpPr>
        <p:grpSpPr>
          <a:xfrm>
            <a:off x="6096000" y="4343400"/>
            <a:ext cx="4267200" cy="461665"/>
            <a:chOff x="533400" y="1569167"/>
            <a:chExt cx="426720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BBA104A-AB5A-4BBF-A356-4A16D6D942FA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t9 = 1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019258B-3154-4995-B326-9A5D6F42AAA1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6874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t0</a:t>
            </a:r>
          </a:p>
          <a:p>
            <a:r>
              <a:rPr lang="fr-FR" altLang="zh-CN"/>
              <a:t>x = t0</a:t>
            </a:r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步：常量折叠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a * b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t0</a:t>
            </a:r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t9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101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t0</a:t>
            </a:r>
          </a:p>
          <a:p>
            <a:r>
              <a:rPr lang="fr-FR" altLang="zh-CN"/>
              <a:t>x = t0</a:t>
            </a:r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a * b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t0</a:t>
            </a:r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t9 goto L10</a:t>
            </a:r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2CDD46F-8EF6-402E-A4DE-25C990D083A1}"/>
              </a:ext>
            </a:extLst>
          </p:cNvPr>
          <p:cNvGrpSpPr/>
          <p:nvPr/>
        </p:nvGrpSpPr>
        <p:grpSpPr>
          <a:xfrm>
            <a:off x="533400" y="2129135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0494BA-1F4D-4343-9D50-0D1C8201C03B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 =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fr-F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8C29E7F-0451-4D4A-9740-1CFCB122A89F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5ED0F18-B87D-485F-BC5C-A6E7AC1EFB4B}"/>
              </a:ext>
            </a:extLst>
          </p:cNvPr>
          <p:cNvGrpSpPr/>
          <p:nvPr/>
        </p:nvGrpSpPr>
        <p:grpSpPr>
          <a:xfrm>
            <a:off x="533400" y="2667000"/>
            <a:ext cx="4267200" cy="461665"/>
            <a:chOff x="533400" y="1569167"/>
            <a:chExt cx="426720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547F057-F153-4F1D-BEA3-7F0DE72DB0D2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=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fr-F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B6B1113-96E4-4716-B8E8-BEA2F44C9F25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8EFE4C9-5577-4696-B78B-752E099AC845}"/>
              </a:ext>
            </a:extLst>
          </p:cNvPr>
          <p:cNvGrpSpPr/>
          <p:nvPr/>
        </p:nvGrpSpPr>
        <p:grpSpPr>
          <a:xfrm>
            <a:off x="6138320" y="2121184"/>
            <a:ext cx="4267200" cy="461665"/>
            <a:chOff x="533400" y="1569167"/>
            <a:chExt cx="4267200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D6B6990-553A-4F12-80C5-FDC012E29061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t7 = t6 * 3</a:t>
              </a: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C085AD6-43C6-4FB4-A447-0AC15DEB11E7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9C30A60-52B3-46E4-8749-D184D6683CFC}"/>
              </a:ext>
            </a:extLst>
          </p:cNvPr>
          <p:cNvGrpSpPr/>
          <p:nvPr/>
        </p:nvGrpSpPr>
        <p:grpSpPr>
          <a:xfrm>
            <a:off x="6138320" y="4876800"/>
            <a:ext cx="5257968" cy="461665"/>
            <a:chOff x="533400" y="1569167"/>
            <a:chExt cx="4267200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90C183-4572-4940-BBE9-ECC65E2F3DC6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ifz 1 goto L10</a:t>
              </a: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940D87F-C436-458C-993F-FCD8483B5F05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116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a * b</a:t>
            </a:r>
          </a:p>
          <a:p>
            <a:r>
              <a:rPr lang="fr-FR" altLang="zh-CN" dirty="0"/>
              <a:t>t6 = t5 * c</a:t>
            </a:r>
          </a:p>
          <a:p>
            <a:r>
              <a:rPr lang="fr-FR" altLang="zh-CN" dirty="0"/>
              <a:t>t7 = t6 *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1</a:t>
            </a:r>
          </a:p>
          <a:p>
            <a:r>
              <a:rPr lang="fr-FR" altLang="zh-CN" dirty="0"/>
              <a:t>ifz </a:t>
            </a:r>
            <a:r>
              <a:rPr lang="en-US" altLang="zh-CN" dirty="0"/>
              <a:t>1</a:t>
            </a:r>
            <a:r>
              <a:rPr lang="fr-FR" altLang="zh-CN" dirty="0"/>
              <a:t> goto L10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137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步：删除公共子表达式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a * b</a:t>
            </a:r>
          </a:p>
          <a:p>
            <a:r>
              <a:rPr lang="fr-FR" altLang="zh-CN" dirty="0"/>
              <a:t>t6 = t5 * c</a:t>
            </a:r>
          </a:p>
          <a:p>
            <a:r>
              <a:rPr lang="fr-FR" altLang="zh-CN" dirty="0"/>
              <a:t>t7 = t6 *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1</a:t>
            </a:r>
          </a:p>
          <a:p>
            <a:r>
              <a:rPr lang="fr-FR" altLang="zh-CN" dirty="0"/>
              <a:t>ifz </a:t>
            </a:r>
            <a:r>
              <a:rPr lang="en-US" altLang="zh-CN" dirty="0"/>
              <a:t>1</a:t>
            </a:r>
            <a:r>
              <a:rPr lang="fr-FR" altLang="zh-CN" dirty="0"/>
              <a:t> goto L10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0B4D35-1511-47AD-B200-FB2988212136}"/>
              </a:ext>
            </a:extLst>
          </p:cNvPr>
          <p:cNvGrpSpPr/>
          <p:nvPr/>
        </p:nvGrpSpPr>
        <p:grpSpPr>
          <a:xfrm>
            <a:off x="533400" y="3765604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4C5C551-5D8A-4DC6-9A19-C66AF8FC72B4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t2 = t1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EF2CDFE7-8C1F-4B6E-8C37-F3FB098E9271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4608329-67AF-49A0-BAE8-6C56DF9F70DE}"/>
              </a:ext>
            </a:extLst>
          </p:cNvPr>
          <p:cNvGrpSpPr/>
          <p:nvPr/>
        </p:nvGrpSpPr>
        <p:grpSpPr>
          <a:xfrm>
            <a:off x="5977969" y="1022580"/>
            <a:ext cx="4267200" cy="461665"/>
            <a:chOff x="533400" y="1569167"/>
            <a:chExt cx="426720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014A035-70D4-4D5C-A63C-4ED3FF0032DC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t5 = t1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22219315-CE86-43C9-BD09-6723029B8F77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1673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j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x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t1</a:t>
            </a:r>
          </a:p>
          <a:p>
            <a:r>
              <a:rPr lang="fr-FR" altLang="zh-CN" dirty="0"/>
              <a:t>t3 = t2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步：删除公共子表达式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47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j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x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t1</a:t>
            </a:r>
          </a:p>
          <a:p>
            <a:r>
              <a:rPr lang="fr-FR" altLang="zh-CN" dirty="0"/>
              <a:t>t3 = t2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A7323A7-CB91-4A49-91A8-21C6BDB40FCB}"/>
              </a:ext>
            </a:extLst>
          </p:cNvPr>
          <p:cNvGrpSpPr/>
          <p:nvPr/>
        </p:nvGrpSpPr>
        <p:grpSpPr>
          <a:xfrm>
            <a:off x="609600" y="4303645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32D51CA-9227-448D-B0AE-B5B545F1C0AE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t3 = t1 * c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0AC61F5-014D-447B-B821-E633019D5F1F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5A0C84E-209D-4B70-8136-411E59D49864}"/>
              </a:ext>
            </a:extLst>
          </p:cNvPr>
          <p:cNvGrpSpPr/>
          <p:nvPr/>
        </p:nvGrpSpPr>
        <p:grpSpPr>
          <a:xfrm>
            <a:off x="6066503" y="1568327"/>
            <a:ext cx="4267200" cy="461665"/>
            <a:chOff x="533400" y="1569167"/>
            <a:chExt cx="426720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4D4FFBA-4158-4353-97C4-2215EFAD61B3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t6 = t1 * c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88E5BC0-CD54-46C0-9898-40AA94063150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9511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j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x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t1</a:t>
            </a:r>
          </a:p>
          <a:p>
            <a:r>
              <a:rPr lang="fr-FR" altLang="zh-CN" dirty="0"/>
              <a:t>t3 = t1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t1 * c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7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 dirty="0"/>
              <a:t>i = 1</a:t>
            </a:r>
          </a:p>
          <a:p>
            <a:r>
              <a:rPr lang="fr-FR" altLang="zh-CN" dirty="0"/>
              <a:t>t0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j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x =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t1 = a * b</a:t>
            </a:r>
          </a:p>
          <a:p>
            <a:r>
              <a:rPr lang="fr-FR" altLang="zh-CN" dirty="0"/>
              <a:t>t2 = t1</a:t>
            </a:r>
          </a:p>
          <a:p>
            <a:r>
              <a:rPr lang="fr-FR" altLang="zh-CN" dirty="0"/>
              <a:t>t3 = t1 * c</a:t>
            </a:r>
          </a:p>
          <a:p>
            <a:r>
              <a:rPr lang="fr-FR" altLang="zh-CN" dirty="0"/>
              <a:t>t4 = t1 + t3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步：删除公共子表达式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t1 * c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17735D9-5535-447B-812C-12B90A42F503}"/>
              </a:ext>
            </a:extLst>
          </p:cNvPr>
          <p:cNvGrpSpPr/>
          <p:nvPr/>
        </p:nvGrpSpPr>
        <p:grpSpPr>
          <a:xfrm>
            <a:off x="6066503" y="1568327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1EA4A0B-D803-4F92-937B-BEA2C217E4A5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t6 = t3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300848A-F678-4752-83A6-FAAD16CFC325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298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t1</a:t>
            </a:r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步：删除公共子表达式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t3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46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t1</a:t>
            </a:r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/>
              <a:t>t5 = t1</a:t>
            </a:r>
          </a:p>
          <a:p>
            <a:r>
              <a:rPr lang="fr-FR" altLang="zh-CN"/>
              <a:t>t6 = t3</a:t>
            </a:r>
          </a:p>
          <a:p>
            <a:r>
              <a:rPr lang="fr-FR" altLang="zh-CN"/>
              <a:t>t7 = t6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1</a:t>
            </a:r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C2A98D2-43FE-40AD-BB78-A7369B3DE8F7}"/>
              </a:ext>
            </a:extLst>
          </p:cNvPr>
          <p:cNvGrpSpPr/>
          <p:nvPr/>
        </p:nvGrpSpPr>
        <p:grpSpPr>
          <a:xfrm>
            <a:off x="6096000" y="2109747"/>
            <a:ext cx="4267200" cy="461665"/>
            <a:chOff x="533400" y="1569167"/>
            <a:chExt cx="4267200" cy="46166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CB652C0-F9B8-4CD3-9FED-56E7076F9723}"/>
                </a:ext>
              </a:extLst>
            </p:cNvPr>
            <p:cNvSpPr/>
            <p:nvPr/>
          </p:nvSpPr>
          <p:spPr>
            <a:xfrm>
              <a:off x="2743200" y="1569167"/>
              <a:ext cx="2057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t7 = t3 * 3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4A26594-AD7F-4FA6-AE0F-456FBD517839}"/>
                </a:ext>
              </a:extLst>
            </p:cNvPr>
            <p:cNvCxnSpPr/>
            <p:nvPr/>
          </p:nvCxnSpPr>
          <p:spPr>
            <a:xfrm>
              <a:off x="533400" y="1800000"/>
              <a:ext cx="2057400" cy="0"/>
            </a:xfrm>
            <a:prstGeom prst="line">
              <a:avLst/>
            </a:prstGeom>
            <a:ln w="76200">
              <a:solidFill>
                <a:srgbClr val="EE853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2916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t1</a:t>
            </a:r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步：复制传播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t1</a:t>
            </a:r>
          </a:p>
          <a:p>
            <a:r>
              <a:rPr lang="fr-FR" altLang="zh-CN" dirty="0"/>
              <a:t>t6 = t3</a:t>
            </a:r>
          </a:p>
          <a:p>
            <a:r>
              <a:rPr lang="fr-FR" altLang="zh-CN" dirty="0"/>
              <a:t>t7 = t</a:t>
            </a:r>
            <a:r>
              <a:rPr lang="en-US" altLang="zh-CN" dirty="0"/>
              <a:t>3</a:t>
            </a:r>
            <a:r>
              <a:rPr lang="fr-FR" altLang="zh-CN" dirty="0"/>
              <a:t> *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1</a:t>
            </a:r>
          </a:p>
          <a:p>
            <a:r>
              <a:rPr lang="fr-FR" altLang="zh-CN" dirty="0"/>
              <a:t>ifz </a:t>
            </a:r>
            <a:r>
              <a:rPr lang="en-US" altLang="zh-CN" dirty="0"/>
              <a:t>1</a:t>
            </a:r>
            <a:r>
              <a:rPr lang="fr-FR" altLang="zh-CN" dirty="0"/>
              <a:t> goto L10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2856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r>
              <a:rPr lang="fr-FR" altLang="zh-CN"/>
              <a:t>t0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x =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t1</a:t>
            </a:r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步：删除无用赋值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dirty="0"/>
              <a:t>t5 = t1</a:t>
            </a:r>
          </a:p>
          <a:p>
            <a:r>
              <a:rPr lang="fr-FR" altLang="zh-CN" dirty="0"/>
              <a:t>t6 = t3</a:t>
            </a:r>
          </a:p>
          <a:p>
            <a:r>
              <a:rPr lang="fr-FR" altLang="zh-CN" dirty="0"/>
              <a:t>t7 = t</a:t>
            </a:r>
            <a:r>
              <a:rPr lang="en-US" altLang="zh-CN" dirty="0"/>
              <a:t>3</a:t>
            </a:r>
            <a:r>
              <a:rPr lang="fr-FR" altLang="zh-CN" dirty="0"/>
              <a:t> * </a:t>
            </a:r>
            <a:r>
              <a:rPr lang="en-US" altLang="zh-CN" dirty="0"/>
              <a:t>3</a:t>
            </a:r>
            <a:endParaRPr lang="fr-FR" altLang="zh-CN" dirty="0"/>
          </a:p>
          <a:p>
            <a:r>
              <a:rPr lang="fr-FR" altLang="zh-CN" dirty="0"/>
              <a:t>t8 = t4 + t7</a:t>
            </a:r>
          </a:p>
          <a:p>
            <a:r>
              <a:rPr lang="fr-FR" altLang="zh-CN" dirty="0"/>
              <a:t>y = t8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t9 = 1</a:t>
            </a:r>
          </a:p>
          <a:p>
            <a:r>
              <a:rPr lang="fr-FR" altLang="zh-CN" dirty="0"/>
              <a:t>ifz </a:t>
            </a:r>
            <a:r>
              <a:rPr lang="en-US" altLang="zh-CN" dirty="0"/>
              <a:t>1</a:t>
            </a:r>
            <a:r>
              <a:rPr lang="fr-FR" altLang="zh-CN" dirty="0"/>
              <a:t> goto L10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CBA185C-1F72-4C78-96CD-8844A73C171D}"/>
              </a:ext>
            </a:extLst>
          </p:cNvPr>
          <p:cNvCxnSpPr/>
          <p:nvPr/>
        </p:nvCxnSpPr>
        <p:spPr>
          <a:xfrm>
            <a:off x="533400" y="1812898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661B8AD-7858-4569-A9A5-714A9706746D}"/>
              </a:ext>
            </a:extLst>
          </p:cNvPr>
          <p:cNvCxnSpPr/>
          <p:nvPr/>
        </p:nvCxnSpPr>
        <p:spPr>
          <a:xfrm>
            <a:off x="533400" y="2911502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5C77D76-E771-4811-9E83-C852ED7B577C}"/>
              </a:ext>
            </a:extLst>
          </p:cNvPr>
          <p:cNvCxnSpPr/>
          <p:nvPr/>
        </p:nvCxnSpPr>
        <p:spPr>
          <a:xfrm>
            <a:off x="533400" y="4010106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843D6D-DDDA-491F-A298-B2789A5A109F}"/>
              </a:ext>
            </a:extLst>
          </p:cNvPr>
          <p:cNvCxnSpPr/>
          <p:nvPr/>
        </p:nvCxnSpPr>
        <p:spPr>
          <a:xfrm>
            <a:off x="6019800" y="1263596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A7A120E-66F5-4611-9358-76E6CDBC88D6}"/>
              </a:ext>
            </a:extLst>
          </p:cNvPr>
          <p:cNvCxnSpPr/>
          <p:nvPr/>
        </p:nvCxnSpPr>
        <p:spPr>
          <a:xfrm>
            <a:off x="6019800" y="1813561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A7ABCB8-C566-4069-A8CA-E92C6B6190C2}"/>
              </a:ext>
            </a:extLst>
          </p:cNvPr>
          <p:cNvCxnSpPr/>
          <p:nvPr/>
        </p:nvCxnSpPr>
        <p:spPr>
          <a:xfrm>
            <a:off x="6019800" y="4556098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421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05EE151-2F59-4DAD-B3BF-E4ACA844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5257969" cy="5237998"/>
          </a:xfrm>
        </p:spPr>
        <p:txBody>
          <a:bodyPr/>
          <a:lstStyle/>
          <a:p>
            <a:r>
              <a:rPr lang="fr-FR" altLang="zh-CN"/>
              <a:t>i = 1</a:t>
            </a:r>
          </a:p>
          <a:p>
            <a:endParaRPr lang="fr-FR" altLang="zh-CN"/>
          </a:p>
          <a:p>
            <a:r>
              <a:rPr lang="fr-FR" altLang="zh-CN"/>
              <a:t>j = </a:t>
            </a:r>
            <a:r>
              <a:rPr lang="en-US" altLang="zh-CN"/>
              <a:t>3</a:t>
            </a:r>
            <a:endParaRPr lang="fr-FR" altLang="zh-CN"/>
          </a:p>
          <a:p>
            <a:endParaRPr lang="fr-FR" altLang="zh-CN"/>
          </a:p>
          <a:p>
            <a:r>
              <a:rPr lang="fr-FR" altLang="zh-CN"/>
              <a:t>t1 = a * b</a:t>
            </a:r>
          </a:p>
          <a:p>
            <a:endParaRPr lang="fr-FR" altLang="zh-CN"/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44293A-F048-4530-898D-B3FDCE72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步：删除无用赋值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AA593A-7DFC-4A30-9750-D6E6B20DE3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fr-FR" altLang="zh-CN"/>
          </a:p>
          <a:p>
            <a:endParaRPr lang="fr-FR" altLang="zh-CN"/>
          </a:p>
          <a:p>
            <a:r>
              <a:rPr lang="fr-FR" altLang="zh-CN"/>
              <a:t>t7 = t</a:t>
            </a:r>
            <a:r>
              <a:rPr lang="en-US" altLang="zh-CN"/>
              <a:t>3</a:t>
            </a:r>
            <a:r>
              <a:rPr lang="fr-FR" altLang="zh-CN"/>
              <a:t> * </a:t>
            </a:r>
            <a:r>
              <a:rPr lang="en-US" altLang="zh-CN"/>
              <a:t>3</a:t>
            </a:r>
            <a:endParaRPr lang="fr-FR" altLang="zh-CN"/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endParaRPr lang="fr-FR" altLang="zh-CN"/>
          </a:p>
          <a:p>
            <a:r>
              <a:rPr lang="fr-FR" altLang="zh-CN"/>
              <a:t>ifz </a:t>
            </a:r>
            <a:r>
              <a:rPr lang="en-US" altLang="zh-CN"/>
              <a:t>1</a:t>
            </a:r>
            <a:r>
              <a:rPr lang="fr-FR" altLang="zh-CN"/>
              <a:t>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822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0EEBFBE-CE45-42FA-A0EB-2E3EDA6FE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优化前：</a:t>
            </a:r>
            <a:endParaRPr lang="en-US" altLang="zh-CN"/>
          </a:p>
          <a:p>
            <a:r>
              <a:rPr lang="fr-FR" altLang="zh-CN"/>
              <a:t>i = 1</a:t>
            </a:r>
          </a:p>
          <a:p>
            <a:r>
              <a:rPr lang="fr-FR" altLang="zh-CN"/>
              <a:t>t0 = i + 2</a:t>
            </a:r>
          </a:p>
          <a:p>
            <a:r>
              <a:rPr lang="fr-FR" altLang="zh-CN"/>
              <a:t>j = t0</a:t>
            </a:r>
          </a:p>
          <a:p>
            <a:r>
              <a:rPr lang="fr-FR" altLang="zh-CN"/>
              <a:t>x = j</a:t>
            </a:r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t2 = a * b</a:t>
            </a:r>
          </a:p>
          <a:p>
            <a:r>
              <a:rPr lang="fr-FR" altLang="zh-CN"/>
              <a:t>t3 = t2 * c</a:t>
            </a:r>
          </a:p>
          <a:p>
            <a:r>
              <a:rPr lang="fr-FR" altLang="zh-CN"/>
              <a:t>t4 = t1 + t3</a:t>
            </a:r>
            <a:endParaRPr lang="en-US" altLang="zh-CN"/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DCADCD-96B1-4631-A803-EACCA306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优化结果对比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6C7797-68C0-4CBC-B72D-BC02F2B87F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0" y="900000"/>
            <a:ext cx="2667000" cy="5237998"/>
          </a:xfrm>
        </p:spPr>
        <p:txBody>
          <a:bodyPr/>
          <a:lstStyle/>
          <a:p>
            <a:endParaRPr lang="en-US" altLang="zh-CN"/>
          </a:p>
          <a:p>
            <a:r>
              <a:rPr lang="fr-FR" altLang="zh-CN"/>
              <a:t>t5 = a * b</a:t>
            </a:r>
          </a:p>
          <a:p>
            <a:r>
              <a:rPr lang="fr-FR" altLang="zh-CN"/>
              <a:t>t6 = t5 * c</a:t>
            </a:r>
          </a:p>
          <a:p>
            <a:r>
              <a:rPr lang="fr-FR" altLang="zh-CN"/>
              <a:t>t7 = t6 * x</a:t>
            </a:r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r>
              <a:rPr lang="fr-FR" altLang="zh-CN"/>
              <a:t>x = 1</a:t>
            </a:r>
          </a:p>
          <a:p>
            <a:r>
              <a:rPr lang="fr-FR" altLang="zh-CN"/>
              <a:t>t9 = (x &gt; 0)</a:t>
            </a:r>
          </a:p>
          <a:p>
            <a:r>
              <a:rPr lang="fr-FR" altLang="zh-CN"/>
              <a:t>ifz t9 goto L10</a:t>
            </a:r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2E240B8-8436-46E5-A322-68A88A2691A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677800" y="900000"/>
            <a:ext cx="2367600" cy="5237998"/>
          </a:xfrm>
        </p:spPr>
        <p:txBody>
          <a:bodyPr/>
          <a:lstStyle/>
          <a:p>
            <a:r>
              <a:rPr lang="zh-CN" altLang="en-US"/>
              <a:t>优化后：</a:t>
            </a:r>
            <a:endParaRPr lang="en-US" altLang="zh-CN"/>
          </a:p>
          <a:p>
            <a:r>
              <a:rPr lang="fr-FR" altLang="zh-CN"/>
              <a:t>i = 1</a:t>
            </a:r>
          </a:p>
          <a:p>
            <a:r>
              <a:rPr lang="fr-FR" altLang="zh-CN"/>
              <a:t>j = 3</a:t>
            </a:r>
          </a:p>
          <a:p>
            <a:r>
              <a:rPr lang="fr-FR" altLang="zh-CN"/>
              <a:t>t1 = a * b</a:t>
            </a:r>
          </a:p>
          <a:p>
            <a:r>
              <a:rPr lang="fr-FR" altLang="zh-CN"/>
              <a:t>t3 = t1 * c</a:t>
            </a:r>
          </a:p>
          <a:p>
            <a:r>
              <a:rPr lang="fr-FR" altLang="zh-CN"/>
              <a:t>t4 = t1 + t3</a:t>
            </a:r>
          </a:p>
          <a:p>
            <a:r>
              <a:rPr lang="fr-FR" altLang="zh-CN"/>
              <a:t>t7 = t3 * 3</a:t>
            </a:r>
          </a:p>
          <a:p>
            <a:r>
              <a:rPr lang="fr-FR" altLang="zh-CN"/>
              <a:t>t8 = t4 + t7</a:t>
            </a:r>
          </a:p>
          <a:p>
            <a:r>
              <a:rPr lang="fr-FR" altLang="zh-CN"/>
              <a:t>y = t8</a:t>
            </a:r>
          </a:p>
          <a:p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45E69EB6-E45C-482C-9457-C54C54DCAA7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910000" y="900000"/>
            <a:ext cx="2367600" cy="5237998"/>
          </a:xfrm>
        </p:spPr>
        <p:txBody>
          <a:bodyPr/>
          <a:lstStyle/>
          <a:p>
            <a:endParaRPr lang="en-US" altLang="zh-CN"/>
          </a:p>
          <a:p>
            <a:r>
              <a:rPr lang="fr-FR" altLang="zh-CN"/>
              <a:t>x = 1</a:t>
            </a:r>
          </a:p>
          <a:p>
            <a:r>
              <a:rPr lang="fr-FR" altLang="zh-CN"/>
              <a:t>ifz 1 goto L10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37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6893</TotalTime>
  <Words>1659</Words>
  <Application>Microsoft Office PowerPoint</Application>
  <PresentationFormat>宽屏</PresentationFormat>
  <Paragraphs>411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Arial</vt:lpstr>
      <vt:lpstr>Wingdings</vt:lpstr>
      <vt:lpstr>环保</vt:lpstr>
      <vt:lpstr>第九章 代码优化</vt:lpstr>
      <vt:lpstr>局部优化</vt:lpstr>
      <vt:lpstr>局部优化</vt:lpstr>
      <vt:lpstr>例子：基本块</vt:lpstr>
      <vt:lpstr>例子：基本块B1</vt:lpstr>
      <vt:lpstr>第1步：复制传播</vt:lpstr>
      <vt:lpstr>第1步：复制传播</vt:lpstr>
      <vt:lpstr>第2步：常量折叠</vt:lpstr>
      <vt:lpstr>第2步：常量折叠</vt:lpstr>
      <vt:lpstr>第3步：复制传播</vt:lpstr>
      <vt:lpstr>第3步：复制传播</vt:lpstr>
      <vt:lpstr>第4步：删除公共子表达式</vt:lpstr>
      <vt:lpstr>第4步：删除公共子表达式</vt:lpstr>
      <vt:lpstr>第5步：复制传播</vt:lpstr>
      <vt:lpstr>第5步：复制传播</vt:lpstr>
      <vt:lpstr>第6步：删除公共子表达式</vt:lpstr>
      <vt:lpstr>第6步：删除公共子表达式</vt:lpstr>
      <vt:lpstr>第7步：复制传播</vt:lpstr>
      <vt:lpstr>第7步：复制传播</vt:lpstr>
      <vt:lpstr>第8步：删除无用赋值</vt:lpstr>
      <vt:lpstr>第8步：删除无用赋值</vt:lpstr>
      <vt:lpstr>优化结果对比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1238</cp:revision>
  <cp:lastPrinted>1601-01-01T00:00:00Z</cp:lastPrinted>
  <dcterms:created xsi:type="dcterms:W3CDTF">1601-01-01T00:00:00Z</dcterms:created>
  <dcterms:modified xsi:type="dcterms:W3CDTF">2020-04-18T14:26:59Z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