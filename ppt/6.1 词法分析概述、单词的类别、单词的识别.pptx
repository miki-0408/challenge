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1" r:id="rId1"/>
  </p:sldMasterIdLst>
  <p:notesMasterIdLst>
    <p:notesMasterId r:id="rId15"/>
  </p:notesMasterIdLst>
  <p:handoutMasterIdLst>
    <p:handoutMasterId r:id="rId16"/>
  </p:handoutMasterIdLst>
  <p:sldIdLst>
    <p:sldId id="370" r:id="rId2"/>
    <p:sldId id="257" r:id="rId3"/>
    <p:sldId id="259" r:id="rId4"/>
    <p:sldId id="374" r:id="rId5"/>
    <p:sldId id="260" r:id="rId6"/>
    <p:sldId id="376" r:id="rId7"/>
    <p:sldId id="375" r:id="rId8"/>
    <p:sldId id="268" r:id="rId9"/>
    <p:sldId id="269" r:id="rId10"/>
    <p:sldId id="271" r:id="rId11"/>
    <p:sldId id="261" r:id="rId12"/>
    <p:sldId id="377" r:id="rId13"/>
    <p:sldId id="264" r:id="rId14"/>
  </p:sldIdLst>
  <p:sldSz cx="12192000" cy="6858000"/>
  <p:notesSz cx="2782888" cy="37179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53E"/>
    <a:srgbClr val="A18D60"/>
    <a:srgbClr val="EE8A3E"/>
    <a:srgbClr val="E98A3E"/>
    <a:srgbClr val="04141B"/>
    <a:srgbClr val="D9B247"/>
    <a:srgbClr val="2A9995"/>
    <a:srgbClr val="54D0CA"/>
    <a:srgbClr val="0000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13" autoAdjust="0"/>
    <p:restoredTop sz="89127" autoAdjust="0"/>
  </p:normalViewPr>
  <p:slideViewPr>
    <p:cSldViewPr>
      <p:cViewPr varScale="1">
        <p:scale>
          <a:sx n="63" d="100"/>
          <a:sy n="63" d="100"/>
        </p:scale>
        <p:origin x="72" y="20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48"/>
    </p:cViewPr>
  </p:sorterViewPr>
  <p:notesViewPr>
    <p:cSldViewPr>
      <p:cViewPr varScale="1">
        <p:scale>
          <a:sx n="183" d="100"/>
          <a:sy n="183" d="100"/>
        </p:scale>
        <p:origin x="266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22DA3B-951B-42A7-9A91-80A8B753C4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19618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algn="r"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3988" y="279400"/>
            <a:ext cx="2474912" cy="139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74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77813" y="1765300"/>
            <a:ext cx="2227262" cy="167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algn="r" defTabSz="371475">
              <a:defRPr sz="500"/>
            </a:lvl1pPr>
          </a:lstStyle>
          <a:p>
            <a:fld id="{7C94B347-5D95-4F16-91F2-C12A0B20C4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771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0448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6253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290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2398" y="3623737"/>
            <a:ext cx="6815669" cy="9482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单击此处添加副标题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92398" y="2057406"/>
            <a:ext cx="6815669" cy="1329259"/>
          </a:xfrm>
          <a:prstGeom prst="rect">
            <a:avLst/>
          </a:prstGeom>
        </p:spPr>
        <p:txBody>
          <a:bodyPr anchor="ctr"/>
          <a:lstStyle>
            <a:lvl1pPr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8557376-49C6-4381-B102-72EEC70D751A}"/>
              </a:ext>
            </a:extLst>
          </p:cNvPr>
          <p:cNvCxnSpPr>
            <a:cxnSpLocks/>
          </p:cNvCxnSpPr>
          <p:nvPr userDrawn="1"/>
        </p:nvCxnSpPr>
        <p:spPr>
          <a:xfrm>
            <a:off x="2692398" y="3505200"/>
            <a:ext cx="6815669" cy="0"/>
          </a:xfrm>
          <a:prstGeom prst="line">
            <a:avLst/>
          </a:prstGeom>
          <a:ln w="12700">
            <a:gradFill flip="none" rotWithShape="1">
              <a:gsLst>
                <a:gs pos="59000">
                  <a:schemeClr val="bg1">
                    <a:alpha val="2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78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10751844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9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5E28B1FC-3605-4CC3-A226-94C02D264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A153692-77AD-465A-A07A-1F236B045846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1A30A995-568B-4288-A1AE-69EE8DAF081C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8" name="任意多边形 41">
              <a:extLst>
                <a:ext uri="{FF2B5EF4-FFF2-40B4-BE49-F238E27FC236}">
                  <a16:creationId xmlns:a16="http://schemas.microsoft.com/office/drawing/2014/main" id="{548C9EB0-9642-44C5-B2B7-07F802F76B58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19E95DC8-161D-40C4-9683-31996CC1D0AF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1F05C3C9-12CA-416C-9887-3B295CCCFB74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F7FFC115-1EE8-42CC-B656-23881B4B180E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0214CFBE-9CFB-4E8F-ACC6-A52DE709F3F1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898DDCA7-1785-41D9-A6F9-240A9B2251D5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316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" hasCustomPrompt="1"/>
          </p:nvPr>
        </p:nvSpPr>
        <p:spPr>
          <a:xfrm>
            <a:off x="1295402" y="1474304"/>
            <a:ext cx="4754880" cy="4774096"/>
          </a:xfrm>
        </p:spPr>
        <p:txBody>
          <a:bodyPr/>
          <a:lstStyle/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0" hasCustomPrompt="1"/>
          </p:nvPr>
        </p:nvSpPr>
        <p:spPr>
          <a:xfrm>
            <a:off x="6141720" y="1474304"/>
            <a:ext cx="4754878" cy="4774096"/>
          </a:xfrm>
        </p:spPr>
        <p:txBody>
          <a:bodyPr/>
          <a:lstStyle/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95402" y="609600"/>
            <a:ext cx="9601196" cy="712304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1396169" y="1394792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1870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4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08" r:id="rId3"/>
    <p:sldLayoutId id="2147484309" r:id="rId4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 cap="none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0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第六章 词法分析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2984433" y="1638300"/>
            <a:ext cx="6223134" cy="3581400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第一节 词法分析概述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第二节 单词的类别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第三节 单词的识别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第四节 </a:t>
              </a:r>
              <a:r>
                <a:rPr lang="zh-CN" altLang="en-US" sz="2400" b="1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词法分析器实例</a:t>
              </a:r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</p:grpSp>
      <p:sp>
        <p:nvSpPr>
          <p:cNvPr id="25" name="箭头: 右 24">
            <a:extLst>
              <a:ext uri="{FF2B5EF4-FFF2-40B4-BE49-F238E27FC236}">
                <a16:creationId xmlns:a16="http://schemas.microsoft.com/office/drawing/2014/main" id="{B6323BE9-57D8-467F-9A2D-90902E82A543}"/>
              </a:ext>
            </a:extLst>
          </p:cNvPr>
          <p:cNvSpPr/>
          <p:nvPr/>
        </p:nvSpPr>
        <p:spPr>
          <a:xfrm>
            <a:off x="2983159" y="1981200"/>
            <a:ext cx="540000" cy="540000"/>
          </a:xfrm>
          <a:prstGeom prst="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6374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EE853E"/>
                </a:solidFill>
              </a:rPr>
              <a:t>词法分析的功能</a:t>
            </a:r>
            <a:endParaRPr lang="en-US" altLang="zh-CN">
              <a:solidFill>
                <a:srgbClr val="EE853E"/>
              </a:solidFill>
            </a:endParaRPr>
          </a:p>
          <a:p>
            <a:r>
              <a:rPr lang="zh-CN" altLang="en-US"/>
              <a:t>扫描源程序的字符串，按照词法规则，识别出单词作为输出；对识别过程中发现的错误，输出有关的错误信息。</a:t>
            </a:r>
            <a:endParaRPr lang="en-US" altLang="zh-CN"/>
          </a:p>
          <a:p>
            <a:endParaRPr lang="en-US" altLang="zh-CN"/>
          </a:p>
          <a:p>
            <a:r>
              <a:rPr lang="zh-CN" altLang="en-US">
                <a:solidFill>
                  <a:srgbClr val="EE853E"/>
                </a:solidFill>
              </a:rPr>
              <a:t>词法分析与语法分析的交互方式</a:t>
            </a:r>
            <a:endParaRPr lang="en-US" altLang="zh-CN">
              <a:solidFill>
                <a:srgbClr val="EE853E"/>
              </a:solidFill>
            </a:endParaRPr>
          </a:p>
          <a:p>
            <a:r>
              <a:rPr lang="en-US" altLang="zh-CN"/>
              <a:t>1.	</a:t>
            </a:r>
            <a:r>
              <a:rPr lang="zh-CN" altLang="en-US"/>
              <a:t>词法分析器作为单独的一遍</a:t>
            </a:r>
            <a:endParaRPr lang="zh-CN" altLang="en-US" dirty="0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词法分析概述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7029C46-0964-4077-B77E-512E3E3D4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4216437"/>
            <a:ext cx="7696200" cy="134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120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2.	</a:t>
            </a:r>
            <a:r>
              <a:rPr lang="zh-CN" altLang="en-US"/>
              <a:t>词法分析器作为子程序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E71CD41-B6CE-4FE7-AE33-90EE65FC5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词法分析概述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55D50C7-BBAC-46A2-8A9F-729E08C82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978239"/>
            <a:ext cx="4626014" cy="3736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903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第六章 词法分析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2984433" y="1638300"/>
            <a:ext cx="6223134" cy="3581400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第一节 词法分析概述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第二节 单词的类别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第三节 单词的识别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第四节 </a:t>
              </a:r>
              <a:r>
                <a:rPr lang="zh-CN" altLang="en-US" sz="2400" b="1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词法分析器实例</a:t>
              </a:r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</p:grpSp>
      <p:sp>
        <p:nvSpPr>
          <p:cNvPr id="25" name="箭头: 右 24">
            <a:extLst>
              <a:ext uri="{FF2B5EF4-FFF2-40B4-BE49-F238E27FC236}">
                <a16:creationId xmlns:a16="http://schemas.microsoft.com/office/drawing/2014/main" id="{B6323BE9-57D8-467F-9A2D-90902E82A543}"/>
              </a:ext>
            </a:extLst>
          </p:cNvPr>
          <p:cNvSpPr/>
          <p:nvPr/>
        </p:nvSpPr>
        <p:spPr>
          <a:xfrm>
            <a:off x="2983159" y="2704475"/>
            <a:ext cx="540000" cy="540000"/>
          </a:xfrm>
          <a:prstGeom prst="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0131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EE853E"/>
                </a:solidFill>
              </a:rPr>
              <a:t>1.	</a:t>
            </a:r>
            <a:r>
              <a:rPr lang="zh-CN" altLang="en-US" dirty="0">
                <a:solidFill>
                  <a:srgbClr val="EE853E"/>
                </a:solidFill>
              </a:rPr>
              <a:t>标识符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zh-CN" altLang="en-US" dirty="0"/>
              <a:t>由用户定义，用来命名程序中出现的变量、</a:t>
            </a:r>
            <a:r>
              <a:rPr lang="zh-CN" altLang="en-US"/>
              <a:t>函数、过程、标号</a:t>
            </a:r>
            <a:r>
              <a:rPr lang="zh-CN" altLang="en-US" dirty="0"/>
              <a:t>等。不同语言的标识符有不同的规则，例如</a:t>
            </a:r>
            <a:r>
              <a:rPr lang="en-US" altLang="zh-CN" dirty="0"/>
              <a:t>C</a:t>
            </a:r>
            <a:r>
              <a:rPr lang="zh-CN" altLang="en-US" dirty="0"/>
              <a:t>语言的标识符是以字母或下划线开头，后面跟若干个字母、数字或下划线的字符串。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>
                <a:solidFill>
                  <a:srgbClr val="EE853E"/>
                </a:solidFill>
              </a:rPr>
              <a:t>2.	</a:t>
            </a:r>
            <a:r>
              <a:rPr lang="zh-CN" altLang="en-US" dirty="0">
                <a:solidFill>
                  <a:srgbClr val="EE853E"/>
                </a:solidFill>
              </a:rPr>
              <a:t>关键字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zh-CN" altLang="en-US" dirty="0"/>
              <a:t>也称为保留字，由语言定义，具有特定的含义。例如</a:t>
            </a:r>
            <a:r>
              <a:rPr lang="en-US" altLang="zh-CN" dirty="0"/>
              <a:t>C</a:t>
            </a:r>
            <a:r>
              <a:rPr lang="zh-CN" altLang="en-US" dirty="0"/>
              <a:t>语言中的：</a:t>
            </a:r>
            <a:r>
              <a:rPr lang="en-US" altLang="zh-CN" dirty="0"/>
              <a:t>int</a:t>
            </a:r>
            <a:r>
              <a:rPr lang="zh-CN" altLang="en-US" dirty="0"/>
              <a:t>、</a:t>
            </a:r>
            <a:r>
              <a:rPr lang="en-US" altLang="zh-CN" dirty="0"/>
              <a:t>float</a:t>
            </a:r>
            <a:r>
              <a:rPr lang="zh-CN" altLang="en-US" dirty="0"/>
              <a:t>、</a:t>
            </a:r>
            <a:r>
              <a:rPr lang="en-US" altLang="zh-CN" dirty="0"/>
              <a:t>void</a:t>
            </a:r>
            <a:r>
              <a:rPr lang="zh-CN" altLang="en-US" dirty="0"/>
              <a:t>、</a:t>
            </a:r>
            <a:r>
              <a:rPr lang="en-US" altLang="zh-CN" dirty="0"/>
              <a:t>if</a:t>
            </a:r>
            <a:r>
              <a:rPr lang="zh-CN" altLang="en-US" dirty="0"/>
              <a:t>、</a:t>
            </a:r>
            <a:r>
              <a:rPr lang="en-US" altLang="zh-CN" dirty="0"/>
              <a:t>else</a:t>
            </a:r>
            <a:r>
              <a:rPr lang="zh-CN" altLang="en-US" dirty="0"/>
              <a:t>等。</a:t>
            </a:r>
          </a:p>
          <a:p>
            <a:endParaRPr lang="zh-CN" altLang="en-US" dirty="0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单词的类别</a:t>
            </a:r>
          </a:p>
        </p:txBody>
      </p:sp>
    </p:spTree>
    <p:extLst>
      <p:ext uri="{BB962C8B-B14F-4D97-AF65-F5344CB8AC3E}">
        <p14:creationId xmlns:p14="http://schemas.microsoft.com/office/powerpoint/2010/main" val="1133957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solidFill>
                  <a:srgbClr val="EE853E"/>
                </a:solidFill>
              </a:rPr>
              <a:t>3.	</a:t>
            </a:r>
            <a:r>
              <a:rPr lang="zh-CN" altLang="en-US">
                <a:solidFill>
                  <a:srgbClr val="EE853E"/>
                </a:solidFill>
              </a:rPr>
              <a:t>常数</a:t>
            </a:r>
            <a:endParaRPr lang="en-US" altLang="zh-CN">
              <a:solidFill>
                <a:srgbClr val="EE853E"/>
              </a:solidFill>
            </a:endParaRPr>
          </a:p>
          <a:p>
            <a:r>
              <a:rPr lang="zh-CN" altLang="en-US"/>
              <a:t>整型常数（</a:t>
            </a:r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50</a:t>
            </a:r>
            <a:r>
              <a:rPr lang="zh-CN" altLang="en-US"/>
              <a:t>、</a:t>
            </a:r>
            <a:r>
              <a:rPr lang="en-US" altLang="zh-CN"/>
              <a:t>100</a:t>
            </a:r>
            <a:r>
              <a:rPr lang="zh-CN" altLang="en-US"/>
              <a:t>）、实型常数（</a:t>
            </a:r>
            <a:r>
              <a:rPr lang="en-US" altLang="zh-CN"/>
              <a:t>1.0</a:t>
            </a:r>
            <a:r>
              <a:rPr lang="zh-CN" altLang="en-US"/>
              <a:t>、</a:t>
            </a:r>
            <a:r>
              <a:rPr lang="en-US" altLang="zh-CN"/>
              <a:t>3.14</a:t>
            </a:r>
            <a:r>
              <a:rPr lang="zh-CN" altLang="en-US"/>
              <a:t>）、字符型常数（</a:t>
            </a:r>
            <a:r>
              <a:rPr lang="en-US" altLang="zh-CN"/>
              <a:t>a</a:t>
            </a:r>
            <a:r>
              <a:rPr lang="zh-CN" altLang="en-US"/>
              <a:t>、</a:t>
            </a:r>
            <a:r>
              <a:rPr lang="en-US" altLang="zh-CN"/>
              <a:t>b</a:t>
            </a:r>
            <a:r>
              <a:rPr lang="zh-CN" altLang="en-US"/>
              <a:t>）、布尔型常数（</a:t>
            </a:r>
            <a:r>
              <a:rPr lang="en-US" altLang="zh-CN"/>
              <a:t>TRUE</a:t>
            </a:r>
            <a:r>
              <a:rPr lang="zh-CN" altLang="en-US"/>
              <a:t>、</a:t>
            </a:r>
            <a:r>
              <a:rPr lang="en-US" altLang="zh-CN"/>
              <a:t>FALSE</a:t>
            </a:r>
            <a:r>
              <a:rPr lang="zh-CN" altLang="en-US"/>
              <a:t>）等。</a:t>
            </a:r>
            <a:endParaRPr lang="zh-CN" altLang="en-US" dirty="0"/>
          </a:p>
          <a:p>
            <a:r>
              <a:rPr lang="en-US" altLang="zh-CN">
                <a:solidFill>
                  <a:srgbClr val="EE853E"/>
                </a:solidFill>
              </a:rPr>
              <a:t>4.	</a:t>
            </a:r>
            <a:r>
              <a:rPr lang="zh-CN" altLang="en-US">
                <a:solidFill>
                  <a:srgbClr val="EE853E"/>
                </a:solidFill>
              </a:rPr>
              <a:t>运算符</a:t>
            </a:r>
            <a:endParaRPr lang="en-US" altLang="zh-CN">
              <a:solidFill>
                <a:srgbClr val="EE853E"/>
              </a:solidFill>
            </a:endParaRPr>
          </a:p>
          <a:p>
            <a:r>
              <a:rPr lang="zh-CN" altLang="en-US"/>
              <a:t>算术运算符（</a:t>
            </a:r>
            <a:r>
              <a:rPr lang="en-US" altLang="zh-CN"/>
              <a:t>+</a:t>
            </a:r>
            <a:r>
              <a:rPr lang="zh-CN" altLang="en-US"/>
              <a:t>、</a:t>
            </a:r>
            <a:r>
              <a:rPr lang="en-US" altLang="zh-CN"/>
              <a:t>-</a:t>
            </a:r>
            <a:r>
              <a:rPr lang="zh-CN" altLang="en-US"/>
              <a:t>、</a:t>
            </a:r>
            <a:r>
              <a:rPr lang="en-US" altLang="zh-CN"/>
              <a:t>*</a:t>
            </a:r>
            <a:r>
              <a:rPr lang="zh-CN" altLang="en-US"/>
              <a:t>、</a:t>
            </a:r>
            <a:r>
              <a:rPr lang="en-US" altLang="zh-CN"/>
              <a:t>/</a:t>
            </a:r>
            <a:r>
              <a:rPr lang="zh-CN" altLang="en-US"/>
              <a:t>）、逻辑运算符（</a:t>
            </a:r>
            <a:r>
              <a:rPr lang="en-US" altLang="zh-CN"/>
              <a:t>&amp;&amp;</a:t>
            </a:r>
            <a:r>
              <a:rPr lang="zh-CN" altLang="en-US"/>
              <a:t>、</a:t>
            </a:r>
            <a:r>
              <a:rPr lang="en-US" altLang="zh-CN"/>
              <a:t>||</a:t>
            </a:r>
            <a:r>
              <a:rPr lang="zh-CN" altLang="en-US"/>
              <a:t>）、关系运算符（</a:t>
            </a:r>
            <a:r>
              <a:rPr lang="en-US" altLang="zh-CN"/>
              <a:t>&lt;</a:t>
            </a:r>
            <a:r>
              <a:rPr lang="zh-CN" altLang="en-US"/>
              <a:t>、</a:t>
            </a:r>
            <a:r>
              <a:rPr lang="en-US" altLang="zh-CN"/>
              <a:t>&gt;</a:t>
            </a:r>
            <a:r>
              <a:rPr lang="zh-CN" altLang="en-US"/>
              <a:t>、</a:t>
            </a:r>
            <a:r>
              <a:rPr lang="en-US" altLang="zh-CN"/>
              <a:t>==</a:t>
            </a:r>
            <a:r>
              <a:rPr lang="zh-CN" altLang="en-US"/>
              <a:t>、</a:t>
            </a:r>
            <a:r>
              <a:rPr lang="en-US" altLang="zh-CN"/>
              <a:t>!=</a:t>
            </a:r>
            <a:r>
              <a:rPr lang="zh-CN" altLang="en-US"/>
              <a:t>）、赋值运算符（</a:t>
            </a:r>
            <a:r>
              <a:rPr lang="en-US" altLang="zh-CN"/>
              <a:t>=</a:t>
            </a:r>
            <a:r>
              <a:rPr lang="zh-CN" altLang="en-US"/>
              <a:t>）等。</a:t>
            </a:r>
            <a:endParaRPr lang="zh-CN" altLang="en-US" dirty="0"/>
          </a:p>
          <a:p>
            <a:r>
              <a:rPr lang="en-US" altLang="zh-CN">
                <a:solidFill>
                  <a:srgbClr val="EE853E"/>
                </a:solidFill>
              </a:rPr>
              <a:t>5.	</a:t>
            </a:r>
            <a:r>
              <a:rPr lang="zh-CN" altLang="en-US">
                <a:solidFill>
                  <a:srgbClr val="EE853E"/>
                </a:solidFill>
              </a:rPr>
              <a:t>界符</a:t>
            </a:r>
            <a:endParaRPr lang="en-US" altLang="zh-CN">
              <a:solidFill>
                <a:srgbClr val="EE853E"/>
              </a:solidFill>
            </a:endParaRPr>
          </a:p>
          <a:p>
            <a:r>
              <a:rPr lang="zh-CN" altLang="en-US"/>
              <a:t>在程序中起分界的作用。例如</a:t>
            </a:r>
            <a:r>
              <a:rPr lang="en-US" altLang="zh-CN"/>
              <a:t>C</a:t>
            </a:r>
            <a:r>
              <a:rPr lang="zh-CN" altLang="en-US"/>
              <a:t>语言中的：</a:t>
            </a:r>
            <a:r>
              <a:rPr lang="en-US" altLang="zh-CN"/>
              <a:t>,  ;  (  )  {  } </a:t>
            </a:r>
            <a:r>
              <a:rPr lang="zh-CN" altLang="en-US"/>
              <a:t>等</a:t>
            </a:r>
            <a:r>
              <a:rPr lang="zh-CN" altLang="en-US" dirty="0"/>
              <a:t>。</a:t>
            </a: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单词的类别</a:t>
            </a:r>
          </a:p>
        </p:txBody>
      </p:sp>
    </p:spTree>
    <p:extLst>
      <p:ext uri="{BB962C8B-B14F-4D97-AF65-F5344CB8AC3E}">
        <p14:creationId xmlns:p14="http://schemas.microsoft.com/office/powerpoint/2010/main" val="3499022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第六章 词法分析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2984433" y="1638300"/>
            <a:ext cx="6223134" cy="3581400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第一节 词法分析概述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第二节 单词的类别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第三节 单词的识别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第四节 </a:t>
              </a:r>
              <a:r>
                <a:rPr lang="zh-CN" altLang="en-US" sz="2400" b="1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词法分析器实例</a:t>
              </a:r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</p:grpSp>
      <p:sp>
        <p:nvSpPr>
          <p:cNvPr id="25" name="箭头: 右 24">
            <a:extLst>
              <a:ext uri="{FF2B5EF4-FFF2-40B4-BE49-F238E27FC236}">
                <a16:creationId xmlns:a16="http://schemas.microsoft.com/office/drawing/2014/main" id="{B6323BE9-57D8-467F-9A2D-90902E82A543}"/>
              </a:ext>
            </a:extLst>
          </p:cNvPr>
          <p:cNvSpPr/>
          <p:nvPr/>
        </p:nvSpPr>
        <p:spPr>
          <a:xfrm>
            <a:off x="2983159" y="3422400"/>
            <a:ext cx="540000" cy="540000"/>
          </a:xfrm>
          <a:prstGeom prst="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2025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根据各类单词的</a:t>
            </a:r>
            <a:r>
              <a:rPr lang="zh-CN" altLang="en-US"/>
              <a:t>特征，从输入字符串中识别出单词，并把这些单词输出。 </a:t>
            </a:r>
            <a:endParaRPr lang="zh-CN" altLang="en-US" dirty="0"/>
          </a:p>
          <a:p>
            <a:endParaRPr lang="en-US" altLang="zh-CN"/>
          </a:p>
          <a:p>
            <a:r>
              <a:rPr lang="en-US" altLang="zh-CN">
                <a:solidFill>
                  <a:srgbClr val="EE853E"/>
                </a:solidFill>
              </a:rPr>
              <a:t>1.	</a:t>
            </a:r>
            <a:r>
              <a:rPr lang="zh-CN" altLang="en-US">
                <a:solidFill>
                  <a:srgbClr val="EE853E"/>
                </a:solidFill>
              </a:rPr>
              <a:t>状态</a:t>
            </a:r>
            <a:r>
              <a:rPr lang="zh-CN" altLang="en-US" dirty="0">
                <a:solidFill>
                  <a:srgbClr val="EE853E"/>
                </a:solidFill>
              </a:rPr>
              <a:t>转换图</a:t>
            </a:r>
          </a:p>
          <a:p>
            <a:r>
              <a:rPr lang="zh-CN" altLang="en-US"/>
              <a:t>结点：状态（唯一初态、若干终态）</a:t>
            </a:r>
            <a:endParaRPr lang="en-US" altLang="zh-CN"/>
          </a:p>
          <a:p>
            <a:r>
              <a:rPr lang="zh-CN" altLang="en-US"/>
              <a:t>有向边：状态转换关系</a:t>
            </a:r>
            <a:endParaRPr lang="en-US" altLang="zh-CN"/>
          </a:p>
          <a:p>
            <a:r>
              <a:rPr lang="zh-CN" altLang="en-US"/>
              <a:t>标记：状态转换的条件（读入的字符）</a:t>
            </a:r>
            <a:endParaRPr lang="en-US" altLang="zh-CN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单词的识别</a:t>
            </a:r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97DF961-57E8-46DA-81BF-694F9A5C5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0" y="2286000"/>
            <a:ext cx="3048000" cy="2804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933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solidFill>
                  <a:srgbClr val="EE853E"/>
                </a:solidFill>
              </a:rPr>
              <a:t>2. 	</a:t>
            </a:r>
            <a:r>
              <a:rPr lang="zh-CN" altLang="en-US">
                <a:solidFill>
                  <a:srgbClr val="EE853E"/>
                </a:solidFill>
              </a:rPr>
              <a:t>状态</a:t>
            </a:r>
            <a:r>
              <a:rPr lang="zh-CN" altLang="en-US" dirty="0">
                <a:solidFill>
                  <a:srgbClr val="EE853E"/>
                </a:solidFill>
              </a:rPr>
              <a:t>转换图识别的字符串</a:t>
            </a:r>
          </a:p>
          <a:p>
            <a:r>
              <a:rPr lang="zh-CN" altLang="en-US" dirty="0"/>
              <a:t>从初态出发到某一终态，所经过路径上的所有字符的连接。</a:t>
            </a:r>
            <a:endParaRPr lang="en-US" altLang="zh-CN" dirty="0"/>
          </a:p>
          <a:p>
            <a:r>
              <a:rPr lang="en-US" altLang="zh-CN">
                <a:solidFill>
                  <a:srgbClr val="EE853E"/>
                </a:solidFill>
              </a:rPr>
              <a:t>3.	</a:t>
            </a:r>
            <a:r>
              <a:rPr lang="zh-CN" altLang="en-US">
                <a:solidFill>
                  <a:srgbClr val="EE853E"/>
                </a:solidFill>
              </a:rPr>
              <a:t>识别</a:t>
            </a:r>
            <a:r>
              <a:rPr lang="zh-CN" altLang="en-US" dirty="0">
                <a:solidFill>
                  <a:srgbClr val="EE853E"/>
                </a:solidFill>
              </a:rPr>
              <a:t>单词的状态转换图</a:t>
            </a:r>
          </a:p>
          <a:p>
            <a:r>
              <a:rPr lang="zh-CN" altLang="en-US" dirty="0"/>
              <a:t>根据构成单词的字符串的特点，可构造出识别该单词的状态转换图。</a:t>
            </a: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B7411ABF-5DC2-4427-B947-AF6942385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单词的识别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8404038-5826-4DFF-B1FD-12C96C040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3352800"/>
            <a:ext cx="5867400" cy="218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860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在</a:t>
            </a:r>
            <a:r>
              <a:rPr lang="zh-CN" altLang="en-US" dirty="0"/>
              <a:t>某些情况下，为了识别出某个单词，需要读取的字符可能超出了该单词本身的范围，称为</a:t>
            </a:r>
            <a:r>
              <a:rPr lang="zh-CN" altLang="en-US">
                <a:solidFill>
                  <a:srgbClr val="EE853E"/>
                </a:solidFill>
              </a:rPr>
              <a:t>超前搜索</a:t>
            </a:r>
            <a:r>
              <a:rPr lang="zh-CN" altLang="en-US"/>
              <a:t>，在状态转换图中用带“*”的结点表示。</a:t>
            </a:r>
            <a:r>
              <a:rPr lang="zh-CN" altLang="en-US" dirty="0"/>
              <a:t>识别完后应将这些字符</a:t>
            </a:r>
            <a:r>
              <a:rPr lang="zh-CN" altLang="en-US" dirty="0">
                <a:solidFill>
                  <a:srgbClr val="EE853E"/>
                </a:solidFill>
              </a:rPr>
              <a:t>退还</a:t>
            </a:r>
            <a:r>
              <a:rPr lang="zh-CN" altLang="en-US" dirty="0"/>
              <a:t>给输入串，以备识别下一个单词时使用。</a:t>
            </a: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单词的识别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6447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单词的输出形式：</a:t>
            </a:r>
            <a:r>
              <a:rPr lang="zh-CN" altLang="en-US">
                <a:solidFill>
                  <a:srgbClr val="EE853E"/>
                </a:solidFill>
              </a:rPr>
              <a:t>二元式</a:t>
            </a:r>
            <a:endParaRPr lang="en-US" altLang="zh-CN">
              <a:solidFill>
                <a:srgbClr val="EE853E"/>
              </a:solidFill>
            </a:endParaRPr>
          </a:p>
          <a:p>
            <a:pPr algn="ctr"/>
            <a:r>
              <a:rPr lang="en-US" altLang="zh-CN">
                <a:solidFill>
                  <a:srgbClr val="EE853E"/>
                </a:solidFill>
              </a:rPr>
              <a:t>(</a:t>
            </a:r>
            <a:r>
              <a:rPr lang="zh-CN" altLang="en-US">
                <a:solidFill>
                  <a:srgbClr val="EE853E"/>
                </a:solidFill>
              </a:rPr>
              <a:t> 单词的编码，单词的属性 ）</a:t>
            </a:r>
            <a:endParaRPr lang="en-US" altLang="zh-CN">
              <a:solidFill>
                <a:srgbClr val="EE853E"/>
              </a:solidFill>
            </a:endParaRPr>
          </a:p>
          <a:p>
            <a:r>
              <a:rPr lang="zh-CN" altLang="en-US">
                <a:solidFill>
                  <a:srgbClr val="EE853E"/>
                </a:solidFill>
              </a:rPr>
              <a:t>单词的编码：</a:t>
            </a:r>
            <a:endParaRPr lang="en-US" altLang="zh-CN">
              <a:solidFill>
                <a:srgbClr val="EE853E"/>
              </a:solidFill>
            </a:endParaRPr>
          </a:p>
          <a:p>
            <a:r>
              <a:rPr lang="zh-CN" altLang="en-US"/>
              <a:t>用于区分单词的类别，不同类别的单词采取不同的编码方式。</a:t>
            </a:r>
            <a:endParaRPr lang="en-US" altLang="zh-CN"/>
          </a:p>
          <a:p>
            <a:endParaRPr lang="en-US" altLang="zh-CN">
              <a:solidFill>
                <a:srgbClr val="EE853E"/>
              </a:solidFill>
            </a:endParaRPr>
          </a:p>
          <a:p>
            <a:r>
              <a:rPr lang="zh-CN" altLang="en-US">
                <a:solidFill>
                  <a:srgbClr val="EE853E"/>
                </a:solidFill>
              </a:rPr>
              <a:t>单词的属性：</a:t>
            </a:r>
            <a:endParaRPr lang="en-US" altLang="zh-CN">
              <a:solidFill>
                <a:srgbClr val="EE853E"/>
              </a:solidFill>
            </a:endParaRPr>
          </a:p>
          <a:p>
            <a:r>
              <a:rPr lang="zh-CN" altLang="en-US"/>
              <a:t>用于区分相同编码的不同单词。</a:t>
            </a:r>
            <a:endParaRPr lang="en-US" altLang="zh-CN"/>
          </a:p>
          <a:p>
            <a:endParaRPr lang="en-US" altLang="zh-CN"/>
          </a:p>
          <a:p>
            <a:endParaRPr lang="zh-CN" altLang="en-US" dirty="0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单词</a:t>
            </a:r>
            <a:r>
              <a:rPr lang="zh-CN" altLang="en-US"/>
              <a:t>的输出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4922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EE853E"/>
                </a:solidFill>
              </a:rPr>
              <a:t>标识符：</a:t>
            </a:r>
            <a:r>
              <a:rPr lang="en-US" altLang="zh-CN"/>
              <a:t>	(</a:t>
            </a:r>
            <a:r>
              <a:rPr lang="zh-CN" altLang="en-US"/>
              <a:t> 统一</a:t>
            </a:r>
            <a:r>
              <a:rPr lang="zh-CN" altLang="en-US" dirty="0"/>
              <a:t>一</a:t>
            </a:r>
            <a:r>
              <a:rPr lang="zh-CN" altLang="en-US"/>
              <a:t>个编码，该标识符在符号表中的位置 </a:t>
            </a:r>
            <a:r>
              <a:rPr lang="en-US" altLang="zh-CN"/>
              <a:t>)</a:t>
            </a:r>
          </a:p>
          <a:p>
            <a:r>
              <a:rPr lang="zh-CN" altLang="en-US">
                <a:solidFill>
                  <a:srgbClr val="EE853E"/>
                </a:solidFill>
              </a:rPr>
              <a:t>常数：</a:t>
            </a:r>
            <a:r>
              <a:rPr lang="en-US" altLang="zh-CN"/>
              <a:t>	( </a:t>
            </a:r>
            <a:r>
              <a:rPr lang="zh-CN" altLang="en-US"/>
              <a:t>统一一个编码，该常数在常数表中的位置 </a:t>
            </a:r>
            <a:r>
              <a:rPr lang="en-US" altLang="zh-CN"/>
              <a:t>)</a:t>
            </a:r>
          </a:p>
          <a:p>
            <a:r>
              <a:rPr lang="zh-CN" altLang="en-US">
                <a:solidFill>
                  <a:srgbClr val="EE853E"/>
                </a:solidFill>
              </a:rPr>
              <a:t>关键字：</a:t>
            </a:r>
            <a:r>
              <a:rPr lang="en-US" altLang="zh-CN"/>
              <a:t>	( </a:t>
            </a:r>
            <a:r>
              <a:rPr lang="zh-CN" altLang="en-US"/>
              <a:t>一</a:t>
            </a:r>
            <a:r>
              <a:rPr lang="zh-CN" altLang="en-US" dirty="0"/>
              <a:t>字</a:t>
            </a:r>
            <a:r>
              <a:rPr lang="zh-CN" altLang="en-US"/>
              <a:t>一码，省略 </a:t>
            </a:r>
            <a:r>
              <a:rPr lang="en-US" altLang="zh-CN"/>
              <a:t>)</a:t>
            </a:r>
          </a:p>
          <a:p>
            <a:r>
              <a:rPr lang="zh-CN" altLang="en-US">
                <a:solidFill>
                  <a:srgbClr val="EE853E"/>
                </a:solidFill>
              </a:rPr>
              <a:t>运算符：</a:t>
            </a:r>
            <a:r>
              <a:rPr lang="en-US" altLang="zh-CN"/>
              <a:t>	( </a:t>
            </a:r>
            <a:r>
              <a:rPr lang="zh-CN" altLang="en-US"/>
              <a:t>一字一码，省略 </a:t>
            </a:r>
            <a:r>
              <a:rPr lang="en-US" altLang="zh-CN"/>
              <a:t>)</a:t>
            </a:r>
          </a:p>
          <a:p>
            <a:r>
              <a:rPr lang="zh-CN" altLang="en-US">
                <a:solidFill>
                  <a:srgbClr val="EE853E"/>
                </a:solidFill>
              </a:rPr>
              <a:t>界符：</a:t>
            </a:r>
            <a:r>
              <a:rPr lang="en-US" altLang="zh-CN"/>
              <a:t>	( </a:t>
            </a:r>
            <a:r>
              <a:rPr lang="zh-CN" altLang="en-US"/>
              <a:t>一字一码，省略 </a:t>
            </a:r>
            <a:r>
              <a:rPr lang="en-US" altLang="zh-CN"/>
              <a:t>)</a:t>
            </a:r>
          </a:p>
          <a:p>
            <a:endParaRPr lang="zh-CN" altLang="en-US" dirty="0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单词的输出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46771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EE853E"/>
                </a:solidFill>
              </a:rPr>
              <a:t>输入的字符串：</a:t>
            </a:r>
            <a:r>
              <a:rPr lang="en-US" altLang="zh-CN"/>
              <a:t>	A1=B2+10;</a:t>
            </a:r>
          </a:p>
          <a:p>
            <a:endParaRPr lang="en-US" altLang="zh-CN"/>
          </a:p>
          <a:p>
            <a:r>
              <a:rPr lang="zh-CN" altLang="en-US">
                <a:solidFill>
                  <a:srgbClr val="EE853E"/>
                </a:solidFill>
              </a:rPr>
              <a:t>输出的单词串：</a:t>
            </a:r>
            <a:r>
              <a:rPr lang="en-US" altLang="zh-CN">
                <a:solidFill>
                  <a:srgbClr val="EE853E"/>
                </a:solidFill>
              </a:rPr>
              <a:t>	</a:t>
            </a:r>
            <a:r>
              <a:rPr lang="en-US" altLang="zh-CN"/>
              <a:t>( </a:t>
            </a:r>
            <a:r>
              <a:rPr lang="zh-CN" altLang="en-US"/>
              <a:t>标识符</a:t>
            </a:r>
            <a:r>
              <a:rPr lang="zh-CN" altLang="en-US" dirty="0"/>
              <a:t>的编码</a:t>
            </a:r>
            <a:r>
              <a:rPr lang="zh-CN" altLang="en-US"/>
              <a:t>，</a:t>
            </a:r>
            <a:r>
              <a:rPr lang="en-US" altLang="zh-CN"/>
              <a:t>A1</a:t>
            </a:r>
            <a:r>
              <a:rPr lang="zh-CN" altLang="en-US"/>
              <a:t>在符号表中的位置 ）</a:t>
            </a:r>
            <a:endParaRPr lang="zh-CN" altLang="en-US" dirty="0"/>
          </a:p>
          <a:p>
            <a:r>
              <a:rPr lang="en-US" altLang="zh-CN"/>
              <a:t>					(</a:t>
            </a:r>
            <a:r>
              <a:rPr lang="zh-CN" altLang="en-US"/>
              <a:t> </a:t>
            </a:r>
            <a:r>
              <a:rPr lang="en-US" altLang="zh-CN"/>
              <a:t>= </a:t>
            </a:r>
            <a:r>
              <a:rPr lang="zh-CN" altLang="en-US"/>
              <a:t>的</a:t>
            </a:r>
            <a:r>
              <a:rPr lang="zh-CN" altLang="en-US" dirty="0"/>
              <a:t>编码，</a:t>
            </a:r>
            <a:r>
              <a:rPr lang="en-US" altLang="zh-CN" dirty="0"/>
              <a:t>— </a:t>
            </a:r>
            <a:r>
              <a:rPr lang="zh-CN" altLang="en-US" dirty="0"/>
              <a:t>）</a:t>
            </a:r>
          </a:p>
          <a:p>
            <a:r>
              <a:rPr lang="en-US" altLang="zh-CN"/>
              <a:t>					(</a:t>
            </a:r>
            <a:r>
              <a:rPr lang="zh-CN" altLang="en-US"/>
              <a:t> 标识符</a:t>
            </a:r>
            <a:r>
              <a:rPr lang="zh-CN" altLang="en-US" dirty="0"/>
              <a:t>的编码</a:t>
            </a:r>
            <a:r>
              <a:rPr lang="zh-CN" altLang="en-US"/>
              <a:t>，</a:t>
            </a:r>
            <a:r>
              <a:rPr lang="en-US" altLang="zh-CN"/>
              <a:t>B2</a:t>
            </a:r>
            <a:r>
              <a:rPr lang="zh-CN" altLang="en-US"/>
              <a:t>在符号表中的位置 ）</a:t>
            </a:r>
            <a:endParaRPr lang="zh-CN" altLang="en-US" dirty="0"/>
          </a:p>
          <a:p>
            <a:r>
              <a:rPr lang="en-US" altLang="zh-CN"/>
              <a:t>					(</a:t>
            </a:r>
            <a:r>
              <a:rPr lang="zh-CN" altLang="en-US"/>
              <a:t> </a:t>
            </a:r>
            <a:r>
              <a:rPr lang="en-US" altLang="zh-CN"/>
              <a:t>+ </a:t>
            </a:r>
            <a:r>
              <a:rPr lang="zh-CN" altLang="en-US"/>
              <a:t>的</a:t>
            </a:r>
            <a:r>
              <a:rPr lang="zh-CN" altLang="en-US" dirty="0"/>
              <a:t>编码，</a:t>
            </a:r>
            <a:r>
              <a:rPr lang="en-US" altLang="zh-CN" dirty="0"/>
              <a:t>— </a:t>
            </a:r>
            <a:r>
              <a:rPr lang="zh-CN" altLang="en-US" dirty="0"/>
              <a:t>）</a:t>
            </a:r>
          </a:p>
          <a:p>
            <a:r>
              <a:rPr lang="en-US" altLang="zh-CN"/>
              <a:t>					(</a:t>
            </a:r>
            <a:r>
              <a:rPr lang="zh-CN" altLang="en-US"/>
              <a:t> 常数的编码，</a:t>
            </a:r>
            <a:r>
              <a:rPr lang="en-US" altLang="zh-CN"/>
              <a:t>10</a:t>
            </a:r>
            <a:r>
              <a:rPr lang="zh-CN" altLang="en-US"/>
              <a:t>在常数表中的位置 ）</a:t>
            </a:r>
            <a:endParaRPr lang="zh-CN" altLang="en-US" dirty="0"/>
          </a:p>
          <a:p>
            <a:r>
              <a:rPr lang="en-US" altLang="zh-CN"/>
              <a:t>					(</a:t>
            </a:r>
            <a:r>
              <a:rPr lang="zh-CN" altLang="en-US"/>
              <a:t> </a:t>
            </a:r>
            <a:r>
              <a:rPr lang="en-US" altLang="zh-CN"/>
              <a:t>; </a:t>
            </a:r>
            <a:r>
              <a:rPr lang="zh-CN" altLang="en-US"/>
              <a:t>的</a:t>
            </a:r>
            <a:r>
              <a:rPr lang="zh-CN" altLang="en-US" dirty="0"/>
              <a:t>编码，</a:t>
            </a:r>
            <a:r>
              <a:rPr lang="en-US" altLang="zh-CN" dirty="0"/>
              <a:t>— </a:t>
            </a:r>
            <a:r>
              <a:rPr lang="zh-CN" altLang="en-US" dirty="0"/>
              <a:t>）</a:t>
            </a: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单词的输出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4086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6655</TotalTime>
  <Words>280</Words>
  <Application>Microsoft Office PowerPoint</Application>
  <PresentationFormat>宽屏</PresentationFormat>
  <Paragraphs>73</Paragraphs>
  <Slides>13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微软雅黑</vt:lpstr>
      <vt:lpstr>Arial</vt:lpstr>
      <vt:lpstr>Arial Black</vt:lpstr>
      <vt:lpstr>Wingdings</vt:lpstr>
      <vt:lpstr>环保</vt:lpstr>
      <vt:lpstr>第六章 词法分析</vt:lpstr>
      <vt:lpstr>词法分析概述</vt:lpstr>
      <vt:lpstr>词法分析概述</vt:lpstr>
      <vt:lpstr>第六章 词法分析</vt:lpstr>
      <vt:lpstr>单词的类别</vt:lpstr>
      <vt:lpstr>单词的类别</vt:lpstr>
      <vt:lpstr>第六章 词法分析</vt:lpstr>
      <vt:lpstr>单词的识别</vt:lpstr>
      <vt:lpstr>单词的识别</vt:lpstr>
      <vt:lpstr>单词的识别</vt:lpstr>
      <vt:lpstr>单词的输出</vt:lpstr>
      <vt:lpstr>单词的输出</vt:lpstr>
      <vt:lpstr>单词的输出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TEST</cp:lastModifiedBy>
  <cp:revision>1126</cp:revision>
  <cp:lastPrinted>1601-01-01T00:00:00Z</cp:lastPrinted>
  <dcterms:created xsi:type="dcterms:W3CDTF">1601-01-01T00:00:00Z</dcterms:created>
  <dcterms:modified xsi:type="dcterms:W3CDTF">2019-06-09T03:20:46Z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