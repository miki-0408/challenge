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4"/>
  </p:notesMasterIdLst>
  <p:handoutMasterIdLst>
    <p:handoutMasterId r:id="rId15"/>
  </p:handoutMasterIdLst>
  <p:sldIdLst>
    <p:sldId id="370" r:id="rId2"/>
    <p:sldId id="279" r:id="rId3"/>
    <p:sldId id="384" r:id="rId4"/>
    <p:sldId id="374" r:id="rId5"/>
    <p:sldId id="373" r:id="rId6"/>
    <p:sldId id="377" r:id="rId7"/>
    <p:sldId id="376" r:id="rId8"/>
    <p:sldId id="385" r:id="rId9"/>
    <p:sldId id="386" r:id="rId10"/>
    <p:sldId id="387" r:id="rId11"/>
    <p:sldId id="388" r:id="rId12"/>
    <p:sldId id="389" r:id="rId1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2" autoAdjust="0"/>
    <p:restoredTop sz="89127" autoAdjust="0"/>
  </p:normalViewPr>
  <p:slideViewPr>
    <p:cSldViewPr>
      <p:cViewPr varScale="1">
        <p:scale>
          <a:sx n="51" d="100"/>
          <a:sy n="51" d="100"/>
        </p:scale>
        <p:origin x="27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3838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317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420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7406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932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646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4694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7024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502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08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语义分析概述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说明语句的翻译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赋值语句的翻译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sz="2400" b="1" dirty="0" err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goto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7A86CED-018A-4EB7-B5CF-DDCED3DA3F3C}"/>
              </a:ext>
            </a:extLst>
          </p:cNvPr>
          <p:cNvSpPr/>
          <p:nvPr/>
        </p:nvSpPr>
        <p:spPr>
          <a:xfrm>
            <a:off x="2983159" y="34290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示例语言的赋值语句：</a:t>
            </a:r>
          </a:p>
          <a:p>
            <a:r>
              <a:rPr lang="en-US" altLang="zh-CN" dirty="0"/>
              <a:t>a = 1 ;  </a:t>
            </a:r>
          </a:p>
          <a:p>
            <a:r>
              <a:rPr lang="en-US" altLang="zh-CN" dirty="0"/>
              <a:t>a = - b ;  </a:t>
            </a:r>
          </a:p>
          <a:p>
            <a:r>
              <a:rPr lang="en-US" altLang="zh-CN" dirty="0"/>
              <a:t>a = - b * ( c + d ) ;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 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= E ;</a:t>
            </a:r>
          </a:p>
          <a:p>
            <a:r>
              <a:rPr lang="en-US" altLang="zh-CN" dirty="0"/>
              <a:t>E → </a:t>
            </a:r>
            <a:r>
              <a:rPr lang="en-US" altLang="zh-CN" dirty="0" err="1"/>
              <a:t>i</a:t>
            </a:r>
            <a:r>
              <a:rPr lang="en-US" altLang="zh-CN" dirty="0"/>
              <a:t> | ( E ) | - E | E + E | E - E | E * E | E / E </a:t>
            </a:r>
          </a:p>
          <a:p>
            <a:endParaRPr lang="en-US" altLang="zh-CN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262827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r>
              <a:rPr lang="en-US" altLang="zh-CN" dirty="0"/>
              <a:t>a = - b * ( c + d ) ;</a:t>
            </a:r>
          </a:p>
          <a:p>
            <a:endParaRPr lang="nn-NO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  <a:endParaRPr lang="en-US" altLang="zh-CN" dirty="0"/>
          </a:p>
          <a:p>
            <a:endParaRPr lang="zh-CN" altLang="en-US" dirty="0"/>
          </a:p>
          <a:p>
            <a:pPr algn="ctr"/>
            <a:endParaRPr lang="nn-NO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267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 → </a:t>
            </a:r>
            <a:r>
              <a:rPr lang="en-US" altLang="zh-CN" dirty="0" err="1"/>
              <a:t>i</a:t>
            </a:r>
            <a:r>
              <a:rPr lang="en-US" altLang="zh-CN" dirty="0"/>
              <a:t>				{    </a:t>
            </a:r>
            <a:r>
              <a:rPr lang="en-US" altLang="zh-CN" dirty="0" err="1"/>
              <a:t>E.addr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r>
              <a:rPr lang="en-US" altLang="zh-CN" dirty="0"/>
              <a:t>E → (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baseline="-25000" dirty="0"/>
              <a:t> </a:t>
            </a:r>
            <a:r>
              <a:rPr lang="en-US" altLang="zh-CN" dirty="0"/>
              <a:t>)			{	</a:t>
            </a:r>
            <a:r>
              <a:rPr lang="en-US" altLang="zh-CN" dirty="0" err="1"/>
              <a:t>E.tac</a:t>
            </a:r>
            <a:r>
              <a:rPr lang="en-US" altLang="zh-CN" dirty="0"/>
              <a:t> =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endParaRPr lang="en-US" altLang="zh-CN" dirty="0"/>
          </a:p>
          <a:p>
            <a:r>
              <a:rPr lang="en-US" altLang="zh-CN" dirty="0"/>
              <a:t>						</a:t>
            </a:r>
            <a:r>
              <a:rPr lang="en-US" altLang="zh-CN" dirty="0" err="1"/>
              <a:t>E.addr</a:t>
            </a:r>
            <a:r>
              <a:rPr lang="en-US" altLang="zh-CN" dirty="0"/>
              <a:t> =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.addr</a:t>
            </a:r>
            <a:r>
              <a:rPr lang="en-US" altLang="zh-CN" dirty="0"/>
              <a:t>    }</a:t>
            </a:r>
          </a:p>
          <a:p>
            <a:r>
              <a:rPr lang="en-US" altLang="zh-CN" dirty="0"/>
              <a:t>E → -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			{	</a:t>
            </a:r>
          </a:p>
          <a:p>
            <a:r>
              <a:rPr lang="en-US" altLang="zh-CN" dirty="0"/>
              <a:t>						t = </a:t>
            </a:r>
            <a:r>
              <a:rPr lang="en-US" altLang="zh-CN" dirty="0" err="1"/>
              <a:t>new_temp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			 		</a:t>
            </a:r>
            <a:r>
              <a:rPr lang="en-US" altLang="zh-CN" dirty="0" err="1"/>
              <a:t>E.tac</a:t>
            </a:r>
            <a:r>
              <a:rPr lang="en-US" altLang="zh-CN" dirty="0"/>
              <a:t> = append (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 , t = -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.addr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		 			</a:t>
            </a:r>
            <a:r>
              <a:rPr lang="en-US" altLang="zh-CN" dirty="0" err="1"/>
              <a:t>E.addr</a:t>
            </a:r>
            <a:r>
              <a:rPr lang="en-US" altLang="zh-CN" dirty="0"/>
              <a:t> = t</a:t>
            </a:r>
          </a:p>
          <a:p>
            <a:r>
              <a:rPr lang="en-US" altLang="zh-CN" dirty="0"/>
              <a:t>					}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29166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 →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 +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		</a:t>
            </a:r>
            <a:r>
              <a:rPr lang="en-US" altLang="zh-CN" dirty="0"/>
              <a:t>{	</a:t>
            </a:r>
          </a:p>
          <a:p>
            <a:r>
              <a:rPr lang="en-US" altLang="zh-CN" dirty="0"/>
              <a:t>						</a:t>
            </a:r>
            <a:r>
              <a:rPr lang="en-US" altLang="zh-CN" dirty="0" err="1"/>
              <a:t>E.tac</a:t>
            </a:r>
            <a:r>
              <a:rPr lang="en-US" altLang="zh-CN" dirty="0"/>
              <a:t> = append (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,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 err="1"/>
              <a:t>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					t = </a:t>
            </a:r>
            <a:r>
              <a:rPr lang="en-US" altLang="zh-CN" dirty="0" err="1"/>
              <a:t>new_temp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					</a:t>
            </a:r>
            <a:r>
              <a:rPr lang="en-US" altLang="zh-CN" dirty="0" err="1"/>
              <a:t>E.tac</a:t>
            </a:r>
            <a:r>
              <a:rPr lang="en-US" altLang="zh-CN" dirty="0"/>
              <a:t> = append ( </a:t>
            </a:r>
            <a:r>
              <a:rPr lang="en-US" altLang="zh-CN" dirty="0" err="1"/>
              <a:t>E.tac</a:t>
            </a:r>
            <a:r>
              <a:rPr lang="en-US" altLang="zh-CN" dirty="0"/>
              <a:t> , t =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.addr</a:t>
            </a:r>
            <a:r>
              <a:rPr lang="en-US" altLang="zh-CN" dirty="0"/>
              <a:t> +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 err="1"/>
              <a:t>.addr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					</a:t>
            </a:r>
            <a:r>
              <a:rPr lang="en-US" altLang="zh-CN" dirty="0" err="1"/>
              <a:t>E.addr</a:t>
            </a:r>
            <a:r>
              <a:rPr lang="en-US" altLang="zh-CN" dirty="0"/>
              <a:t> = t     </a:t>
            </a:r>
          </a:p>
          <a:p>
            <a:r>
              <a:rPr lang="en-US" altLang="zh-CN" dirty="0"/>
              <a:t>					}</a:t>
            </a:r>
          </a:p>
          <a:p>
            <a:r>
              <a:rPr lang="en-US" altLang="zh-CN" dirty="0"/>
              <a:t>E →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 -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/>
              <a:t>		{	...   }</a:t>
            </a:r>
          </a:p>
          <a:p>
            <a:r>
              <a:rPr lang="en-US" altLang="zh-CN" dirty="0"/>
              <a:t>E →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 *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/>
              <a:t>		{	...   }</a:t>
            </a:r>
          </a:p>
          <a:p>
            <a:r>
              <a:rPr lang="en-US" altLang="zh-CN" dirty="0"/>
              <a:t>E →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 /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/>
              <a:t>		{	...   }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420534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348A3C9-C73B-423D-B723-BCEFBED71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= E	 ;		{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E.tac</a:t>
            </a:r>
            <a:r>
              <a:rPr lang="en-US" altLang="zh-CN" dirty="0"/>
              <a:t> ,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E.addr</a:t>
            </a:r>
            <a:r>
              <a:rPr lang="en-US" altLang="zh-CN" dirty="0"/>
              <a:t> )   }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830F54-BCB5-4471-A5B2-A3159723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405308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4B9370F-82BD-43F8-9240-5CD2CCD6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语法规则： </a:t>
            </a:r>
          </a:p>
          <a:p>
            <a:r>
              <a:rPr lang="en-US" altLang="zh-CN" sz="2000" dirty="0"/>
              <a:t>S →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E ;</a:t>
            </a:r>
          </a:p>
          <a:p>
            <a:r>
              <a:rPr lang="en-US" altLang="zh-CN" sz="2000" dirty="0"/>
              <a:t>E →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E → ( E )</a:t>
            </a:r>
          </a:p>
          <a:p>
            <a:r>
              <a:rPr lang="en-US" altLang="zh-CN" sz="2000" dirty="0"/>
              <a:t>E → - E</a:t>
            </a:r>
          </a:p>
          <a:p>
            <a:r>
              <a:rPr lang="en-US" altLang="zh-CN" sz="2000" dirty="0"/>
              <a:t>E → E + E</a:t>
            </a:r>
          </a:p>
          <a:p>
            <a:r>
              <a:rPr lang="en-US" altLang="zh-CN" sz="2000" dirty="0"/>
              <a:t>E → E – E</a:t>
            </a:r>
          </a:p>
          <a:p>
            <a:r>
              <a:rPr lang="en-US" altLang="zh-CN" sz="2000" dirty="0"/>
              <a:t>E → E * E</a:t>
            </a:r>
          </a:p>
          <a:p>
            <a:r>
              <a:rPr lang="en-US" altLang="zh-CN" sz="2000" dirty="0"/>
              <a:t>E → E / E 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语法分析过程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FE1245D-5F75-4A48-A4C1-CBB0FA758B8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733800" y="900000"/>
            <a:ext cx="7620001" cy="5237998"/>
          </a:xfrm>
        </p:spPr>
        <p:txBody>
          <a:bodyPr/>
          <a:lstStyle/>
          <a:p>
            <a:r>
              <a:rPr lang="zh-CN" altLang="en-US"/>
              <a:t>输入串 </a:t>
            </a:r>
            <a:r>
              <a:rPr lang="en-US" altLang="zh-CN" dirty="0"/>
              <a:t>a = - b * ( c + d ) ; </a:t>
            </a:r>
            <a:r>
              <a:rPr lang="zh-CN" altLang="en-US" dirty="0"/>
              <a:t>的语法分析过程：</a:t>
            </a:r>
            <a:endParaRPr lang="en-US" altLang="zh-CN" dirty="0"/>
          </a:p>
          <a:p>
            <a:r>
              <a:rPr lang="nn-NO" altLang="zh-CN" sz="2000" dirty="0"/>
              <a:t>1.    ● a = - b * ( c + d ) ; </a:t>
            </a:r>
          </a:p>
          <a:p>
            <a:r>
              <a:rPr lang="nn-NO" altLang="zh-CN" sz="2000" dirty="0"/>
              <a:t>2.	 a ● = - b * ( c + d ) ; </a:t>
            </a:r>
          </a:p>
          <a:p>
            <a:r>
              <a:rPr lang="nn-NO" altLang="zh-CN" sz="2000" dirty="0"/>
              <a:t>3.	 a = ● - b * ( c + d ) ;</a:t>
            </a:r>
          </a:p>
          <a:p>
            <a:r>
              <a:rPr lang="nn-NO" altLang="zh-CN" sz="2000" dirty="0"/>
              <a:t>4.	 a = - ● b * ( c + d ) ;</a:t>
            </a:r>
          </a:p>
          <a:p>
            <a:r>
              <a:rPr lang="nn-NO" altLang="zh-CN" sz="2000" dirty="0"/>
              <a:t>5. 	 a = - b ● * ( c + d ) ;</a:t>
            </a:r>
            <a:endParaRPr lang="en-US" altLang="zh-CN" sz="2000" dirty="0"/>
          </a:p>
          <a:p>
            <a:r>
              <a:rPr lang="nn-NO" altLang="zh-CN" sz="2000" dirty="0"/>
              <a:t>6.	 a = - E ● * ( c + d ) ;</a:t>
            </a:r>
            <a:endParaRPr lang="it-IT" altLang="zh-CN" sz="2000" dirty="0"/>
          </a:p>
          <a:p>
            <a:r>
              <a:rPr lang="nn-NO" altLang="zh-CN" sz="2000" dirty="0"/>
              <a:t>7.	 a = E ● * ( c + d ) ;</a:t>
            </a:r>
            <a:endParaRPr lang="it-IT" altLang="zh-CN" sz="2000" dirty="0"/>
          </a:p>
          <a:p>
            <a:r>
              <a:rPr lang="nn-NO" altLang="zh-CN" sz="2000" dirty="0"/>
              <a:t>8.	 a = E * ● ( c + d ) ;</a:t>
            </a:r>
            <a:endParaRPr lang="it-IT" altLang="zh-CN" sz="2000" dirty="0"/>
          </a:p>
          <a:p>
            <a:r>
              <a:rPr lang="nn-NO" altLang="zh-CN" sz="2000" dirty="0"/>
              <a:t>9.	 a = E * ( ● c + d ) ;</a:t>
            </a:r>
            <a:endParaRPr lang="it-IT" altLang="zh-CN" sz="2000" dirty="0"/>
          </a:p>
          <a:p>
            <a:r>
              <a:rPr lang="nn-NO" altLang="zh-CN" sz="2000" dirty="0"/>
              <a:t>10.	 a = E * ( c ● + d ) ;</a:t>
            </a:r>
            <a:endParaRPr lang="it-IT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E349F54-3B99-4607-8D86-D012EAAE93E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it-IT" altLang="zh-CN" dirty="0"/>
          </a:p>
          <a:p>
            <a:r>
              <a:rPr lang="it-IT" altLang="zh-CN" sz="2000" dirty="0"/>
              <a:t>11.  a = E * ( E ● + d )</a:t>
            </a:r>
            <a:r>
              <a:rPr lang="nn-NO" altLang="zh-CN" sz="2000" dirty="0"/>
              <a:t> ;</a:t>
            </a:r>
            <a:endParaRPr lang="it-IT" altLang="zh-CN" sz="2000" dirty="0"/>
          </a:p>
          <a:p>
            <a:r>
              <a:rPr lang="it-IT" altLang="zh-CN" sz="2000" dirty="0"/>
              <a:t>12.  a = E * ( E + ● d )</a:t>
            </a:r>
            <a:r>
              <a:rPr lang="nn-NO" altLang="zh-CN" sz="2000" dirty="0"/>
              <a:t> ;</a:t>
            </a:r>
            <a:endParaRPr lang="it-IT" altLang="zh-CN" sz="2000" dirty="0"/>
          </a:p>
          <a:p>
            <a:r>
              <a:rPr lang="it-IT" altLang="zh-CN" sz="2000" dirty="0"/>
              <a:t>13.  a = E * ( E + d ● )</a:t>
            </a:r>
            <a:r>
              <a:rPr lang="nn-NO" altLang="zh-CN" sz="2000" dirty="0"/>
              <a:t> ;</a:t>
            </a:r>
            <a:endParaRPr lang="zh-CN" altLang="en-US" sz="2000" dirty="0"/>
          </a:p>
          <a:p>
            <a:r>
              <a:rPr lang="it-IT" altLang="zh-CN" sz="2000" dirty="0"/>
              <a:t>14.  a</a:t>
            </a:r>
            <a:r>
              <a:rPr lang="en-US" altLang="zh-CN" sz="2000" dirty="0"/>
              <a:t> = E * ( E + E ● )</a:t>
            </a:r>
            <a:r>
              <a:rPr lang="nn-NO" altLang="zh-CN" sz="2000" dirty="0"/>
              <a:t> ;</a:t>
            </a:r>
            <a:endParaRPr lang="en-US" altLang="zh-CN" sz="2000" dirty="0"/>
          </a:p>
          <a:p>
            <a:r>
              <a:rPr lang="it-IT" altLang="zh-CN" sz="2000" dirty="0"/>
              <a:t>15.  </a:t>
            </a:r>
            <a:r>
              <a:rPr lang="en-US" altLang="zh-CN" sz="2000" dirty="0"/>
              <a:t>a = E * ( E ● )</a:t>
            </a:r>
            <a:r>
              <a:rPr lang="nn-NO" altLang="zh-CN" sz="2000" dirty="0"/>
              <a:t> ;</a:t>
            </a:r>
            <a:endParaRPr lang="en-US" altLang="zh-CN" sz="2000" dirty="0"/>
          </a:p>
          <a:p>
            <a:r>
              <a:rPr lang="it-IT" altLang="zh-CN" sz="2000" dirty="0"/>
              <a:t>16.  </a:t>
            </a:r>
            <a:r>
              <a:rPr lang="en-US" altLang="zh-CN" sz="2000" dirty="0"/>
              <a:t>a = E * ( E ) ●</a:t>
            </a:r>
            <a:r>
              <a:rPr lang="nn-NO" altLang="zh-CN" sz="2000" dirty="0"/>
              <a:t> ;</a:t>
            </a:r>
            <a:endParaRPr lang="en-US" altLang="zh-CN" sz="2000" dirty="0"/>
          </a:p>
          <a:p>
            <a:r>
              <a:rPr lang="en-US" altLang="zh-CN" sz="2000" dirty="0"/>
              <a:t>17.  a = E * E ●</a:t>
            </a:r>
            <a:r>
              <a:rPr lang="nn-NO" altLang="zh-CN" sz="2000" dirty="0"/>
              <a:t> ;</a:t>
            </a:r>
            <a:endParaRPr lang="en-US" altLang="zh-CN" sz="2000" dirty="0"/>
          </a:p>
          <a:p>
            <a:r>
              <a:rPr lang="en-US" altLang="zh-CN" sz="2000" dirty="0"/>
              <a:t>18.  a = E ●</a:t>
            </a:r>
            <a:r>
              <a:rPr lang="nn-NO" altLang="zh-CN" sz="2000" dirty="0"/>
              <a:t> ;</a:t>
            </a:r>
          </a:p>
          <a:p>
            <a:r>
              <a:rPr lang="en-US" altLang="zh-CN" sz="2000" dirty="0"/>
              <a:t>19.  a = E </a:t>
            </a:r>
            <a:r>
              <a:rPr lang="nn-NO" altLang="zh-CN" sz="2000" dirty="0"/>
              <a:t>;</a:t>
            </a:r>
            <a:r>
              <a:rPr lang="en-US" altLang="zh-CN" sz="2000" dirty="0"/>
              <a:t> ●</a:t>
            </a:r>
            <a:r>
              <a:rPr lang="nn-NO" altLang="zh-CN" sz="2000" dirty="0"/>
              <a:t> </a:t>
            </a:r>
          </a:p>
          <a:p>
            <a:r>
              <a:rPr lang="en-US" altLang="zh-CN" sz="2000" dirty="0"/>
              <a:t>20.  S ●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5646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nn-NO" altLang="zh-CN" dirty="0"/>
              <a:t>5. 	 a = - b ● * ( c + d ) ;</a:t>
            </a:r>
            <a:endParaRPr lang="en-US" altLang="zh-CN" dirty="0"/>
          </a:p>
          <a:p>
            <a:r>
              <a:rPr lang="nn-NO" altLang="zh-CN" dirty="0"/>
              <a:t>6.	 a = - E ● * ( c + d ) ;</a:t>
            </a:r>
            <a:endParaRPr lang="it-IT" altLang="zh-CN" dirty="0"/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E → </a:t>
            </a:r>
            <a:r>
              <a:rPr lang="en-US" altLang="zh-CN" dirty="0" err="1"/>
              <a:t>i</a:t>
            </a:r>
            <a:r>
              <a:rPr lang="en-US" altLang="zh-CN" dirty="0"/>
              <a:t>	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49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nn-NO" altLang="zh-CN" dirty="0"/>
              <a:t>6.	 a = - E ● * ( c + d ) ;</a:t>
            </a:r>
            <a:endParaRPr lang="it-IT" altLang="zh-CN" dirty="0"/>
          </a:p>
          <a:p>
            <a:r>
              <a:rPr lang="nn-NO" altLang="zh-CN" dirty="0"/>
              <a:t>7.	 a = E ● * ( c + d ) ;</a:t>
            </a:r>
            <a:endParaRPr lang="it-IT" altLang="zh-CN" dirty="0"/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E → -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baseline="-25000" dirty="0"/>
              <a:t>   </a:t>
            </a:r>
            <a:r>
              <a:rPr lang="en-US" altLang="zh-CN" dirty="0"/>
              <a:t>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E.tac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endParaRPr lang="nn-NO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307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it-IT" altLang="zh-CN" dirty="0"/>
              <a:t>14.  a</a:t>
            </a:r>
            <a:r>
              <a:rPr lang="en-US" altLang="zh-CN" dirty="0"/>
              <a:t> = E * ( E + E ● )</a:t>
            </a:r>
            <a:r>
              <a:rPr lang="nn-NO" altLang="zh-CN" dirty="0"/>
              <a:t> ;</a:t>
            </a:r>
            <a:endParaRPr lang="en-US" altLang="zh-CN" dirty="0"/>
          </a:p>
          <a:p>
            <a:r>
              <a:rPr lang="it-IT" altLang="zh-CN" dirty="0"/>
              <a:t>15.  </a:t>
            </a:r>
            <a:r>
              <a:rPr lang="en-US" altLang="zh-CN" dirty="0"/>
              <a:t>a = E * ( E ● )</a:t>
            </a:r>
            <a:r>
              <a:rPr lang="nn-NO" altLang="zh-CN" dirty="0"/>
              <a:t> ;</a:t>
            </a:r>
            <a:endParaRPr lang="en-US" altLang="zh-CN" dirty="0"/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E →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 +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  </a:t>
            </a:r>
            <a:r>
              <a:rPr lang="en-US" altLang="zh-CN" dirty="0"/>
              <a:t>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E.tac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nn-NO" altLang="zh-CN" dirty="0"/>
              <a:t>t2 = c + d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459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en-US" altLang="zh-CN" dirty="0"/>
              <a:t>17.  a = E * E ●</a:t>
            </a:r>
            <a:r>
              <a:rPr lang="nn-NO" altLang="zh-CN" dirty="0"/>
              <a:t> ;</a:t>
            </a:r>
            <a:endParaRPr lang="en-US" altLang="zh-CN" dirty="0"/>
          </a:p>
          <a:p>
            <a:r>
              <a:rPr lang="en-US" altLang="zh-CN" dirty="0"/>
              <a:t>18.  a = E ●</a:t>
            </a:r>
            <a:r>
              <a:rPr lang="nn-NO" altLang="zh-CN" dirty="0"/>
              <a:t> ;</a:t>
            </a:r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E →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/>
              <a:t> *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  </a:t>
            </a:r>
            <a:r>
              <a:rPr lang="en-US" altLang="zh-CN" dirty="0"/>
              <a:t>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E.tac</a:t>
            </a:r>
            <a:r>
              <a:rPr lang="zh-CN" altLang="en-US" dirty="0"/>
              <a:t>）： </a:t>
            </a:r>
            <a:endParaRPr lang="en-US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454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en-US" altLang="zh-CN" dirty="0"/>
              <a:t>19.  a = E </a:t>
            </a:r>
            <a:r>
              <a:rPr lang="nn-NO" altLang="zh-CN" dirty="0"/>
              <a:t>;</a:t>
            </a:r>
            <a:r>
              <a:rPr lang="en-US" altLang="zh-CN" dirty="0"/>
              <a:t> ●</a:t>
            </a:r>
            <a:r>
              <a:rPr lang="nn-NO" altLang="zh-CN" dirty="0"/>
              <a:t> </a:t>
            </a:r>
          </a:p>
          <a:p>
            <a:r>
              <a:rPr lang="en-US" altLang="zh-CN" dirty="0"/>
              <a:t>20.  S ●</a:t>
            </a:r>
            <a:endParaRPr lang="zh-CN" altLang="en-US" dirty="0"/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= E	 ; 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813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6374</TotalTime>
  <Words>970</Words>
  <Application>Microsoft Office PowerPoint</Application>
  <PresentationFormat>宽屏</PresentationFormat>
  <Paragraphs>130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Wingdings</vt:lpstr>
      <vt:lpstr>环保</vt:lpstr>
      <vt:lpstr>第八章 语义分析</vt:lpstr>
      <vt:lpstr>语法规则</vt:lpstr>
      <vt:lpstr>语义分析目标</vt:lpstr>
      <vt:lpstr>语义子程序</vt:lpstr>
      <vt:lpstr>语义子程序</vt:lpstr>
      <vt:lpstr>语义子程序</vt:lpstr>
      <vt:lpstr>语法分析过程</vt:lpstr>
      <vt:lpstr>语义分析过程</vt:lpstr>
      <vt:lpstr>语义分析过程</vt:lpstr>
      <vt:lpstr>语义分析过程</vt:lpstr>
      <vt:lpstr>语义分析过程</vt:lpstr>
      <vt:lpstr>语义分析过程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1211</cp:revision>
  <cp:lastPrinted>1601-01-01T00:00:00Z</cp:lastPrinted>
  <dcterms:created xsi:type="dcterms:W3CDTF">1601-01-01T00:00:00Z</dcterms:created>
  <dcterms:modified xsi:type="dcterms:W3CDTF">2020-04-04T15:31:01Z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