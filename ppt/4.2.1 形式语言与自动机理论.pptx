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9"/>
  </p:notesMasterIdLst>
  <p:handoutMasterIdLst>
    <p:handoutMasterId r:id="rId30"/>
  </p:handoutMasterIdLst>
  <p:sldIdLst>
    <p:sldId id="922" r:id="rId2"/>
    <p:sldId id="923" r:id="rId3"/>
    <p:sldId id="595" r:id="rId4"/>
    <p:sldId id="660" r:id="rId5"/>
    <p:sldId id="885" r:id="rId6"/>
    <p:sldId id="663" r:id="rId7"/>
    <p:sldId id="664" r:id="rId8"/>
    <p:sldId id="667" r:id="rId9"/>
    <p:sldId id="920" r:id="rId10"/>
    <p:sldId id="670" r:id="rId11"/>
    <p:sldId id="921" r:id="rId12"/>
    <p:sldId id="675" r:id="rId13"/>
    <p:sldId id="676" r:id="rId14"/>
    <p:sldId id="678" r:id="rId15"/>
    <p:sldId id="679" r:id="rId16"/>
    <p:sldId id="681" r:id="rId17"/>
    <p:sldId id="682" r:id="rId18"/>
    <p:sldId id="915" r:id="rId19"/>
    <p:sldId id="689" r:id="rId20"/>
    <p:sldId id="690" r:id="rId21"/>
    <p:sldId id="693" r:id="rId22"/>
    <p:sldId id="698" r:id="rId23"/>
    <p:sldId id="702" r:id="rId24"/>
    <p:sldId id="703" r:id="rId25"/>
    <p:sldId id="704" r:id="rId26"/>
    <p:sldId id="705" r:id="rId27"/>
    <p:sldId id="706" r:id="rId28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77978" autoAdjust="0"/>
  </p:normalViewPr>
  <p:slideViewPr>
    <p:cSldViewPr>
      <p:cViewPr varScale="1">
        <p:scale>
          <a:sx n="57" d="100"/>
          <a:sy n="57" d="100"/>
        </p:scale>
        <p:origin x="1062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D01815-BF54-41E1-9F7C-FED8DA5B918F}" type="slidenum">
              <a:rPr lang="zh-CN" altLang="en-US" smtClean="0"/>
              <a:pPr/>
              <a:t>4</a:t>
            </a:fld>
            <a:endParaRPr lang="en-US" altLang="zh-CN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r>
              <a:rPr lang="en-US" altLang="zh-CN" sz="1600" b="1">
                <a:solidFill>
                  <a:srgbClr val="FF0000"/>
                </a:solidFill>
                <a:latin typeface="宋体" pitchFamily="2" charset="-122"/>
              </a:rPr>
              <a:t>Neumann:</a:t>
            </a:r>
            <a:r>
              <a:rPr lang="zh-CN" altLang="en-US" sz="1600" b="1">
                <a:solidFill>
                  <a:srgbClr val="FF0000"/>
                </a:solidFill>
                <a:latin typeface="宋体" pitchFamily="2" charset="-122"/>
              </a:rPr>
              <a:t>数学家  细胞自动机</a:t>
            </a:r>
          </a:p>
        </p:txBody>
      </p:sp>
    </p:spTree>
    <p:extLst>
      <p:ext uri="{BB962C8B-B14F-4D97-AF65-F5344CB8AC3E}">
        <p14:creationId xmlns:p14="http://schemas.microsoft.com/office/powerpoint/2010/main" val="3553376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9BA915-B174-4764-AAF4-330F0EE9D20C}" type="slidenum">
              <a:rPr lang="zh-CN" altLang="en-US" smtClean="0"/>
              <a:pPr/>
              <a:t>6</a:t>
            </a:fld>
            <a:endParaRPr lang="en-US" altLang="zh-CN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881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66A6D0-645D-4C13-8243-EBF1BAD44ABD}" type="slidenum">
              <a:rPr lang="zh-CN" altLang="en-US" smtClean="0"/>
              <a:pPr/>
              <a:t>8</a:t>
            </a:fld>
            <a:endParaRPr lang="en-US" altLang="zh-CN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891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27813D-E208-4773-B07A-A9FDF34DFC44}" type="slidenum">
              <a:rPr lang="zh-CN" altLang="en-US" smtClean="0"/>
              <a:pPr/>
              <a:t>10</a:t>
            </a:fld>
            <a:endParaRPr lang="en-US" altLang="zh-CN"/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884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B74591-EDD5-46BB-93F1-BB054E3276CA}" type="slidenum">
              <a:rPr lang="zh-CN" altLang="en-US" smtClean="0"/>
              <a:pPr/>
              <a:t>12</a:t>
            </a:fld>
            <a:endParaRPr lang="en-US" altLang="zh-CN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972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A63088-8775-41A7-A552-C4314CE01A46}" type="slidenum">
              <a:rPr lang="zh-CN" altLang="en-US" smtClean="0"/>
              <a:pPr/>
              <a:t>13</a:t>
            </a:fld>
            <a:endParaRPr lang="en-US" altLang="zh-CN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CN" altLang="en-US" sz="1800" b="1"/>
          </a:p>
        </p:txBody>
      </p:sp>
    </p:spTree>
    <p:extLst>
      <p:ext uri="{BB962C8B-B14F-4D97-AF65-F5344CB8AC3E}">
        <p14:creationId xmlns:p14="http://schemas.microsoft.com/office/powerpoint/2010/main" val="1189216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BB7C46-6A9D-4BE9-B317-5F8063A88251}" type="slidenum">
              <a:rPr lang="zh-CN" altLang="en-US" smtClean="0"/>
              <a:pPr/>
              <a:t>14</a:t>
            </a:fld>
            <a:endParaRPr lang="en-US" altLang="zh-CN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919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51025D-A239-4523-84E9-F82C575C35CD}" type="slidenum">
              <a:rPr lang="zh-CN" altLang="en-US" smtClean="0"/>
              <a:pPr/>
              <a:t>16</a:t>
            </a:fld>
            <a:endParaRPr lang="en-US" altLang="zh-CN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870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CEEE9C-5485-4329-ABD3-0B0E92576EEC}" type="slidenum">
              <a:rPr lang="zh-CN" altLang="en-US" smtClean="0"/>
              <a:pPr/>
              <a:t>17</a:t>
            </a:fld>
            <a:endParaRPr lang="en-US" altLang="zh-CN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095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FD0B31-8E55-4967-BD0B-B4ED3E4D67EE}" type="slidenum">
              <a:rPr lang="zh-CN" altLang="en-US" smtClean="0"/>
              <a:pPr/>
              <a:t>19</a:t>
            </a:fld>
            <a:endParaRPr lang="en-US" altLang="zh-CN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678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944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除空串和全</a:t>
            </a:r>
            <a:r>
              <a:rPr lang="en-US" altLang="zh-CN"/>
              <a:t>0</a:t>
            </a:r>
            <a:r>
              <a:rPr lang="zh-CN" altLang="en-US"/>
              <a:t>串外  最后一个语言</a:t>
            </a:r>
          </a:p>
        </p:txBody>
      </p:sp>
      <p:sp>
        <p:nvSpPr>
          <p:cNvPr id="1894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0DD99F-7985-4CAC-BBB6-481C0A0A831D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3473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=""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=""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=""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=""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=""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=""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=""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=""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=""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=""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=""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=""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=""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=""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=""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=""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程序语言的设计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=""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863816" y="1638300"/>
            <a:ext cx="6464368" cy="372023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=""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=""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=""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=""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=""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=""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=""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=""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=""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=""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=""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=""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=""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=""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第一节 高级程序设计语言的定义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</a:rPr>
                <a:t>第二节 形式语言与文法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第三节 高级程序设计语言的设计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高级程序设计语言实例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972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程序语言的设计</a:t>
            </a:r>
          </a:p>
        </p:txBody>
      </p:sp>
      <p:sp>
        <p:nvSpPr>
          <p:cNvPr id="27" name="对话气泡: 圆角矩形 26">
            <a:extLst>
              <a:ext uri="{FF2B5EF4-FFF2-40B4-BE49-F238E27FC236}">
                <a16:creationId xmlns="" xmlns:a16="http://schemas.microsoft.com/office/drawing/2014/main" id="{84EDB7F6-2829-4A95-9DAE-8DCE8BE9FF43}"/>
              </a:ext>
            </a:extLst>
          </p:cNvPr>
          <p:cNvSpPr/>
          <p:nvPr/>
        </p:nvSpPr>
        <p:spPr>
          <a:xfrm rot="5400000">
            <a:off x="7268166" y="1519988"/>
            <a:ext cx="2101101" cy="3988234"/>
          </a:xfrm>
          <a:prstGeom prst="wedgeRoundRectCallout">
            <a:avLst>
              <a:gd name="adj1" fmla="val -20514"/>
              <a:gd name="adj2" fmla="val 60093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形式语言与自动机理论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语言的形式定义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文法和语言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="" xmlns:a16="http://schemas.microsoft.com/office/drawing/2014/main" id="{A563D2E1-5945-4393-9A28-DF176DB229F3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966203" cy="2711612"/>
            <a:chOff x="1449652" y="2320203"/>
            <a:chExt cx="4724869" cy="2719152"/>
          </a:xfrm>
        </p:grpSpPr>
        <p:grpSp>
          <p:nvGrpSpPr>
            <p:cNvPr id="30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74B834B1-7E11-4152-A77C-15A0BB93CFFA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5" name="Freeform 45">
                <a:extLst>
                  <a:ext uri="{FF2B5EF4-FFF2-40B4-BE49-F238E27FC236}">
                    <a16:creationId xmlns="" xmlns:a16="http://schemas.microsoft.com/office/drawing/2014/main" id="{E63B6474-B2BF-43F4-AB6D-9FC2C2C13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6">
                <a:extLst>
                  <a:ext uri="{FF2B5EF4-FFF2-40B4-BE49-F238E27FC236}">
                    <a16:creationId xmlns="" xmlns:a16="http://schemas.microsoft.com/office/drawing/2014/main" id="{3B26680D-10AD-4347-97AF-106000B60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7">
                <a:extLst>
                  <a:ext uri="{FF2B5EF4-FFF2-40B4-BE49-F238E27FC236}">
                    <a16:creationId xmlns="" xmlns:a16="http://schemas.microsoft.com/office/drawing/2014/main" id="{5731EF02-7BFE-495F-A3B3-0E34DAB39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8">
                <a:extLst>
                  <a:ext uri="{FF2B5EF4-FFF2-40B4-BE49-F238E27FC236}">
                    <a16:creationId xmlns="" xmlns:a16="http://schemas.microsoft.com/office/drawing/2014/main" id="{B4DF4346-11BC-428E-867D-B270CD26A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Freeform 49">
                <a:extLst>
                  <a:ext uri="{FF2B5EF4-FFF2-40B4-BE49-F238E27FC236}">
                    <a16:creationId xmlns="" xmlns:a16="http://schemas.microsoft.com/office/drawing/2014/main" id="{AC6E8CA7-61FA-4DF0-AA94-5829712D5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Rectangle 50">
                <a:extLst>
                  <a:ext uri="{FF2B5EF4-FFF2-40B4-BE49-F238E27FC236}">
                    <a16:creationId xmlns="" xmlns:a16="http://schemas.microsoft.com/office/drawing/2014/main" id="{11903CBC-A7AA-4A96-BC39-7DAE0E80A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Freeform 51">
                <a:extLst>
                  <a:ext uri="{FF2B5EF4-FFF2-40B4-BE49-F238E27FC236}">
                    <a16:creationId xmlns="" xmlns:a16="http://schemas.microsoft.com/office/drawing/2014/main" id="{749349CF-9E4A-4EC3-8D29-303642B7F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2">
                <a:extLst>
                  <a:ext uri="{FF2B5EF4-FFF2-40B4-BE49-F238E27FC236}">
                    <a16:creationId xmlns="" xmlns:a16="http://schemas.microsoft.com/office/drawing/2014/main" id="{AB6DB606-C911-4FDD-AAC5-E9FD614D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Rectangle 53">
                <a:extLst>
                  <a:ext uri="{FF2B5EF4-FFF2-40B4-BE49-F238E27FC236}">
                    <a16:creationId xmlns="" xmlns:a16="http://schemas.microsoft.com/office/drawing/2014/main" id="{4BEF50C3-030A-42CA-9EA7-FED5BB98E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4">
                <a:extLst>
                  <a:ext uri="{FF2B5EF4-FFF2-40B4-BE49-F238E27FC236}">
                    <a16:creationId xmlns="" xmlns:a16="http://schemas.microsoft.com/office/drawing/2014/main" id="{3027579F-95E4-40B4-BB39-536B72BF5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5">
                <a:extLst>
                  <a:ext uri="{FF2B5EF4-FFF2-40B4-BE49-F238E27FC236}">
                    <a16:creationId xmlns="" xmlns:a16="http://schemas.microsoft.com/office/drawing/2014/main" id="{B3C5433E-CAF5-4271-B352-F72926599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6">
                <a:extLst>
                  <a:ext uri="{FF2B5EF4-FFF2-40B4-BE49-F238E27FC236}">
                    <a16:creationId xmlns="" xmlns:a16="http://schemas.microsoft.com/office/drawing/2014/main" id="{EEEBA92F-A6C6-4839-8CAC-4C200EBE7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Oval 57">
                <a:extLst>
                  <a:ext uri="{FF2B5EF4-FFF2-40B4-BE49-F238E27FC236}">
                    <a16:creationId xmlns="" xmlns:a16="http://schemas.microsoft.com/office/drawing/2014/main" id="{4628FB61-1CFF-4BAE-9C59-BF9B99872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8" name="Freeform 58">
                <a:extLst>
                  <a:ext uri="{FF2B5EF4-FFF2-40B4-BE49-F238E27FC236}">
                    <a16:creationId xmlns="" xmlns:a16="http://schemas.microsoft.com/office/drawing/2014/main" id="{64089EE7-97A8-4FB6-8B97-0E5831539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31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B4C88D07-2866-44EB-B2C1-1BBE36E2280F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高级程序设计语言的定义</a:t>
              </a:r>
            </a:p>
          </p:txBody>
        </p:sp>
        <p:sp>
          <p:nvSpPr>
            <p:cNvPr id="32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4423708C-E27D-44F0-B9FB-832A09AF8B8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第二节 形式语言与文法</a:t>
              </a:r>
            </a:p>
          </p:txBody>
        </p:sp>
        <p:sp>
          <p:nvSpPr>
            <p:cNvPr id="33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21F40BA5-235C-4276-95B4-ADDF952547C7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高级程序设计语言的设计</a:t>
              </a:r>
            </a:p>
          </p:txBody>
        </p:sp>
        <p:sp>
          <p:nvSpPr>
            <p:cNvPr id="34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AFEE4512-A224-4160-9322-8C132C2CBCBF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高级程序设计语言实例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2447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FFFF00"/>
                </a:solidFill>
              </a:rPr>
              <a:t>形式语言与自动机理论</a:t>
            </a:r>
            <a:r>
              <a:rPr lang="zh-CN" altLang="en-US" dirty="0"/>
              <a:t>研究</a:t>
            </a:r>
            <a:r>
              <a:rPr lang="zh-CN" altLang="zh-CN" dirty="0"/>
              <a:t>计算的数学模型的定义和</a:t>
            </a:r>
            <a:r>
              <a:rPr lang="zh-CN" altLang="zh-CN" dirty="0" smtClean="0"/>
              <a:t>性质</a:t>
            </a:r>
            <a:endParaRPr lang="en-US" altLang="zh-CN" dirty="0" smtClean="0"/>
          </a:p>
          <a:p>
            <a:r>
              <a:rPr lang="zh-CN" altLang="zh-CN" dirty="0" smtClean="0"/>
              <a:t>这些</a:t>
            </a:r>
            <a:r>
              <a:rPr lang="zh-CN" altLang="zh-CN" dirty="0"/>
              <a:t>模型在计算机科学的若干应用领域中起着重要</a:t>
            </a:r>
            <a:r>
              <a:rPr lang="zh-CN" altLang="zh-CN" dirty="0" smtClean="0"/>
              <a:t>作用</a:t>
            </a:r>
            <a:endParaRPr lang="en-US" altLang="zh-CN" dirty="0" smtClean="0"/>
          </a:p>
          <a:p>
            <a:r>
              <a:rPr lang="zh-CN" altLang="zh-CN" dirty="0" smtClean="0"/>
              <a:t>其</a:t>
            </a:r>
            <a:r>
              <a:rPr lang="zh-CN" altLang="zh-CN" dirty="0"/>
              <a:t>应用范围已被扩展到生物工程、自动控制系统、图像处理与模式</a:t>
            </a:r>
            <a:r>
              <a:rPr lang="zh-CN" altLang="en-US" dirty="0"/>
              <a:t>识别</a:t>
            </a:r>
            <a:r>
              <a:rPr lang="zh-CN" altLang="zh-CN" dirty="0"/>
              <a:t>等许多领域。</a:t>
            </a:r>
            <a:endParaRPr lang="en-US" altLang="zh-CN" dirty="0"/>
          </a:p>
        </p:txBody>
      </p:sp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形式语言与自动机理论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形式语言和自动机的理论来源于：</a:t>
            </a:r>
          </a:p>
          <a:p>
            <a:r>
              <a:rPr lang="zh-CN" altLang="en-US" dirty="0"/>
              <a:t>(1) </a:t>
            </a:r>
            <a:r>
              <a:rPr lang="en-US" altLang="zh-CN" dirty="0">
                <a:solidFill>
                  <a:srgbClr val="EE853E"/>
                </a:solidFill>
              </a:rPr>
              <a:t>Chomsky</a:t>
            </a:r>
            <a:r>
              <a:rPr lang="zh-CN" altLang="en-US" dirty="0"/>
              <a:t>对自然语言的研究；</a:t>
            </a:r>
          </a:p>
          <a:p>
            <a:r>
              <a:rPr lang="zh-CN" altLang="en-US" dirty="0"/>
              <a:t>(2) </a:t>
            </a:r>
            <a:r>
              <a:rPr lang="en-US" altLang="zh-CN" dirty="0">
                <a:solidFill>
                  <a:srgbClr val="EE853E"/>
                </a:solidFill>
              </a:rPr>
              <a:t>ALGOL 60</a:t>
            </a:r>
            <a:r>
              <a:rPr lang="zh-CN" altLang="en-US" dirty="0"/>
              <a:t>语言的语法描述方式；</a:t>
            </a:r>
          </a:p>
          <a:p>
            <a:r>
              <a:rPr lang="en-US" altLang="zh-CN" dirty="0"/>
              <a:t>(3) </a:t>
            </a:r>
            <a:r>
              <a:rPr lang="en-US" altLang="zh-CN" dirty="0">
                <a:solidFill>
                  <a:srgbClr val="EE853E"/>
                </a:solidFill>
              </a:rPr>
              <a:t>Turing</a:t>
            </a:r>
            <a:r>
              <a:rPr lang="zh-CN" altLang="en-US" dirty="0">
                <a:solidFill>
                  <a:srgbClr val="EE853E"/>
                </a:solidFill>
              </a:rPr>
              <a:t>、</a:t>
            </a:r>
            <a:r>
              <a:rPr lang="en-US" altLang="zh-CN" dirty="0">
                <a:solidFill>
                  <a:srgbClr val="EE853E"/>
                </a:solidFill>
              </a:rPr>
              <a:t>Kleene</a:t>
            </a:r>
            <a:r>
              <a:rPr lang="zh-CN" altLang="en-US" dirty="0">
                <a:solidFill>
                  <a:srgbClr val="EE853E"/>
                </a:solidFill>
              </a:rPr>
              <a:t>、</a:t>
            </a:r>
            <a:r>
              <a:rPr lang="en-US" altLang="zh-CN" dirty="0">
                <a:solidFill>
                  <a:srgbClr val="EE853E"/>
                </a:solidFill>
              </a:rPr>
              <a:t>Neumann</a:t>
            </a:r>
            <a:r>
              <a:rPr lang="zh-CN" altLang="en-US" dirty="0">
                <a:solidFill>
                  <a:srgbClr val="EE853E"/>
                </a:solidFill>
              </a:rPr>
              <a:t>、</a:t>
            </a:r>
            <a:r>
              <a:rPr lang="en-GB" altLang="zh-CN" dirty="0">
                <a:solidFill>
                  <a:srgbClr val="EE853E"/>
                </a:solidFill>
              </a:rPr>
              <a:t>Huffman</a:t>
            </a:r>
            <a:r>
              <a:rPr lang="zh-CN" altLang="en-US" dirty="0"/>
              <a:t>等对自动机的研究；</a:t>
            </a:r>
            <a:endParaRPr lang="en-US" altLang="zh-CN" dirty="0"/>
          </a:p>
          <a:p>
            <a:r>
              <a:rPr lang="zh-CN" altLang="en-US" dirty="0"/>
              <a:t>(</a:t>
            </a:r>
            <a:r>
              <a:rPr lang="en-US" altLang="zh-CN" dirty="0"/>
              <a:t>4</a:t>
            </a:r>
            <a:r>
              <a:rPr lang="zh-CN" altLang="en-US" dirty="0"/>
              <a:t>) </a:t>
            </a:r>
            <a:r>
              <a:rPr lang="en-US" altLang="zh-CN" dirty="0">
                <a:solidFill>
                  <a:srgbClr val="EE853E"/>
                </a:solidFill>
              </a:rPr>
              <a:t>Chomsky</a:t>
            </a:r>
            <a:r>
              <a:rPr lang="zh-CN" altLang="en-US" dirty="0"/>
              <a:t>的整合。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理论来源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语言是人们交流思想的工具，人类在长期的历史发展过程中，为了交流思想、表达感情和交换信息，逐步形成了语言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EE853E"/>
                </a:solidFill>
              </a:rPr>
              <a:t>自然语言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 smtClean="0">
                <a:solidFill>
                  <a:srgbClr val="EE853E"/>
                </a:solidFill>
              </a:rPr>
              <a:t>自然语言</a:t>
            </a:r>
            <a:r>
              <a:rPr lang="zh-CN" altLang="en-US" dirty="0">
                <a:solidFill>
                  <a:srgbClr val="EE853E"/>
                </a:solidFill>
              </a:rPr>
              <a:t>的本质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EE853E"/>
                </a:solidFill>
              </a:rPr>
              <a:t>规则</a:t>
            </a:r>
            <a:r>
              <a:rPr lang="zh-CN" altLang="en-US" dirty="0"/>
              <a:t>的组合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任意字符的集合是一个</a:t>
            </a:r>
            <a:r>
              <a:rPr lang="zh-CN" altLang="en-US" dirty="0">
                <a:solidFill>
                  <a:srgbClr val="EE853E"/>
                </a:solidFill>
              </a:rPr>
              <a:t>字母表</a:t>
            </a:r>
            <a:r>
              <a:rPr lang="zh-CN" altLang="en-US" dirty="0" smtClean="0"/>
              <a:t>。常用的字母表 如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26</a:t>
            </a:r>
            <a:r>
              <a:rPr lang="zh-CN" altLang="en-US" dirty="0"/>
              <a:t>个英文字母表；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10</a:t>
            </a:r>
            <a:r>
              <a:rPr lang="zh-CN" altLang="en-US" dirty="0"/>
              <a:t>个阿拉伯数字字母表；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24</a:t>
            </a:r>
            <a:r>
              <a:rPr lang="zh-CN" altLang="en-US" dirty="0"/>
              <a:t>个希腊字母表；</a:t>
            </a:r>
            <a:endParaRPr lang="en-US" altLang="zh-CN" dirty="0"/>
          </a:p>
          <a:p>
            <a:r>
              <a:rPr lang="zh-CN" altLang="en-US" dirty="0"/>
              <a:t>二进制字母表。</a:t>
            </a:r>
            <a:endParaRPr lang="en-US" altLang="zh-CN" dirty="0"/>
          </a:p>
          <a:p>
            <a:r>
              <a:rPr lang="zh-CN" altLang="en-US" dirty="0"/>
              <a:t>字母表有</a:t>
            </a:r>
            <a:r>
              <a:rPr lang="zh-CN" altLang="en-US" dirty="0">
                <a:solidFill>
                  <a:srgbClr val="EE853E"/>
                </a:solidFill>
              </a:rPr>
              <a:t>非空性、有穷性、单一性</a:t>
            </a:r>
            <a:r>
              <a:rPr lang="zh-CN" altLang="en-US" dirty="0"/>
              <a:t>，使用</a:t>
            </a:r>
            <a:r>
              <a:rPr lang="zh-CN" altLang="en-US" dirty="0">
                <a:solidFill>
                  <a:srgbClr val="FFFF00"/>
                </a:solidFill>
                <a:sym typeface="Symbol" pitchFamily="18" charset="2"/>
              </a:rPr>
              <a:t></a:t>
            </a:r>
            <a:r>
              <a:rPr lang="zh-CN" altLang="en-US" dirty="0"/>
              <a:t>表示字母表。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形式语言中的语言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字符串：</a:t>
            </a:r>
            <a:endParaRPr lang="en-US" altLang="zh-CN" dirty="0"/>
          </a:p>
          <a:p>
            <a:r>
              <a:rPr lang="zh-CN" altLang="en-US" dirty="0"/>
              <a:t>字母表中的字母按照某种顺序排列成的</a:t>
            </a:r>
            <a:r>
              <a:rPr lang="zh-CN" altLang="en-US" dirty="0">
                <a:solidFill>
                  <a:srgbClr val="EE853E"/>
                </a:solidFill>
              </a:rPr>
              <a:t>字符序列</a:t>
            </a:r>
            <a:r>
              <a:rPr lang="zh-CN" altLang="en-US" dirty="0"/>
              <a:t>（允许有重复的字母）。</a:t>
            </a:r>
            <a:endParaRPr lang="en-US" altLang="zh-CN" dirty="0"/>
          </a:p>
          <a:p>
            <a:r>
              <a:rPr lang="zh-CN" altLang="en-US" dirty="0"/>
              <a:t>用 </a:t>
            </a:r>
            <a:r>
              <a:rPr lang="en-US" altLang="zh-CN" dirty="0">
                <a:solidFill>
                  <a:srgbClr val="EE853E"/>
                </a:solidFill>
              </a:rPr>
              <a:t>ε </a:t>
            </a:r>
            <a:r>
              <a:rPr lang="zh-CN" altLang="en-US" dirty="0"/>
              <a:t>代表空串（长度为</a:t>
            </a:r>
            <a:r>
              <a:rPr lang="en-US" altLang="zh-CN" dirty="0"/>
              <a:t>0</a:t>
            </a:r>
            <a:r>
              <a:rPr lang="zh-CN" altLang="en-US" dirty="0"/>
              <a:t>的串）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语言：</a:t>
            </a:r>
            <a:endParaRPr lang="en-US" altLang="zh-CN" dirty="0"/>
          </a:p>
          <a:p>
            <a:r>
              <a:rPr lang="zh-CN" altLang="en-US" dirty="0"/>
              <a:t>任意多个</a:t>
            </a:r>
            <a:r>
              <a:rPr lang="zh-CN" altLang="en-US" dirty="0" smtClean="0"/>
              <a:t>字符串构成的</a:t>
            </a:r>
            <a:r>
              <a:rPr lang="zh-CN" altLang="en-US" dirty="0">
                <a:solidFill>
                  <a:srgbClr val="EE853E"/>
                </a:solidFill>
              </a:rPr>
              <a:t>集合</a:t>
            </a:r>
            <a:r>
              <a:rPr lang="zh-CN" altLang="en-US" dirty="0"/>
              <a:t>。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AA1AECB4-026F-42AF-9245-A4381A3A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形式语言中的语言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(1) </a:t>
            </a:r>
            <a:r>
              <a:rPr lang="zh-CN" altLang="en-US" dirty="0">
                <a:solidFill>
                  <a:srgbClr val="EE853E"/>
                </a:solidFill>
              </a:rPr>
              <a:t>{</a:t>
            </a:r>
            <a:r>
              <a:rPr lang="en-US" altLang="zh-CN" dirty="0">
                <a:solidFill>
                  <a:srgbClr val="EE853E"/>
                </a:solidFill>
              </a:rPr>
              <a:t>ε}</a:t>
            </a:r>
            <a:r>
              <a:rPr lang="zh-CN" altLang="en-US" dirty="0"/>
              <a:t>代表仅含有空串的集合。</a:t>
            </a:r>
          </a:p>
          <a:p>
            <a:r>
              <a:rPr lang="zh-CN" altLang="en-US" dirty="0"/>
              <a:t>(2) 用</a:t>
            </a:r>
            <a:r>
              <a:rPr lang="en-US" altLang="zh-CN" dirty="0">
                <a:solidFill>
                  <a:srgbClr val="EE853E"/>
                </a:solidFill>
              </a:rPr>
              <a:t>Ф</a:t>
            </a:r>
            <a:r>
              <a:rPr lang="zh-CN" altLang="en-US" dirty="0"/>
              <a:t>代表空集，表示一个元素都不包含的集合。</a:t>
            </a:r>
          </a:p>
          <a:p>
            <a:r>
              <a:rPr lang="zh-CN" altLang="en-US" dirty="0"/>
              <a:t>(3) 用</a:t>
            </a:r>
            <a:r>
              <a:rPr lang="zh-CN" altLang="en-US" dirty="0">
                <a:solidFill>
                  <a:srgbClr val="EE853E"/>
                </a:solidFill>
                <a:sym typeface="Symbol" pitchFamily="18" charset="2"/>
              </a:rPr>
              <a:t></a:t>
            </a:r>
            <a:r>
              <a:rPr lang="zh-CN" altLang="en-US" dirty="0"/>
              <a:t>代表字母表。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="" xmlns:a16="http://schemas.microsoft.com/office/drawing/2014/main" id="{980C0E8E-2BC0-487A-97D1-C747F1349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(4) 用</a:t>
            </a:r>
            <a:r>
              <a:rPr lang="en-US" altLang="zh-CN" dirty="0">
                <a:solidFill>
                  <a:srgbClr val="EE853E"/>
                </a:solidFill>
              </a:rPr>
              <a:t>αβ</a:t>
            </a:r>
            <a:r>
              <a:rPr lang="zh-CN" altLang="en-US" dirty="0"/>
              <a:t>代表两个字符串</a:t>
            </a:r>
            <a:r>
              <a:rPr lang="en-US" altLang="zh-CN" dirty="0">
                <a:solidFill>
                  <a:srgbClr val="EE853E"/>
                </a:solidFill>
              </a:rPr>
              <a:t>α</a:t>
            </a:r>
            <a:r>
              <a:rPr lang="zh-CN" altLang="en-US" dirty="0"/>
              <a:t>与</a:t>
            </a:r>
            <a:r>
              <a:rPr lang="en-US" altLang="zh-CN" dirty="0">
                <a:solidFill>
                  <a:srgbClr val="EE853E"/>
                </a:solidFill>
              </a:rPr>
              <a:t>β</a:t>
            </a:r>
            <a:r>
              <a:rPr lang="zh-CN" altLang="en-US" dirty="0"/>
              <a:t>的连接（并置）</a:t>
            </a:r>
          </a:p>
          <a:p>
            <a:r>
              <a:rPr lang="zh-CN" altLang="en-US" dirty="0"/>
              <a:t>若</a:t>
            </a:r>
            <a:r>
              <a:rPr lang="en-US" altLang="zh-CN" dirty="0"/>
              <a:t>α = a</a:t>
            </a:r>
            <a:r>
              <a:rPr lang="en-US" altLang="zh-CN" baseline="-25000" dirty="0"/>
              <a:t>1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/>
              <a:t>…a</a:t>
            </a:r>
            <a:r>
              <a:rPr lang="en-US" altLang="zh-CN" baseline="-25000" dirty="0"/>
              <a:t>n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dirty="0"/>
              <a:t> β = b</a:t>
            </a:r>
            <a:r>
              <a:rPr lang="en-US" altLang="zh-CN" baseline="-25000" dirty="0"/>
              <a:t>1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r>
              <a:rPr lang="en-US" altLang="zh-CN" dirty="0"/>
              <a:t>…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m</a:t>
            </a:r>
            <a:endParaRPr lang="en-US" altLang="zh-CN" dirty="0"/>
          </a:p>
          <a:p>
            <a:r>
              <a:rPr lang="zh-CN" altLang="en-US" dirty="0"/>
              <a:t>则</a:t>
            </a:r>
            <a:r>
              <a:rPr lang="en-US" altLang="zh-CN" dirty="0"/>
              <a:t>αβ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= a</a:t>
            </a:r>
            <a:r>
              <a:rPr lang="en-US" altLang="zh-CN" baseline="-25000" dirty="0"/>
              <a:t>1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/>
              <a:t>…a</a:t>
            </a:r>
            <a:r>
              <a:rPr lang="en-US" altLang="zh-CN" baseline="-25000" dirty="0"/>
              <a:t>n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r>
              <a:rPr lang="en-US" altLang="zh-CN" dirty="0"/>
              <a:t>…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m</a:t>
            </a:r>
            <a:endParaRPr lang="en-US" altLang="zh-CN" dirty="0"/>
          </a:p>
          <a:p>
            <a:r>
              <a:rPr lang="zh-CN" altLang="en-US" dirty="0">
                <a:sym typeface="Symbol" pitchFamily="18" charset="2"/>
              </a:rPr>
              <a:t>特别：</a:t>
            </a:r>
            <a:r>
              <a:rPr lang="en-US" altLang="zh-CN" dirty="0"/>
              <a:t>αε=εα=α</a:t>
            </a:r>
            <a:endParaRPr lang="en-US" altLang="zh-CN" dirty="0">
              <a:sym typeface="Symbol" pitchFamily="18" charset="2"/>
            </a:endParaRPr>
          </a:p>
          <a:p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/>
              <a:t>α</a:t>
            </a:r>
            <a:r>
              <a:rPr lang="en-GB" altLang="zh-CN" baseline="30000" dirty="0">
                <a:sym typeface="Symbol" pitchFamily="18" charset="2"/>
              </a:rPr>
              <a:t>n</a:t>
            </a:r>
            <a:r>
              <a:rPr lang="zh-CN" altLang="en-US" dirty="0"/>
              <a:t>代表</a:t>
            </a:r>
            <a:r>
              <a:rPr lang="en-US" altLang="zh-CN" dirty="0"/>
              <a:t>α</a:t>
            </a:r>
            <a:r>
              <a:rPr lang="zh-CN" altLang="en-US" dirty="0"/>
              <a:t>的</a:t>
            </a:r>
            <a:r>
              <a:rPr lang="en-GB" altLang="zh-CN" dirty="0">
                <a:solidFill>
                  <a:srgbClr val="EE853E"/>
                </a:solidFill>
              </a:rPr>
              <a:t>n</a:t>
            </a:r>
            <a:r>
              <a:rPr lang="zh-CN" altLang="en-GB" dirty="0">
                <a:solidFill>
                  <a:srgbClr val="EE853E"/>
                </a:solidFill>
              </a:rPr>
              <a:t>次</a:t>
            </a:r>
            <a:r>
              <a:rPr lang="zh-CN" altLang="en-US" dirty="0">
                <a:solidFill>
                  <a:srgbClr val="EE853E"/>
                </a:solidFill>
              </a:rPr>
              <a:t>连接</a:t>
            </a:r>
            <a:r>
              <a:rPr lang="zh-CN" altLang="en-US" dirty="0"/>
              <a:t>（</a:t>
            </a:r>
            <a:r>
              <a:rPr lang="en-US" altLang="zh-CN" dirty="0"/>
              <a:t>n</a:t>
            </a:r>
            <a:r>
              <a:rPr lang="zh-CN" altLang="en-US" dirty="0"/>
              <a:t>次幂）</a:t>
            </a:r>
          </a:p>
          <a:p>
            <a:r>
              <a:rPr lang="en-US" altLang="zh-CN" dirty="0"/>
              <a:t>α</a:t>
            </a:r>
            <a:r>
              <a:rPr lang="en-GB" altLang="zh-CN" baseline="30000" dirty="0">
                <a:sym typeface="Symbol" pitchFamily="18" charset="2"/>
              </a:rPr>
              <a:t>0</a:t>
            </a:r>
            <a:r>
              <a:rPr lang="en-GB" altLang="zh-CN" dirty="0"/>
              <a:t> = </a:t>
            </a:r>
            <a:r>
              <a:rPr lang="en-US" altLang="zh-CN" dirty="0"/>
              <a:t>ε</a:t>
            </a:r>
          </a:p>
          <a:p>
            <a:r>
              <a:rPr lang="en-US" altLang="zh-CN" dirty="0"/>
              <a:t>α</a:t>
            </a:r>
            <a:r>
              <a:rPr lang="en-GB" altLang="zh-CN" baseline="30000" dirty="0">
                <a:sym typeface="Symbol" pitchFamily="18" charset="2"/>
              </a:rPr>
              <a:t>n</a:t>
            </a:r>
            <a:r>
              <a:rPr lang="en-GB" altLang="zh-CN" dirty="0"/>
              <a:t> = </a:t>
            </a:r>
            <a:r>
              <a:rPr lang="en-US" altLang="zh-CN" dirty="0"/>
              <a:t>α</a:t>
            </a:r>
            <a:r>
              <a:rPr lang="en-GB" altLang="zh-CN" baseline="30000" dirty="0">
                <a:sym typeface="Symbol" pitchFamily="18" charset="2"/>
              </a:rPr>
              <a:t>n-1</a:t>
            </a:r>
            <a:r>
              <a:rPr lang="en-US" altLang="zh-CN" dirty="0"/>
              <a:t>α</a:t>
            </a:r>
            <a:r>
              <a:rPr lang="zh-CN" altLang="en-US" dirty="0"/>
              <a:t>，其中 </a:t>
            </a:r>
            <a:r>
              <a:rPr lang="en-GB" altLang="zh-CN" dirty="0"/>
              <a:t>n&gt;0</a:t>
            </a:r>
            <a:endParaRPr lang="zh-CN" altLang="en-US" dirty="0">
              <a:sym typeface="Symbol" pitchFamily="18" charset="2"/>
            </a:endParaRP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="" xmlns:a16="http://schemas.microsoft.com/office/drawing/2014/main" id="{0834D9A0-2163-49C0-A813-9CF5B40A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</p:spTree>
    <p:extLst>
      <p:ext uri="{BB962C8B-B14F-4D97-AF65-F5344CB8AC3E}">
        <p14:creationId xmlns:p14="http://schemas.microsoft.com/office/powerpoint/2010/main" val="98149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(5) 用</a:t>
            </a:r>
            <a:r>
              <a:rPr lang="en-US" altLang="zh-CN" dirty="0"/>
              <a:t>AB</a:t>
            </a:r>
            <a:r>
              <a:rPr lang="zh-CN" altLang="en-US" dirty="0"/>
              <a:t>代表集合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的连接</a:t>
            </a:r>
          </a:p>
          <a:p>
            <a:r>
              <a:rPr lang="en-US" altLang="zh-CN" dirty="0"/>
              <a:t>A 	=	{	a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n</a:t>
            </a:r>
            <a:r>
              <a:rPr lang="en-US" altLang="zh-CN" dirty="0"/>
              <a:t>   }</a:t>
            </a:r>
          </a:p>
          <a:p>
            <a:r>
              <a:rPr lang="en-US" altLang="zh-CN" dirty="0"/>
              <a:t>B	=	{	b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m</a:t>
            </a:r>
            <a:r>
              <a:rPr lang="en-US" altLang="zh-CN" dirty="0"/>
              <a:t>   }</a:t>
            </a:r>
          </a:p>
          <a:p>
            <a:r>
              <a:rPr lang="en-US" altLang="zh-CN" dirty="0"/>
              <a:t>AB	=	{ 	a</a:t>
            </a:r>
            <a:r>
              <a:rPr lang="en-US" altLang="zh-CN" baseline="-25000" dirty="0"/>
              <a:t>1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，a</a:t>
            </a:r>
            <a:r>
              <a:rPr lang="en-US" altLang="zh-CN" baseline="-25000" dirty="0"/>
              <a:t>1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，a</a:t>
            </a:r>
            <a:r>
              <a:rPr lang="en-US" altLang="zh-CN" baseline="-25000" dirty="0"/>
              <a:t>1</a:t>
            </a:r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r>
              <a:rPr lang="en-US" altLang="zh-CN" dirty="0"/>
              <a:t>，…，a</a:t>
            </a:r>
            <a:r>
              <a:rPr lang="en-US" altLang="zh-CN" baseline="-25000" dirty="0"/>
              <a:t>1</a:t>
            </a:r>
            <a:r>
              <a:rPr lang="en-US" altLang="zh-CN" dirty="0"/>
              <a:t>b</a:t>
            </a:r>
            <a:r>
              <a:rPr lang="en-US" altLang="zh-CN" baseline="-25000" dirty="0"/>
              <a:t>m</a:t>
            </a:r>
            <a:r>
              <a:rPr lang="en-US" altLang="zh-CN" dirty="0"/>
              <a:t>，</a:t>
            </a:r>
          </a:p>
          <a:p>
            <a:r>
              <a:rPr lang="en-US" altLang="zh-CN" dirty="0"/>
              <a:t>			a</a:t>
            </a:r>
            <a:r>
              <a:rPr lang="en-US" altLang="zh-CN" baseline="-25000" dirty="0"/>
              <a:t>2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，a</a:t>
            </a:r>
            <a:r>
              <a:rPr lang="en-US" altLang="zh-CN" baseline="-25000" dirty="0"/>
              <a:t>2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，a</a:t>
            </a:r>
            <a:r>
              <a:rPr lang="en-US" altLang="zh-CN" baseline="-25000" dirty="0"/>
              <a:t>2</a:t>
            </a:r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r>
              <a:rPr lang="en-US" altLang="zh-CN" dirty="0"/>
              <a:t>，…，a</a:t>
            </a:r>
            <a:r>
              <a:rPr lang="en-US" altLang="zh-CN" baseline="-25000" dirty="0"/>
              <a:t>2</a:t>
            </a:r>
            <a:r>
              <a:rPr lang="en-US" altLang="zh-CN" dirty="0"/>
              <a:t>b</a:t>
            </a:r>
            <a:r>
              <a:rPr lang="en-US" altLang="zh-CN" baseline="-25000" dirty="0"/>
              <a:t>m</a:t>
            </a:r>
            <a:r>
              <a:rPr lang="en-US" altLang="zh-CN" dirty="0"/>
              <a:t>，</a:t>
            </a:r>
          </a:p>
          <a:p>
            <a:r>
              <a:rPr lang="en-US" altLang="zh-CN" dirty="0"/>
              <a:t>			a</a:t>
            </a:r>
            <a:r>
              <a:rPr lang="en-US" altLang="zh-CN" baseline="-25000" dirty="0"/>
              <a:t>3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，a</a:t>
            </a:r>
            <a:r>
              <a:rPr lang="en-US" altLang="zh-CN" baseline="-25000" dirty="0"/>
              <a:t>3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，a</a:t>
            </a:r>
            <a:r>
              <a:rPr lang="en-US" altLang="zh-CN" baseline="-25000" dirty="0"/>
              <a:t>3</a:t>
            </a:r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r>
              <a:rPr lang="en-US" altLang="zh-CN" dirty="0"/>
              <a:t>，…，a</a:t>
            </a:r>
            <a:r>
              <a:rPr lang="en-US" altLang="zh-CN" baseline="-25000" dirty="0"/>
              <a:t>3</a:t>
            </a:r>
            <a:r>
              <a:rPr lang="en-US" altLang="zh-CN" dirty="0"/>
              <a:t>b</a:t>
            </a:r>
            <a:r>
              <a:rPr lang="en-US" altLang="zh-CN" baseline="-25000" dirty="0"/>
              <a:t>m</a:t>
            </a:r>
            <a:r>
              <a:rPr lang="en-US" altLang="zh-CN" dirty="0"/>
              <a:t>，</a:t>
            </a:r>
          </a:p>
          <a:p>
            <a:r>
              <a:rPr lang="en-US" altLang="zh-CN" dirty="0"/>
              <a:t>			…</a:t>
            </a:r>
          </a:p>
          <a:p>
            <a:r>
              <a:rPr lang="en-US" altLang="zh-CN" dirty="0"/>
              <a:t>			a</a:t>
            </a:r>
            <a:r>
              <a:rPr lang="en-US" altLang="zh-CN" baseline="-25000" dirty="0"/>
              <a:t>n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，a</a:t>
            </a:r>
            <a:r>
              <a:rPr lang="en-US" altLang="zh-CN" baseline="-25000" dirty="0"/>
              <a:t>n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，a</a:t>
            </a:r>
            <a:r>
              <a:rPr lang="en-US" altLang="zh-CN" baseline="-25000" dirty="0"/>
              <a:t>n</a:t>
            </a:r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r>
              <a:rPr lang="en-US" altLang="zh-CN" dirty="0"/>
              <a:t>，…，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n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m</a:t>
            </a:r>
            <a:r>
              <a:rPr lang="en-US" altLang="zh-CN" dirty="0"/>
              <a:t>   }</a:t>
            </a:r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545C62DC-6101-4668-BD97-3CBAF484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="" xmlns:a16="http://schemas.microsoft.com/office/drawing/2014/main" id="{63B9A2D2-810B-4044-98C3-808EC267C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注意：</a:t>
            </a:r>
            <a:r>
              <a:rPr lang="en-US" altLang="zh-CN" dirty="0"/>
              <a:t>AФ = ФA = Ф</a:t>
            </a:r>
          </a:p>
          <a:p>
            <a:r>
              <a:rPr lang="en-US" altLang="zh-CN" dirty="0"/>
              <a:t> 		A{ε} = {ε}A = A</a:t>
            </a:r>
          </a:p>
          <a:p>
            <a:r>
              <a:rPr lang="en-US" altLang="zh-CN" dirty="0"/>
              <a:t>		</a:t>
            </a:r>
            <a:r>
              <a:rPr lang="zh-CN" altLang="en-US" dirty="0"/>
              <a:t>一般，</a:t>
            </a:r>
            <a:r>
              <a:rPr lang="en-US" altLang="zh-CN" dirty="0"/>
              <a:t>AB</a:t>
            </a:r>
            <a:r>
              <a:rPr lang="zh-CN" altLang="en-US" dirty="0"/>
              <a:t>与</a:t>
            </a:r>
            <a:r>
              <a:rPr lang="en-US" altLang="zh-CN" dirty="0"/>
              <a:t>BA</a:t>
            </a:r>
            <a:r>
              <a:rPr lang="zh-CN" altLang="en-US" dirty="0"/>
              <a:t>是不相等的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8C5DEA-553B-4D07-93A4-29BD46C59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</p:spTree>
    <p:extLst>
      <p:ext uri="{BB962C8B-B14F-4D97-AF65-F5344CB8AC3E}">
        <p14:creationId xmlns:p14="http://schemas.microsoft.com/office/powerpoint/2010/main" val="17779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(6) A</a:t>
            </a:r>
            <a:r>
              <a:rPr lang="en-US" altLang="zh-CN" baseline="30000" dirty="0"/>
              <a:t>n</a:t>
            </a:r>
            <a:r>
              <a:rPr lang="zh-CN" altLang="en-US" dirty="0"/>
              <a:t>代表集合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>
                <a:solidFill>
                  <a:srgbClr val="EE853E"/>
                </a:solidFill>
              </a:rPr>
              <a:t>n</a:t>
            </a:r>
            <a:r>
              <a:rPr lang="zh-CN" altLang="en-US" dirty="0">
                <a:solidFill>
                  <a:srgbClr val="EE853E"/>
                </a:solidFill>
              </a:rPr>
              <a:t>次连接</a:t>
            </a:r>
            <a:r>
              <a:rPr lang="zh-CN" altLang="en-US" dirty="0"/>
              <a:t>（</a:t>
            </a:r>
            <a:r>
              <a:rPr lang="en-US" altLang="zh-CN" dirty="0"/>
              <a:t>n</a:t>
            </a:r>
            <a:r>
              <a:rPr lang="zh-CN" altLang="en-US" dirty="0"/>
              <a:t>次幂）</a:t>
            </a:r>
            <a:endParaRPr lang="en-US" altLang="zh-CN" dirty="0"/>
          </a:p>
          <a:p>
            <a:r>
              <a:rPr lang="en-US" altLang="zh-CN" dirty="0">
                <a:sym typeface="Symbol" pitchFamily="18" charset="2"/>
              </a:rPr>
              <a:t>	A</a:t>
            </a:r>
            <a:r>
              <a:rPr lang="zh-CN" altLang="en-US" dirty="0">
                <a:sym typeface="Symbol" pitchFamily="18" charset="2"/>
              </a:rPr>
              <a:t>的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n</a:t>
            </a:r>
            <a:r>
              <a:rPr lang="zh-CN" altLang="en-US" dirty="0">
                <a:solidFill>
                  <a:srgbClr val="EE853E"/>
                </a:solidFill>
                <a:sym typeface="Symbol" pitchFamily="18" charset="2"/>
              </a:rPr>
              <a:t>次幂</a:t>
            </a:r>
            <a:r>
              <a:rPr lang="zh-CN" altLang="en-US" dirty="0">
                <a:sym typeface="Symbol" pitchFamily="18" charset="2"/>
              </a:rPr>
              <a:t>定义为：</a:t>
            </a:r>
          </a:p>
          <a:p>
            <a:r>
              <a:rPr lang="en-US" altLang="zh-CN" dirty="0">
                <a:sym typeface="Symbol" pitchFamily="18" charset="2"/>
              </a:rPr>
              <a:t>	1. A</a:t>
            </a:r>
            <a:r>
              <a:rPr lang="en-US" altLang="zh-CN" baseline="30000" dirty="0">
                <a:sym typeface="Symbol" pitchFamily="18" charset="2"/>
              </a:rPr>
              <a:t>0</a:t>
            </a:r>
            <a:r>
              <a:rPr lang="en-US" altLang="zh-CN" dirty="0">
                <a:sym typeface="Symbol" pitchFamily="18" charset="2"/>
              </a:rPr>
              <a:t> = {</a:t>
            </a:r>
            <a:r>
              <a:rPr lang="en-US" altLang="zh-CN" dirty="0"/>
              <a:t>ε</a:t>
            </a:r>
            <a:r>
              <a:rPr lang="en-US" altLang="zh-CN" dirty="0">
                <a:sym typeface="Symbol" pitchFamily="18" charset="2"/>
              </a:rPr>
              <a:t>}</a:t>
            </a:r>
          </a:p>
          <a:p>
            <a:r>
              <a:rPr lang="en-US" altLang="zh-CN" dirty="0">
                <a:sym typeface="Symbol" pitchFamily="18" charset="2"/>
              </a:rPr>
              <a:t>	2.</a:t>
            </a:r>
            <a:r>
              <a:rPr lang="zh-CN" altLang="en-US" dirty="0">
                <a:sym typeface="Symbol" pitchFamily="18" charset="2"/>
              </a:rPr>
              <a:t> </a:t>
            </a:r>
            <a:r>
              <a:rPr lang="en-US" altLang="zh-CN" dirty="0">
                <a:sym typeface="Symbol" pitchFamily="18" charset="2"/>
              </a:rPr>
              <a:t>A</a:t>
            </a:r>
            <a:r>
              <a:rPr lang="en-US" altLang="zh-CN" baseline="30000" dirty="0">
                <a:sym typeface="Symbol" pitchFamily="18" charset="2"/>
              </a:rPr>
              <a:t>n</a:t>
            </a:r>
            <a:r>
              <a:rPr lang="en-US" altLang="zh-CN" dirty="0">
                <a:sym typeface="Symbol" pitchFamily="18" charset="2"/>
              </a:rPr>
              <a:t> = A</a:t>
            </a:r>
            <a:r>
              <a:rPr lang="en-US" altLang="zh-CN" baseline="30000" dirty="0">
                <a:sym typeface="Symbol" pitchFamily="18" charset="2"/>
              </a:rPr>
              <a:t>n-1</a:t>
            </a:r>
            <a:r>
              <a:rPr lang="en-US" altLang="zh-CN" dirty="0">
                <a:sym typeface="Symbol" pitchFamily="18" charset="2"/>
              </a:rPr>
              <a:t>A     n  1</a:t>
            </a:r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50A1A555-7BA9-453A-B035-02C69497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(7)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en-US" altLang="zh-CN" baseline="30000" dirty="0"/>
              <a:t>*</a:t>
            </a:r>
            <a:r>
              <a:rPr lang="zh-CN" altLang="en-US" dirty="0"/>
              <a:t>代表</a:t>
            </a:r>
            <a:r>
              <a:rPr lang="en-US" altLang="zh-CN" dirty="0"/>
              <a:t>A</a:t>
            </a:r>
            <a:r>
              <a:rPr lang="zh-CN" altLang="en-US" dirty="0"/>
              <a:t>上所有字符串的集合</a:t>
            </a:r>
          </a:p>
          <a:p>
            <a:r>
              <a:rPr lang="zh-CN" altLang="en-US" dirty="0"/>
              <a:t>即表示集合</a:t>
            </a:r>
            <a:r>
              <a:rPr lang="en-US" altLang="zh-CN" dirty="0"/>
              <a:t>A</a:t>
            </a:r>
            <a:r>
              <a:rPr lang="zh-CN" altLang="en-US" dirty="0"/>
              <a:t>中的所有字符串进行</a:t>
            </a:r>
            <a:r>
              <a:rPr lang="zh-CN" altLang="en-US" dirty="0">
                <a:solidFill>
                  <a:srgbClr val="EE853E"/>
                </a:solidFill>
              </a:rPr>
              <a:t>任意次连接</a:t>
            </a:r>
            <a:r>
              <a:rPr lang="zh-CN" altLang="en-US" dirty="0"/>
              <a:t>而形成的串的集合。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en-US" altLang="zh-CN" baseline="30000" dirty="0"/>
              <a:t>*</a:t>
            </a:r>
            <a:r>
              <a:rPr lang="zh-CN" altLang="en-US" dirty="0"/>
              <a:t>称为集合</a:t>
            </a:r>
            <a:r>
              <a:rPr lang="en-US" altLang="zh-CN" dirty="0"/>
              <a:t>A</a:t>
            </a:r>
            <a:r>
              <a:rPr lang="zh-CN" altLang="en-US" dirty="0"/>
              <a:t>的闭包（克林闭包）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en-US" altLang="zh-CN" baseline="30000" dirty="0"/>
              <a:t>*</a:t>
            </a:r>
            <a:r>
              <a:rPr lang="en-US" altLang="zh-CN" dirty="0"/>
              <a:t> = A</a:t>
            </a:r>
            <a:r>
              <a:rPr lang="en-US" altLang="zh-CN" baseline="30000" dirty="0"/>
              <a:t>0</a:t>
            </a:r>
            <a:r>
              <a:rPr lang="en-US" altLang="zh-CN" dirty="0"/>
              <a:t> ∪ A</a:t>
            </a:r>
            <a:r>
              <a:rPr lang="en-US" altLang="zh-CN" baseline="30000" dirty="0"/>
              <a:t>1</a:t>
            </a:r>
            <a:r>
              <a:rPr lang="en-US" altLang="zh-CN" dirty="0"/>
              <a:t> ∪ A</a:t>
            </a:r>
            <a:r>
              <a:rPr lang="en-US" altLang="zh-CN" baseline="30000" dirty="0"/>
              <a:t>2</a:t>
            </a:r>
            <a:r>
              <a:rPr lang="en-US" altLang="zh-CN" dirty="0"/>
              <a:t> ∪…∪ A</a:t>
            </a:r>
            <a:r>
              <a:rPr lang="en-US" altLang="zh-CN" baseline="30000" dirty="0"/>
              <a:t>n</a:t>
            </a:r>
            <a:r>
              <a:rPr lang="en-US" altLang="zh-CN" dirty="0"/>
              <a:t>   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324BC39D-AC3B-4D2F-BE1E-99EDF670B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例子：</a:t>
            </a:r>
            <a:r>
              <a:rPr lang="en-US" altLang="zh-CN" dirty="0"/>
              <a:t>A={0，1}</a:t>
            </a:r>
          </a:p>
          <a:p>
            <a:r>
              <a:rPr lang="en-US" altLang="zh-CN" dirty="0"/>
              <a:t>A</a:t>
            </a:r>
            <a:r>
              <a:rPr lang="en-US" altLang="zh-CN" baseline="30000" dirty="0"/>
              <a:t>0</a:t>
            </a:r>
            <a:r>
              <a:rPr lang="en-US" altLang="zh-CN" dirty="0"/>
              <a:t> = {ε} </a:t>
            </a:r>
          </a:p>
          <a:p>
            <a:r>
              <a:rPr lang="zh-CN" altLang="en-US" dirty="0"/>
              <a:t>即</a:t>
            </a:r>
            <a:r>
              <a:rPr lang="zh-CN" altLang="en-US" dirty="0">
                <a:solidFill>
                  <a:srgbClr val="EE853E"/>
                </a:solidFill>
              </a:rPr>
              <a:t>长度为0</a:t>
            </a:r>
            <a:r>
              <a:rPr lang="zh-CN" altLang="en-US" dirty="0"/>
              <a:t>的0和1组成的串的集合</a:t>
            </a:r>
          </a:p>
          <a:p>
            <a:r>
              <a:rPr lang="en-US" altLang="zh-CN" dirty="0"/>
              <a:t>A</a:t>
            </a:r>
            <a:r>
              <a:rPr lang="en-US" altLang="zh-CN" baseline="30000" dirty="0"/>
              <a:t>1</a:t>
            </a:r>
            <a:r>
              <a:rPr lang="en-US" altLang="zh-CN" dirty="0"/>
              <a:t> = A = {0</a:t>
            </a:r>
            <a:r>
              <a:rPr lang="zh-CN" altLang="en-US" dirty="0"/>
              <a:t>，</a:t>
            </a:r>
            <a:r>
              <a:rPr lang="en-US" altLang="zh-CN" dirty="0"/>
              <a:t>1} </a:t>
            </a:r>
          </a:p>
          <a:p>
            <a:r>
              <a:rPr lang="zh-CN" altLang="en-US" dirty="0"/>
              <a:t>即</a:t>
            </a:r>
            <a:r>
              <a:rPr lang="zh-CN" altLang="en-US" dirty="0">
                <a:solidFill>
                  <a:srgbClr val="EE853E"/>
                </a:solidFill>
              </a:rPr>
              <a:t>长度为1</a:t>
            </a:r>
            <a:r>
              <a:rPr lang="zh-CN" altLang="en-US" dirty="0"/>
              <a:t>的0和1组成的串的集合</a:t>
            </a:r>
          </a:p>
        </p:txBody>
      </p:sp>
      <p:sp>
        <p:nvSpPr>
          <p:cNvPr id="4" name="标题 3">
            <a:extLst>
              <a:ext uri="{FF2B5EF4-FFF2-40B4-BE49-F238E27FC236}">
                <a16:creationId xmlns="" xmlns:a16="http://schemas.microsoft.com/office/drawing/2014/main" id="{E144233F-92AE-4085-A8B2-B0FD632A9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altLang="zh-CN" baseline="30000" dirty="0"/>
              <a:t>2</a:t>
            </a:r>
            <a:r>
              <a:rPr lang="en-US" altLang="zh-CN" dirty="0"/>
              <a:t> = AA = {00</a:t>
            </a:r>
            <a:r>
              <a:rPr lang="zh-CN" altLang="en-US" dirty="0"/>
              <a:t>，</a:t>
            </a:r>
            <a:r>
              <a:rPr lang="en-US" altLang="zh-CN" dirty="0"/>
              <a:t>01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11} </a:t>
            </a:r>
          </a:p>
          <a:p>
            <a:r>
              <a:rPr lang="zh-CN" altLang="en-US" dirty="0"/>
              <a:t>即</a:t>
            </a:r>
            <a:r>
              <a:rPr lang="zh-CN" altLang="en-US" dirty="0">
                <a:solidFill>
                  <a:srgbClr val="EE853E"/>
                </a:solidFill>
              </a:rPr>
              <a:t>长度为2</a:t>
            </a:r>
            <a:r>
              <a:rPr lang="zh-CN" altLang="en-US" dirty="0"/>
              <a:t>的0和1组成的串集合</a:t>
            </a:r>
          </a:p>
          <a:p>
            <a:r>
              <a:rPr lang="en-US" altLang="zh-CN" dirty="0"/>
              <a:t>A</a:t>
            </a:r>
            <a:r>
              <a:rPr lang="en-US" altLang="zh-CN" baseline="30000" dirty="0"/>
              <a:t>3</a:t>
            </a:r>
            <a:r>
              <a:rPr lang="en-US" altLang="zh-CN" dirty="0"/>
              <a:t>	= A</a:t>
            </a:r>
            <a:r>
              <a:rPr lang="en-US" altLang="zh-CN" baseline="30000" dirty="0"/>
              <a:t>2</a:t>
            </a:r>
            <a:r>
              <a:rPr lang="en-US" altLang="zh-CN" dirty="0"/>
              <a:t>A	= {000</a:t>
            </a:r>
            <a:r>
              <a:rPr lang="zh-CN" altLang="en-US" dirty="0"/>
              <a:t>，</a:t>
            </a:r>
            <a:r>
              <a:rPr lang="en-US" altLang="zh-CN" dirty="0"/>
              <a:t>001</a:t>
            </a:r>
            <a:r>
              <a:rPr lang="zh-CN" altLang="en-US" dirty="0"/>
              <a:t>，</a:t>
            </a:r>
            <a:r>
              <a:rPr lang="en-US" altLang="zh-CN" dirty="0"/>
              <a:t>010</a:t>
            </a:r>
            <a:r>
              <a:rPr lang="zh-CN" altLang="en-US" dirty="0"/>
              <a:t>，</a:t>
            </a:r>
            <a:r>
              <a:rPr lang="en-US" altLang="zh-CN" dirty="0"/>
              <a:t>011</a:t>
            </a:r>
            <a:r>
              <a:rPr lang="zh-CN" altLang="en-US" dirty="0"/>
              <a:t>，</a:t>
            </a:r>
            <a:r>
              <a:rPr lang="en-US" altLang="zh-CN" dirty="0"/>
              <a:t>100</a:t>
            </a:r>
            <a:r>
              <a:rPr lang="zh-CN" altLang="en-US" dirty="0"/>
              <a:t>，</a:t>
            </a:r>
            <a:r>
              <a:rPr lang="en-US" altLang="zh-CN" dirty="0"/>
              <a:t>101</a:t>
            </a:r>
            <a:r>
              <a:rPr lang="zh-CN" altLang="en-US" dirty="0"/>
              <a:t>，</a:t>
            </a:r>
            <a:r>
              <a:rPr lang="en-US" altLang="zh-CN" dirty="0"/>
              <a:t>110</a:t>
            </a:r>
            <a:r>
              <a:rPr lang="zh-CN" altLang="en-US" dirty="0"/>
              <a:t>，</a:t>
            </a:r>
            <a:r>
              <a:rPr lang="en-US" altLang="zh-CN" dirty="0"/>
              <a:t>111}</a:t>
            </a:r>
          </a:p>
          <a:p>
            <a:r>
              <a:rPr lang="zh-CN" altLang="en-US" dirty="0"/>
              <a:t>即</a:t>
            </a:r>
            <a:r>
              <a:rPr lang="zh-CN" altLang="en-US" dirty="0">
                <a:solidFill>
                  <a:srgbClr val="EE853E"/>
                </a:solidFill>
              </a:rPr>
              <a:t>长度为3</a:t>
            </a:r>
            <a:r>
              <a:rPr lang="zh-CN" altLang="en-US" dirty="0"/>
              <a:t>的0和1组成的串的集合</a:t>
            </a:r>
            <a:endParaRPr lang="en-US" altLang="zh-CN" dirty="0"/>
          </a:p>
          <a:p>
            <a:r>
              <a:rPr lang="zh-CN" altLang="en-US" dirty="0"/>
              <a:t>…</a:t>
            </a:r>
          </a:p>
          <a:p>
            <a:r>
              <a:rPr lang="en-US" altLang="zh-CN" dirty="0"/>
              <a:t>A</a:t>
            </a:r>
            <a:r>
              <a:rPr lang="en-US" altLang="zh-CN" baseline="30000" dirty="0"/>
              <a:t>*</a:t>
            </a:r>
            <a:r>
              <a:rPr lang="en-US" altLang="zh-CN" dirty="0"/>
              <a:t>	= A</a:t>
            </a:r>
            <a:r>
              <a:rPr lang="en-US" altLang="zh-CN" baseline="30000" dirty="0"/>
              <a:t>0</a:t>
            </a:r>
            <a:r>
              <a:rPr lang="en-US" altLang="zh-CN" dirty="0"/>
              <a:t> ∪ A</a:t>
            </a:r>
            <a:r>
              <a:rPr lang="en-US" altLang="zh-CN" baseline="30000" dirty="0"/>
              <a:t>1</a:t>
            </a:r>
            <a:r>
              <a:rPr lang="en-US" altLang="zh-CN" dirty="0"/>
              <a:t> ∪ A</a:t>
            </a:r>
            <a:r>
              <a:rPr lang="en-US" altLang="zh-CN" baseline="30000" dirty="0"/>
              <a:t>2</a:t>
            </a:r>
            <a:r>
              <a:rPr lang="en-US" altLang="zh-CN" dirty="0"/>
              <a:t> ∪  …∪ A</a:t>
            </a:r>
            <a:r>
              <a:rPr lang="en-US" altLang="zh-CN" baseline="30000" dirty="0"/>
              <a:t>n</a:t>
            </a:r>
            <a:r>
              <a:rPr lang="en-US" altLang="zh-CN" dirty="0"/>
              <a:t>  </a:t>
            </a:r>
          </a:p>
          <a:p>
            <a:r>
              <a:rPr lang="en-US" altLang="zh-CN" dirty="0"/>
              <a:t>	= { 0</a:t>
            </a:r>
            <a:r>
              <a:rPr lang="zh-CN" altLang="en-US" dirty="0"/>
              <a:t>和1 组成的所有的串 } </a:t>
            </a:r>
            <a:r>
              <a:rPr lang="en-US" altLang="zh-CN" dirty="0"/>
              <a:t>=</a:t>
            </a:r>
            <a:r>
              <a:rPr lang="zh-CN" altLang="en-US" dirty="0"/>
              <a:t> { </a:t>
            </a:r>
            <a:r>
              <a:rPr lang="en-US" altLang="zh-CN" dirty="0"/>
              <a:t>w | w</a:t>
            </a:r>
            <a:r>
              <a:rPr lang="zh-CN" altLang="en-US" dirty="0"/>
              <a:t>是0和1 组成的串 }</a:t>
            </a:r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9B6F9B45-75C3-4347-897C-FD096FD90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问题：</a:t>
            </a:r>
            <a:endParaRPr lang="en-US" altLang="zh-CN" dirty="0"/>
          </a:p>
          <a:p>
            <a:r>
              <a:rPr lang="zh-CN" altLang="en-US" dirty="0"/>
              <a:t>集合</a:t>
            </a:r>
            <a:r>
              <a:rPr lang="en-US" altLang="zh-CN" dirty="0"/>
              <a:t>A = {a}</a:t>
            </a:r>
            <a:r>
              <a:rPr lang="zh-CN" altLang="en-US" dirty="0"/>
              <a:t>，则</a:t>
            </a:r>
            <a:r>
              <a:rPr lang="en-US" altLang="zh-CN" dirty="0"/>
              <a:t>A</a:t>
            </a:r>
            <a:r>
              <a:rPr lang="en-US" altLang="zh-CN" baseline="30000" dirty="0"/>
              <a:t>*</a:t>
            </a:r>
            <a:r>
              <a:rPr lang="en-US" altLang="zh-CN" dirty="0"/>
              <a:t>= 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en-US" altLang="zh-CN" dirty="0"/>
              <a:t>{</a:t>
            </a:r>
            <a:r>
              <a:rPr lang="en-US" altLang="zh-CN" dirty="0" smtClean="0"/>
              <a:t>ε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a,aa,aaa,aaaa</a:t>
            </a:r>
            <a:r>
              <a:rPr lang="en-US" altLang="zh-CN" dirty="0" smtClean="0"/>
              <a:t>,…}</a:t>
            </a:r>
            <a:endParaRPr lang="en-US" altLang="zh-CN" dirty="0"/>
          </a:p>
        </p:txBody>
      </p:sp>
      <p:sp>
        <p:nvSpPr>
          <p:cNvPr id="4" name="标题 3">
            <a:extLst>
              <a:ext uri="{FF2B5EF4-FFF2-40B4-BE49-F238E27FC236}">
                <a16:creationId xmlns="" xmlns:a16="http://schemas.microsoft.com/office/drawing/2014/main" id="{99F322AA-A616-4749-B0E4-3328DCEAA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22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(8)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en-US" altLang="zh-CN" baseline="30000" dirty="0"/>
              <a:t>+</a:t>
            </a:r>
            <a:r>
              <a:rPr lang="zh-CN" altLang="en-US" dirty="0"/>
              <a:t>称为</a:t>
            </a:r>
            <a:r>
              <a:rPr lang="en-US" altLang="zh-CN" dirty="0"/>
              <a:t>A</a:t>
            </a:r>
            <a:r>
              <a:rPr lang="zh-CN" altLang="en-US" dirty="0"/>
              <a:t>的正闭包</a:t>
            </a:r>
          </a:p>
          <a:p>
            <a:r>
              <a:rPr lang="en-US" altLang="zh-CN" dirty="0"/>
              <a:t>A</a:t>
            </a:r>
            <a:r>
              <a:rPr lang="en-US" altLang="zh-CN" baseline="30000" dirty="0"/>
              <a:t>+</a:t>
            </a:r>
            <a:r>
              <a:rPr lang="en-US" altLang="zh-CN" dirty="0"/>
              <a:t>=A∪A</a:t>
            </a:r>
            <a:r>
              <a:rPr lang="en-US" altLang="zh-CN" baseline="30000" dirty="0"/>
              <a:t>2</a:t>
            </a:r>
            <a:r>
              <a:rPr lang="en-US" altLang="zh-CN" dirty="0"/>
              <a:t>∪A</a:t>
            </a:r>
            <a:r>
              <a:rPr lang="en-US" altLang="zh-CN" baseline="30000" dirty="0"/>
              <a:t>3</a:t>
            </a:r>
            <a:r>
              <a:rPr lang="en-US" altLang="zh-CN" dirty="0"/>
              <a:t>∪…∪A</a:t>
            </a:r>
            <a:r>
              <a:rPr lang="en-US" altLang="zh-CN" baseline="30000" dirty="0"/>
              <a:t>n</a:t>
            </a:r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1E4E64FF-B17B-4632-8E88-5690744C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="" xmlns:a16="http://schemas.microsoft.com/office/drawing/2014/main" id="{21BCF667-CE5D-49EA-8AEC-DB850EC51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</a:t>
            </a:r>
            <a:r>
              <a:rPr lang="zh-CN" altLang="en-US" dirty="0"/>
              <a:t>9</a:t>
            </a:r>
            <a:r>
              <a:rPr lang="en-US" altLang="zh-CN" dirty="0"/>
              <a:t>) </a:t>
            </a:r>
            <a:r>
              <a:rPr lang="zh-CN" altLang="en-US" dirty="0"/>
              <a:t>给定字母表</a:t>
            </a:r>
            <a:r>
              <a:rPr lang="zh-CN" altLang="en-US" dirty="0">
                <a:sym typeface="Symbol" pitchFamily="18" charset="2"/>
              </a:rPr>
              <a:t></a:t>
            </a:r>
            <a:r>
              <a:rPr lang="zh-CN" altLang="en-US" dirty="0"/>
              <a:t>，则</a:t>
            </a:r>
            <a:r>
              <a:rPr lang="zh-CN" altLang="en-US" dirty="0">
                <a:sym typeface="Symbol" pitchFamily="18" charset="2"/>
              </a:rPr>
              <a:t></a:t>
            </a:r>
            <a:r>
              <a:rPr lang="zh-CN" altLang="en-US" baseline="30000" dirty="0"/>
              <a:t>*</a:t>
            </a:r>
            <a:r>
              <a:rPr lang="zh-CN" altLang="en-US" dirty="0"/>
              <a:t>的任意子集</a:t>
            </a:r>
            <a:r>
              <a:rPr lang="en-US" altLang="zh-CN" dirty="0"/>
              <a:t>L</a:t>
            </a:r>
            <a:r>
              <a:rPr lang="zh-CN" altLang="en-US" dirty="0"/>
              <a:t>称为字母表</a:t>
            </a:r>
            <a:r>
              <a:rPr lang="zh-CN" altLang="en-US" dirty="0">
                <a:sym typeface="Symbol" pitchFamily="18" charset="2"/>
              </a:rPr>
              <a:t></a:t>
            </a:r>
            <a:r>
              <a:rPr lang="zh-CN" altLang="en-US" dirty="0"/>
              <a:t>上的一个语言。</a:t>
            </a:r>
          </a:p>
          <a:p>
            <a:r>
              <a:rPr lang="zh-CN" altLang="en-US" dirty="0"/>
              <a:t>本质上，</a:t>
            </a:r>
            <a:r>
              <a:rPr lang="zh-CN" altLang="en-US" dirty="0">
                <a:solidFill>
                  <a:srgbClr val="EE853E"/>
                </a:solidFill>
              </a:rPr>
              <a:t>语言</a:t>
            </a:r>
            <a:r>
              <a:rPr lang="en-US" altLang="zh-CN" dirty="0">
                <a:solidFill>
                  <a:srgbClr val="EE853E"/>
                </a:solidFill>
              </a:rPr>
              <a:t>L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EE853E"/>
                </a:solidFill>
              </a:rPr>
              <a:t>字母表</a:t>
            </a:r>
            <a:r>
              <a:rPr lang="zh-CN" altLang="en-US" dirty="0">
                <a:solidFill>
                  <a:srgbClr val="EE853E"/>
                </a:solidFill>
                <a:sym typeface="Symbol" pitchFamily="18" charset="2"/>
              </a:rPr>
              <a:t></a:t>
            </a:r>
            <a:r>
              <a:rPr lang="zh-CN" altLang="en-US" dirty="0"/>
              <a:t>上的字符串形成的</a:t>
            </a:r>
            <a:r>
              <a:rPr lang="zh-CN" altLang="en-US" dirty="0">
                <a:solidFill>
                  <a:srgbClr val="EE853E"/>
                </a:solidFill>
              </a:rPr>
              <a:t>集合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>
                <a:sym typeface="Symbol" pitchFamily="18" charset="2"/>
              </a:rPr>
              <a:t>语言可分为</a:t>
            </a:r>
            <a:r>
              <a:rPr lang="zh-CN" altLang="en-US" dirty="0">
                <a:solidFill>
                  <a:srgbClr val="EE853E"/>
                </a:solidFill>
                <a:sym typeface="Symbol" pitchFamily="18" charset="2"/>
              </a:rPr>
              <a:t>有穷语言</a:t>
            </a:r>
            <a:r>
              <a:rPr lang="zh-CN" altLang="en-US" dirty="0">
                <a:sym typeface="Symbol" pitchFamily="18" charset="2"/>
              </a:rPr>
              <a:t>与</a:t>
            </a:r>
            <a:r>
              <a:rPr lang="zh-CN" altLang="en-US" dirty="0">
                <a:solidFill>
                  <a:srgbClr val="EE853E"/>
                </a:solidFill>
                <a:sym typeface="Symbol" pitchFamily="18" charset="2"/>
              </a:rPr>
              <a:t>无穷语言</a:t>
            </a:r>
            <a:r>
              <a:rPr lang="zh-CN" altLang="en-US" dirty="0">
                <a:sym typeface="Symbol" pitchFamily="18" charset="2"/>
              </a:rPr>
              <a:t>。</a:t>
            </a:r>
            <a:endParaRPr lang="en-US" altLang="zh-CN" dirty="0">
              <a:sym typeface="Symbol" pitchFamily="18" charset="2"/>
            </a:endParaRPr>
          </a:p>
          <a:p>
            <a:endParaRPr lang="en-US" altLang="zh-CN" dirty="0"/>
          </a:p>
          <a:p>
            <a:r>
              <a:rPr lang="en-US" altLang="zh-CN" dirty="0"/>
              <a:t>(</a:t>
            </a:r>
            <a:r>
              <a:rPr lang="zh-CN" altLang="en-US" dirty="0"/>
              <a:t>10) 设</a:t>
            </a:r>
            <a:r>
              <a:rPr lang="zh-CN" altLang="en-US" dirty="0">
                <a:solidFill>
                  <a:srgbClr val="EE853E"/>
                </a:solidFill>
                <a:sym typeface="Symbol" pitchFamily="18" charset="2"/>
              </a:rPr>
              <a:t></a:t>
            </a:r>
            <a:r>
              <a:rPr lang="zh-CN" altLang="en-US" dirty="0">
                <a:sym typeface="Symbol" pitchFamily="18" charset="2"/>
              </a:rPr>
              <a:t>是一个字母表，</a:t>
            </a:r>
            <a:r>
              <a:rPr lang="en-US" altLang="zh-CN" dirty="0">
                <a:sym typeface="Symbol" pitchFamily="18" charset="2"/>
              </a:rPr>
              <a:t>L  </a:t>
            </a:r>
            <a:r>
              <a:rPr lang="zh-CN" altLang="en-US" dirty="0">
                <a:sym typeface="Symbol" pitchFamily="18" charset="2"/>
              </a:rPr>
              <a:t></a:t>
            </a:r>
            <a:r>
              <a:rPr lang="zh-CN" altLang="en-US" baseline="30000" dirty="0">
                <a:sym typeface="Symbol" pitchFamily="18" charset="2"/>
              </a:rPr>
              <a:t>*</a:t>
            </a:r>
            <a:r>
              <a:rPr lang="zh-CN" altLang="en-US" dirty="0">
                <a:sym typeface="Symbol" pitchFamily="18" charset="2"/>
              </a:rPr>
              <a:t>, </a:t>
            </a:r>
          </a:p>
          <a:p>
            <a:r>
              <a:rPr lang="zh-CN" altLang="en-US" dirty="0">
                <a:sym typeface="Symbol" pitchFamily="18" charset="2"/>
              </a:rPr>
              <a:t></a:t>
            </a:r>
            <a:r>
              <a:rPr lang="en-US" altLang="zh-CN" dirty="0">
                <a:sym typeface="Symbol" pitchFamily="18" charset="2"/>
              </a:rPr>
              <a:t>x  L</a:t>
            </a:r>
            <a:r>
              <a:rPr lang="zh-CN" altLang="en-US" dirty="0">
                <a:sym typeface="Symbol" pitchFamily="18" charset="2"/>
              </a:rPr>
              <a:t>，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x</a:t>
            </a:r>
            <a:r>
              <a:rPr lang="zh-CN" altLang="en-US" dirty="0">
                <a:sym typeface="Symbol" pitchFamily="18" charset="2"/>
              </a:rPr>
              <a:t>称为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L</a:t>
            </a:r>
            <a:r>
              <a:rPr lang="zh-CN" altLang="en-US" dirty="0">
                <a:sym typeface="Symbol" pitchFamily="18" charset="2"/>
              </a:rPr>
              <a:t>的一个</a:t>
            </a:r>
            <a:r>
              <a:rPr lang="zh-CN" altLang="en-US" dirty="0">
                <a:solidFill>
                  <a:srgbClr val="EE853E"/>
                </a:solidFill>
                <a:sym typeface="Symbol" pitchFamily="18" charset="2"/>
              </a:rPr>
              <a:t>句子</a:t>
            </a:r>
            <a:r>
              <a:rPr lang="zh-CN" altLang="en-US" dirty="0">
                <a:sym typeface="Symbol" pitchFamily="18" charset="2"/>
              </a:rPr>
              <a:t>。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="" xmlns:a16="http://schemas.microsoft.com/office/drawing/2014/main" id="{6DF4F0C8-C4FB-4773-9CF2-CF7BB47D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</p:spTree>
    <p:extLst>
      <p:ext uri="{BB962C8B-B14F-4D97-AF65-F5344CB8AC3E}">
        <p14:creationId xmlns:p14="http://schemas.microsoft.com/office/powerpoint/2010/main" val="10396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</a:t>
            </a:r>
            <a:r>
              <a:rPr lang="zh-CN" altLang="en-US" dirty="0">
                <a:sym typeface="Symbol" pitchFamily="18" charset="2"/>
              </a:rPr>
              <a:t></a:t>
            </a:r>
            <a:r>
              <a:rPr lang="zh-CN" altLang="en-US" baseline="-25000" dirty="0">
                <a:sym typeface="Symbol" pitchFamily="18" charset="2"/>
              </a:rPr>
              <a:t>1</a:t>
            </a:r>
            <a:r>
              <a:rPr lang="zh-CN" altLang="en-US" dirty="0">
                <a:sym typeface="Symbol" pitchFamily="18" charset="2"/>
              </a:rPr>
              <a:t>，</a:t>
            </a:r>
            <a:r>
              <a:rPr lang="zh-CN" altLang="en-US" baseline="-25000" dirty="0">
                <a:sym typeface="Symbol" pitchFamily="18" charset="2"/>
              </a:rPr>
              <a:t>2</a:t>
            </a:r>
            <a:r>
              <a:rPr lang="zh-CN" altLang="en-US" dirty="0">
                <a:sym typeface="Symbol" pitchFamily="18" charset="2"/>
              </a:rPr>
              <a:t>是两个字母表</a:t>
            </a:r>
          </a:p>
          <a:p>
            <a:r>
              <a:rPr lang="en-US" altLang="zh-CN" dirty="0">
                <a:sym typeface="Symbol" pitchFamily="18" charset="2"/>
              </a:rPr>
              <a:t>L</a:t>
            </a:r>
            <a:r>
              <a:rPr lang="zh-CN" altLang="en-US" baseline="-25000" dirty="0">
                <a:sym typeface="Symbol" pitchFamily="18" charset="2"/>
              </a:rPr>
              <a:t>1</a:t>
            </a:r>
            <a:r>
              <a:rPr lang="en-US" altLang="zh-CN" dirty="0">
                <a:sym typeface="Symbol" pitchFamily="18" charset="2"/>
              </a:rPr>
              <a:t>  </a:t>
            </a:r>
            <a:r>
              <a:rPr lang="zh-CN" altLang="en-US" dirty="0">
                <a:sym typeface="Symbol" pitchFamily="18" charset="2"/>
              </a:rPr>
              <a:t></a:t>
            </a:r>
            <a:r>
              <a:rPr lang="zh-CN" altLang="en-US" baseline="-25000" dirty="0">
                <a:sym typeface="Symbol" pitchFamily="18" charset="2"/>
              </a:rPr>
              <a:t>1</a:t>
            </a:r>
            <a:r>
              <a:rPr lang="zh-CN" altLang="en-US" baseline="30000" dirty="0">
                <a:sym typeface="Symbol" pitchFamily="18" charset="2"/>
              </a:rPr>
              <a:t>*</a:t>
            </a:r>
            <a:r>
              <a:rPr lang="zh-CN" altLang="en-US" dirty="0">
                <a:sym typeface="Symbol" pitchFamily="18" charset="2"/>
              </a:rPr>
              <a:t>，</a:t>
            </a:r>
            <a:r>
              <a:rPr lang="en-US" altLang="zh-CN" dirty="0">
                <a:sym typeface="Symbol" pitchFamily="18" charset="2"/>
              </a:rPr>
              <a:t>L</a:t>
            </a:r>
            <a:r>
              <a:rPr lang="zh-CN" altLang="en-US" baseline="-25000" dirty="0">
                <a:sym typeface="Symbol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  </a:t>
            </a:r>
            <a:r>
              <a:rPr lang="zh-CN" altLang="en-US" dirty="0">
                <a:sym typeface="Symbol" pitchFamily="18" charset="2"/>
              </a:rPr>
              <a:t></a:t>
            </a:r>
            <a:r>
              <a:rPr lang="zh-CN" altLang="en-US" baseline="-25000" dirty="0">
                <a:sym typeface="Symbol" pitchFamily="18" charset="2"/>
              </a:rPr>
              <a:t>2</a:t>
            </a:r>
            <a:r>
              <a:rPr lang="zh-CN" altLang="en-US" baseline="30000" dirty="0">
                <a:sym typeface="Symbol" pitchFamily="18" charset="2"/>
              </a:rPr>
              <a:t>*</a:t>
            </a:r>
            <a:r>
              <a:rPr lang="zh-CN" altLang="en-US" dirty="0">
                <a:sym typeface="Symbol" pitchFamily="18" charset="2"/>
              </a:rPr>
              <a:t>, </a:t>
            </a:r>
          </a:p>
          <a:p>
            <a:r>
              <a:rPr lang="zh-CN" altLang="en-US" dirty="0">
                <a:sym typeface="Symbol" pitchFamily="18" charset="2"/>
              </a:rPr>
              <a:t>语言</a:t>
            </a:r>
            <a:r>
              <a:rPr lang="en-US" altLang="zh-CN" dirty="0">
                <a:sym typeface="Symbol" pitchFamily="18" charset="2"/>
              </a:rPr>
              <a:t>L</a:t>
            </a:r>
            <a:r>
              <a:rPr lang="zh-CN" altLang="en-US" baseline="-25000" dirty="0">
                <a:sym typeface="Symbol" pitchFamily="18" charset="2"/>
              </a:rPr>
              <a:t>1</a:t>
            </a:r>
            <a:r>
              <a:rPr lang="zh-CN" altLang="en-US" dirty="0">
                <a:sym typeface="Symbol" pitchFamily="18" charset="2"/>
              </a:rPr>
              <a:t>与</a:t>
            </a:r>
            <a:r>
              <a:rPr lang="en-US" altLang="zh-CN" dirty="0">
                <a:sym typeface="Symbol" pitchFamily="18" charset="2"/>
              </a:rPr>
              <a:t>L</a:t>
            </a:r>
            <a:r>
              <a:rPr lang="zh-CN" altLang="en-US" baseline="-25000" dirty="0">
                <a:sym typeface="Symbol" pitchFamily="18" charset="2"/>
              </a:rPr>
              <a:t>2</a:t>
            </a:r>
            <a:r>
              <a:rPr lang="zh-CN" altLang="en-US" dirty="0">
                <a:sym typeface="Symbol" pitchFamily="18" charset="2"/>
              </a:rPr>
              <a:t>的</a:t>
            </a:r>
            <a:r>
              <a:rPr lang="zh-CN" altLang="en-US" dirty="0">
                <a:solidFill>
                  <a:srgbClr val="EE853E"/>
                </a:solidFill>
                <a:sym typeface="Symbol" pitchFamily="18" charset="2"/>
              </a:rPr>
              <a:t>乘积</a:t>
            </a:r>
            <a:r>
              <a:rPr lang="zh-CN" altLang="en-US" dirty="0">
                <a:sym typeface="Symbol" pitchFamily="18" charset="2"/>
              </a:rPr>
              <a:t>是一个</a:t>
            </a:r>
            <a:r>
              <a:rPr lang="zh-CN" altLang="en-US" dirty="0">
                <a:solidFill>
                  <a:srgbClr val="EE853E"/>
                </a:solidFill>
                <a:sym typeface="Symbol" pitchFamily="18" charset="2"/>
              </a:rPr>
              <a:t>语言</a:t>
            </a:r>
            <a:r>
              <a:rPr lang="zh-CN" altLang="en-US" dirty="0">
                <a:sym typeface="Symbol" pitchFamily="18" charset="2"/>
              </a:rPr>
              <a:t>：</a:t>
            </a:r>
          </a:p>
          <a:p>
            <a:r>
              <a:rPr lang="en-US" altLang="zh-CN" dirty="0">
                <a:sym typeface="Symbol" pitchFamily="18" charset="2"/>
              </a:rPr>
              <a:t>L</a:t>
            </a:r>
            <a:r>
              <a:rPr lang="zh-CN" altLang="en-US" baseline="-25000" dirty="0">
                <a:sym typeface="Symbol" pitchFamily="18" charset="2"/>
              </a:rPr>
              <a:t>1</a:t>
            </a:r>
            <a:r>
              <a:rPr lang="en-US" altLang="zh-CN" dirty="0">
                <a:sym typeface="Symbol" pitchFamily="18" charset="2"/>
              </a:rPr>
              <a:t>L</a:t>
            </a:r>
            <a:r>
              <a:rPr lang="zh-CN" altLang="en-US" baseline="-25000" dirty="0">
                <a:sym typeface="Symbol" pitchFamily="18" charset="2"/>
              </a:rPr>
              <a:t>2</a:t>
            </a:r>
            <a:r>
              <a:rPr lang="zh-CN" altLang="en-US" dirty="0">
                <a:sym typeface="Symbol" pitchFamily="18" charset="2"/>
              </a:rPr>
              <a:t> = { </a:t>
            </a:r>
            <a:r>
              <a:rPr lang="en-US" altLang="zh-CN" dirty="0" err="1">
                <a:sym typeface="Symbol" pitchFamily="18" charset="2"/>
              </a:rPr>
              <a:t>xy</a:t>
            </a:r>
            <a:r>
              <a:rPr lang="en-US" altLang="zh-CN" dirty="0">
                <a:sym typeface="Symbol" pitchFamily="18" charset="2"/>
              </a:rPr>
              <a:t> | x L</a:t>
            </a:r>
            <a:r>
              <a:rPr lang="zh-CN" altLang="en-US" baseline="-25000" dirty="0">
                <a:sym typeface="Symbol" pitchFamily="18" charset="2"/>
              </a:rPr>
              <a:t>1</a:t>
            </a:r>
            <a:r>
              <a:rPr lang="zh-CN" altLang="en-US" dirty="0">
                <a:sym typeface="Symbol" pitchFamily="18" charset="2"/>
              </a:rPr>
              <a:t>，</a:t>
            </a:r>
            <a:r>
              <a:rPr lang="en-US" altLang="zh-CN" dirty="0">
                <a:sym typeface="Symbol" pitchFamily="18" charset="2"/>
              </a:rPr>
              <a:t>y  L</a:t>
            </a:r>
            <a:r>
              <a:rPr lang="zh-CN" altLang="en-US" baseline="-25000" dirty="0">
                <a:sym typeface="Symbol" pitchFamily="18" charset="2"/>
              </a:rPr>
              <a:t>2</a:t>
            </a:r>
            <a:r>
              <a:rPr lang="zh-CN" altLang="en-US" dirty="0">
                <a:sym typeface="Symbol" pitchFamily="18" charset="2"/>
              </a:rPr>
              <a:t> </a:t>
            </a:r>
            <a:r>
              <a:rPr lang="en-US" altLang="zh-CN" dirty="0">
                <a:sym typeface="Symbol" pitchFamily="18" charset="2"/>
              </a:rPr>
              <a:t>}</a:t>
            </a:r>
            <a:endParaRPr lang="zh-CN" altLang="en-US" dirty="0">
              <a:sym typeface="Symbol" pitchFamily="18" charset="2"/>
            </a:endParaRPr>
          </a:p>
          <a:p>
            <a:r>
              <a:rPr lang="zh-CN" altLang="en-US" dirty="0">
                <a:sym typeface="Symbol" pitchFamily="18" charset="2"/>
              </a:rPr>
              <a:t>该语言是字母表</a:t>
            </a:r>
            <a:r>
              <a:rPr lang="zh-CN" altLang="en-US" baseline="-25000" dirty="0">
                <a:sym typeface="Symbol" pitchFamily="18" charset="2"/>
              </a:rPr>
              <a:t>1</a:t>
            </a:r>
            <a:r>
              <a:rPr lang="zh-CN" altLang="en-US" dirty="0">
                <a:sym typeface="Symbol" pitchFamily="18" charset="2"/>
              </a:rPr>
              <a:t>∪</a:t>
            </a:r>
            <a:r>
              <a:rPr lang="zh-CN" altLang="en-US" baseline="-25000" dirty="0">
                <a:sym typeface="Symbol" pitchFamily="18" charset="2"/>
              </a:rPr>
              <a:t>2</a:t>
            </a:r>
            <a:r>
              <a:rPr lang="zh-CN" altLang="en-US" dirty="0">
                <a:sym typeface="Symbol" pitchFamily="18" charset="2"/>
              </a:rPr>
              <a:t>上的语言。</a:t>
            </a: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itchFamily="18" charset="2"/>
              </a:rPr>
              <a:t>语言的乘积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{</a:t>
            </a:r>
            <a:r>
              <a:rPr lang="zh-CN" altLang="en-US" dirty="0"/>
              <a:t>00</a:t>
            </a:r>
            <a:r>
              <a:rPr lang="en-US" altLang="zh-CN" dirty="0"/>
              <a:t>,</a:t>
            </a:r>
            <a:r>
              <a:rPr lang="zh-CN" altLang="en-US" dirty="0"/>
              <a:t>11}</a:t>
            </a:r>
            <a:endParaRPr lang="en-US" altLang="zh-CN" dirty="0"/>
          </a:p>
          <a:p>
            <a:r>
              <a:rPr lang="zh-CN" altLang="en-US" dirty="0"/>
              <a:t>{0</a:t>
            </a:r>
            <a:r>
              <a:rPr lang="en-US" altLang="zh-CN" dirty="0"/>
              <a:t>,</a:t>
            </a:r>
            <a:r>
              <a:rPr lang="zh-CN" altLang="en-US" dirty="0"/>
              <a:t>1}</a:t>
            </a:r>
            <a:r>
              <a:rPr lang="zh-CN" altLang="en-US" baseline="30000" dirty="0"/>
              <a:t>*</a:t>
            </a:r>
            <a:endParaRPr lang="en-US" altLang="zh-CN" baseline="30000" dirty="0"/>
          </a:p>
          <a:p>
            <a:r>
              <a:rPr lang="zh-CN" altLang="en-US" dirty="0" smtClean="0"/>
              <a:t>{</a:t>
            </a:r>
            <a:r>
              <a:rPr lang="en-US" altLang="zh-CN" dirty="0" smtClean="0"/>
              <a:t>0</a:t>
            </a:r>
            <a:r>
              <a:rPr lang="zh-CN" altLang="en-US" dirty="0" smtClean="0"/>
              <a:t>}{</a:t>
            </a:r>
            <a:r>
              <a:rPr lang="zh-CN" altLang="en-US" dirty="0"/>
              <a:t>0</a:t>
            </a:r>
            <a:r>
              <a:rPr lang="en-US" altLang="zh-CN" dirty="0"/>
              <a:t>,</a:t>
            </a:r>
            <a:r>
              <a:rPr lang="zh-CN" altLang="en-US" dirty="0"/>
              <a:t>1}</a:t>
            </a:r>
            <a:r>
              <a:rPr lang="zh-CN" altLang="en-US" baseline="30000" dirty="0"/>
              <a:t>*</a:t>
            </a:r>
            <a:endParaRPr lang="en-US" altLang="zh-CN" baseline="30000" dirty="0"/>
          </a:p>
          <a:p>
            <a:r>
              <a:rPr lang="zh-CN" altLang="en-US" dirty="0"/>
              <a:t>{0}{0</a:t>
            </a:r>
            <a:r>
              <a:rPr lang="en-US" altLang="zh-CN" dirty="0"/>
              <a:t>,</a:t>
            </a:r>
            <a:r>
              <a:rPr lang="zh-CN" altLang="en-US" dirty="0"/>
              <a:t>1}</a:t>
            </a:r>
            <a:r>
              <a:rPr lang="zh-CN" altLang="en-US" baseline="30000" dirty="0"/>
              <a:t>*</a:t>
            </a:r>
            <a:r>
              <a:rPr lang="zh-CN" altLang="en-US" dirty="0"/>
              <a:t>{1}</a:t>
            </a:r>
            <a:endParaRPr lang="en-US" altLang="zh-CN" dirty="0"/>
          </a:p>
          <a:p>
            <a:r>
              <a:rPr lang="zh-CN" altLang="en-US" dirty="0"/>
              <a:t>{</a:t>
            </a:r>
            <a:r>
              <a:rPr lang="en-US" altLang="zh-CN" dirty="0"/>
              <a:t>0,1</a:t>
            </a:r>
            <a:r>
              <a:rPr lang="zh-CN" altLang="en-US" dirty="0"/>
              <a:t>}{0</a:t>
            </a:r>
            <a:r>
              <a:rPr lang="en-US" altLang="zh-CN" dirty="0"/>
              <a:t>,</a:t>
            </a:r>
            <a:r>
              <a:rPr lang="zh-CN" altLang="en-US" dirty="0"/>
              <a:t>1}</a:t>
            </a:r>
            <a:r>
              <a:rPr lang="zh-CN" altLang="en-US" baseline="30000" dirty="0"/>
              <a:t>*</a:t>
            </a:r>
            <a:endParaRPr lang="en-US" altLang="zh-CN" baseline="30000" dirty="0"/>
          </a:p>
          <a:p>
            <a:r>
              <a:rPr lang="en-US" altLang="zh-CN" dirty="0"/>
              <a:t>{0,1}{0,1}</a:t>
            </a:r>
            <a:r>
              <a:rPr lang="zh-CN" altLang="en-US" baseline="30000" dirty="0">
                <a:sym typeface="Symbol" pitchFamily="18" charset="2"/>
              </a:rPr>
              <a:t>*</a:t>
            </a:r>
            <a:r>
              <a:rPr lang="en-US" altLang="zh-CN" dirty="0"/>
              <a:t>{0,1}</a:t>
            </a:r>
          </a:p>
          <a:p>
            <a:r>
              <a:rPr lang="en-US" altLang="zh-CN" dirty="0"/>
              <a:t>{0,1}{0,1}{0,1}</a:t>
            </a:r>
            <a:r>
              <a:rPr lang="zh-CN" altLang="en-US" baseline="30000" dirty="0">
                <a:sym typeface="Symbol" pitchFamily="18" charset="2"/>
              </a:rPr>
              <a:t>*</a:t>
            </a:r>
            <a:endParaRPr lang="zh-CN" altLang="en-US" baseline="30000" dirty="0"/>
          </a:p>
          <a:p>
            <a:r>
              <a:rPr lang="zh-CN" altLang="en-US" dirty="0"/>
              <a:t>{0</a:t>
            </a:r>
            <a:r>
              <a:rPr lang="en-US" altLang="zh-CN" dirty="0"/>
              <a:t>,</a:t>
            </a:r>
            <a:r>
              <a:rPr lang="zh-CN" altLang="en-US" dirty="0"/>
              <a:t>1}</a:t>
            </a:r>
            <a:r>
              <a:rPr lang="zh-CN" altLang="en-US" baseline="30000" dirty="0"/>
              <a:t>*</a:t>
            </a:r>
            <a:r>
              <a:rPr lang="zh-CN" altLang="en-US" dirty="0"/>
              <a:t>{1}{0</a:t>
            </a:r>
            <a:r>
              <a:rPr lang="en-US" altLang="zh-CN" dirty="0"/>
              <a:t>,</a:t>
            </a:r>
            <a:r>
              <a:rPr lang="zh-CN" altLang="en-US" dirty="0"/>
              <a:t>1}</a:t>
            </a:r>
            <a:r>
              <a:rPr lang="zh-CN" altLang="en-US" baseline="30000" dirty="0"/>
              <a:t>*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语言的</a:t>
            </a:r>
            <a:r>
              <a:rPr lang="zh-CN" altLang="en-US" dirty="0"/>
              <a:t>例子：字母表{0</a:t>
            </a:r>
            <a:r>
              <a:rPr lang="en-US" altLang="zh-CN" dirty="0"/>
              <a:t>,</a:t>
            </a:r>
            <a:r>
              <a:rPr lang="zh-CN" altLang="en-US" dirty="0"/>
              <a:t>1}上的一些语言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59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559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559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559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559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559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500"/>
                                        <p:tgtEl>
                                          <p:spTgt spid="559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500"/>
                                        <p:tgtEl>
                                          <p:spTgt spid="559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0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ym typeface="Symbol" pitchFamily="18" charset="2"/>
              </a:rPr>
              <a:t>L = {0</a:t>
            </a:r>
            <a:r>
              <a:rPr lang="en-US" altLang="zh-CN" baseline="30000" dirty="0">
                <a:sym typeface="Symbol" pitchFamily="18" charset="2"/>
              </a:rPr>
              <a:t>n</a:t>
            </a:r>
            <a:r>
              <a:rPr lang="en-US" altLang="zh-CN" dirty="0">
                <a:sym typeface="Symbol" pitchFamily="18" charset="2"/>
              </a:rPr>
              <a:t>1</a:t>
            </a:r>
            <a:r>
              <a:rPr lang="en-US" altLang="zh-CN" baseline="30000" dirty="0">
                <a:sym typeface="Symbol" pitchFamily="18" charset="2"/>
              </a:rPr>
              <a:t>n</a:t>
            </a:r>
            <a:r>
              <a:rPr lang="en-US" altLang="zh-CN" dirty="0">
                <a:sym typeface="Symbol" pitchFamily="18" charset="2"/>
              </a:rPr>
              <a:t> | n  1}</a:t>
            </a:r>
          </a:p>
          <a:p>
            <a:r>
              <a:rPr lang="en-US" altLang="zh-CN" dirty="0">
                <a:sym typeface="Symbol" pitchFamily="18" charset="2"/>
              </a:rPr>
              <a:t>L = {0</a:t>
            </a:r>
            <a:r>
              <a:rPr lang="en-US" altLang="zh-CN" baseline="30000" dirty="0">
                <a:sym typeface="Symbol" pitchFamily="18" charset="2"/>
              </a:rPr>
              <a:t>n</a:t>
            </a:r>
            <a:r>
              <a:rPr lang="en-US" altLang="zh-CN" dirty="0">
                <a:sym typeface="Symbol" pitchFamily="18" charset="2"/>
              </a:rPr>
              <a:t>1</a:t>
            </a:r>
            <a:r>
              <a:rPr lang="en-US" altLang="zh-CN" baseline="30000" dirty="0">
                <a:sym typeface="Symbol" pitchFamily="18" charset="2"/>
              </a:rPr>
              <a:t>m</a:t>
            </a:r>
            <a:r>
              <a:rPr lang="en-US" altLang="zh-CN" dirty="0">
                <a:sym typeface="Symbol" pitchFamily="18" charset="2"/>
              </a:rPr>
              <a:t>0</a:t>
            </a:r>
            <a:r>
              <a:rPr lang="en-US" altLang="zh-CN" baseline="30000" dirty="0">
                <a:sym typeface="Symbol" pitchFamily="18" charset="2"/>
              </a:rPr>
              <a:t>k</a:t>
            </a:r>
            <a:r>
              <a:rPr lang="en-US" altLang="zh-CN" dirty="0">
                <a:sym typeface="Symbol" pitchFamily="18" charset="2"/>
              </a:rPr>
              <a:t> | n, m, k  1}</a:t>
            </a:r>
          </a:p>
          <a:p>
            <a:r>
              <a:rPr lang="en-US" altLang="zh-CN" dirty="0">
                <a:sym typeface="Symbol" pitchFamily="18" charset="2"/>
              </a:rPr>
              <a:t>L = {0</a:t>
            </a:r>
            <a:r>
              <a:rPr lang="en-US" altLang="zh-CN" baseline="30000" dirty="0">
                <a:sym typeface="Symbol" pitchFamily="18" charset="2"/>
              </a:rPr>
              <a:t>n</a:t>
            </a:r>
            <a:r>
              <a:rPr lang="en-US" altLang="zh-CN" dirty="0">
                <a:sym typeface="Symbol" pitchFamily="18" charset="2"/>
              </a:rPr>
              <a:t>1</a:t>
            </a:r>
            <a:r>
              <a:rPr lang="en-US" altLang="zh-CN" baseline="30000" dirty="0">
                <a:sym typeface="Symbol" pitchFamily="18" charset="2"/>
              </a:rPr>
              <a:t>m</a:t>
            </a:r>
            <a:r>
              <a:rPr lang="en-US" altLang="zh-CN" dirty="0">
                <a:sym typeface="Symbol" pitchFamily="18" charset="2"/>
              </a:rPr>
              <a:t>0</a:t>
            </a:r>
            <a:r>
              <a:rPr lang="en-US" altLang="zh-CN" baseline="30000" dirty="0">
                <a:sym typeface="Symbol" pitchFamily="18" charset="2"/>
              </a:rPr>
              <a:t>k</a:t>
            </a:r>
            <a:r>
              <a:rPr lang="en-US" altLang="zh-CN" dirty="0">
                <a:sym typeface="Symbol" pitchFamily="18" charset="2"/>
              </a:rPr>
              <a:t> | n, m, k  0}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语言的例子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所有</a:t>
            </a:r>
            <a:r>
              <a:rPr lang="zh-CN" altLang="zh-CN" dirty="0"/>
              <a:t>以</a:t>
            </a:r>
            <a:r>
              <a:rPr lang="en-US" altLang="zh-CN" dirty="0"/>
              <a:t>0</a:t>
            </a:r>
            <a:r>
              <a:rPr lang="zh-CN" altLang="zh-CN" dirty="0"/>
              <a:t>开头，以</a:t>
            </a:r>
            <a:r>
              <a:rPr lang="en-US" altLang="zh-CN" dirty="0"/>
              <a:t>1</a:t>
            </a:r>
            <a:r>
              <a:rPr lang="zh-CN" altLang="zh-CN" dirty="0"/>
              <a:t>结尾的串的语言</a:t>
            </a:r>
            <a:r>
              <a:rPr lang="zh-CN" altLang="zh-CN" dirty="0" smtClean="0"/>
              <a:t>。</a:t>
            </a:r>
            <a:r>
              <a:rPr lang="en-US" altLang="zh-CN" dirty="0" smtClean="0"/>
              <a:t>   </a:t>
            </a:r>
          </a:p>
          <a:p>
            <a:r>
              <a:rPr lang="en-US" altLang="zh-CN" dirty="0" smtClean="0"/>
              <a:t> </a:t>
            </a:r>
            <a:r>
              <a:rPr lang="zh-CN" altLang="en-US" dirty="0">
                <a:solidFill>
                  <a:srgbClr val="EE853E"/>
                </a:solidFill>
              </a:rPr>
              <a:t>{0}{0</a:t>
            </a:r>
            <a:r>
              <a:rPr lang="en-US" altLang="zh-CN" dirty="0">
                <a:solidFill>
                  <a:srgbClr val="EE853E"/>
                </a:solidFill>
              </a:rPr>
              <a:t>,</a:t>
            </a:r>
            <a:r>
              <a:rPr lang="zh-CN" altLang="en-US" dirty="0">
                <a:solidFill>
                  <a:srgbClr val="EE853E"/>
                </a:solidFill>
              </a:rPr>
              <a:t>1}*{1}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zh-CN" dirty="0" smtClean="0"/>
              <a:t>所有</a:t>
            </a:r>
            <a:r>
              <a:rPr lang="zh-CN" altLang="zh-CN" dirty="0"/>
              <a:t>以</a:t>
            </a:r>
            <a:r>
              <a:rPr lang="en-US" altLang="zh-CN" dirty="0"/>
              <a:t>11</a:t>
            </a:r>
            <a:r>
              <a:rPr lang="zh-CN" altLang="zh-CN" dirty="0"/>
              <a:t>开头，</a:t>
            </a:r>
            <a:r>
              <a:rPr lang="en-US" altLang="zh-CN" dirty="0"/>
              <a:t>11</a:t>
            </a:r>
            <a:r>
              <a:rPr lang="zh-CN" altLang="zh-CN" dirty="0"/>
              <a:t>结尾的串的语言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EE853E"/>
                </a:solidFill>
              </a:rPr>
              <a:t>{</a:t>
            </a:r>
            <a:r>
              <a:rPr lang="en-US" altLang="zh-CN" dirty="0">
                <a:solidFill>
                  <a:srgbClr val="EE853E"/>
                </a:solidFill>
              </a:rPr>
              <a:t>11</a:t>
            </a:r>
            <a:r>
              <a:rPr lang="zh-CN" altLang="en-US" dirty="0">
                <a:solidFill>
                  <a:srgbClr val="EE853E"/>
                </a:solidFill>
              </a:rPr>
              <a:t>}{0</a:t>
            </a:r>
            <a:r>
              <a:rPr lang="en-US" altLang="zh-CN" dirty="0">
                <a:solidFill>
                  <a:srgbClr val="EE853E"/>
                </a:solidFill>
              </a:rPr>
              <a:t>,</a:t>
            </a:r>
            <a:r>
              <a:rPr lang="zh-CN" altLang="en-US" dirty="0">
                <a:solidFill>
                  <a:srgbClr val="EE853E"/>
                </a:solidFill>
              </a:rPr>
              <a:t>1}*{</a:t>
            </a:r>
            <a:r>
              <a:rPr lang="en-US" altLang="zh-CN" dirty="0">
                <a:solidFill>
                  <a:srgbClr val="EE853E"/>
                </a:solidFill>
              </a:rPr>
              <a:t>1</a:t>
            </a:r>
            <a:r>
              <a:rPr lang="zh-CN" altLang="en-US" dirty="0">
                <a:solidFill>
                  <a:srgbClr val="EE853E"/>
                </a:solidFill>
              </a:rPr>
              <a:t>1}</a:t>
            </a:r>
            <a:r>
              <a:rPr lang="en-US" altLang="zh-CN" dirty="0">
                <a:solidFill>
                  <a:srgbClr val="FF0000"/>
                </a:solidFill>
              </a:rPr>
              <a:t>U</a:t>
            </a:r>
            <a:r>
              <a:rPr lang="zh-CN" altLang="en-US" dirty="0">
                <a:solidFill>
                  <a:srgbClr val="FF0000"/>
                </a:solidFill>
              </a:rPr>
              <a:t>{</a:t>
            </a:r>
            <a:r>
              <a:rPr lang="en-US" altLang="zh-CN" dirty="0">
                <a:solidFill>
                  <a:srgbClr val="FF0000"/>
                </a:solidFill>
              </a:rPr>
              <a:t>11,111</a:t>
            </a:r>
            <a:r>
              <a:rPr lang="zh-CN" altLang="en-US" dirty="0">
                <a:solidFill>
                  <a:srgbClr val="FF0000"/>
                </a:solidFill>
              </a:rPr>
              <a:t>}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zh-CN" dirty="0" smtClean="0"/>
              <a:t>所有</a:t>
            </a:r>
            <a:r>
              <a:rPr lang="zh-CN" altLang="zh-CN" dirty="0"/>
              <a:t>长度为偶数的串的语言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EE853E"/>
                </a:solidFill>
              </a:rPr>
              <a:t>{</a:t>
            </a:r>
            <a:r>
              <a:rPr lang="en-US" altLang="zh-CN" dirty="0">
                <a:solidFill>
                  <a:srgbClr val="EE853E"/>
                </a:solidFill>
              </a:rPr>
              <a:t>00,01,10,11</a:t>
            </a:r>
            <a:r>
              <a:rPr lang="zh-CN" altLang="en-US" dirty="0">
                <a:solidFill>
                  <a:srgbClr val="EE853E"/>
                </a:solidFill>
              </a:rPr>
              <a:t>}*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zh-CN" dirty="0" smtClean="0"/>
              <a:t>所有</a:t>
            </a:r>
            <a:r>
              <a:rPr lang="zh-CN" altLang="zh-CN" dirty="0"/>
              <a:t>包含子串</a:t>
            </a:r>
            <a:r>
              <a:rPr lang="en-US" altLang="zh-CN" dirty="0"/>
              <a:t>01011</a:t>
            </a:r>
            <a:r>
              <a:rPr lang="zh-CN" altLang="zh-CN" dirty="0"/>
              <a:t>的串的语言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EE853E"/>
                </a:solidFill>
              </a:rPr>
              <a:t>{0</a:t>
            </a:r>
            <a:r>
              <a:rPr lang="en-US" altLang="zh-CN" dirty="0">
                <a:solidFill>
                  <a:srgbClr val="EE853E"/>
                </a:solidFill>
              </a:rPr>
              <a:t>,</a:t>
            </a:r>
            <a:r>
              <a:rPr lang="zh-CN" altLang="en-US" dirty="0">
                <a:solidFill>
                  <a:srgbClr val="EE853E"/>
                </a:solidFill>
              </a:rPr>
              <a:t>1}*{</a:t>
            </a:r>
            <a:r>
              <a:rPr lang="en-US" altLang="zh-CN" dirty="0">
                <a:solidFill>
                  <a:srgbClr val="EE853E"/>
                </a:solidFill>
              </a:rPr>
              <a:t>01011</a:t>
            </a:r>
            <a:r>
              <a:rPr lang="zh-CN" altLang="en-US" dirty="0">
                <a:solidFill>
                  <a:srgbClr val="EE853E"/>
                </a:solidFill>
              </a:rPr>
              <a:t>}</a:t>
            </a:r>
            <a:r>
              <a:rPr lang="en-US" altLang="zh-CN" dirty="0">
                <a:solidFill>
                  <a:srgbClr val="EE853E"/>
                </a:solidFill>
              </a:rPr>
              <a:t>U</a:t>
            </a:r>
            <a:r>
              <a:rPr lang="zh-CN" altLang="en-US" dirty="0">
                <a:solidFill>
                  <a:srgbClr val="EE853E"/>
                </a:solidFill>
              </a:rPr>
              <a:t>{0</a:t>
            </a:r>
            <a:r>
              <a:rPr lang="en-US" altLang="zh-CN" dirty="0">
                <a:solidFill>
                  <a:srgbClr val="EE853E"/>
                </a:solidFill>
              </a:rPr>
              <a:t>,</a:t>
            </a:r>
            <a:r>
              <a:rPr lang="zh-CN" altLang="en-US" dirty="0">
                <a:solidFill>
                  <a:srgbClr val="EE853E"/>
                </a:solidFill>
              </a:rPr>
              <a:t>1}*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zh-CN" dirty="0" smtClean="0"/>
              <a:t>所有</a:t>
            </a:r>
            <a:r>
              <a:rPr lang="zh-CN" altLang="en-US" dirty="0"/>
              <a:t>的</a:t>
            </a:r>
            <a:r>
              <a:rPr lang="zh-CN" altLang="zh-CN" dirty="0"/>
              <a:t>第</a:t>
            </a:r>
            <a:r>
              <a:rPr lang="en-US" altLang="zh-CN" dirty="0"/>
              <a:t>10</a:t>
            </a:r>
            <a:r>
              <a:rPr lang="zh-CN" altLang="zh-CN" dirty="0"/>
              <a:t>个字符是</a:t>
            </a:r>
            <a:r>
              <a:rPr lang="en-US" altLang="zh-CN" dirty="0"/>
              <a:t>0</a:t>
            </a:r>
            <a:r>
              <a:rPr lang="zh-CN" altLang="zh-CN" dirty="0"/>
              <a:t>的串的语言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EE853E"/>
                </a:solidFill>
              </a:rPr>
              <a:t>{0</a:t>
            </a:r>
            <a:r>
              <a:rPr lang="en-US" altLang="zh-CN" dirty="0">
                <a:solidFill>
                  <a:srgbClr val="EE853E"/>
                </a:solidFill>
              </a:rPr>
              <a:t>,</a:t>
            </a:r>
            <a:r>
              <a:rPr lang="zh-CN" altLang="en-US" dirty="0">
                <a:solidFill>
                  <a:srgbClr val="EE853E"/>
                </a:solidFill>
              </a:rPr>
              <a:t>1}</a:t>
            </a:r>
            <a:r>
              <a:rPr lang="en-US" altLang="zh-CN" baseline="30000" dirty="0">
                <a:solidFill>
                  <a:srgbClr val="EE853E"/>
                </a:solidFill>
              </a:rPr>
              <a:t>9</a:t>
            </a:r>
            <a:r>
              <a:rPr lang="zh-CN" altLang="en-US" dirty="0">
                <a:solidFill>
                  <a:srgbClr val="EE853E"/>
                </a:solidFill>
              </a:rPr>
              <a:t>{0} {0</a:t>
            </a:r>
            <a:r>
              <a:rPr lang="en-US" altLang="zh-CN" dirty="0">
                <a:solidFill>
                  <a:srgbClr val="EE853E"/>
                </a:solidFill>
              </a:rPr>
              <a:t>,</a:t>
            </a:r>
            <a:r>
              <a:rPr lang="zh-CN" altLang="en-US" dirty="0">
                <a:solidFill>
                  <a:srgbClr val="EE853E"/>
                </a:solidFill>
              </a:rPr>
              <a:t>1}*</a:t>
            </a:r>
            <a:endParaRPr lang="en-US" altLang="zh-CN" dirty="0">
              <a:solidFill>
                <a:srgbClr val="EE853E"/>
              </a:solidFill>
            </a:endParaRPr>
          </a:p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Symbol" pitchFamily="18" charset="2"/>
              </a:rPr>
              <a:t></a:t>
            </a:r>
            <a:r>
              <a:rPr lang="en-US" altLang="zh-CN" dirty="0"/>
              <a:t>={0,1}</a:t>
            </a:r>
            <a:r>
              <a:rPr lang="zh-CN" altLang="zh-CN" dirty="0"/>
              <a:t>，请给出</a:t>
            </a:r>
            <a:r>
              <a:rPr lang="zh-CN" altLang="en-US" dirty="0"/>
              <a:t>以下</a:t>
            </a:r>
            <a:r>
              <a:rPr lang="zh-CN" altLang="zh-CN" dirty="0"/>
              <a:t>语言的形式表示</a:t>
            </a:r>
            <a:r>
              <a:rPr lang="zh-CN" altLang="en-US" dirty="0"/>
              <a:t>：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7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7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形式语言和自动机理论中的</a:t>
            </a:r>
            <a:r>
              <a:rPr lang="zh-CN" altLang="en-US" dirty="0">
                <a:solidFill>
                  <a:srgbClr val="EE853E"/>
                </a:solidFill>
              </a:rPr>
              <a:t>语言</a:t>
            </a:r>
            <a:r>
              <a:rPr lang="zh-CN" altLang="en-US" dirty="0"/>
              <a:t>是一个宽泛的概念（不同于传统语言）。  </a:t>
            </a:r>
          </a:p>
          <a:p>
            <a:r>
              <a:rPr lang="zh-CN" altLang="en-US" dirty="0"/>
              <a:t>一个字母表上的</a:t>
            </a:r>
            <a:r>
              <a:rPr lang="zh-CN" altLang="en-US" dirty="0">
                <a:solidFill>
                  <a:srgbClr val="EE853E"/>
                </a:solidFill>
              </a:rPr>
              <a:t>语言</a:t>
            </a:r>
            <a:r>
              <a:rPr lang="zh-CN" altLang="en-US" dirty="0"/>
              <a:t>就是该</a:t>
            </a:r>
            <a:r>
              <a:rPr lang="zh-CN" altLang="en-US" dirty="0">
                <a:solidFill>
                  <a:srgbClr val="EE853E"/>
                </a:solidFill>
              </a:rPr>
              <a:t>字母表</a:t>
            </a:r>
            <a:r>
              <a:rPr lang="zh-CN" altLang="en-US" dirty="0"/>
              <a:t>的任意</a:t>
            </a:r>
            <a:r>
              <a:rPr lang="zh-CN" altLang="en-US" dirty="0">
                <a:solidFill>
                  <a:srgbClr val="EE853E"/>
                </a:solidFill>
              </a:rPr>
              <a:t>字符串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EE853E"/>
                </a:solidFill>
              </a:rPr>
              <a:t>集合</a:t>
            </a:r>
            <a:r>
              <a:rPr lang="zh-CN" altLang="en-US" dirty="0"/>
              <a:t>。 </a:t>
            </a:r>
          </a:p>
          <a:p>
            <a:r>
              <a:rPr lang="zh-CN" altLang="en-US" dirty="0"/>
              <a:t>语言中的字符串称为该语言的</a:t>
            </a:r>
            <a:r>
              <a:rPr lang="zh-CN" altLang="en-US" dirty="0">
                <a:solidFill>
                  <a:srgbClr val="EE853E"/>
                </a:solidFill>
              </a:rPr>
              <a:t>句子</a:t>
            </a:r>
            <a:r>
              <a:rPr lang="zh-CN" altLang="en-US" dirty="0"/>
              <a:t>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形式语言和自动机理论中的语言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语言的定义可以从两个方面进行：</a:t>
            </a:r>
            <a:endParaRPr lang="en-US" altLang="zh-CN" dirty="0"/>
          </a:p>
          <a:p>
            <a:r>
              <a:rPr lang="en-US" altLang="zh-CN" dirty="0"/>
              <a:t>(1)</a:t>
            </a:r>
            <a:r>
              <a:rPr lang="zh-CN" altLang="en-US" dirty="0"/>
              <a:t> 从</a:t>
            </a:r>
            <a:r>
              <a:rPr lang="zh-CN" altLang="en-US" dirty="0">
                <a:solidFill>
                  <a:srgbClr val="EE853E"/>
                </a:solidFill>
              </a:rPr>
              <a:t>产生</a:t>
            </a:r>
            <a:r>
              <a:rPr lang="zh-CN" altLang="en-US" dirty="0"/>
              <a:t>语言的角度；</a:t>
            </a:r>
          </a:p>
          <a:p>
            <a:r>
              <a:rPr lang="en-US" altLang="zh-CN" dirty="0"/>
              <a:t>(2)</a:t>
            </a:r>
            <a:r>
              <a:rPr lang="zh-CN" altLang="en-US" dirty="0"/>
              <a:t> 从</a:t>
            </a:r>
            <a:r>
              <a:rPr lang="zh-CN" altLang="en-US" dirty="0">
                <a:solidFill>
                  <a:srgbClr val="EE853E"/>
                </a:solidFill>
              </a:rPr>
              <a:t>接收</a:t>
            </a:r>
            <a:r>
              <a:rPr lang="zh-CN" altLang="en-US" dirty="0"/>
              <a:t>（或</a:t>
            </a:r>
            <a:r>
              <a:rPr lang="zh-CN" altLang="en-US" dirty="0">
                <a:solidFill>
                  <a:srgbClr val="EE853E"/>
                </a:solidFill>
              </a:rPr>
              <a:t>识别</a:t>
            </a:r>
            <a:r>
              <a:rPr lang="zh-CN" altLang="en-US" dirty="0"/>
              <a:t>）语言的角度。</a:t>
            </a:r>
          </a:p>
          <a:p>
            <a:endParaRPr lang="en-US" altLang="zh-CN" dirty="0"/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DCA2181F-CD93-4007-9385-5B4F08385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形式语言和自动机理论中的语言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根据语言中的</a:t>
            </a:r>
            <a:r>
              <a:rPr lang="zh-CN" altLang="en-US" dirty="0">
                <a:solidFill>
                  <a:srgbClr val="EE853E"/>
                </a:solidFill>
              </a:rPr>
              <a:t>基本句子</a:t>
            </a:r>
            <a:r>
              <a:rPr lang="zh-CN" altLang="en-US" dirty="0"/>
              <a:t>和其他句子的</a:t>
            </a:r>
            <a:r>
              <a:rPr lang="zh-CN" altLang="en-US" dirty="0">
                <a:solidFill>
                  <a:srgbClr val="EE853E"/>
                </a:solidFill>
              </a:rPr>
              <a:t>形成规则</a:t>
            </a:r>
            <a:r>
              <a:rPr lang="zh-CN" altLang="en-US" dirty="0"/>
              <a:t>，得到（产生）该语言所包含的</a:t>
            </a:r>
            <a:r>
              <a:rPr lang="zh-CN" altLang="en-US" dirty="0">
                <a:solidFill>
                  <a:srgbClr val="EE853E"/>
                </a:solidFill>
              </a:rPr>
              <a:t>所有句子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—— </a:t>
            </a:r>
            <a:r>
              <a:rPr lang="zh-CN" altLang="en-US" dirty="0">
                <a:solidFill>
                  <a:srgbClr val="EE853E"/>
                </a:solidFill>
              </a:rPr>
              <a:t>形式语言</a:t>
            </a:r>
            <a:r>
              <a:rPr lang="zh-CN" altLang="en-US" dirty="0"/>
              <a:t>所研究的问题</a:t>
            </a:r>
          </a:p>
        </p:txBody>
      </p:sp>
      <p:sp>
        <p:nvSpPr>
          <p:cNvPr id="3" name="标题 2">
            <a:extLst>
              <a:ext uri="{FF2B5EF4-FFF2-40B4-BE49-F238E27FC236}">
                <a16:creationId xmlns="" xmlns:a16="http://schemas.microsoft.com/office/drawing/2014/main" id="{8A2DC17F-1FC7-4AD8-B96B-07A5DED56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产生语言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zh-CN" altLang="en-US" dirty="0">
                <a:solidFill>
                  <a:srgbClr val="EE853E"/>
                </a:solidFill>
              </a:rPr>
              <a:t>自动机模型</a:t>
            </a:r>
            <a:r>
              <a:rPr lang="zh-CN" altLang="en-US" dirty="0"/>
              <a:t>来</a:t>
            </a:r>
            <a:r>
              <a:rPr lang="zh-CN" altLang="en-US" dirty="0">
                <a:solidFill>
                  <a:srgbClr val="EE853E"/>
                </a:solidFill>
              </a:rPr>
              <a:t>接收</a:t>
            </a:r>
            <a:r>
              <a:rPr lang="zh-CN" altLang="en-US" dirty="0"/>
              <a:t>（识别）字符串，接收（识别）的所有字符串，也形成一个语言。</a:t>
            </a:r>
          </a:p>
          <a:p>
            <a:r>
              <a:rPr lang="en-US" altLang="zh-CN" dirty="0"/>
              <a:t>——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EE853E"/>
                </a:solidFill>
              </a:rPr>
              <a:t>自动机</a:t>
            </a:r>
            <a:r>
              <a:rPr lang="zh-CN" altLang="en-US" dirty="0"/>
              <a:t>所研究的问题  </a:t>
            </a:r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="" xmlns:a16="http://schemas.microsoft.com/office/drawing/2014/main" id="{1B089A34-6B62-4FC6-A5D8-3D23F0B96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接收语言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形式语言与自动机作为统一的理论，实际上包括</a:t>
            </a:r>
            <a:r>
              <a:rPr lang="en-US" altLang="zh-CN" dirty="0"/>
              <a:t>3</a:t>
            </a:r>
            <a:r>
              <a:rPr lang="zh-CN" altLang="en-US" dirty="0"/>
              <a:t>方面内容：</a:t>
            </a:r>
            <a:endParaRPr lang="en-US" altLang="zh-CN" dirty="0"/>
          </a:p>
          <a:p>
            <a:r>
              <a:rPr lang="en-US" altLang="zh-CN" dirty="0"/>
              <a:t>(1) </a:t>
            </a:r>
            <a:r>
              <a:rPr lang="zh-CN" altLang="en-US" dirty="0">
                <a:solidFill>
                  <a:srgbClr val="EE853E"/>
                </a:solidFill>
              </a:rPr>
              <a:t>形式语言</a:t>
            </a:r>
            <a:r>
              <a:rPr lang="zh-CN" altLang="en-US" dirty="0"/>
              <a:t>理论（产生语言）</a:t>
            </a:r>
            <a:endParaRPr lang="en-US" altLang="zh-CN" dirty="0"/>
          </a:p>
          <a:p>
            <a:r>
              <a:rPr lang="en-US" altLang="zh-CN" dirty="0"/>
              <a:t>(2) </a:t>
            </a:r>
            <a:r>
              <a:rPr lang="zh-CN" altLang="en-US" dirty="0">
                <a:solidFill>
                  <a:srgbClr val="EE853E"/>
                </a:solidFill>
              </a:rPr>
              <a:t>自动机</a:t>
            </a:r>
            <a:r>
              <a:rPr lang="zh-CN" altLang="en-US" dirty="0"/>
              <a:t>理论（接收语言）</a:t>
            </a:r>
            <a:endParaRPr lang="en-US" altLang="zh-CN" dirty="0"/>
          </a:p>
          <a:p>
            <a:r>
              <a:rPr lang="en-US" altLang="zh-CN" dirty="0"/>
              <a:t>(3) </a:t>
            </a:r>
            <a:r>
              <a:rPr lang="zh-CN" altLang="en-US" dirty="0"/>
              <a:t>形式语言与自动机的</a:t>
            </a:r>
            <a:r>
              <a:rPr lang="zh-CN" altLang="en-US" dirty="0">
                <a:solidFill>
                  <a:srgbClr val="EE853E"/>
                </a:solidFill>
              </a:rPr>
              <a:t>等价性</a:t>
            </a:r>
            <a:r>
              <a:rPr lang="zh-CN" altLang="en-US" dirty="0"/>
              <a:t>理论</a:t>
            </a: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统一的理论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6010</TotalTime>
  <Words>1243</Words>
  <Application>Microsoft Office PowerPoint</Application>
  <PresentationFormat>宽屏</PresentationFormat>
  <Paragraphs>169</Paragraphs>
  <Slides>27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Clear Sans</vt:lpstr>
      <vt:lpstr>黑体</vt:lpstr>
      <vt:lpstr>宋体</vt:lpstr>
      <vt:lpstr>微软雅黑</vt:lpstr>
      <vt:lpstr>Arial</vt:lpstr>
      <vt:lpstr>Symbol</vt:lpstr>
      <vt:lpstr>Wingdings</vt:lpstr>
      <vt:lpstr>环保</vt:lpstr>
      <vt:lpstr>第四章 程序语言的设计</vt:lpstr>
      <vt:lpstr>第四章 程序语言的设计</vt:lpstr>
      <vt:lpstr>形式语言与自动机理论</vt:lpstr>
      <vt:lpstr>理论来源</vt:lpstr>
      <vt:lpstr>自然语言</vt:lpstr>
      <vt:lpstr>形式语言中的语言</vt:lpstr>
      <vt:lpstr>形式语言中的语言</vt:lpstr>
      <vt:lpstr>常用术语</vt:lpstr>
      <vt:lpstr>常用术语</vt:lpstr>
      <vt:lpstr>常用术语</vt:lpstr>
      <vt:lpstr>常用术语</vt:lpstr>
      <vt:lpstr>常用术语</vt:lpstr>
      <vt:lpstr>常用术语</vt:lpstr>
      <vt:lpstr>常用术语</vt:lpstr>
      <vt:lpstr>常用术语</vt:lpstr>
      <vt:lpstr>常用术语</vt:lpstr>
      <vt:lpstr>常用术语</vt:lpstr>
      <vt:lpstr>常用术语</vt:lpstr>
      <vt:lpstr>语言的乘积</vt:lpstr>
      <vt:lpstr>语言的例子：字母表{0,1}上的一些语言</vt:lpstr>
      <vt:lpstr>语言的例子</vt:lpstr>
      <vt:lpstr>={0,1}，请给出以下语言的形式表示：</vt:lpstr>
      <vt:lpstr>形式语言和自动机理论中的语言</vt:lpstr>
      <vt:lpstr>形式语言和自动机理论中的语言</vt:lpstr>
      <vt:lpstr>产生语言</vt:lpstr>
      <vt:lpstr>接收语言</vt:lpstr>
      <vt:lpstr>统一的理论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Microsoft</cp:lastModifiedBy>
  <cp:revision>1070</cp:revision>
  <cp:lastPrinted>1601-01-01T00:00:00Z</cp:lastPrinted>
  <dcterms:created xsi:type="dcterms:W3CDTF">1601-01-01T00:00:00Z</dcterms:created>
  <dcterms:modified xsi:type="dcterms:W3CDTF">2019-12-02T02:30:30Z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