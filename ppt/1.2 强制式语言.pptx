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4"/>
  </p:notesMasterIdLst>
  <p:handoutMasterIdLst>
    <p:handoutMasterId r:id="rId25"/>
  </p:handoutMasterIdLst>
  <p:sldIdLst>
    <p:sldId id="376" r:id="rId2"/>
    <p:sldId id="281" r:id="rId3"/>
    <p:sldId id="282" r:id="rId4"/>
    <p:sldId id="378" r:id="rId5"/>
    <p:sldId id="284" r:id="rId6"/>
    <p:sldId id="283" r:id="rId7"/>
    <p:sldId id="285" r:id="rId8"/>
    <p:sldId id="379" r:id="rId9"/>
    <p:sldId id="286" r:id="rId10"/>
    <p:sldId id="287" r:id="rId11"/>
    <p:sldId id="380" r:id="rId12"/>
    <p:sldId id="289" r:id="rId13"/>
    <p:sldId id="291" r:id="rId14"/>
    <p:sldId id="292" r:id="rId15"/>
    <p:sldId id="293" r:id="rId16"/>
    <p:sldId id="297" r:id="rId17"/>
    <p:sldId id="299" r:id="rId18"/>
    <p:sldId id="301" r:id="rId19"/>
    <p:sldId id="302" r:id="rId20"/>
    <p:sldId id="303" r:id="rId21"/>
    <p:sldId id="381" r:id="rId22"/>
    <p:sldId id="345" r:id="rId2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D0CA"/>
    <a:srgbClr val="EE853E"/>
    <a:srgbClr val="A18D60"/>
    <a:srgbClr val="EE8A3E"/>
    <a:srgbClr val="E98A3E"/>
    <a:srgbClr val="04141B"/>
    <a:srgbClr val="D9B247"/>
    <a:srgbClr val="2A9995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100" d="100"/>
          <a:sy n="100" d="100"/>
        </p:scale>
        <p:origin x="5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程序：指令的组合</a:t>
            </a: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5752F2-26F3-4968-9C94-D9F43BEAC940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99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6E29DE-9985-43B2-AAE0-F86440CDCA8F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834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03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9F7EBB-A97B-4AD8-B725-31D7675C8A71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254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BFFAC6-1DD5-4BC3-9697-A62A4E1B69E3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xmlns="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xmlns="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xmlns="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xmlns="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xmlns="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xmlns="" id="{B61737D5-A147-4CD5-876A-D63C47C80E92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11304"/>
              <a:gd name="adj2" fmla="val 627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程序设计语言的分类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绑定的概念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主要的强制式语言</a:t>
            </a:r>
          </a:p>
        </p:txBody>
      </p:sp>
    </p:spTree>
    <p:extLst>
      <p:ext uri="{BB962C8B-B14F-4D97-AF65-F5344CB8AC3E}">
        <p14:creationId xmlns:p14="http://schemas.microsoft.com/office/powerpoint/2010/main" val="11086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按设计的</a:t>
            </a:r>
            <a:r>
              <a:rPr lang="zh-CN" altLang="en-US" dirty="0">
                <a:solidFill>
                  <a:srgbClr val="EE853E"/>
                </a:solidFill>
              </a:rPr>
              <a:t>理论基础</a:t>
            </a:r>
            <a:r>
              <a:rPr lang="zh-CN" altLang="en-US" dirty="0"/>
              <a:t>分为</a:t>
            </a:r>
            <a:r>
              <a:rPr lang="en-US" altLang="zh-CN" dirty="0"/>
              <a:t>4</a:t>
            </a:r>
            <a:r>
              <a:rPr lang="zh-CN" altLang="en-US" dirty="0"/>
              <a:t>类语言：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强制式</a:t>
            </a:r>
            <a:r>
              <a:rPr lang="zh-CN" altLang="en-US" dirty="0"/>
              <a:t>语言：基础是冯</a:t>
            </a:r>
            <a:r>
              <a:rPr lang="en-US" altLang="zh-CN" dirty="0"/>
              <a:t>.</a:t>
            </a:r>
            <a:r>
              <a:rPr lang="zh-CN" altLang="en-US" dirty="0"/>
              <a:t>诺依曼模型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函数式</a:t>
            </a:r>
            <a:r>
              <a:rPr lang="zh-CN" altLang="en-US" dirty="0"/>
              <a:t>语言：基础是数学函数（函数运算）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逻辑式</a:t>
            </a:r>
            <a:r>
              <a:rPr lang="zh-CN" altLang="en-US" dirty="0"/>
              <a:t>语言：基础是数理逻辑、谓词演算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对象式</a:t>
            </a:r>
            <a:r>
              <a:rPr lang="zh-CN" altLang="en-US" dirty="0"/>
              <a:t>语言：基础是抽象数据类型   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程序设计语言的分类</a:t>
            </a:r>
          </a:p>
        </p:txBody>
      </p:sp>
    </p:spTree>
    <p:extLst>
      <p:ext uri="{BB962C8B-B14F-4D97-AF65-F5344CB8AC3E}">
        <p14:creationId xmlns:p14="http://schemas.microsoft.com/office/powerpoint/2010/main" val="421753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按语言的</a:t>
            </a:r>
            <a:r>
              <a:rPr lang="zh-CN" altLang="en-US" dirty="0">
                <a:solidFill>
                  <a:srgbClr val="EE853E"/>
                </a:solidFill>
              </a:rPr>
              <a:t>发展进程</a:t>
            </a:r>
            <a:r>
              <a:rPr lang="zh-CN" altLang="en-US" dirty="0"/>
              <a:t>分类</a:t>
            </a:r>
            <a:endParaRPr lang="en-US" altLang="zh-CN" dirty="0"/>
          </a:p>
          <a:p>
            <a:r>
              <a:rPr lang="zh-CN" altLang="en-US" dirty="0"/>
              <a:t>第一代语言（机器语言）</a:t>
            </a:r>
          </a:p>
          <a:p>
            <a:r>
              <a:rPr lang="zh-CN" altLang="en-US" dirty="0"/>
              <a:t>第二代语言（汇编语言）</a:t>
            </a:r>
          </a:p>
          <a:p>
            <a:r>
              <a:rPr lang="zh-CN" altLang="en-US" dirty="0"/>
              <a:t>第三代语言（高级语言：命令式、过程式）</a:t>
            </a:r>
          </a:p>
          <a:p>
            <a:r>
              <a:rPr lang="zh-CN" altLang="en-US" dirty="0"/>
              <a:t>第四代语言（说明性语言、超高级语言）</a:t>
            </a:r>
          </a:p>
          <a:p>
            <a:r>
              <a:rPr lang="zh-CN" altLang="en-US" dirty="0"/>
              <a:t>新一代语言（函数式、逻辑式语言）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9190A83C-0592-4612-8C14-66903253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程序设计语言的分类</a:t>
            </a:r>
          </a:p>
        </p:txBody>
      </p:sp>
    </p:spTree>
    <p:extLst>
      <p:ext uri="{BB962C8B-B14F-4D97-AF65-F5344CB8AC3E}">
        <p14:creationId xmlns:p14="http://schemas.microsoft.com/office/powerpoint/2010/main" val="249506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xmlns="" id="{92C438D8-7EC7-4B76-B1DF-974100036815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11304"/>
              <a:gd name="adj2" fmla="val 627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程序设计语言的分类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绑定的概念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主要的强制式语言</a:t>
            </a:r>
          </a:p>
        </p:txBody>
      </p:sp>
    </p:spTree>
    <p:extLst>
      <p:ext uri="{BB962C8B-B14F-4D97-AF65-F5344CB8AC3E}">
        <p14:creationId xmlns:p14="http://schemas.microsoft.com/office/powerpoint/2010/main" val="177909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诺依曼体系结构</a:t>
            </a:r>
            <a:endParaRPr 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997B7A69-A250-446F-A69D-37D0BB76D51E}"/>
              </a:ext>
            </a:extLst>
          </p:cNvPr>
          <p:cNvGrpSpPr/>
          <p:nvPr/>
        </p:nvGrpSpPr>
        <p:grpSpPr>
          <a:xfrm>
            <a:off x="1600200" y="1797705"/>
            <a:ext cx="8617375" cy="4043065"/>
            <a:chOff x="1356783" y="1706860"/>
            <a:chExt cx="8617375" cy="4043065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xmlns="" id="{CCF62D33-A95F-486A-9648-330B4785C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199" y="1706860"/>
              <a:ext cx="2336800" cy="3276600"/>
            </a:xfrm>
            <a:prstGeom prst="rect">
              <a:avLst/>
            </a:prstGeom>
            <a:noFill/>
            <a:ln w="317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Line 4">
              <a:extLst>
                <a:ext uri="{FF2B5EF4-FFF2-40B4-BE49-F238E27FC236}">
                  <a16:creationId xmlns:a16="http://schemas.microsoft.com/office/drawing/2014/main" xmlns="" id="{822B6555-DB6B-4BD1-B1FC-D636217F6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199" y="2164060"/>
              <a:ext cx="2336800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Line 5">
              <a:extLst>
                <a:ext uri="{FF2B5EF4-FFF2-40B4-BE49-F238E27FC236}">
                  <a16:creationId xmlns:a16="http://schemas.microsoft.com/office/drawing/2014/main" xmlns="" id="{3478ACD5-8DC2-4C06-BF69-752B2028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199" y="2621260"/>
              <a:ext cx="2336800" cy="0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Oval 7">
              <a:extLst>
                <a:ext uri="{FF2B5EF4-FFF2-40B4-BE49-F238E27FC236}">
                  <a16:creationId xmlns:a16="http://schemas.microsoft.com/office/drawing/2014/main" xmlns="" id="{0B8F43DA-E113-44C9-9A8E-F2DCB193A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799" y="33832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Oval 8">
              <a:extLst>
                <a:ext uri="{FF2B5EF4-FFF2-40B4-BE49-F238E27FC236}">
                  <a16:creationId xmlns:a16="http://schemas.microsoft.com/office/drawing/2014/main" xmlns="" id="{2C4DFD40-E960-420B-AABE-CBE1F207A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799" y="36880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xmlns="" id="{CE8B42AC-F39F-40EF-836F-0EAB99F66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799" y="40690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xmlns="" id="{1542757B-44BA-447B-8A56-4C6A72E14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199" y="1706860"/>
              <a:ext cx="2336800" cy="3276600"/>
            </a:xfrm>
            <a:prstGeom prst="rect">
              <a:avLst/>
            </a:prstGeom>
            <a:noFill/>
            <a:ln w="317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xmlns="" id="{C8FA1ADB-916B-45F3-910B-3BB1D5A58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2199" y="2164060"/>
              <a:ext cx="2336800" cy="1588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xmlns="" id="{C67E86FE-44AC-4DAB-8CA8-3C9A94063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2199" y="2621260"/>
              <a:ext cx="2336800" cy="1588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Oval 15">
              <a:extLst>
                <a:ext uri="{FF2B5EF4-FFF2-40B4-BE49-F238E27FC236}">
                  <a16:creationId xmlns:a16="http://schemas.microsoft.com/office/drawing/2014/main" xmlns="" id="{F7D09FA5-F081-4389-A224-C1B43A079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799" y="33832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Oval 16">
              <a:extLst>
                <a:ext uri="{FF2B5EF4-FFF2-40B4-BE49-F238E27FC236}">
                  <a16:creationId xmlns:a16="http://schemas.microsoft.com/office/drawing/2014/main" xmlns="" id="{A433F28A-FD3B-49BF-B6F4-23F988660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799" y="36880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2" name="Oval 17">
              <a:extLst>
                <a:ext uri="{FF2B5EF4-FFF2-40B4-BE49-F238E27FC236}">
                  <a16:creationId xmlns:a16="http://schemas.microsoft.com/office/drawing/2014/main" xmlns="" id="{9D8084F9-8440-44A2-92F2-9ED912ABF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799" y="4069060"/>
              <a:ext cx="203200" cy="1524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itchFamily="2" charset="2"/>
                <a:buNone/>
              </a:pP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xmlns="" id="{FAC55157-0D70-4800-8FFA-EEBFB43F7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399" y="2926059"/>
              <a:ext cx="1574799" cy="2233"/>
            </a:xfrm>
            <a:prstGeom prst="line">
              <a:avLst/>
            </a:prstGeom>
            <a:noFill/>
            <a:ln w="3175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Text Box 20">
              <a:extLst>
                <a:ext uri="{FF2B5EF4-FFF2-40B4-BE49-F238E27FC236}">
                  <a16:creationId xmlns:a16="http://schemas.microsoft.com/office/drawing/2014/main" xmlns="" id="{1A472639-E2B3-4913-9E08-FBF936885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6783" y="2697461"/>
              <a:ext cx="1081617" cy="461665"/>
            </a:xfrm>
            <a:prstGeom prst="rect">
              <a:avLst/>
            </a:prstGeom>
            <a:noFill/>
            <a:ln w="31750">
              <a:solidFill>
                <a:schemeClr val="bg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ip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  <p:sp>
          <p:nvSpPr>
            <p:cNvPr id="35" name="Text Box 21">
              <a:extLst>
                <a:ext uri="{FF2B5EF4-FFF2-40B4-BE49-F238E27FC236}">
                  <a16:creationId xmlns:a16="http://schemas.microsoft.com/office/drawing/2014/main" xmlns="" id="{E37D7070-FF5D-47E6-A41B-834AC5FCF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5288260"/>
              <a:ext cx="3850217" cy="461665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代码存储器（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C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）</a:t>
              </a:r>
            </a:p>
          </p:txBody>
        </p:sp>
        <p:sp>
          <p:nvSpPr>
            <p:cNvPr id="36" name="Text Box 22">
              <a:extLst>
                <a:ext uri="{FF2B5EF4-FFF2-40B4-BE49-F238E27FC236}">
                  <a16:creationId xmlns:a16="http://schemas.microsoft.com/office/drawing/2014/main" xmlns="" id="{AEBBA907-C179-49D1-A7A8-1F2B3F3E8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5288260"/>
              <a:ext cx="2582758" cy="461665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数据存储器（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D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092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	</a:t>
            </a:r>
            <a:r>
              <a:rPr lang="zh-CN" altLang="en-US" dirty="0"/>
              <a:t>构成基础</a:t>
            </a:r>
          </a:p>
          <a:p>
            <a:r>
              <a:rPr lang="zh-CN" altLang="en-US" dirty="0"/>
              <a:t>存储器，</a:t>
            </a:r>
            <a:r>
              <a:rPr lang="zh-CN" altLang="en-US" dirty="0">
                <a:solidFill>
                  <a:srgbClr val="EE853E"/>
                </a:solidFill>
              </a:rPr>
              <a:t>控制器，处理器</a:t>
            </a:r>
            <a:r>
              <a:rPr lang="zh-CN" altLang="en-US" dirty="0"/>
              <a:t>，</a:t>
            </a:r>
            <a:r>
              <a:rPr lang="en-US" altLang="zh-CN" dirty="0" err="1"/>
              <a:t>ip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(2)	</a:t>
            </a:r>
            <a:r>
              <a:rPr lang="zh-CN" altLang="en-US" dirty="0"/>
              <a:t>特点</a:t>
            </a:r>
          </a:p>
          <a:p>
            <a:r>
              <a:rPr lang="zh-CN" altLang="en-US" dirty="0"/>
              <a:t>数据、指令以</a:t>
            </a:r>
            <a:r>
              <a:rPr lang="zh-CN" altLang="en-US" dirty="0">
                <a:solidFill>
                  <a:srgbClr val="EE853E"/>
                </a:solidFill>
              </a:rPr>
              <a:t>二进制</a:t>
            </a:r>
            <a:r>
              <a:rPr lang="zh-CN" altLang="en-US" dirty="0"/>
              <a:t>形式存储；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存储</a:t>
            </a:r>
            <a:r>
              <a:rPr lang="zh-CN" altLang="en-US" dirty="0"/>
              <a:t>程序的工作方式；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程序</a:t>
            </a:r>
            <a:r>
              <a:rPr lang="zh-CN" altLang="en-US" dirty="0"/>
              <a:t>顺序执行，可强制修改执行顺序；</a:t>
            </a:r>
          </a:p>
          <a:p>
            <a:r>
              <a:rPr lang="zh-CN" altLang="en-US" dirty="0"/>
              <a:t>存储器的内容可以被</a:t>
            </a:r>
            <a:r>
              <a:rPr lang="zh-CN" altLang="en-US" dirty="0">
                <a:solidFill>
                  <a:srgbClr val="EE853E"/>
                </a:solidFill>
              </a:rPr>
              <a:t>修改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诺依曼体系结构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6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93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93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493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493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(3)	</a:t>
            </a:r>
            <a:r>
              <a:rPr lang="zh-CN" altLang="en-US" dirty="0"/>
              <a:t>在命令式语言上的表现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变量：</a:t>
            </a:r>
            <a:r>
              <a:rPr lang="zh-CN" altLang="en-US" dirty="0"/>
              <a:t>存储单元由变量的概念代替，变量可以代表一个或一组单元。 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赋值：</a:t>
            </a:r>
            <a:r>
              <a:rPr lang="zh-CN" altLang="en-US" dirty="0"/>
              <a:t>存储计算结果。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重复：</a:t>
            </a:r>
            <a:r>
              <a:rPr lang="zh-CN" altLang="en-US" dirty="0"/>
              <a:t>语句顺序执行，指令存储在有限的存储器中，完成复杂计算时需要重复执行某些指令序列。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.</a:t>
            </a:r>
            <a:r>
              <a:rPr lang="zh-CN" altLang="en-US" dirty="0"/>
              <a:t>诺依曼体系结构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2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xmlns="" id="{4B39B7BE-45C9-4434-B6B9-37C614BE7D9E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11304"/>
              <a:gd name="adj2" fmla="val 627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程序设计语言的分类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绑定的概念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主要的强制式语言</a:t>
            </a:r>
          </a:p>
        </p:txBody>
      </p:sp>
    </p:spTree>
    <p:extLst>
      <p:ext uri="{BB962C8B-B14F-4D97-AF65-F5344CB8AC3E}">
        <p14:creationId xmlns:p14="http://schemas.microsoft.com/office/powerpoint/2010/main" val="340065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实体</a:t>
            </a:r>
            <a:r>
              <a:rPr lang="zh-CN" altLang="en-US" dirty="0"/>
              <a:t>：程序的组成部分，如变量、表达式、程序单元等。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属性</a:t>
            </a:r>
            <a:r>
              <a:rPr lang="zh-CN" altLang="en-US" dirty="0"/>
              <a:t>：实体具有的特性。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绑定</a:t>
            </a:r>
            <a:r>
              <a:rPr lang="zh-CN" altLang="en-US" dirty="0"/>
              <a:t>：实体与其各种属性建立联系的过程称为绑定。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描述符</a:t>
            </a:r>
            <a:r>
              <a:rPr lang="zh-CN" altLang="en-US" dirty="0"/>
              <a:t>：描述实体属性的</a:t>
            </a:r>
            <a:r>
              <a:rPr lang="zh-CN" altLang="en-US" dirty="0">
                <a:solidFill>
                  <a:srgbClr val="EE853E"/>
                </a:solidFill>
              </a:rPr>
              <a:t>表格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绑定的概念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78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静态和动态特性</a:t>
            </a:r>
            <a:endParaRPr lang="en-US" altLang="zh-CN" dirty="0"/>
          </a:p>
          <a:p>
            <a:r>
              <a:rPr lang="zh-CN" altLang="en-US" dirty="0"/>
              <a:t>编译时能确定的特性 </a:t>
            </a:r>
            <a:r>
              <a:rPr lang="en-US" altLang="zh-CN" dirty="0"/>
              <a:t>—— </a:t>
            </a:r>
            <a:r>
              <a:rPr lang="zh-CN" altLang="en-US" dirty="0">
                <a:solidFill>
                  <a:srgbClr val="EE853E"/>
                </a:solidFill>
              </a:rPr>
              <a:t>静态特性</a:t>
            </a:r>
          </a:p>
          <a:p>
            <a:r>
              <a:rPr lang="zh-CN" altLang="en-US" dirty="0"/>
              <a:t>运行时才能确定的特性 </a:t>
            </a:r>
            <a:r>
              <a:rPr lang="en-US" altLang="zh-CN" dirty="0"/>
              <a:t>—— </a:t>
            </a:r>
            <a:r>
              <a:rPr lang="zh-CN" altLang="en-US" dirty="0">
                <a:solidFill>
                  <a:srgbClr val="EE853E"/>
                </a:solidFill>
              </a:rPr>
              <a:t>动态特性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若绑定在编译时（即运行之前）完成，且在运行时不会改变，则称为</a:t>
            </a:r>
            <a:r>
              <a:rPr lang="zh-CN" altLang="en-US" dirty="0">
                <a:solidFill>
                  <a:srgbClr val="EE853E"/>
                </a:solidFill>
              </a:rPr>
              <a:t>静态绑定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若绑定在运行时完成，则称为</a:t>
            </a:r>
            <a:r>
              <a:rPr lang="zh-CN" altLang="en-US" dirty="0">
                <a:solidFill>
                  <a:srgbClr val="EE853E"/>
                </a:solidFill>
              </a:rPr>
              <a:t>动态绑定</a:t>
            </a:r>
            <a:r>
              <a:rPr lang="zh-CN" altLang="en-US" dirty="0"/>
              <a:t>。   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绑定的概念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37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986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498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xmlns="" id="{32551B80-3DFA-4196-92B7-31EA18589F46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11304"/>
              <a:gd name="adj2" fmla="val 627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程序设计语言的分类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绑定的概念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主要的强制式语言</a:t>
            </a:r>
          </a:p>
        </p:txBody>
      </p:sp>
    </p:spTree>
    <p:extLst>
      <p:ext uri="{BB962C8B-B14F-4D97-AF65-F5344CB8AC3E}">
        <p14:creationId xmlns:p14="http://schemas.microsoft.com/office/powerpoint/2010/main" val="149525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变量是对一个或若干个存储单元的抽象；</a:t>
            </a:r>
            <a:endParaRPr lang="en-US" altLang="zh-CN" dirty="0"/>
          </a:p>
          <a:p>
            <a:r>
              <a:rPr lang="zh-CN" altLang="en-US" dirty="0"/>
              <a:t>一个存储单元至少一个字节构成；</a:t>
            </a:r>
            <a:endParaRPr lang="en-US" altLang="zh-CN" dirty="0"/>
          </a:p>
          <a:p>
            <a:r>
              <a:rPr lang="zh-CN" altLang="en-US" dirty="0"/>
              <a:t>一个变量至少占用一个存储单元；</a:t>
            </a:r>
            <a:endParaRPr lang="en-US" altLang="zh-CN" dirty="0"/>
          </a:p>
          <a:p>
            <a:r>
              <a:rPr lang="zh-CN" altLang="en-US" dirty="0"/>
              <a:t>变量用名字来标识（也存在匿名变量）；</a:t>
            </a:r>
            <a:endParaRPr lang="en-US" altLang="zh-CN" dirty="0"/>
          </a:p>
          <a:p>
            <a:r>
              <a:rPr lang="zh-CN" altLang="en-US" dirty="0"/>
              <a:t>赋值是对修改存储单元内容的抽象。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变量的</a:t>
            </a:r>
            <a:r>
              <a:rPr lang="en-US" altLang="zh-CN" dirty="0"/>
              <a:t>4</a:t>
            </a:r>
            <a:r>
              <a:rPr lang="zh-CN" altLang="en-US" dirty="0"/>
              <a:t>个属性：</a:t>
            </a:r>
            <a:r>
              <a:rPr lang="zh-CN" altLang="en-US" dirty="0">
                <a:solidFill>
                  <a:srgbClr val="EE853E"/>
                </a:solidFill>
              </a:rPr>
              <a:t>作用域、生存期、值、类型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271255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	</a:t>
            </a:r>
            <a:r>
              <a:rPr lang="zh-CN" altLang="en-US" dirty="0"/>
              <a:t>变量的作用域</a:t>
            </a:r>
            <a:endParaRPr lang="en-US" altLang="zh-CN" dirty="0"/>
          </a:p>
          <a:p>
            <a:r>
              <a:rPr lang="zh-CN" altLang="en-US" dirty="0"/>
              <a:t>可以访问该变量的程序范围。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静态作用域绑定：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 smtClean="0"/>
              <a:t>   按照</a:t>
            </a:r>
            <a:r>
              <a:rPr lang="zh-CN" altLang="en-US" dirty="0"/>
              <a:t>程序的结构定义变量的</a:t>
            </a:r>
            <a:r>
              <a:rPr lang="zh-CN" altLang="en-US" dirty="0" smtClean="0"/>
              <a:t>作用域； </a:t>
            </a:r>
            <a:endParaRPr lang="en-US" altLang="zh-CN" dirty="0"/>
          </a:p>
          <a:p>
            <a:r>
              <a:rPr lang="zh-CN" altLang="en-US" dirty="0" smtClean="0"/>
              <a:t>   依据</a:t>
            </a:r>
            <a:r>
              <a:rPr lang="zh-CN" altLang="en-US" dirty="0"/>
              <a:t>定义变量的位置</a:t>
            </a:r>
            <a:r>
              <a:rPr lang="zh-CN" altLang="en-US" dirty="0"/>
              <a:t>进行（</a:t>
            </a:r>
            <a:r>
              <a:rPr lang="en-US" altLang="zh-CN" dirty="0"/>
              <a:t>C</a:t>
            </a:r>
            <a:r>
              <a:rPr lang="zh-CN" altLang="en-US" dirty="0"/>
              <a:t>语言等） 。</a:t>
            </a:r>
            <a:endParaRPr lang="zh-CN" altLang="en-US" dirty="0"/>
          </a:p>
          <a:p>
            <a:r>
              <a:rPr lang="zh-CN" altLang="en-US" dirty="0">
                <a:solidFill>
                  <a:srgbClr val="EE853E"/>
                </a:solidFill>
              </a:rPr>
              <a:t>动态作用域绑定：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 smtClean="0"/>
              <a:t>    按照</a:t>
            </a:r>
            <a:r>
              <a:rPr lang="zh-CN" altLang="en-US" dirty="0"/>
              <a:t>过程的调用关系动态地定义变量的作用域（</a:t>
            </a:r>
            <a:r>
              <a:rPr lang="en-US" altLang="zh-CN" dirty="0"/>
              <a:t>SNOBL4 </a:t>
            </a:r>
            <a:r>
              <a:rPr lang="zh-CN" altLang="en-US" dirty="0"/>
              <a:t>语言等） 。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4290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43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43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543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543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(2)	</a:t>
            </a:r>
            <a:r>
              <a:rPr lang="zh-CN" altLang="en-US" dirty="0"/>
              <a:t>变量的生存期</a:t>
            </a:r>
            <a:endParaRPr lang="en-US" altLang="zh-CN" dirty="0"/>
          </a:p>
          <a:p>
            <a:r>
              <a:rPr lang="zh-CN" altLang="en-US" dirty="0"/>
              <a:t>变量绑定于存储区的</a:t>
            </a:r>
            <a:r>
              <a:rPr lang="zh-CN" altLang="en-US" dirty="0">
                <a:solidFill>
                  <a:srgbClr val="EE853E"/>
                </a:solidFill>
              </a:rPr>
              <a:t>时间区间</a:t>
            </a:r>
            <a:endParaRPr lang="en-US" altLang="zh-CN" dirty="0"/>
          </a:p>
          <a:p>
            <a:r>
              <a:rPr lang="zh-CN" altLang="en-US" dirty="0"/>
              <a:t>变量获得存储区的活动称为</a:t>
            </a:r>
            <a:r>
              <a:rPr lang="zh-CN" altLang="en-US" dirty="0">
                <a:solidFill>
                  <a:srgbClr val="EE853E"/>
                </a:solidFill>
              </a:rPr>
              <a:t>分配</a:t>
            </a:r>
            <a:endParaRPr lang="en-US" altLang="zh-CN" dirty="0"/>
          </a:p>
          <a:p>
            <a:r>
              <a:rPr lang="zh-CN" altLang="en-US" dirty="0"/>
              <a:t>变量分配的存储单元的个数称为</a:t>
            </a:r>
            <a:r>
              <a:rPr lang="zh-CN" altLang="en-US" dirty="0">
                <a:solidFill>
                  <a:srgbClr val="EE853E"/>
                </a:solidFill>
              </a:rPr>
              <a:t>变量长度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静态分配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全局变量（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zh-CN" altLang="en-US" dirty="0" smtClean="0"/>
              <a:t>语言）</a:t>
            </a:r>
            <a:endParaRPr lang="zh-CN" altLang="en-US" dirty="0"/>
          </a:p>
          <a:p>
            <a:r>
              <a:rPr lang="zh-CN" altLang="en-US" dirty="0"/>
              <a:t>运行前分配局部变量存储区（</a:t>
            </a:r>
            <a:r>
              <a:rPr lang="en-US" altLang="zh-CN" dirty="0"/>
              <a:t>FORTRAN</a:t>
            </a:r>
            <a:r>
              <a:rPr lang="zh-CN" altLang="en-US" dirty="0"/>
              <a:t>语言）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22866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45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动态分配</a:t>
            </a:r>
            <a:endParaRPr lang="en-US" altLang="zh-CN" dirty="0"/>
          </a:p>
          <a:p>
            <a:r>
              <a:rPr lang="zh-CN" altLang="en-US" dirty="0"/>
              <a:t>运行时分配局部变量存储区（</a:t>
            </a:r>
            <a:r>
              <a:rPr lang="en-US" altLang="zh-CN" dirty="0" smtClean="0"/>
              <a:t>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通过两种途径来实现：</a:t>
            </a:r>
          </a:p>
          <a:p>
            <a:r>
              <a:rPr lang="zh-CN" altLang="en-US" dirty="0" smtClean="0"/>
              <a:t>   运行</a:t>
            </a:r>
            <a:r>
              <a:rPr lang="zh-CN" altLang="en-US" dirty="0"/>
              <a:t>变量所对应的程序单元时</a:t>
            </a:r>
            <a:r>
              <a:rPr lang="zh-CN" altLang="en-US" dirty="0">
                <a:solidFill>
                  <a:srgbClr val="EE853E"/>
                </a:solidFill>
              </a:rPr>
              <a:t>自动</a:t>
            </a:r>
            <a:r>
              <a:rPr lang="zh-CN" altLang="en-US" dirty="0"/>
              <a:t>分配；</a:t>
            </a:r>
            <a:endParaRPr lang="en-US" altLang="zh-CN" dirty="0"/>
          </a:p>
          <a:p>
            <a:r>
              <a:rPr lang="zh-CN" altLang="en-US" dirty="0" smtClean="0"/>
              <a:t>   相关</a:t>
            </a:r>
            <a:r>
              <a:rPr lang="zh-CN" altLang="en-US" dirty="0"/>
              <a:t>的语句</a:t>
            </a:r>
            <a:r>
              <a:rPr lang="zh-CN" altLang="en-US" dirty="0">
                <a:solidFill>
                  <a:srgbClr val="EE853E"/>
                </a:solidFill>
              </a:rPr>
              <a:t>显式</a:t>
            </a:r>
            <a:r>
              <a:rPr lang="zh-CN" altLang="en-US" dirty="0"/>
              <a:t>提出请求</a:t>
            </a:r>
            <a:r>
              <a:rPr lang="zh-CN" altLang="en-US" dirty="0" smtClean="0"/>
              <a:t>（</a:t>
            </a:r>
            <a:r>
              <a:rPr lang="en-US" altLang="zh-CN" dirty="0" err="1" smtClean="0"/>
              <a:t>malloc</a:t>
            </a:r>
            <a:r>
              <a:rPr lang="en-US" altLang="zh-CN" dirty="0"/>
              <a:t>\</a:t>
            </a:r>
            <a:r>
              <a:rPr lang="en-GB" altLang="zh-CN" dirty="0" smtClean="0"/>
              <a:t>new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匿名变量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访问匿名变量的基本方法是通过</a:t>
            </a:r>
            <a:r>
              <a:rPr lang="zh-CN" altLang="en-US" dirty="0">
                <a:solidFill>
                  <a:srgbClr val="EE853E"/>
                </a:solidFill>
              </a:rPr>
              <a:t>访问路径（指针）</a:t>
            </a:r>
            <a:r>
              <a:rPr lang="zh-CN" altLang="en-US" dirty="0"/>
              <a:t>来实现的。</a:t>
            </a:r>
            <a:endParaRPr lang="en-US" altLang="zh-CN" dirty="0"/>
          </a:p>
          <a:p>
            <a:r>
              <a:rPr lang="zh-CN" altLang="en-US" dirty="0"/>
              <a:t>一般属于动态分配。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7A10A1C7-FAD3-4941-B865-3C1AF86D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13118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49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49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49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(3)	</a:t>
            </a:r>
            <a:r>
              <a:rPr lang="zh-CN" altLang="en-US" dirty="0"/>
              <a:t>变量的值</a:t>
            </a:r>
            <a:endParaRPr lang="en-US" altLang="zh-CN" dirty="0"/>
          </a:p>
          <a:p>
            <a:r>
              <a:rPr lang="zh-CN" altLang="en-US" dirty="0"/>
              <a:t>变量的值 </a:t>
            </a:r>
            <a:r>
              <a:rPr lang="en-US" altLang="zh-CN" dirty="0"/>
              <a:t>—— </a:t>
            </a:r>
            <a:r>
              <a:rPr lang="zh-CN" altLang="en-US" dirty="0"/>
              <a:t>存储区的</a:t>
            </a:r>
            <a:r>
              <a:rPr lang="zh-CN" altLang="en-US" dirty="0">
                <a:solidFill>
                  <a:srgbClr val="EE853E"/>
                </a:solidFill>
              </a:rPr>
              <a:t>内容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该存储区中的内容以</a:t>
            </a:r>
            <a:r>
              <a:rPr lang="zh-CN" altLang="en-US" dirty="0">
                <a:solidFill>
                  <a:srgbClr val="EE853E"/>
                </a:solidFill>
              </a:rPr>
              <a:t>二进制</a:t>
            </a:r>
            <a:r>
              <a:rPr lang="zh-CN" altLang="en-US" dirty="0"/>
              <a:t>编码方式表示，按变量所绑定的</a:t>
            </a:r>
            <a:r>
              <a:rPr lang="zh-CN" altLang="en-US" dirty="0">
                <a:solidFill>
                  <a:srgbClr val="EE853E"/>
                </a:solidFill>
              </a:rPr>
              <a:t>类型</a:t>
            </a:r>
            <a:r>
              <a:rPr lang="zh-CN" altLang="en-US" dirty="0"/>
              <a:t>来进行解释；</a:t>
            </a:r>
            <a:endParaRPr lang="en-US" altLang="zh-CN" dirty="0"/>
          </a:p>
          <a:p>
            <a:r>
              <a:rPr lang="zh-CN" altLang="en-US" dirty="0"/>
              <a:t>变量与它的值的绑定是</a:t>
            </a:r>
            <a:r>
              <a:rPr lang="zh-CN" altLang="en-US" dirty="0">
                <a:solidFill>
                  <a:srgbClr val="EE853E"/>
                </a:solidFill>
              </a:rPr>
              <a:t>动态</a:t>
            </a:r>
            <a:r>
              <a:rPr lang="zh-CN" altLang="en-US" dirty="0"/>
              <a:t>的；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常数（量）</a:t>
            </a:r>
            <a:r>
              <a:rPr lang="zh-CN" altLang="en-US" dirty="0"/>
              <a:t>的值不能</a:t>
            </a:r>
            <a:r>
              <a:rPr lang="zh-CN" altLang="en-US" dirty="0" smtClean="0"/>
              <a:t>修改</a:t>
            </a:r>
            <a:endParaRPr lang="en-US" altLang="zh-CN" dirty="0" smtClean="0"/>
          </a:p>
          <a:p>
            <a:r>
              <a:rPr lang="en-US" altLang="zh-CN" dirty="0" smtClean="0"/>
              <a:t>   C</a:t>
            </a:r>
            <a:r>
              <a:rPr lang="zh-CN" altLang="en-US" dirty="0" smtClean="0"/>
              <a:t>语言</a:t>
            </a:r>
            <a:r>
              <a:rPr lang="zh-CN" altLang="en-US" dirty="0" smtClean="0"/>
              <a:t>程序的常量集中存放于常量存储区，静态分配</a:t>
            </a:r>
            <a:endParaRPr lang="zh-CN" altLang="en-US" dirty="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7441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47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47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初始值问题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变量获得所分配的存储区，完成变量与存储区的绑定。</a:t>
            </a:r>
          </a:p>
          <a:p>
            <a:r>
              <a:rPr lang="zh-CN" altLang="en-US" dirty="0"/>
              <a:t>此时，该变量绑定的值是什么呢？即变量</a:t>
            </a:r>
            <a:r>
              <a:rPr lang="zh-CN" altLang="en-US" dirty="0">
                <a:solidFill>
                  <a:srgbClr val="EE853E"/>
                </a:solidFill>
              </a:rPr>
              <a:t>初始化</a:t>
            </a:r>
            <a:r>
              <a:rPr lang="zh-CN" altLang="en-US" dirty="0"/>
              <a:t>问题。</a:t>
            </a:r>
            <a:endParaRPr lang="en-US" altLang="zh-CN" dirty="0"/>
          </a:p>
          <a:p>
            <a:r>
              <a:rPr lang="zh-CN" altLang="en-US" dirty="0"/>
              <a:t>不同的语言有不同的规则：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不初始化则出错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随机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dirty="0"/>
              <a:t>缺省值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15987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48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548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548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548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(4)	</a:t>
            </a:r>
            <a:r>
              <a:rPr lang="zh-CN" altLang="en-US" dirty="0"/>
              <a:t>变量的类型</a:t>
            </a:r>
            <a:endParaRPr lang="en-US" altLang="zh-CN" dirty="0"/>
          </a:p>
          <a:p>
            <a:r>
              <a:rPr lang="zh-CN" altLang="en-US" dirty="0"/>
              <a:t>与变量相关联的</a:t>
            </a:r>
            <a:r>
              <a:rPr lang="zh-CN" altLang="en-US" dirty="0">
                <a:solidFill>
                  <a:srgbClr val="EE853E"/>
                </a:solidFill>
              </a:rPr>
              <a:t>值</a:t>
            </a:r>
            <a:r>
              <a:rPr lang="zh-CN" altLang="en-US" dirty="0"/>
              <a:t>，以及对这些值进行的</a:t>
            </a:r>
            <a:r>
              <a:rPr lang="zh-CN" altLang="en-US" dirty="0">
                <a:solidFill>
                  <a:srgbClr val="EE853E"/>
                </a:solidFill>
              </a:rPr>
              <a:t>操作</a:t>
            </a:r>
            <a:r>
              <a:rPr lang="zh-CN" altLang="en-US" dirty="0"/>
              <a:t>的抽象。</a:t>
            </a:r>
          </a:p>
          <a:p>
            <a:r>
              <a:rPr lang="zh-CN" altLang="en-US" dirty="0"/>
              <a:t>类型可用来解释变量绑定的存储区的内容（二进制编码）的意义。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412786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变量类型可以</a:t>
            </a:r>
            <a:r>
              <a:rPr lang="zh-CN" altLang="en-US" dirty="0">
                <a:solidFill>
                  <a:srgbClr val="EE853E"/>
                </a:solidFill>
              </a:rPr>
              <a:t>静态或动态地进行绑定</a:t>
            </a:r>
          </a:p>
          <a:p>
            <a:r>
              <a:rPr lang="zh-CN" altLang="en-US" dirty="0"/>
              <a:t>静态绑定：通过说明语句完成</a:t>
            </a:r>
          </a:p>
          <a:p>
            <a:r>
              <a:rPr lang="zh-CN" altLang="en-US" dirty="0"/>
              <a:t>动态绑定：执行时</a:t>
            </a:r>
            <a:r>
              <a:rPr lang="zh-CN" altLang="en-US" dirty="0">
                <a:solidFill>
                  <a:srgbClr val="EE853E"/>
                </a:solidFill>
              </a:rPr>
              <a:t>隐式</a:t>
            </a:r>
            <a:r>
              <a:rPr lang="zh-CN" altLang="en-US" dirty="0"/>
              <a:t>说明，且</a:t>
            </a:r>
            <a:r>
              <a:rPr lang="zh-CN" altLang="en-US" dirty="0">
                <a:solidFill>
                  <a:srgbClr val="EE853E"/>
                </a:solidFill>
              </a:rPr>
              <a:t>动态变化</a:t>
            </a:r>
            <a:endParaRPr lang="en-US" altLang="zh-CN" dirty="0"/>
          </a:p>
          <a:p>
            <a:pPr lvl="1"/>
            <a:r>
              <a:rPr lang="en-US" altLang="zh-CN" dirty="0"/>
              <a:t>A </a:t>
            </a:r>
            <a:r>
              <a:rPr lang="en-US" altLang="zh-CN" dirty="0">
                <a:sym typeface="Symbol" pitchFamily="18" charset="2"/>
              </a:rPr>
              <a:t> 5				</a:t>
            </a:r>
            <a:r>
              <a:rPr lang="zh-CN" altLang="en-US" dirty="0">
                <a:sym typeface="Symbol" pitchFamily="18" charset="2"/>
              </a:rPr>
              <a:t>整型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A  1  2  51  0	</a:t>
            </a:r>
            <a:r>
              <a:rPr lang="zh-CN" altLang="en-US" dirty="0">
                <a:sym typeface="Symbol" pitchFamily="18" charset="2"/>
              </a:rPr>
              <a:t>一维数组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A  0				</a:t>
            </a:r>
            <a:r>
              <a:rPr lang="zh-CN" altLang="en-US" dirty="0">
                <a:sym typeface="Symbol" pitchFamily="18" charset="2"/>
              </a:rPr>
              <a:t>整型</a:t>
            </a:r>
            <a:r>
              <a:rPr lang="en-US" altLang="zh-CN" dirty="0">
                <a:sym typeface="Symbol" pitchFamily="18" charset="2"/>
              </a:rPr>
              <a:t>	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A[2:3]  0			</a:t>
            </a:r>
            <a:r>
              <a:rPr lang="zh-CN" altLang="en-US" dirty="0">
                <a:sym typeface="Symbol" pitchFamily="18" charset="2"/>
              </a:rPr>
              <a:t>二维数</a:t>
            </a:r>
            <a:r>
              <a:rPr lang="zh-CN" altLang="en-US" dirty="0" smtClean="0">
                <a:sym typeface="Symbol" pitchFamily="18" charset="2"/>
              </a:rPr>
              <a:t>组    ？</a:t>
            </a:r>
            <a:endParaRPr lang="en-US" altLang="zh-CN" dirty="0">
              <a:sym typeface="Symbol" pitchFamily="18" charset="2"/>
            </a:endParaRPr>
          </a:p>
          <a:p>
            <a:r>
              <a:rPr lang="zh-CN" altLang="en-US" dirty="0">
                <a:solidFill>
                  <a:srgbClr val="EE853E"/>
                </a:solidFill>
              </a:rPr>
              <a:t>动态绑定</a:t>
            </a:r>
            <a:r>
              <a:rPr lang="zh-CN" altLang="en-US" dirty="0"/>
              <a:t>的语言实现采用</a:t>
            </a:r>
            <a:r>
              <a:rPr lang="zh-CN" altLang="en-US" dirty="0">
                <a:solidFill>
                  <a:srgbClr val="EE853E"/>
                </a:solidFill>
              </a:rPr>
              <a:t>解释</a:t>
            </a:r>
            <a:r>
              <a:rPr lang="zh-CN" altLang="en-US" dirty="0"/>
              <a:t>方式处理更合适。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C5A984E3-9F00-4ACC-9AEA-701F3555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82544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语言实现采用编译还是解释方式，受到变量与类型</a:t>
            </a:r>
            <a:r>
              <a:rPr lang="zh-CN" altLang="en-US" dirty="0">
                <a:solidFill>
                  <a:srgbClr val="EE853E"/>
                </a:solidFill>
              </a:rPr>
              <a:t>绑定规则</a:t>
            </a:r>
            <a:r>
              <a:rPr lang="zh-CN" altLang="en-US" dirty="0"/>
              <a:t>的严重影响。</a:t>
            </a:r>
            <a:endParaRPr lang="en-US" altLang="zh-CN" dirty="0"/>
          </a:p>
          <a:p>
            <a:r>
              <a:rPr lang="zh-CN" altLang="en-US" dirty="0"/>
              <a:t>静态绑定语言</a:t>
            </a:r>
            <a:r>
              <a:rPr lang="zh-CN" altLang="en-US" dirty="0" smtClean="0"/>
              <a:t>是一般是</a:t>
            </a:r>
            <a:r>
              <a:rPr lang="zh-CN" altLang="en-US" dirty="0" smtClean="0">
                <a:solidFill>
                  <a:srgbClr val="EE853E"/>
                </a:solidFill>
              </a:rPr>
              <a:t>面向</a:t>
            </a:r>
            <a:r>
              <a:rPr lang="zh-CN" altLang="en-US" dirty="0">
                <a:solidFill>
                  <a:srgbClr val="EE853E"/>
                </a:solidFill>
              </a:rPr>
              <a:t>编译</a:t>
            </a:r>
            <a:r>
              <a:rPr lang="zh-CN" altLang="en-US" dirty="0"/>
              <a:t>的语言。</a:t>
            </a:r>
          </a:p>
          <a:p>
            <a:r>
              <a:rPr lang="zh-CN" altLang="en-US" dirty="0"/>
              <a:t>动态绑定语言</a:t>
            </a:r>
            <a:r>
              <a:rPr lang="zh-CN" altLang="en-US" dirty="0" smtClean="0"/>
              <a:t>是一般是</a:t>
            </a:r>
            <a:r>
              <a:rPr lang="zh-CN" altLang="en-US" dirty="0" smtClean="0">
                <a:solidFill>
                  <a:srgbClr val="EE853E"/>
                </a:solidFill>
              </a:rPr>
              <a:t>面向</a:t>
            </a:r>
            <a:r>
              <a:rPr lang="zh-CN" altLang="en-US" dirty="0">
                <a:solidFill>
                  <a:srgbClr val="EE853E"/>
                </a:solidFill>
              </a:rPr>
              <a:t>解释</a:t>
            </a:r>
            <a:r>
              <a:rPr lang="zh-CN" altLang="en-US" dirty="0"/>
              <a:t>的语言。</a:t>
            </a:r>
          </a:p>
          <a:p>
            <a:r>
              <a:rPr lang="zh-CN" altLang="en-US" dirty="0"/>
              <a:t>动态类型绑定的语言，往往其作用域也是动态绑定的，因此，这类语言又称为</a:t>
            </a:r>
            <a:r>
              <a:rPr lang="zh-CN" altLang="en-US" dirty="0">
                <a:solidFill>
                  <a:srgbClr val="EE853E"/>
                </a:solidFill>
              </a:rPr>
              <a:t>动态语言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BC9A3D0B-D7F7-45DC-BFC7-14AD53FE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46667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第一章 绪论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强制式语言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程序单元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程序设计语言发展简介</a:t>
              </a: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6648983" y="1434883"/>
            <a:ext cx="3287799" cy="3988234"/>
          </a:xfrm>
          <a:prstGeom prst="wedgeRoundRectCallout">
            <a:avLst>
              <a:gd name="adj1" fmla="val -11304"/>
              <a:gd name="adj2" fmla="val 627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程序设计语言的分类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绑定的概念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主要的强制式语言</a:t>
            </a:r>
          </a:p>
        </p:txBody>
      </p:sp>
    </p:spTree>
    <p:extLst>
      <p:ext uri="{BB962C8B-B14F-4D97-AF65-F5344CB8AC3E}">
        <p14:creationId xmlns:p14="http://schemas.microsoft.com/office/powerpoint/2010/main" val="17225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主要的强制</a:t>
            </a:r>
            <a:r>
              <a:rPr lang="zh-CN" altLang="en-US"/>
              <a:t>式语言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40158149-4E5D-4A42-8E74-11431243D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1066800"/>
            <a:ext cx="901485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4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5696</TotalTime>
  <Words>790</Words>
  <Application>Microsoft Office PowerPoint</Application>
  <PresentationFormat>宽屏</PresentationFormat>
  <Paragraphs>166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Clear Sans</vt:lpstr>
      <vt:lpstr>黑体</vt:lpstr>
      <vt:lpstr>宋体</vt:lpstr>
      <vt:lpstr>微软雅黑</vt:lpstr>
      <vt:lpstr>Arial</vt:lpstr>
      <vt:lpstr>Symbol</vt:lpstr>
      <vt:lpstr>Wingdings</vt:lpstr>
      <vt:lpstr>环保</vt:lpstr>
      <vt:lpstr>第一章 绪论</vt:lpstr>
      <vt:lpstr>程序设计语言的分类</vt:lpstr>
      <vt:lpstr>程序设计语言的分类</vt:lpstr>
      <vt:lpstr>第一章 绪论</vt:lpstr>
      <vt:lpstr>冯.诺依曼体系结构</vt:lpstr>
      <vt:lpstr>冯.诺依曼体系结构</vt:lpstr>
      <vt:lpstr>冯.诺依曼体系结构</vt:lpstr>
      <vt:lpstr>第一章 绪论</vt:lpstr>
      <vt:lpstr>绑定的概念</vt:lpstr>
      <vt:lpstr>绑定的概念</vt:lpstr>
      <vt:lpstr>第一章 绪论</vt:lpstr>
      <vt:lpstr>变量</vt:lpstr>
      <vt:lpstr>变量</vt:lpstr>
      <vt:lpstr>变量</vt:lpstr>
      <vt:lpstr>变量</vt:lpstr>
      <vt:lpstr>变量</vt:lpstr>
      <vt:lpstr>变量</vt:lpstr>
      <vt:lpstr>变量</vt:lpstr>
      <vt:lpstr>变量</vt:lpstr>
      <vt:lpstr>变量</vt:lpstr>
      <vt:lpstr>第一章 绪论</vt:lpstr>
      <vt:lpstr>主要的强制式语言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1037</cp:revision>
  <cp:lastPrinted>1601-01-01T00:00:00Z</cp:lastPrinted>
  <dcterms:created xsi:type="dcterms:W3CDTF">1601-01-01T00:00:00Z</dcterms:created>
  <dcterms:modified xsi:type="dcterms:W3CDTF">2019-11-18T06:56:05Z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