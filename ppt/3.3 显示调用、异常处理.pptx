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18"/>
  </p:notesMasterIdLst>
  <p:handoutMasterIdLst>
    <p:handoutMasterId r:id="rId19"/>
  </p:handoutMasterIdLst>
  <p:sldIdLst>
    <p:sldId id="382" r:id="rId2"/>
    <p:sldId id="383" r:id="rId3"/>
    <p:sldId id="292" r:id="rId4"/>
    <p:sldId id="377" r:id="rId5"/>
    <p:sldId id="293" r:id="rId6"/>
    <p:sldId id="294" r:id="rId7"/>
    <p:sldId id="295" r:id="rId8"/>
    <p:sldId id="296" r:id="rId9"/>
    <p:sldId id="297" r:id="rId10"/>
    <p:sldId id="384" r:id="rId11"/>
    <p:sldId id="298" r:id="rId12"/>
    <p:sldId id="300" r:id="rId13"/>
    <p:sldId id="303" r:id="rId14"/>
    <p:sldId id="305" r:id="rId15"/>
    <p:sldId id="307" r:id="rId16"/>
    <p:sldId id="329" r:id="rId17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A18D60"/>
    <a:srgbClr val="EE8A3E"/>
    <a:srgbClr val="E98A3E"/>
    <a:srgbClr val="04141B"/>
    <a:srgbClr val="D9B247"/>
    <a:srgbClr val="2A9995"/>
    <a:srgbClr val="54D0CA"/>
    <a:srgbClr val="0000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3" autoAdjust="0"/>
    <p:restoredTop sz="89127" autoAdjust="0"/>
  </p:normalViewPr>
  <p:slideViewPr>
    <p:cSldViewPr>
      <p:cViewPr varScale="1">
        <p:scale>
          <a:sx n="62" d="100"/>
          <a:sy n="62" d="100"/>
        </p:scale>
        <p:origin x="27" y="15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83" d="100"/>
          <a:sy n="183" d="100"/>
        </p:scale>
        <p:origin x="266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51844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:a16="http://schemas.microsoft.com/office/drawing/2014/main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316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 hasCustomPrompt="1"/>
          </p:nvPr>
        </p:nvSpPr>
        <p:spPr>
          <a:xfrm>
            <a:off x="1295402" y="1474304"/>
            <a:ext cx="4754880" cy="4774096"/>
          </a:xfrm>
        </p:spPr>
        <p:txBody>
          <a:bodyPr/>
          <a:lstStyle/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0" hasCustomPrompt="1"/>
          </p:nvPr>
        </p:nvSpPr>
        <p:spPr>
          <a:xfrm>
            <a:off x="6141720" y="1474304"/>
            <a:ext cx="4754878" cy="4774096"/>
          </a:xfrm>
        </p:spPr>
        <p:txBody>
          <a:bodyPr/>
          <a:lstStyle/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95402" y="609600"/>
            <a:ext cx="9601196" cy="712304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1396169" y="1394792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9016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08" r:id="rId3"/>
    <p:sldLayoutId id="2147484309" r:id="rId4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第三章 控制结构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第一节 语句级控制结构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rgbClr val="EE853E"/>
                  </a:solidFill>
                  <a:latin typeface="+mj-ea"/>
                  <a:ea typeface="+mj-ea"/>
                </a:rPr>
                <a:t>第二节 单元级控制结构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1225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4E18424-8F3D-453A-8A40-A5F2C73C5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规定</a:t>
            </a:r>
            <a:r>
              <a:rPr lang="zh-CN" altLang="en-US" dirty="0">
                <a:solidFill>
                  <a:srgbClr val="EE853E"/>
                </a:solidFill>
              </a:rPr>
              <a:t>程序单元</a:t>
            </a:r>
            <a:r>
              <a:rPr lang="zh-CN" altLang="en-US" dirty="0"/>
              <a:t>之间控制流程的机制。</a:t>
            </a:r>
          </a:p>
          <a:p>
            <a:r>
              <a:rPr lang="zh-CN" altLang="en-US" dirty="0"/>
              <a:t>最简单的机制是 </a:t>
            </a:r>
            <a:r>
              <a:rPr lang="en-US" altLang="zh-CN" dirty="0"/>
              <a:t>ALGOL60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EE853E"/>
                </a:solidFill>
              </a:rPr>
              <a:t>分程序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在程序顺序执行的过程中，</a:t>
            </a:r>
            <a:r>
              <a:rPr lang="zh-CN" altLang="en-US" dirty="0">
                <a:solidFill>
                  <a:srgbClr val="EE853E"/>
                </a:solidFill>
              </a:rPr>
              <a:t>遇到一个</a:t>
            </a:r>
            <a:r>
              <a:rPr lang="zh-CN" altLang="en-US" dirty="0"/>
              <a:t>分程序，就建立一个新的引用环境，并执行这个</a:t>
            </a:r>
            <a:r>
              <a:rPr lang="zh-CN" altLang="en-US" dirty="0">
                <a:solidFill>
                  <a:srgbClr val="EE853E"/>
                </a:solidFill>
              </a:rPr>
              <a:t>分程序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更强的机制允许程序员通过</a:t>
            </a:r>
            <a:r>
              <a:rPr lang="zh-CN" altLang="en-US" dirty="0">
                <a:solidFill>
                  <a:srgbClr val="EE853E"/>
                </a:solidFill>
              </a:rPr>
              <a:t>显式调用单元</a:t>
            </a:r>
            <a:r>
              <a:rPr lang="zh-CN" altLang="en-US" dirty="0"/>
              <a:t>（例如函数和过程），把控制从一个单元</a:t>
            </a:r>
            <a:r>
              <a:rPr lang="zh-CN" altLang="en-US" dirty="0">
                <a:solidFill>
                  <a:srgbClr val="EE853E"/>
                </a:solidFill>
              </a:rPr>
              <a:t>转移</a:t>
            </a:r>
            <a:r>
              <a:rPr lang="zh-CN" altLang="en-US" dirty="0"/>
              <a:t>到另一个单元。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085085F-944F-4089-BD03-926A9A2E1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单元级控制结构</a:t>
            </a:r>
          </a:p>
        </p:txBody>
      </p:sp>
    </p:spTree>
    <p:extLst>
      <p:ext uri="{BB962C8B-B14F-4D97-AF65-F5344CB8AC3E}">
        <p14:creationId xmlns:p14="http://schemas.microsoft.com/office/powerpoint/2010/main" val="1188224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四种单元级控制结构：</a:t>
            </a:r>
            <a:endParaRPr lang="en-US" altLang="zh-CN" dirty="0"/>
          </a:p>
          <a:p>
            <a:r>
              <a:rPr lang="zh-CN" altLang="en-US" dirty="0"/>
              <a:t>显式调用</a:t>
            </a:r>
          </a:p>
          <a:p>
            <a:r>
              <a:rPr lang="zh-CN" altLang="en-US" dirty="0"/>
              <a:t>异常处理</a:t>
            </a:r>
          </a:p>
          <a:p>
            <a:r>
              <a:rPr lang="zh-CN" altLang="en-US" dirty="0"/>
              <a:t>协同程序</a:t>
            </a:r>
          </a:p>
          <a:p>
            <a:r>
              <a:rPr lang="zh-CN" altLang="en-US" dirty="0"/>
              <a:t>并发单元</a:t>
            </a:r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单元级控制结构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5661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第三章 控制结构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927033" y="2073194"/>
            <a:ext cx="4711767" cy="2711612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第一节 语句级控制结构</a:t>
              </a:r>
              <a:endParaRPr lang="zh-CN" altLang="en-US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</a:rPr>
                <a:t>第二节 单元级控制结构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endParaRPr lang="zh-CN" altLang="en-US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endParaRPr lang="zh-CN" altLang="en-US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</p:grpSp>
      <p:sp>
        <p:nvSpPr>
          <p:cNvPr id="30" name="对话气泡: 圆角矩形 29">
            <a:extLst>
              <a:ext uri="{FF2B5EF4-FFF2-40B4-BE49-F238E27FC236}">
                <a16:creationId xmlns:a16="http://schemas.microsoft.com/office/drawing/2014/main" id="{23E85C67-7818-411F-A7D7-B4F4B0217B6D}"/>
              </a:ext>
            </a:extLst>
          </p:cNvPr>
          <p:cNvSpPr/>
          <p:nvPr/>
        </p:nvSpPr>
        <p:spPr>
          <a:xfrm rot="5400000">
            <a:off x="6937078" y="1434884"/>
            <a:ext cx="2711610" cy="3988234"/>
          </a:xfrm>
          <a:prstGeom prst="wedgeRoundRectCallout">
            <a:avLst>
              <a:gd name="adj1" fmla="val -14656"/>
              <a:gd name="adj2" fmla="val 60284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显式调用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异常处理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协同程序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并发单元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723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986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EE853E"/>
                </a:solidFill>
              </a:rPr>
              <a:t>FORTRAN</a:t>
            </a:r>
            <a:r>
              <a:rPr lang="en-US" altLang="zh-CN" dirty="0"/>
              <a:t> </a:t>
            </a:r>
            <a:r>
              <a:rPr lang="zh-CN" altLang="en-US" dirty="0"/>
              <a:t>语言的</a:t>
            </a:r>
            <a:r>
              <a:rPr lang="zh-CN" altLang="en-US" dirty="0">
                <a:solidFill>
                  <a:srgbClr val="EE853E"/>
                </a:solidFill>
              </a:rPr>
              <a:t>子程序和函数</a:t>
            </a:r>
          </a:p>
          <a:p>
            <a:r>
              <a:rPr lang="en-US" altLang="zh-CN" dirty="0">
                <a:solidFill>
                  <a:srgbClr val="EE853E"/>
                </a:solidFill>
              </a:rPr>
              <a:t>PASCAL</a:t>
            </a:r>
            <a:r>
              <a:rPr lang="en-US" altLang="zh-CN" dirty="0"/>
              <a:t> </a:t>
            </a:r>
            <a:r>
              <a:rPr lang="zh-CN" altLang="en-US" dirty="0"/>
              <a:t>语言的</a:t>
            </a:r>
            <a:r>
              <a:rPr lang="zh-CN" altLang="en-US" dirty="0">
                <a:solidFill>
                  <a:srgbClr val="EE853E"/>
                </a:solidFill>
              </a:rPr>
              <a:t>函数和过程</a:t>
            </a:r>
          </a:p>
          <a:p>
            <a:r>
              <a:rPr lang="en-US" altLang="zh-CN" dirty="0">
                <a:solidFill>
                  <a:srgbClr val="EE853E"/>
                </a:solidFill>
              </a:rPr>
              <a:t>C</a:t>
            </a:r>
            <a:r>
              <a:rPr lang="zh-CN" altLang="en-US" dirty="0"/>
              <a:t>语言的</a:t>
            </a:r>
            <a:r>
              <a:rPr lang="zh-CN" altLang="en-US" dirty="0">
                <a:solidFill>
                  <a:srgbClr val="EE853E"/>
                </a:solidFill>
              </a:rPr>
              <a:t>函数</a:t>
            </a:r>
          </a:p>
          <a:p>
            <a:r>
              <a:rPr lang="en-US" altLang="zh-CN" dirty="0"/>
              <a:t>…</a:t>
            </a:r>
          </a:p>
          <a:p>
            <a:r>
              <a:rPr lang="zh-CN" altLang="en-US" dirty="0"/>
              <a:t>都属于显式调用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显式调用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472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每个子程序（函数、过程）都有一个名字，通过名字进行程序单元的调用。</a:t>
            </a:r>
          </a:p>
          <a:p>
            <a:r>
              <a:rPr lang="zh-CN" altLang="en-US" dirty="0"/>
              <a:t>调用语句将控制转向</a:t>
            </a:r>
            <a:r>
              <a:rPr lang="zh-CN" altLang="en-US" dirty="0">
                <a:solidFill>
                  <a:srgbClr val="EE853E"/>
                </a:solidFill>
              </a:rPr>
              <a:t>被调用单元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被调用单元执行完后，又将控制返回主</a:t>
            </a:r>
            <a:r>
              <a:rPr lang="zh-CN" altLang="en-US" dirty="0">
                <a:solidFill>
                  <a:srgbClr val="EE853E"/>
                </a:solidFill>
              </a:rPr>
              <a:t>调用单元</a:t>
            </a:r>
            <a:r>
              <a:rPr lang="zh-CN" altLang="en-US" dirty="0"/>
              <a:t>，并继续执行紧跟在调用语句后面的语句（</a:t>
            </a:r>
            <a:r>
              <a:rPr lang="zh-CN" altLang="en-GB" dirty="0">
                <a:solidFill>
                  <a:srgbClr val="EE853E"/>
                </a:solidFill>
              </a:rPr>
              <a:t>返回地址</a:t>
            </a:r>
            <a:r>
              <a:rPr lang="zh-CN" altLang="en-US" dirty="0"/>
              <a:t>）。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AECF9C0A-2F6A-487B-A960-EF4B88058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显式调用</a:t>
            </a:r>
          </a:p>
        </p:txBody>
      </p:sp>
    </p:spTree>
    <p:extLst>
      <p:ext uri="{BB962C8B-B14F-4D97-AF65-F5344CB8AC3E}">
        <p14:creationId xmlns:p14="http://schemas.microsoft.com/office/powerpoint/2010/main" val="901035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87A8DC45-9D58-4848-97F8-7AB081674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显式调用</a:t>
            </a:r>
          </a:p>
        </p:txBody>
      </p:sp>
      <p:sp>
        <p:nvSpPr>
          <p:cNvPr id="909318" name="Rectangle 6"/>
          <p:cNvSpPr>
            <a:spLocks noChangeArrowheads="1"/>
          </p:cNvSpPr>
          <p:nvPr/>
        </p:nvSpPr>
        <p:spPr bwMode="auto">
          <a:xfrm>
            <a:off x="3158941" y="1981200"/>
            <a:ext cx="1741594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GB" sz="2400" b="1" dirty="0">
                <a:solidFill>
                  <a:schemeClr val="bg1"/>
                </a:solidFill>
                <a:latin typeface="+mj-ea"/>
                <a:ea typeface="+mj-ea"/>
              </a:rPr>
              <a:t>子程序 </a:t>
            </a:r>
            <a:r>
              <a:rPr lang="en-GB" altLang="zh-CN" sz="2400" b="1" dirty="0">
                <a:solidFill>
                  <a:schemeClr val="bg1"/>
                </a:solidFill>
                <a:latin typeface="+mj-ea"/>
                <a:ea typeface="+mj-ea"/>
              </a:rPr>
              <a:t>A</a:t>
            </a:r>
            <a:endParaRPr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09319" name="Rectangle 7"/>
          <p:cNvSpPr>
            <a:spLocks noChangeArrowheads="1"/>
          </p:cNvSpPr>
          <p:nvPr/>
        </p:nvSpPr>
        <p:spPr bwMode="auto">
          <a:xfrm>
            <a:off x="7239000" y="4911725"/>
            <a:ext cx="1919817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altLang="zh-CN" sz="2400" b="1" dirty="0">
                <a:solidFill>
                  <a:schemeClr val="bg1"/>
                </a:solidFill>
                <a:latin typeface="+mj-ea"/>
                <a:ea typeface="+mj-ea"/>
              </a:rPr>
              <a:t>return … </a:t>
            </a:r>
            <a:endParaRPr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09320" name="Line 8"/>
          <p:cNvSpPr>
            <a:spLocks noChangeShapeType="1"/>
          </p:cNvSpPr>
          <p:nvPr/>
        </p:nvSpPr>
        <p:spPr bwMode="auto">
          <a:xfrm>
            <a:off x="4023783" y="2555873"/>
            <a:ext cx="0" cy="809625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pPr algn="r"/>
            <a:endParaRPr lang="zh-CN" alt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09321" name="Rectangle 9"/>
          <p:cNvSpPr>
            <a:spLocks noChangeArrowheads="1"/>
          </p:cNvSpPr>
          <p:nvPr/>
        </p:nvSpPr>
        <p:spPr bwMode="auto">
          <a:xfrm>
            <a:off x="3071908" y="3352800"/>
            <a:ext cx="1919817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altLang="zh-CN" sz="2400" b="1" dirty="0">
                <a:solidFill>
                  <a:schemeClr val="bg1"/>
                </a:solidFill>
                <a:latin typeface="+mj-ea"/>
                <a:ea typeface="+mj-ea"/>
              </a:rPr>
              <a:t>call B</a:t>
            </a:r>
            <a:endParaRPr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09322" name="Line 10"/>
          <p:cNvSpPr>
            <a:spLocks noChangeShapeType="1"/>
          </p:cNvSpPr>
          <p:nvPr/>
        </p:nvSpPr>
        <p:spPr bwMode="auto">
          <a:xfrm flipV="1">
            <a:off x="4749800" y="2832098"/>
            <a:ext cx="2931582" cy="733426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stealth" w="lg" len="lg"/>
          </a:ln>
        </p:spPr>
        <p:txBody>
          <a:bodyPr wrap="none" anchor="ctr"/>
          <a:lstStyle/>
          <a:p>
            <a:endParaRPr lang="zh-CN" alt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09323" name="Line 11"/>
          <p:cNvSpPr>
            <a:spLocks noChangeShapeType="1"/>
          </p:cNvSpPr>
          <p:nvPr/>
        </p:nvSpPr>
        <p:spPr bwMode="auto">
          <a:xfrm>
            <a:off x="8015816" y="2832099"/>
            <a:ext cx="0" cy="2092325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09327" name="Line 15"/>
          <p:cNvSpPr>
            <a:spLocks noChangeShapeType="1"/>
          </p:cNvSpPr>
          <p:nvPr/>
        </p:nvSpPr>
        <p:spPr bwMode="auto">
          <a:xfrm>
            <a:off x="4023783" y="4191000"/>
            <a:ext cx="0" cy="1101726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pPr algn="r"/>
            <a:endParaRPr lang="zh-CN" alt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09328" name="Rectangle 16"/>
          <p:cNvSpPr>
            <a:spLocks noChangeArrowheads="1"/>
          </p:cNvSpPr>
          <p:nvPr/>
        </p:nvSpPr>
        <p:spPr bwMode="auto">
          <a:xfrm>
            <a:off x="3071909" y="5216525"/>
            <a:ext cx="1919816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altLang="zh-CN" sz="2400" b="1" dirty="0">
                <a:solidFill>
                  <a:schemeClr val="bg1"/>
                </a:solidFill>
                <a:latin typeface="+mj-ea"/>
                <a:ea typeface="+mj-ea"/>
              </a:rPr>
              <a:t>end A</a:t>
            </a:r>
            <a:endParaRPr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09329" name="Line 17"/>
          <p:cNvSpPr>
            <a:spLocks noChangeShapeType="1"/>
          </p:cNvSpPr>
          <p:nvPr/>
        </p:nvSpPr>
        <p:spPr bwMode="auto">
          <a:xfrm flipH="1" flipV="1">
            <a:off x="4749798" y="4114799"/>
            <a:ext cx="2688167" cy="88582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stealth" w="lg" len="lg"/>
          </a:ln>
        </p:spPr>
        <p:txBody>
          <a:bodyPr wrap="none" anchor="ctr"/>
          <a:lstStyle/>
          <a:p>
            <a:endParaRPr lang="zh-CN" alt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09330" name="Line 18"/>
          <p:cNvSpPr>
            <a:spLocks noChangeShapeType="1"/>
          </p:cNvSpPr>
          <p:nvPr/>
        </p:nvSpPr>
        <p:spPr bwMode="auto">
          <a:xfrm>
            <a:off x="3261783" y="3962400"/>
            <a:ext cx="1344083" cy="0"/>
          </a:xfrm>
          <a:prstGeom prst="line">
            <a:avLst/>
          </a:prstGeom>
          <a:noFill/>
          <a:ln w="28575">
            <a:solidFill>
              <a:schemeClr val="bg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r"/>
            <a:endParaRPr lang="zh-CN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09331" name="Rectangle 19"/>
          <p:cNvSpPr>
            <a:spLocks noChangeArrowheads="1"/>
          </p:cNvSpPr>
          <p:nvPr/>
        </p:nvSpPr>
        <p:spPr bwMode="auto">
          <a:xfrm>
            <a:off x="1600200" y="3689404"/>
            <a:ext cx="1919817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GB" sz="2400" b="1" dirty="0">
                <a:solidFill>
                  <a:schemeClr val="bg1"/>
                </a:solidFill>
                <a:latin typeface="+mj-ea"/>
                <a:ea typeface="+mj-ea"/>
              </a:rPr>
              <a:t>返回地址</a:t>
            </a:r>
            <a:endParaRPr lang="zh-CN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7294956" y="2028824"/>
            <a:ext cx="1439334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GB" sz="2400" b="1" dirty="0">
                <a:solidFill>
                  <a:schemeClr val="bg1"/>
                </a:solidFill>
                <a:latin typeface="+mj-ea"/>
                <a:ea typeface="+mj-ea"/>
              </a:rPr>
              <a:t>子程序 </a:t>
            </a:r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011171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9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09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09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09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09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09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09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09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09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09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09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9318" grpId="0"/>
      <p:bldP spid="909319" grpId="0"/>
      <p:bldP spid="909320" grpId="0" animBg="1"/>
      <p:bldP spid="909321" grpId="0"/>
      <p:bldP spid="909322" grpId="0" animBg="1"/>
      <p:bldP spid="909323" grpId="0" animBg="1"/>
      <p:bldP spid="909327" grpId="0" animBg="1"/>
      <p:bldP spid="909328" grpId="0"/>
      <p:bldP spid="909329" grpId="0" animBg="1"/>
      <p:bldP spid="909330" grpId="0" animBg="1"/>
      <p:bldP spid="909331" grpId="0"/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0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当控制从调用单元转向被调用单元时，还可进行参数传递。</a:t>
            </a:r>
          </a:p>
          <a:p>
            <a:r>
              <a:rPr lang="zh-CN" altLang="en-US" dirty="0"/>
              <a:t>参数传递可实现</a:t>
            </a:r>
            <a:r>
              <a:rPr lang="zh-CN" altLang="en-US" dirty="0">
                <a:solidFill>
                  <a:srgbClr val="EE853E"/>
                </a:solidFill>
              </a:rPr>
              <a:t>单元之间的通信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单元之间的通信也可以通过</a:t>
            </a:r>
            <a:r>
              <a:rPr lang="zh-CN" altLang="en-US" dirty="0">
                <a:solidFill>
                  <a:srgbClr val="EE853E"/>
                </a:solidFill>
              </a:rPr>
              <a:t>全局变量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EE853E"/>
                </a:solidFill>
              </a:rPr>
              <a:t>非局部变量</a:t>
            </a:r>
            <a:r>
              <a:rPr lang="zh-CN" altLang="en-US" dirty="0"/>
              <a:t>来进行（</a:t>
            </a:r>
            <a:r>
              <a:rPr lang="zh-CN" altLang="en-US" dirty="0">
                <a:solidFill>
                  <a:srgbClr val="EE853E"/>
                </a:solidFill>
              </a:rPr>
              <a:t>副作用</a:t>
            </a:r>
            <a:r>
              <a:rPr lang="zh-CN" altLang="en-US" dirty="0"/>
              <a:t>）。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2BD029F7-AA95-4638-A58B-435F5DFF2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显式调用</a:t>
            </a:r>
          </a:p>
        </p:txBody>
      </p:sp>
    </p:spTree>
    <p:extLst>
      <p:ext uri="{BB962C8B-B14F-4D97-AF65-F5344CB8AC3E}">
        <p14:creationId xmlns:p14="http://schemas.microsoft.com/office/powerpoint/2010/main" val="943450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6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参数传递</a:t>
            </a:r>
            <a:endParaRPr lang="en-US" altLang="zh-CN" dirty="0"/>
          </a:p>
          <a:p>
            <a:r>
              <a:rPr lang="zh-CN" altLang="en-US" dirty="0"/>
              <a:t>每次调用允许传递不同的数据（</a:t>
            </a:r>
            <a:r>
              <a:rPr lang="zh-CN" altLang="en-US" dirty="0">
                <a:solidFill>
                  <a:srgbClr val="EE853E"/>
                </a:solidFill>
              </a:rPr>
              <a:t>实际参数</a:t>
            </a:r>
            <a:r>
              <a:rPr lang="zh-CN" altLang="en-US" dirty="0"/>
              <a:t>），为单元间的通信提供了</a:t>
            </a:r>
            <a:r>
              <a:rPr lang="zh-CN" altLang="en-US" dirty="0">
                <a:solidFill>
                  <a:srgbClr val="EE853E"/>
                </a:solidFill>
              </a:rPr>
              <a:t>灵活性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也提高了程序的可读性和可修改性。</a:t>
            </a:r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显式调用</a:t>
            </a:r>
          </a:p>
        </p:txBody>
      </p:sp>
    </p:spTree>
    <p:extLst>
      <p:ext uri="{BB962C8B-B14F-4D97-AF65-F5344CB8AC3E}">
        <p14:creationId xmlns:p14="http://schemas.microsoft.com/office/powerpoint/2010/main" val="561874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第三章 控制结构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927033" y="2073194"/>
            <a:ext cx="4711767" cy="2711612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第一节 语句级控制结构</a:t>
              </a:r>
              <a:endParaRPr lang="zh-CN" altLang="en-US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</a:rPr>
                <a:t>第二节 单元级控制结构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endParaRPr lang="zh-CN" altLang="en-US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endParaRPr lang="zh-CN" altLang="en-US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</p:grpSp>
      <p:sp>
        <p:nvSpPr>
          <p:cNvPr id="30" name="对话气泡: 圆角矩形 29">
            <a:extLst>
              <a:ext uri="{FF2B5EF4-FFF2-40B4-BE49-F238E27FC236}">
                <a16:creationId xmlns:a16="http://schemas.microsoft.com/office/drawing/2014/main" id="{23E85C67-7818-411F-A7D7-B4F4B0217B6D}"/>
              </a:ext>
            </a:extLst>
          </p:cNvPr>
          <p:cNvSpPr/>
          <p:nvPr/>
        </p:nvSpPr>
        <p:spPr>
          <a:xfrm rot="5400000">
            <a:off x="6937078" y="1434884"/>
            <a:ext cx="2711610" cy="3988234"/>
          </a:xfrm>
          <a:prstGeom prst="wedgeRoundRectCallout">
            <a:avLst>
              <a:gd name="adj1" fmla="val -14656"/>
              <a:gd name="adj2" fmla="val 60284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显式调用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异常处理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协同程序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并发单元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0750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274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异常：导致程序正常执行</a:t>
            </a:r>
            <a:r>
              <a:rPr lang="zh-CN" altLang="en-US" dirty="0">
                <a:solidFill>
                  <a:srgbClr val="EE853E"/>
                </a:solidFill>
              </a:rPr>
              <a:t>中止</a:t>
            </a:r>
            <a:r>
              <a:rPr lang="zh-CN" altLang="en-US" dirty="0"/>
              <a:t>的事件。</a:t>
            </a:r>
          </a:p>
          <a:p>
            <a:r>
              <a:rPr lang="zh-CN" altLang="en-US" dirty="0"/>
              <a:t>要靠发信号来引发。</a:t>
            </a:r>
          </a:p>
          <a:p>
            <a:r>
              <a:rPr lang="zh-CN" altLang="en-US" dirty="0"/>
              <a:t>用</a:t>
            </a:r>
            <a:r>
              <a:rPr lang="zh-CN" altLang="en-US" dirty="0">
                <a:solidFill>
                  <a:srgbClr val="EE853E"/>
                </a:solidFill>
              </a:rPr>
              <a:t>异常条件</a:t>
            </a:r>
            <a:r>
              <a:rPr lang="zh-CN" altLang="en-US" dirty="0"/>
              <a:t>来表示。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早期语言中除</a:t>
            </a:r>
            <a:r>
              <a:rPr lang="en-US" altLang="zh-CN" dirty="0">
                <a:solidFill>
                  <a:srgbClr val="EE853E"/>
                </a:solidFill>
              </a:rPr>
              <a:t>PL/1</a:t>
            </a:r>
            <a:r>
              <a:rPr lang="zh-CN" altLang="en-US" dirty="0"/>
              <a:t>外，通常没有专门的异常条件及异常处理程序。</a:t>
            </a:r>
          </a:p>
          <a:p>
            <a:r>
              <a:rPr lang="zh-CN" altLang="en-US" dirty="0"/>
              <a:t>后期开发的语言提供了异常处理机制，使涉及异常事件的处理</a:t>
            </a:r>
            <a:r>
              <a:rPr lang="zh-CN" altLang="en-US" dirty="0">
                <a:solidFill>
                  <a:srgbClr val="EE853E"/>
                </a:solidFill>
              </a:rPr>
              <a:t>独立</a:t>
            </a:r>
            <a:r>
              <a:rPr lang="zh-CN" altLang="en-US" dirty="0"/>
              <a:t>出来。</a:t>
            </a:r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不包括在程序的主流程中</a:t>
            </a:r>
            <a:r>
              <a:rPr lang="zh-CN" altLang="en-US" dirty="0"/>
              <a:t>，以保证程序的逻辑按基本算法进行。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异常处理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908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322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有关异常处理的主要问题：</a:t>
            </a:r>
            <a:endParaRPr lang="en-US" altLang="zh-CN" dirty="0"/>
          </a:p>
          <a:p>
            <a:r>
              <a:rPr lang="en-US" altLang="zh-CN" dirty="0"/>
              <a:t>(1) </a:t>
            </a:r>
            <a:r>
              <a:rPr lang="zh-CN" altLang="en-US" dirty="0"/>
              <a:t>异常如何说明</a:t>
            </a:r>
            <a:r>
              <a:rPr lang="en-US" altLang="zh-CN" dirty="0"/>
              <a:t>,</a:t>
            </a:r>
            <a:r>
              <a:rPr lang="zh-CN" altLang="en-US" dirty="0"/>
              <a:t>它的作用域是什么？</a:t>
            </a:r>
          </a:p>
          <a:p>
            <a:r>
              <a:rPr lang="en-US" altLang="zh-CN" dirty="0"/>
              <a:t>(2) </a:t>
            </a:r>
            <a:r>
              <a:rPr lang="zh-CN" altLang="en-US" dirty="0"/>
              <a:t>异常如何发生？（如何捕获异常）</a:t>
            </a:r>
            <a:endParaRPr lang="en-US" altLang="zh-CN" dirty="0"/>
          </a:p>
          <a:p>
            <a:r>
              <a:rPr lang="en-US" altLang="zh-CN" dirty="0"/>
              <a:t>(3) </a:t>
            </a:r>
            <a:r>
              <a:rPr lang="zh-CN" altLang="en-US" dirty="0"/>
              <a:t>发生异常时，流程如何</a:t>
            </a:r>
            <a:r>
              <a:rPr lang="zh-CN" altLang="en-US" dirty="0">
                <a:solidFill>
                  <a:srgbClr val="EE853E"/>
                </a:solidFill>
              </a:rPr>
              <a:t>转移</a:t>
            </a:r>
            <a:r>
              <a:rPr lang="zh-CN" altLang="en-US" dirty="0"/>
              <a:t>？</a:t>
            </a:r>
            <a:endParaRPr lang="en-US" altLang="zh-CN" dirty="0"/>
          </a:p>
          <a:p>
            <a:r>
              <a:rPr lang="en-US" altLang="zh-CN" dirty="0"/>
              <a:t>(4) </a:t>
            </a:r>
            <a:r>
              <a:rPr lang="zh-CN" altLang="en-US" dirty="0"/>
              <a:t>发生异常时，如何绑定相应的异常处理程序？</a:t>
            </a:r>
          </a:p>
          <a:p>
            <a:r>
              <a:rPr lang="en-US" altLang="zh-CN" dirty="0"/>
              <a:t>(5) </a:t>
            </a:r>
            <a:r>
              <a:rPr lang="zh-CN" altLang="en-US" dirty="0"/>
              <a:t>处理异常之后，</a:t>
            </a:r>
            <a:r>
              <a:rPr lang="zh-CN" altLang="en-US" dirty="0">
                <a:solidFill>
                  <a:srgbClr val="EE853E"/>
                </a:solidFill>
              </a:rPr>
              <a:t>控制流程转向何处</a:t>
            </a:r>
            <a:r>
              <a:rPr lang="zh-CN" altLang="en-US" dirty="0"/>
              <a:t>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在这些问题中，问题（</a:t>
            </a:r>
            <a:r>
              <a:rPr lang="en-US" altLang="zh-CN" dirty="0"/>
              <a:t>5</a:t>
            </a:r>
            <a:r>
              <a:rPr lang="zh-CN" altLang="en-US" dirty="0"/>
              <a:t>）的解决对语言</a:t>
            </a:r>
            <a:r>
              <a:rPr lang="zh-CN" altLang="en-US" dirty="0">
                <a:solidFill>
                  <a:srgbClr val="EE853E"/>
                </a:solidFill>
              </a:rPr>
              <a:t>处理异常机制</a:t>
            </a:r>
            <a:r>
              <a:rPr lang="zh-CN" altLang="en-US" dirty="0"/>
              <a:t>的能力和可使用性有很大的影响。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异常处理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54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9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语言设计中可能的</a:t>
            </a:r>
            <a:r>
              <a:rPr lang="zh-CN" altLang="en-US" dirty="0">
                <a:solidFill>
                  <a:srgbClr val="EE853E"/>
                </a:solidFill>
              </a:rPr>
              <a:t>基本选择</a:t>
            </a:r>
            <a:r>
              <a:rPr lang="zh-CN" altLang="en-US" dirty="0"/>
              <a:t>是，相应的异常处理程序执行完之后，允许</a:t>
            </a:r>
            <a:r>
              <a:rPr lang="zh-CN" altLang="en-US" dirty="0">
                <a:solidFill>
                  <a:srgbClr val="EE853E"/>
                </a:solidFill>
              </a:rPr>
              <a:t>控制返回发生异常事件的执行点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在这种情况下，异常处理程序可对执行的程序进行“</a:t>
            </a:r>
            <a:r>
              <a:rPr lang="zh-CN" altLang="en-US" dirty="0">
                <a:solidFill>
                  <a:srgbClr val="EE853E"/>
                </a:solidFill>
              </a:rPr>
              <a:t>修补</a:t>
            </a:r>
            <a:r>
              <a:rPr lang="zh-CN" altLang="en-US" dirty="0"/>
              <a:t>”，终止相应的异常事件，以便程序</a:t>
            </a:r>
            <a:r>
              <a:rPr lang="zh-CN" altLang="en-US" dirty="0">
                <a:solidFill>
                  <a:srgbClr val="EE853E"/>
                </a:solidFill>
              </a:rPr>
              <a:t>继续正常地执行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解决了程序</a:t>
            </a:r>
            <a:r>
              <a:rPr lang="zh-CN" altLang="en-US" dirty="0">
                <a:solidFill>
                  <a:srgbClr val="EE853E"/>
                </a:solidFill>
              </a:rPr>
              <a:t>继续执行</a:t>
            </a:r>
            <a:r>
              <a:rPr lang="zh-CN" altLang="en-US" dirty="0"/>
              <a:t>的问题，</a:t>
            </a:r>
            <a:endParaRPr lang="en-US" altLang="zh-CN" dirty="0"/>
          </a:p>
          <a:p>
            <a:r>
              <a:rPr lang="zh-CN" altLang="en-US" dirty="0"/>
              <a:t>但并</a:t>
            </a:r>
            <a:r>
              <a:rPr lang="zh-CN" altLang="en-US" dirty="0">
                <a:solidFill>
                  <a:srgbClr val="EE853E"/>
                </a:solidFill>
              </a:rPr>
              <a:t>未</a:t>
            </a:r>
            <a:r>
              <a:rPr lang="zh-CN" altLang="en-US" dirty="0"/>
              <a:t>真正</a:t>
            </a:r>
            <a:r>
              <a:rPr lang="zh-CN" altLang="en-US" dirty="0">
                <a:solidFill>
                  <a:srgbClr val="EE853E"/>
                </a:solidFill>
              </a:rPr>
              <a:t>消除</a:t>
            </a:r>
            <a:r>
              <a:rPr lang="zh-CN" altLang="en-US" dirty="0"/>
              <a:t>发生异常的因素。</a:t>
            </a:r>
          </a:p>
          <a:p>
            <a:endParaRPr lang="zh-CN" altLang="en-US" dirty="0"/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GB" dirty="0"/>
              <a:t>方法</a:t>
            </a:r>
            <a:r>
              <a:rPr lang="en-GB" altLang="zh-CN" dirty="0"/>
              <a:t>1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42039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3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相应的异常处理程序执行完之后，</a:t>
            </a:r>
            <a:r>
              <a:rPr lang="zh-CN" altLang="en-US" dirty="0">
                <a:solidFill>
                  <a:srgbClr val="EE853E"/>
                </a:solidFill>
              </a:rPr>
              <a:t>终止</a:t>
            </a:r>
            <a:r>
              <a:rPr lang="zh-CN" altLang="en-US" dirty="0"/>
              <a:t>引起异常的程序单元的执行，由</a:t>
            </a:r>
            <a:r>
              <a:rPr lang="zh-CN" altLang="en-US" dirty="0">
                <a:solidFill>
                  <a:srgbClr val="EE853E"/>
                </a:solidFill>
              </a:rPr>
              <a:t>异常处理程序进行控制的转移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意味着引起异常的单元</a:t>
            </a:r>
            <a:r>
              <a:rPr lang="zh-CN" altLang="en-US" dirty="0">
                <a:solidFill>
                  <a:srgbClr val="EE853E"/>
                </a:solidFill>
              </a:rPr>
              <a:t>不能恢复执行</a:t>
            </a:r>
            <a:r>
              <a:rPr lang="zh-CN" altLang="en-US" dirty="0"/>
              <a:t>；从实现的观点来看，这意味着</a:t>
            </a:r>
            <a:r>
              <a:rPr lang="zh-CN" altLang="en-US" dirty="0">
                <a:solidFill>
                  <a:srgbClr val="EE853E"/>
                </a:solidFill>
              </a:rPr>
              <a:t>删除</a:t>
            </a:r>
            <a:r>
              <a:rPr lang="zh-CN" altLang="en-US" dirty="0"/>
              <a:t>异常单元的</a:t>
            </a:r>
            <a:r>
              <a:rPr lang="zh-CN" altLang="en-US" dirty="0">
                <a:solidFill>
                  <a:srgbClr val="EE853E"/>
                </a:solidFill>
              </a:rPr>
              <a:t>活动记录</a:t>
            </a:r>
            <a:r>
              <a:rPr lang="zh-CN" altLang="en-US" dirty="0"/>
              <a:t>。</a:t>
            </a:r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GB" dirty="0"/>
              <a:t>方法</a:t>
            </a:r>
            <a:r>
              <a:rPr lang="en-GB" altLang="zh-CN" dirty="0"/>
              <a:t>2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02170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6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异常处理</a:t>
            </a:r>
            <a:r>
              <a:rPr lang="zh-CN" altLang="en-US" dirty="0"/>
              <a:t>是</a:t>
            </a:r>
            <a:r>
              <a:rPr lang="en-US" altLang="zh-CN" dirty="0"/>
              <a:t>C++</a:t>
            </a:r>
            <a:r>
              <a:rPr lang="zh-CN" altLang="en-US" dirty="0"/>
              <a:t>的一个主要特征，</a:t>
            </a:r>
          </a:p>
          <a:p>
            <a:r>
              <a:rPr lang="zh-CN" altLang="en-US" dirty="0"/>
              <a:t>它提出了出错处理更加完美的方法。</a:t>
            </a:r>
          </a:p>
          <a:p>
            <a:r>
              <a:rPr lang="zh-CN" altLang="en-GB" dirty="0"/>
              <a:t>设置</a:t>
            </a:r>
            <a:r>
              <a:rPr lang="zh-CN" altLang="en-GB" dirty="0">
                <a:solidFill>
                  <a:srgbClr val="EE853E"/>
                </a:solidFill>
              </a:rPr>
              <a:t>陷阱</a:t>
            </a:r>
            <a:r>
              <a:rPr lang="zh-CN" altLang="en-GB" dirty="0"/>
              <a:t>   </a:t>
            </a:r>
            <a:r>
              <a:rPr lang="zh-CN" altLang="en-GB" dirty="0">
                <a:solidFill>
                  <a:srgbClr val="EE853E"/>
                </a:solidFill>
              </a:rPr>
              <a:t>抛出异常</a:t>
            </a:r>
            <a:r>
              <a:rPr lang="zh-CN" altLang="en-GB" dirty="0"/>
              <a:t>   </a:t>
            </a:r>
            <a:r>
              <a:rPr lang="zh-CN" altLang="en-GB" dirty="0">
                <a:solidFill>
                  <a:srgbClr val="EE853E"/>
                </a:solidFill>
              </a:rPr>
              <a:t>捕获异常 </a:t>
            </a:r>
          </a:p>
          <a:p>
            <a:r>
              <a:rPr lang="en-GB" altLang="zh-CN" dirty="0"/>
              <a:t>try   throw    </a:t>
            </a:r>
            <a:r>
              <a:rPr lang="en-US" altLang="zh-CN" dirty="0"/>
              <a:t>catch</a:t>
            </a:r>
            <a:endParaRPr lang="zh-CN" altLang="en-US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BBD82E89-726E-4A0E-964E-D0A7D9513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语言的异常处理</a:t>
            </a:r>
          </a:p>
        </p:txBody>
      </p:sp>
    </p:spTree>
    <p:extLst>
      <p:ext uri="{BB962C8B-B14F-4D97-AF65-F5344CB8AC3E}">
        <p14:creationId xmlns:p14="http://schemas.microsoft.com/office/powerpoint/2010/main" val="4079173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6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的异常处理语句的格式如下：</a:t>
            </a:r>
          </a:p>
          <a:p>
            <a:r>
              <a:rPr lang="en-US" altLang="zh-CN" dirty="0"/>
              <a:t>try  { </a:t>
            </a:r>
            <a:r>
              <a:rPr lang="en-GB" altLang="zh-CN" dirty="0"/>
              <a:t>… </a:t>
            </a:r>
            <a:r>
              <a:rPr lang="en-US" altLang="zh-CN" dirty="0"/>
              <a:t>}</a:t>
            </a:r>
          </a:p>
          <a:p>
            <a:r>
              <a:rPr lang="en-US" altLang="zh-CN" dirty="0"/>
              <a:t>catch (</a:t>
            </a:r>
            <a:r>
              <a:rPr lang="zh-CN" altLang="en-US" dirty="0"/>
              <a:t>异常类型</a:t>
            </a:r>
            <a:r>
              <a:rPr lang="en-US" altLang="zh-CN" dirty="0"/>
              <a:t>1)  { </a:t>
            </a:r>
            <a:r>
              <a:rPr lang="zh-CN" altLang="en-US" dirty="0"/>
              <a:t>异常</a:t>
            </a:r>
            <a:r>
              <a:rPr lang="en-US" altLang="zh-CN" dirty="0"/>
              <a:t>1</a:t>
            </a:r>
            <a:r>
              <a:rPr lang="zh-CN" altLang="en-US" dirty="0"/>
              <a:t>处理程序 </a:t>
            </a:r>
            <a:r>
              <a:rPr lang="en-US" altLang="zh-CN" dirty="0"/>
              <a:t>}</a:t>
            </a:r>
          </a:p>
          <a:p>
            <a:r>
              <a:rPr lang="en-US" altLang="zh-CN" dirty="0"/>
              <a:t>catch (</a:t>
            </a:r>
            <a:r>
              <a:rPr lang="zh-CN" altLang="en-US" dirty="0"/>
              <a:t>异常类型</a:t>
            </a:r>
            <a:r>
              <a:rPr lang="en-US" altLang="zh-CN" dirty="0"/>
              <a:t>2)  {</a:t>
            </a:r>
            <a:r>
              <a:rPr lang="zh-CN" altLang="en-US" dirty="0"/>
              <a:t>异常</a:t>
            </a:r>
            <a:r>
              <a:rPr lang="en-US" altLang="zh-CN" dirty="0"/>
              <a:t>2</a:t>
            </a:r>
            <a:r>
              <a:rPr lang="zh-CN" altLang="en-US" dirty="0"/>
              <a:t>处理程序</a:t>
            </a:r>
            <a:r>
              <a:rPr lang="en-US" altLang="zh-CN" dirty="0"/>
              <a:t>}</a:t>
            </a:r>
          </a:p>
          <a:p>
            <a:r>
              <a:rPr lang="en-US" altLang="zh-CN" dirty="0"/>
              <a:t>…</a:t>
            </a:r>
          </a:p>
          <a:p>
            <a:r>
              <a:rPr lang="en-US" altLang="zh-CN" dirty="0"/>
              <a:t>catch (</a:t>
            </a:r>
            <a:r>
              <a:rPr lang="zh-CN" altLang="en-US" dirty="0"/>
              <a:t>异常类型</a:t>
            </a:r>
            <a:r>
              <a:rPr lang="en-US" altLang="zh-CN" dirty="0"/>
              <a:t>n)  {</a:t>
            </a:r>
            <a:r>
              <a:rPr lang="zh-CN" altLang="en-US" dirty="0"/>
              <a:t>异常</a:t>
            </a:r>
            <a:r>
              <a:rPr lang="en-GB" altLang="zh-CN" dirty="0"/>
              <a:t>n</a:t>
            </a:r>
            <a:r>
              <a:rPr lang="zh-CN" altLang="en-US" dirty="0"/>
              <a:t>处理程序</a:t>
            </a:r>
            <a:r>
              <a:rPr lang="en-US" altLang="zh-CN" dirty="0"/>
              <a:t>} 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94058967-021F-489D-86CA-C524D3506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语言的异常处理</a:t>
            </a:r>
          </a:p>
        </p:txBody>
      </p:sp>
    </p:spTree>
    <p:extLst>
      <p:ext uri="{BB962C8B-B14F-4D97-AF65-F5344CB8AC3E}">
        <p14:creationId xmlns:p14="http://schemas.microsoft.com/office/powerpoint/2010/main" val="679365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5698</TotalTime>
  <Words>728</Words>
  <Application>Microsoft Office PowerPoint</Application>
  <PresentationFormat>宽屏</PresentationFormat>
  <Paragraphs>90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微软雅黑</vt:lpstr>
      <vt:lpstr>Arial</vt:lpstr>
      <vt:lpstr>Arial Black</vt:lpstr>
      <vt:lpstr>Wingdings</vt:lpstr>
      <vt:lpstr>环保</vt:lpstr>
      <vt:lpstr>第三章 控制结构</vt:lpstr>
      <vt:lpstr>单元级控制结构</vt:lpstr>
      <vt:lpstr>单元级控制结构</vt:lpstr>
      <vt:lpstr>第三章 控制结构</vt:lpstr>
      <vt:lpstr>显式调用</vt:lpstr>
      <vt:lpstr>显式调用</vt:lpstr>
      <vt:lpstr>显式调用</vt:lpstr>
      <vt:lpstr>显式调用</vt:lpstr>
      <vt:lpstr>显式调用</vt:lpstr>
      <vt:lpstr>第三章 控制结构</vt:lpstr>
      <vt:lpstr>异常处理</vt:lpstr>
      <vt:lpstr>异常处理</vt:lpstr>
      <vt:lpstr>方法1</vt:lpstr>
      <vt:lpstr>方法2</vt:lpstr>
      <vt:lpstr>C++语言的异常处理</vt:lpstr>
      <vt:lpstr>C++语言的异常处理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TEST</cp:lastModifiedBy>
  <cp:revision>1039</cp:revision>
  <cp:lastPrinted>1601-01-01T00:00:00Z</cp:lastPrinted>
  <dcterms:created xsi:type="dcterms:W3CDTF">1601-01-01T00:00:00Z</dcterms:created>
  <dcterms:modified xsi:type="dcterms:W3CDTF">2019-12-24T08:47:32Z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