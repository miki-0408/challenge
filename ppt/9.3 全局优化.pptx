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22"/>
  </p:notesMasterIdLst>
  <p:handoutMasterIdLst>
    <p:handoutMasterId r:id="rId23"/>
  </p:handoutMasterIdLst>
  <p:sldIdLst>
    <p:sldId id="370" r:id="rId2"/>
    <p:sldId id="383" r:id="rId3"/>
    <p:sldId id="283" r:id="rId4"/>
    <p:sldId id="382" r:id="rId5"/>
    <p:sldId id="371" r:id="rId6"/>
    <p:sldId id="374" r:id="rId7"/>
    <p:sldId id="387" r:id="rId8"/>
    <p:sldId id="397" r:id="rId9"/>
    <p:sldId id="389" r:id="rId10"/>
    <p:sldId id="401" r:id="rId11"/>
    <p:sldId id="402" r:id="rId12"/>
    <p:sldId id="396" r:id="rId13"/>
    <p:sldId id="403" r:id="rId14"/>
    <p:sldId id="404" r:id="rId15"/>
    <p:sldId id="405" r:id="rId16"/>
    <p:sldId id="406" r:id="rId17"/>
    <p:sldId id="407" r:id="rId18"/>
    <p:sldId id="398" r:id="rId19"/>
    <p:sldId id="373" r:id="rId20"/>
    <p:sldId id="392" r:id="rId21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A18D60"/>
    <a:srgbClr val="EE8A3E"/>
    <a:srgbClr val="E98A3E"/>
    <a:srgbClr val="04141B"/>
    <a:srgbClr val="D9B247"/>
    <a:srgbClr val="2A9995"/>
    <a:srgbClr val="54D0CA"/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89127" autoAdjust="0"/>
  </p:normalViewPr>
  <p:slideViewPr>
    <p:cSldViewPr>
      <p:cViewPr varScale="1">
        <p:scale>
          <a:sx n="67" d="100"/>
          <a:sy n="67" d="100"/>
        </p:scale>
        <p:origin x="532" y="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8534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7869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484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560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7418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5674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87444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5415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4181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7628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40515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79087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55608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121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481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525796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7E9892FE-F3AB-4039-9723-7093E7CEC2C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10130" y="899160"/>
            <a:ext cx="525797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56760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1" y="900000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21D09B86-9E93-40B4-96E1-952B7B1A861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322401" y="900000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F3B0E141-4CCD-47B8-82F1-F307E0885F0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917182" y="899999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69382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</a:t>
            </a:r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B9730401-D273-4D1F-9940-003BE36C43E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404000" y="900000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</a:t>
            </a:r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850BD6D6-313F-4541-B890-2C03031B9866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88000" y="900000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</a:t>
            </a:r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21EF50E-2028-4C0F-844C-62767D0B5385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772000" y="900000"/>
            <a:ext cx="25200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添加</a:t>
            </a:r>
            <a:r>
              <a:rPr lang="zh-CN" altLang="en-US" dirty="0"/>
              <a:t>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/>
              <a:t>第三级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6772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10" r:id="rId3"/>
    <p:sldLayoutId id="2147484311" r:id="rId4"/>
    <p:sldLayoutId id="2147484312" r:id="rId5"/>
    <p:sldLayoutId id="2147484308" r:id="rId6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第九章 代码优化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第一节 优化的概念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第二节 局部优化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全局优化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endParaRPr lang="zh-CN" altLang="en-US" sz="2400" b="1" dirty="0">
                <a:solidFill>
                  <a:schemeClr val="bg1"/>
                </a:solidFill>
                <a:latin typeface="+mj-ea"/>
                <a:ea typeface="+mj-ea"/>
                <a:cs typeface="Clear Sans" panose="020B0503030202020304" pitchFamily="34" charset="0"/>
              </a:endParaRPr>
            </a:p>
          </p:txBody>
        </p:sp>
      </p:grpSp>
      <p:sp>
        <p:nvSpPr>
          <p:cNvPr id="25" name="箭头: 右 24">
            <a:extLst>
              <a:ext uri="{FF2B5EF4-FFF2-40B4-BE49-F238E27FC236}">
                <a16:creationId xmlns:a16="http://schemas.microsoft.com/office/drawing/2014/main" id="{F274FDB2-ED7B-4156-B54B-7AB42E3BFB17}"/>
              </a:ext>
            </a:extLst>
          </p:cNvPr>
          <p:cNvSpPr/>
          <p:nvPr/>
        </p:nvSpPr>
        <p:spPr>
          <a:xfrm>
            <a:off x="2983159" y="3422400"/>
            <a:ext cx="540000" cy="54000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374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12773D2-6DEF-49EC-8B03-3AF5C886A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全局优化就是基本块之间的优化，常用的方法包括</a:t>
            </a:r>
          </a:p>
          <a:p>
            <a:r>
              <a:rPr lang="en-US" altLang="zh-CN" dirty="0"/>
              <a:t>1.	</a:t>
            </a:r>
            <a:r>
              <a:rPr lang="zh-CN" altLang="en-US" dirty="0"/>
              <a:t>删除死代码</a:t>
            </a:r>
            <a:endParaRPr lang="en-US" altLang="zh-CN" dirty="0"/>
          </a:p>
          <a:p>
            <a:r>
              <a:rPr lang="en-US" altLang="zh-CN" dirty="0"/>
              <a:t>	if x </a:t>
            </a:r>
            <a:r>
              <a:rPr lang="en-US" altLang="zh-CN" dirty="0" err="1"/>
              <a:t>goto</a:t>
            </a:r>
            <a:r>
              <a:rPr lang="en-US" altLang="zh-CN" dirty="0"/>
              <a:t> </a:t>
            </a:r>
            <a:r>
              <a:rPr lang="en-US" altLang="zh-CN" dirty="0" err="1"/>
              <a:t>L1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en-US" altLang="zh-CN" dirty="0" err="1"/>
              <a:t>ifz</a:t>
            </a:r>
            <a:r>
              <a:rPr lang="en-US" altLang="zh-CN" dirty="0"/>
              <a:t> x </a:t>
            </a:r>
            <a:r>
              <a:rPr lang="en-US" altLang="zh-CN" dirty="0" err="1"/>
              <a:t>goto</a:t>
            </a:r>
            <a:r>
              <a:rPr lang="en-US" altLang="zh-CN" dirty="0"/>
              <a:t> </a:t>
            </a:r>
            <a:r>
              <a:rPr lang="en-US" altLang="zh-CN" dirty="0" err="1"/>
              <a:t>L1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如果</a:t>
            </a:r>
            <a:r>
              <a:rPr lang="en-US" altLang="zh-CN" dirty="0"/>
              <a:t> x </a:t>
            </a:r>
            <a:r>
              <a:rPr lang="zh-CN" altLang="en-US" dirty="0"/>
              <a:t>的值固定为“真”或“假”，则其中一个分支永远不会执行，这些分支的代码称为“死代码”，可以删除。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1924245-C275-4B9F-8545-7CFC82788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全局优化</a:t>
            </a:r>
          </a:p>
        </p:txBody>
      </p:sp>
    </p:spTree>
    <p:extLst>
      <p:ext uri="{BB962C8B-B14F-4D97-AF65-F5344CB8AC3E}">
        <p14:creationId xmlns:p14="http://schemas.microsoft.com/office/powerpoint/2010/main" val="1556071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2.	</a:t>
            </a:r>
            <a:r>
              <a:rPr lang="zh-CN" altLang="en-US" dirty="0"/>
              <a:t>代码外提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对于循环结构中的 </a:t>
            </a:r>
            <a:r>
              <a:rPr lang="en-US" altLang="zh-CN" dirty="0"/>
              <a:t>x=op y </a:t>
            </a:r>
            <a:r>
              <a:rPr lang="zh-CN" altLang="en-US" dirty="0"/>
              <a:t>或 </a:t>
            </a:r>
            <a:r>
              <a:rPr lang="en-US" altLang="zh-CN" dirty="0"/>
              <a:t>x=y op z </a:t>
            </a:r>
            <a:r>
              <a:rPr lang="zh-CN" altLang="en-US" dirty="0"/>
              <a:t>语句，如果</a:t>
            </a:r>
            <a:r>
              <a:rPr lang="en-US" altLang="zh-CN" dirty="0"/>
              <a:t>y</a:t>
            </a:r>
            <a:r>
              <a:rPr lang="zh-CN" altLang="en-US" dirty="0"/>
              <a:t>、</a:t>
            </a:r>
            <a:r>
              <a:rPr lang="en-US" altLang="zh-CN" dirty="0"/>
              <a:t>z</a:t>
            </a:r>
            <a:r>
              <a:rPr lang="zh-CN" altLang="en-US" dirty="0"/>
              <a:t>均为循环不变量，则该运算为循环不变运算。优化时将该运算提到循环入口结点之前所增设的结点中去。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全局优化</a:t>
            </a:r>
            <a:endParaRPr lang="zh-CN" altLang="en-US" dirty="0"/>
          </a:p>
        </p:txBody>
      </p:sp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878B42F-C397-4583-B0BF-A3F15CB20B3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934200" y="898525"/>
            <a:ext cx="5257800" cy="5238750"/>
          </a:xfrm>
          <a:prstGeom prst="rect">
            <a:avLst/>
          </a:prstGeom>
        </p:spPr>
        <p:txBody>
          <a:bodyPr/>
          <a:lstStyle/>
          <a:p>
            <a:endParaRPr lang="en-US" altLang="zh-CN"/>
          </a:p>
          <a:p>
            <a:r>
              <a:rPr lang="en-US" altLang="zh-CN"/>
              <a:t>	</a:t>
            </a:r>
            <a:endParaRPr lang="zh-CN" altLang="en-US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5746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FDD5D83-2BAE-4116-AE17-7F75F3435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3.	</a:t>
            </a:r>
            <a:r>
              <a:rPr lang="zh-CN" altLang="en-US" dirty="0"/>
              <a:t>强度削弱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设计数器循环的基本归纳变量为 </a:t>
            </a:r>
            <a:r>
              <a:rPr lang="en-US" altLang="zh-CN" dirty="0" err="1"/>
              <a:t>i</a:t>
            </a:r>
            <a:r>
              <a:rPr lang="zh-CN" altLang="en-US" dirty="0"/>
              <a:t>， 每次循环 </a:t>
            </a:r>
            <a:r>
              <a:rPr lang="en-US" altLang="zh-CN" dirty="0" err="1"/>
              <a:t>i</a:t>
            </a:r>
            <a:r>
              <a:rPr lang="en-US" altLang="zh-CN" dirty="0"/>
              <a:t> =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</a:t>
            </a:r>
            <a:r>
              <a:rPr lang="en-US" altLang="zh-CN" dirty="0"/>
              <a:t> c </a:t>
            </a:r>
            <a:r>
              <a:rPr lang="zh-CN" altLang="en-US" dirty="0"/>
              <a:t>（</a:t>
            </a:r>
            <a:r>
              <a:rPr lang="en-US" altLang="zh-CN" dirty="0"/>
              <a:t>c</a:t>
            </a:r>
            <a:r>
              <a:rPr lang="zh-CN" altLang="en-US" dirty="0"/>
              <a:t>为常数），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与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同族的归纳变量为 </a:t>
            </a:r>
            <a:r>
              <a:rPr lang="en-US" altLang="zh-CN" dirty="0"/>
              <a:t>j = </a:t>
            </a:r>
            <a:r>
              <a:rPr lang="en-US" altLang="zh-CN" dirty="0" err="1"/>
              <a:t>c1</a:t>
            </a:r>
            <a:r>
              <a:rPr lang="en-US" altLang="zh-CN" dirty="0"/>
              <a:t>*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</a:t>
            </a:r>
            <a:r>
              <a:rPr lang="en-US" altLang="zh-CN" dirty="0"/>
              <a:t> </a:t>
            </a:r>
            <a:r>
              <a:rPr lang="en-US" altLang="zh-CN" dirty="0" err="1"/>
              <a:t>c2</a:t>
            </a:r>
            <a:r>
              <a:rPr lang="en-US" altLang="zh-CN" dirty="0"/>
              <a:t> </a:t>
            </a:r>
            <a:r>
              <a:rPr lang="zh-CN" altLang="en-US" dirty="0"/>
              <a:t>（</a:t>
            </a:r>
            <a:r>
              <a:rPr lang="en-US" altLang="zh-CN" dirty="0" err="1"/>
              <a:t>c1</a:t>
            </a:r>
            <a:r>
              <a:rPr lang="zh-CN" altLang="en-US" dirty="0"/>
              <a:t>、</a:t>
            </a:r>
            <a:r>
              <a:rPr lang="en-US" altLang="zh-CN" dirty="0" err="1"/>
              <a:t>c2</a:t>
            </a:r>
            <a:r>
              <a:rPr lang="zh-CN" altLang="en-US" dirty="0"/>
              <a:t>为常数），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每次循环，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增加或减少</a:t>
            </a:r>
            <a:r>
              <a:rPr lang="en-US" altLang="zh-CN" dirty="0"/>
              <a:t>c</a:t>
            </a:r>
            <a:r>
              <a:rPr lang="zh-CN" altLang="en-US" dirty="0"/>
              <a:t>，</a:t>
            </a:r>
            <a:r>
              <a:rPr lang="en-US" altLang="zh-CN" dirty="0"/>
              <a:t>j </a:t>
            </a:r>
            <a:r>
              <a:rPr lang="zh-CN" altLang="en-US" dirty="0"/>
              <a:t>增加或减少</a:t>
            </a:r>
            <a:r>
              <a:rPr lang="en-US" altLang="zh-CN" dirty="0" err="1"/>
              <a:t>c1</a:t>
            </a:r>
            <a:r>
              <a:rPr lang="en-US" altLang="zh-CN" dirty="0"/>
              <a:t>*c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因此，计算 </a:t>
            </a:r>
            <a:r>
              <a:rPr lang="en-US" altLang="zh-CN" dirty="0"/>
              <a:t>j </a:t>
            </a:r>
            <a:r>
              <a:rPr lang="zh-CN" altLang="en-US" dirty="0"/>
              <a:t>的乘法可由加法来代替：</a:t>
            </a:r>
            <a:endParaRPr lang="en-US" altLang="zh-CN" dirty="0"/>
          </a:p>
          <a:p>
            <a:r>
              <a:rPr lang="en-US" altLang="zh-CN" dirty="0"/>
              <a:t>	j = j + </a:t>
            </a:r>
            <a:r>
              <a:rPr lang="en-US" altLang="zh-CN" dirty="0" err="1"/>
              <a:t>c1</a:t>
            </a:r>
            <a:r>
              <a:rPr lang="en-US" altLang="zh-CN" dirty="0"/>
              <a:t>*c </a:t>
            </a:r>
            <a:r>
              <a:rPr lang="zh-CN" altLang="en-US" dirty="0"/>
              <a:t>（</a:t>
            </a:r>
            <a:r>
              <a:rPr lang="en-US" altLang="zh-CN" dirty="0" err="1"/>
              <a:t>c1</a:t>
            </a:r>
            <a:r>
              <a:rPr lang="en-US" altLang="zh-CN" dirty="0"/>
              <a:t>*c</a:t>
            </a:r>
            <a:r>
              <a:rPr lang="zh-CN" altLang="en-US" dirty="0"/>
              <a:t>为常数）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8B700CC4-022F-4482-A9F8-408BAF5CC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全局优化</a:t>
            </a:r>
          </a:p>
        </p:txBody>
      </p:sp>
    </p:spTree>
    <p:extLst>
      <p:ext uri="{BB962C8B-B14F-4D97-AF65-F5344CB8AC3E}">
        <p14:creationId xmlns:p14="http://schemas.microsoft.com/office/powerpoint/2010/main" val="1469888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8C0EE79-5AC8-4A81-AAD0-29371FECF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4.	</a:t>
            </a:r>
            <a:r>
              <a:rPr lang="zh-CN" altLang="en-US" dirty="0"/>
              <a:t>删除归纳变量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用同族归纳变量代替基本归纳变量作为循环判断的条件，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例如：循环判断的条件为 </a:t>
            </a:r>
            <a:r>
              <a:rPr lang="en-US" altLang="zh-CN" dirty="0" err="1"/>
              <a:t>i</a:t>
            </a:r>
            <a:r>
              <a:rPr lang="en-US" altLang="zh-CN" dirty="0"/>
              <a:t> &gt; 10 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若有 </a:t>
            </a:r>
            <a:r>
              <a:rPr lang="en-US" altLang="zh-CN" dirty="0"/>
              <a:t>j = 10 * </a:t>
            </a:r>
            <a:r>
              <a:rPr lang="en-US" altLang="zh-CN" dirty="0" err="1"/>
              <a:t>i</a:t>
            </a:r>
            <a:r>
              <a:rPr lang="en-US" altLang="zh-CN" dirty="0"/>
              <a:t> + 5</a:t>
            </a:r>
            <a:r>
              <a:rPr lang="zh-CN" altLang="en-US" dirty="0"/>
              <a:t>，则可将循环判断的条件改为 </a:t>
            </a:r>
            <a:r>
              <a:rPr lang="en-US" altLang="zh-CN" dirty="0"/>
              <a:t>j &gt; 105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如基本归纳变量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别无它用，则可将其删除。</a:t>
            </a:r>
            <a:endParaRPr lang="en-US" altLang="zh-CN" dirty="0"/>
          </a:p>
          <a:p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A44ED64-075F-4FC8-A8BF-58C0021B8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全局优化</a:t>
            </a:r>
          </a:p>
        </p:txBody>
      </p:sp>
    </p:spTree>
    <p:extLst>
      <p:ext uri="{BB962C8B-B14F-4D97-AF65-F5344CB8AC3E}">
        <p14:creationId xmlns:p14="http://schemas.microsoft.com/office/powerpoint/2010/main" val="1179948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2BAB2BC-0445-4A30-BE0A-31EDED7ED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例子：</a:t>
            </a:r>
            <a:r>
              <a:rPr lang="zh-CN" altLang="en-US" dirty="0"/>
              <a:t>程序流图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54CA33F-EB54-4138-B627-6ABD0D381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990600"/>
            <a:ext cx="2895600" cy="510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37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5036D2C-9343-4644-9ADF-747686882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[ </a:t>
            </a:r>
            <a:r>
              <a:rPr lang="en-US" altLang="zh-CN" dirty="0" err="1"/>
              <a:t>B1</a:t>
            </a:r>
            <a:r>
              <a:rPr lang="en-US" altLang="zh-CN" dirty="0"/>
              <a:t> ]</a:t>
            </a:r>
          </a:p>
          <a:p>
            <a:r>
              <a:rPr lang="en-US" altLang="zh-CN" dirty="0"/>
              <a:t>……</a:t>
            </a:r>
          </a:p>
          <a:p>
            <a:r>
              <a:rPr lang="fr-FR" altLang="zh-CN" dirty="0"/>
              <a:t>x = 1</a:t>
            </a:r>
          </a:p>
          <a:p>
            <a:r>
              <a:rPr lang="fr-FR" altLang="zh-CN" dirty="0"/>
              <a:t>ifz 1 goto L10</a:t>
            </a:r>
            <a:endParaRPr lang="zh-CN" altLang="en-US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8FCEE53-AADE-4CD4-898B-3E1402CA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步：删除死代码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003B68-0F3F-4D99-9A52-C1641BA831F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CN"/>
              <a:t>[</a:t>
            </a:r>
            <a:r>
              <a:rPr lang="zh-CN" altLang="en-US"/>
              <a:t> </a:t>
            </a:r>
            <a:r>
              <a:rPr lang="en-US" altLang="zh-CN"/>
              <a:t>B2 ]</a:t>
            </a:r>
            <a:endParaRPr lang="fr-FR" altLang="zh-CN"/>
          </a:p>
          <a:p>
            <a:r>
              <a:rPr lang="fr-FR" altLang="zh-CN"/>
              <a:t>t10 = x + y</a:t>
            </a:r>
          </a:p>
          <a:p>
            <a:r>
              <a:rPr lang="fr-FR" altLang="zh-CN"/>
              <a:t>y = t10</a:t>
            </a:r>
          </a:p>
          <a:p>
            <a:r>
              <a:rPr lang="fr-FR" altLang="zh-CN"/>
              <a:t>goto L11</a:t>
            </a:r>
            <a:endParaRPr lang="zh-CN" altLang="en-US"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B394C906-DEF1-44B9-B4D7-D106B03E9A0D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fr-FR" altLang="zh-CN"/>
              <a:t>[ B3 ]</a:t>
            </a:r>
          </a:p>
          <a:p>
            <a:r>
              <a:rPr lang="en-US" altLang="zh-CN"/>
              <a:t>label L10</a:t>
            </a:r>
          </a:p>
          <a:p>
            <a:r>
              <a:rPr lang="en-US" altLang="zh-CN"/>
              <a:t>t11 = x - y</a:t>
            </a:r>
          </a:p>
          <a:p>
            <a:r>
              <a:rPr lang="en-US" altLang="zh-CN"/>
              <a:t>y = t11</a:t>
            </a:r>
          </a:p>
          <a:p>
            <a:endParaRPr lang="en-US" altLang="zh-CN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FFB9DDB-A279-47E1-BBA4-DC8AB68B440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US" altLang="zh-CN" dirty="0"/>
              <a:t>[ </a:t>
            </a:r>
            <a:r>
              <a:rPr lang="en-US" altLang="zh-CN" dirty="0" err="1"/>
              <a:t>B4</a:t>
            </a:r>
            <a:r>
              <a:rPr lang="en-US" altLang="zh-CN" dirty="0"/>
              <a:t> ]</a:t>
            </a:r>
          </a:p>
          <a:p>
            <a:r>
              <a:rPr lang="de-DE" altLang="zh-CN" dirty="0"/>
              <a:t>label L11</a:t>
            </a:r>
          </a:p>
          <a:p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5C300D1-9A7B-443E-8316-108982640ADF}"/>
              </a:ext>
            </a:extLst>
          </p:cNvPr>
          <p:cNvCxnSpPr>
            <a:cxnSpLocks/>
          </p:cNvCxnSpPr>
          <p:nvPr/>
        </p:nvCxnSpPr>
        <p:spPr>
          <a:xfrm>
            <a:off x="609600" y="2895600"/>
            <a:ext cx="2438400" cy="0"/>
          </a:xfrm>
          <a:prstGeom prst="line">
            <a:avLst/>
          </a:prstGeom>
          <a:ln w="76200">
            <a:solidFill>
              <a:srgbClr val="EE85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985C930-82C1-4FFE-8DD3-AE1A6EDAF8D2}"/>
              </a:ext>
            </a:extLst>
          </p:cNvPr>
          <p:cNvCxnSpPr>
            <a:cxnSpLocks/>
          </p:cNvCxnSpPr>
          <p:nvPr/>
        </p:nvCxnSpPr>
        <p:spPr>
          <a:xfrm>
            <a:off x="5924000" y="1828800"/>
            <a:ext cx="2057400" cy="0"/>
          </a:xfrm>
          <a:prstGeom prst="line">
            <a:avLst/>
          </a:prstGeom>
          <a:ln w="76200">
            <a:solidFill>
              <a:srgbClr val="EE85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6EDCA51-7D92-4D84-9BBF-0A2D73B34777}"/>
              </a:ext>
            </a:extLst>
          </p:cNvPr>
          <p:cNvCxnSpPr>
            <a:cxnSpLocks/>
          </p:cNvCxnSpPr>
          <p:nvPr/>
        </p:nvCxnSpPr>
        <p:spPr>
          <a:xfrm>
            <a:off x="5924000" y="2362200"/>
            <a:ext cx="2057400" cy="0"/>
          </a:xfrm>
          <a:prstGeom prst="line">
            <a:avLst/>
          </a:prstGeom>
          <a:ln w="76200">
            <a:solidFill>
              <a:srgbClr val="EE85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35892C3-ECF2-4C21-A030-51CF70AFD229}"/>
              </a:ext>
            </a:extLst>
          </p:cNvPr>
          <p:cNvCxnSpPr>
            <a:cxnSpLocks/>
          </p:cNvCxnSpPr>
          <p:nvPr/>
        </p:nvCxnSpPr>
        <p:spPr>
          <a:xfrm>
            <a:off x="5924000" y="2895601"/>
            <a:ext cx="2057400" cy="0"/>
          </a:xfrm>
          <a:prstGeom prst="line">
            <a:avLst/>
          </a:prstGeom>
          <a:ln w="76200">
            <a:solidFill>
              <a:srgbClr val="EE85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95CEF40-ADAB-4061-9F3E-6EF33E733D5D}"/>
              </a:ext>
            </a:extLst>
          </p:cNvPr>
          <p:cNvCxnSpPr>
            <a:cxnSpLocks/>
          </p:cNvCxnSpPr>
          <p:nvPr/>
        </p:nvCxnSpPr>
        <p:spPr>
          <a:xfrm>
            <a:off x="5924000" y="1219200"/>
            <a:ext cx="2057400" cy="0"/>
          </a:xfrm>
          <a:prstGeom prst="line">
            <a:avLst/>
          </a:prstGeom>
          <a:ln w="76200">
            <a:solidFill>
              <a:srgbClr val="EE85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02B186C-4D6C-4B35-B1B2-DEA7FA6B13B3}"/>
              </a:ext>
            </a:extLst>
          </p:cNvPr>
          <p:cNvCxnSpPr>
            <a:cxnSpLocks/>
          </p:cNvCxnSpPr>
          <p:nvPr/>
        </p:nvCxnSpPr>
        <p:spPr>
          <a:xfrm>
            <a:off x="3240000" y="2895600"/>
            <a:ext cx="2057400" cy="0"/>
          </a:xfrm>
          <a:prstGeom prst="line">
            <a:avLst/>
          </a:prstGeom>
          <a:ln w="76200">
            <a:solidFill>
              <a:srgbClr val="EE85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7CBE76F0-E4F1-43CC-9DA6-CC19FE3785E4}"/>
              </a:ext>
            </a:extLst>
          </p:cNvPr>
          <p:cNvCxnSpPr>
            <a:cxnSpLocks/>
          </p:cNvCxnSpPr>
          <p:nvPr/>
        </p:nvCxnSpPr>
        <p:spPr>
          <a:xfrm>
            <a:off x="8534400" y="1828800"/>
            <a:ext cx="2057400" cy="0"/>
          </a:xfrm>
          <a:prstGeom prst="line">
            <a:avLst/>
          </a:prstGeom>
          <a:ln w="76200">
            <a:solidFill>
              <a:srgbClr val="EE85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6EBBD6F-7B77-4D73-8FAB-94590A536213}"/>
              </a:ext>
            </a:extLst>
          </p:cNvPr>
          <p:cNvCxnSpPr>
            <a:cxnSpLocks/>
          </p:cNvCxnSpPr>
          <p:nvPr/>
        </p:nvCxnSpPr>
        <p:spPr>
          <a:xfrm>
            <a:off x="8534400" y="1219200"/>
            <a:ext cx="2057400" cy="0"/>
          </a:xfrm>
          <a:prstGeom prst="line">
            <a:avLst/>
          </a:prstGeom>
          <a:ln w="76200">
            <a:solidFill>
              <a:srgbClr val="EE85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9B92C565-5849-4983-B614-9EA3858CD0FE}"/>
              </a:ext>
            </a:extLst>
          </p:cNvPr>
          <p:cNvCxnSpPr>
            <a:cxnSpLocks/>
          </p:cNvCxnSpPr>
          <p:nvPr/>
        </p:nvCxnSpPr>
        <p:spPr>
          <a:xfrm>
            <a:off x="3240000" y="1219200"/>
            <a:ext cx="2057400" cy="0"/>
          </a:xfrm>
          <a:prstGeom prst="line">
            <a:avLst/>
          </a:prstGeom>
          <a:ln w="76200">
            <a:solidFill>
              <a:srgbClr val="EE85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51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5036D2C-9343-4644-9ADF-747686882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[ B1 ]</a:t>
            </a:r>
          </a:p>
          <a:p>
            <a:r>
              <a:rPr lang="en-US" altLang="zh-CN"/>
              <a:t>……</a:t>
            </a:r>
          </a:p>
          <a:p>
            <a:r>
              <a:rPr lang="fr-FR" altLang="zh-CN"/>
              <a:t>x = 1</a:t>
            </a:r>
          </a:p>
          <a:p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8FCEE53-AADE-4CD4-898B-3E1402CA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步：删除死代码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003B68-0F3F-4D99-9A52-C1641BA831F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fr-FR" altLang="zh-CN" dirty="0"/>
          </a:p>
          <a:p>
            <a:r>
              <a:rPr lang="fr-FR" altLang="zh-CN" dirty="0"/>
              <a:t>t10 = x + y</a:t>
            </a:r>
          </a:p>
          <a:p>
            <a:r>
              <a:rPr lang="fr-FR" altLang="zh-CN" dirty="0"/>
              <a:t>y = t10</a:t>
            </a: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B394C906-DEF1-44B9-B4D7-D106B03E9A0D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fr-FR" altLang="zh-CN" dirty="0"/>
          </a:p>
          <a:p>
            <a:endParaRPr lang="en-US" altLang="zh-CN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FFB9DDB-A279-47E1-BBA4-DC8AB68B4401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endParaRPr lang="de-DE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1793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>
            <a:extLst>
              <a:ext uri="{FF2B5EF4-FFF2-40B4-BE49-F238E27FC236}">
                <a16:creationId xmlns:a16="http://schemas.microsoft.com/office/drawing/2014/main" id="{D91AB193-48EF-4983-BDA6-BF422E5BD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删除前：</a:t>
            </a: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B11483DD-CAAE-41D2-9557-328DE2FDD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步：删除死代码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5F2B1EE6-8EFF-4967-B018-E7C1CE59761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删除后：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94E0759-14D5-4834-82D7-382624C5B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1103779"/>
            <a:ext cx="2828926" cy="499222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F23433C-CFBA-42BB-8C28-916074C05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8164" y="1104442"/>
            <a:ext cx="1986836" cy="499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277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9C45577-F9FF-4FE4-960C-3B1D0BFFD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altLang="zh-CN" sz="2000" dirty="0">
                <a:solidFill>
                  <a:srgbClr val="EE853E"/>
                </a:solidFill>
              </a:rPr>
              <a:t>[ B5 ]</a:t>
            </a:r>
          </a:p>
          <a:p>
            <a:r>
              <a:rPr lang="de-DE" altLang="zh-CN" sz="2000" dirty="0"/>
              <a:t>label L12</a:t>
            </a:r>
          </a:p>
          <a:p>
            <a:r>
              <a:rPr lang="de-DE" altLang="zh-CN" sz="2000" dirty="0"/>
              <a:t>t12 = (x &gt; 0)</a:t>
            </a:r>
          </a:p>
          <a:p>
            <a:r>
              <a:rPr lang="de-DE" altLang="zh-CN" sz="2000" dirty="0"/>
              <a:t>ifz t12 goto L13</a:t>
            </a:r>
          </a:p>
          <a:p>
            <a:r>
              <a:rPr lang="en-US" altLang="zh-CN" sz="2000" dirty="0">
                <a:solidFill>
                  <a:srgbClr val="EE853E"/>
                </a:solidFill>
              </a:rPr>
              <a:t>[ </a:t>
            </a:r>
            <a:r>
              <a:rPr lang="en-US" altLang="zh-CN" sz="2000" dirty="0" err="1">
                <a:solidFill>
                  <a:srgbClr val="EE853E"/>
                </a:solidFill>
              </a:rPr>
              <a:t>B6</a:t>
            </a:r>
            <a:r>
              <a:rPr lang="en-US" altLang="zh-CN" sz="2000" dirty="0">
                <a:solidFill>
                  <a:srgbClr val="EE853E"/>
                </a:solidFill>
              </a:rPr>
              <a:t> ]</a:t>
            </a:r>
          </a:p>
          <a:p>
            <a:r>
              <a:rPr lang="en-US" altLang="zh-CN" sz="2000" dirty="0" err="1"/>
              <a:t>t13</a:t>
            </a:r>
            <a:r>
              <a:rPr lang="en-US" altLang="zh-CN" sz="2000" dirty="0"/>
              <a:t> = a * b</a:t>
            </a:r>
          </a:p>
          <a:p>
            <a:r>
              <a:rPr lang="en-US" altLang="zh-CN" sz="2000" dirty="0" err="1"/>
              <a:t>t14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t13</a:t>
            </a:r>
            <a:r>
              <a:rPr lang="en-US" altLang="zh-CN" sz="2000" dirty="0"/>
              <a:t> + c</a:t>
            </a:r>
          </a:p>
          <a:p>
            <a:r>
              <a:rPr lang="en-US" altLang="zh-CN" sz="2000" dirty="0" err="1"/>
              <a:t>i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t14</a:t>
            </a:r>
            <a:endParaRPr lang="en-US" altLang="zh-CN" sz="2000" dirty="0"/>
          </a:p>
          <a:p>
            <a:endParaRPr lang="en-US" altLang="zh-CN" sz="2000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2BAB2BC-0445-4A30-BE0A-31EDED7ED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步：代码外提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9559FF2A-EB31-475D-94D7-337B1EA2A29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CN" sz="2000" dirty="0" err="1"/>
              <a:t>t15</a:t>
            </a:r>
            <a:r>
              <a:rPr lang="en-US" altLang="zh-CN" sz="2000" dirty="0"/>
              <a:t> = a * x</a:t>
            </a:r>
          </a:p>
          <a:p>
            <a:r>
              <a:rPr lang="en-US" altLang="zh-CN" sz="2000" dirty="0" err="1"/>
              <a:t>t16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t15</a:t>
            </a:r>
            <a:r>
              <a:rPr lang="en-US" altLang="zh-CN" sz="2000" dirty="0"/>
              <a:t> + c</a:t>
            </a:r>
          </a:p>
          <a:p>
            <a:r>
              <a:rPr lang="en-US" altLang="zh-CN" sz="2000" dirty="0"/>
              <a:t>j = </a:t>
            </a:r>
            <a:r>
              <a:rPr lang="en-US" altLang="zh-CN" sz="2000" dirty="0" err="1"/>
              <a:t>t16</a:t>
            </a:r>
            <a:endParaRPr lang="en-US" altLang="zh-CN" sz="2000" dirty="0">
              <a:solidFill>
                <a:srgbClr val="EE853E"/>
              </a:solidFill>
            </a:endParaRPr>
          </a:p>
          <a:p>
            <a:r>
              <a:rPr lang="en-US" altLang="zh-CN" sz="2000" dirty="0" err="1"/>
              <a:t>t17</a:t>
            </a:r>
            <a:r>
              <a:rPr lang="en-US" altLang="zh-CN" sz="2000" dirty="0"/>
              <a:t> = x - 1</a:t>
            </a:r>
          </a:p>
          <a:p>
            <a:r>
              <a:rPr lang="en-US" altLang="zh-CN" sz="2000" dirty="0"/>
              <a:t>x = </a:t>
            </a:r>
            <a:r>
              <a:rPr lang="en-US" altLang="zh-CN" sz="2000" dirty="0" err="1"/>
              <a:t>t17</a:t>
            </a:r>
            <a:endParaRPr lang="en-US" altLang="zh-CN" sz="2000" dirty="0"/>
          </a:p>
          <a:p>
            <a:r>
              <a:rPr lang="en-US" altLang="zh-CN" sz="2000" dirty="0" err="1"/>
              <a:t>goto</a:t>
            </a:r>
            <a:r>
              <a:rPr lang="en-US" altLang="zh-CN" sz="2000" dirty="0"/>
              <a:t> </a:t>
            </a:r>
            <a:r>
              <a:rPr lang="en-US" altLang="zh-CN" sz="2000" dirty="0" err="1"/>
              <a:t>L12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EE853E"/>
                </a:solidFill>
              </a:rPr>
              <a:t>[ </a:t>
            </a:r>
            <a:r>
              <a:rPr lang="en-US" altLang="zh-CN" sz="2000" dirty="0" err="1">
                <a:solidFill>
                  <a:srgbClr val="EE853E"/>
                </a:solidFill>
              </a:rPr>
              <a:t>B7</a:t>
            </a:r>
            <a:r>
              <a:rPr lang="en-US" altLang="zh-CN" sz="2000" dirty="0">
                <a:solidFill>
                  <a:srgbClr val="EE853E"/>
                </a:solidFill>
              </a:rPr>
              <a:t> ]</a:t>
            </a:r>
          </a:p>
          <a:p>
            <a:r>
              <a:rPr lang="en-US" altLang="zh-CN" sz="2000" dirty="0"/>
              <a:t>label </a:t>
            </a:r>
            <a:r>
              <a:rPr lang="en-US" altLang="zh-CN" sz="2000" dirty="0" err="1"/>
              <a:t>L13</a:t>
            </a:r>
            <a:endParaRPr lang="en-US" altLang="zh-CN" sz="2000" dirty="0"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44E59F6D-351E-4DCE-8B03-E9FA1A3C9E17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zh-CN" altLang="en-US" sz="2000" dirty="0"/>
              <a:t>循环不变运算：</a:t>
            </a:r>
            <a:endParaRPr lang="en-US" altLang="zh-CN" sz="2000" dirty="0"/>
          </a:p>
          <a:p>
            <a:r>
              <a:rPr lang="fr-FR" altLang="zh-CN" sz="2000" dirty="0"/>
              <a:t>t13 = a * b</a:t>
            </a:r>
          </a:p>
          <a:p>
            <a:r>
              <a:rPr lang="fr-FR" altLang="zh-CN" sz="2000" dirty="0"/>
              <a:t>t14 = t13 + c</a:t>
            </a:r>
          </a:p>
          <a:p>
            <a:r>
              <a:rPr lang="fr-FR" altLang="zh-CN" sz="2000" dirty="0"/>
              <a:t>i = t14</a:t>
            </a:r>
          </a:p>
          <a:p>
            <a:endParaRPr lang="en-US" altLang="zh-CN" sz="2000" dirty="0"/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521522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9C45577-F9FF-4FE4-960C-3B1D0BFFD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>
                <a:solidFill>
                  <a:srgbClr val="EE853E"/>
                </a:solidFill>
              </a:rPr>
              <a:t>[ </a:t>
            </a:r>
            <a:r>
              <a:rPr lang="en-US" altLang="zh-CN" sz="2000" dirty="0" err="1">
                <a:solidFill>
                  <a:srgbClr val="EE853E"/>
                </a:solidFill>
              </a:rPr>
              <a:t>B6</a:t>
            </a:r>
            <a:r>
              <a:rPr lang="en-US" altLang="zh-CN" sz="2000" dirty="0">
                <a:solidFill>
                  <a:srgbClr val="EE853E"/>
                </a:solidFill>
              </a:rPr>
              <a:t>' ]</a:t>
            </a:r>
          </a:p>
          <a:p>
            <a:r>
              <a:rPr lang="fr-FR" altLang="zh-CN" sz="2000" dirty="0"/>
              <a:t>t13 = a * b</a:t>
            </a:r>
          </a:p>
          <a:p>
            <a:r>
              <a:rPr lang="fr-FR" altLang="zh-CN" sz="2000" dirty="0"/>
              <a:t>t14 = t13 + c</a:t>
            </a:r>
          </a:p>
          <a:p>
            <a:r>
              <a:rPr lang="fr-FR" altLang="zh-CN" sz="2000" dirty="0"/>
              <a:t>i = t14</a:t>
            </a:r>
          </a:p>
          <a:p>
            <a:endParaRPr lang="de-DE" altLang="zh-CN" sz="2000" dirty="0">
              <a:solidFill>
                <a:srgbClr val="EE853E"/>
              </a:solidFill>
            </a:endParaRPr>
          </a:p>
          <a:p>
            <a:r>
              <a:rPr lang="de-DE" altLang="zh-CN" sz="2000" dirty="0">
                <a:solidFill>
                  <a:srgbClr val="EE853E"/>
                </a:solidFill>
              </a:rPr>
              <a:t>[ B5 ]</a:t>
            </a:r>
          </a:p>
          <a:p>
            <a:r>
              <a:rPr lang="de-DE" altLang="zh-CN" sz="2000" dirty="0"/>
              <a:t>label L12</a:t>
            </a:r>
          </a:p>
          <a:p>
            <a:r>
              <a:rPr lang="de-DE" altLang="zh-CN" sz="2000" dirty="0"/>
              <a:t>t12 = (x &gt; 0)</a:t>
            </a:r>
          </a:p>
          <a:p>
            <a:r>
              <a:rPr lang="de-DE" altLang="zh-CN" sz="2000" dirty="0"/>
              <a:t>ifz t12 goto L13</a:t>
            </a:r>
          </a:p>
          <a:p>
            <a:endParaRPr lang="en-US" altLang="zh-CN" sz="2000" dirty="0">
              <a:solidFill>
                <a:srgbClr val="EE853E"/>
              </a:solidFill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2BAB2BC-0445-4A30-BE0A-31EDED7ED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步：代码外提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9559FF2A-EB31-475D-94D7-337B1EA2A29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CN" sz="2000" dirty="0">
                <a:solidFill>
                  <a:srgbClr val="EE853E"/>
                </a:solidFill>
              </a:rPr>
              <a:t>[ </a:t>
            </a:r>
            <a:r>
              <a:rPr lang="en-US" altLang="zh-CN" sz="2000" dirty="0" err="1">
                <a:solidFill>
                  <a:srgbClr val="EE853E"/>
                </a:solidFill>
              </a:rPr>
              <a:t>B6</a:t>
            </a:r>
            <a:r>
              <a:rPr lang="en-US" altLang="zh-CN" sz="2000" dirty="0">
                <a:solidFill>
                  <a:srgbClr val="EE853E"/>
                </a:solidFill>
              </a:rPr>
              <a:t> ]</a:t>
            </a:r>
          </a:p>
          <a:p>
            <a:r>
              <a:rPr lang="fr-FR" altLang="zh-CN" sz="2000" dirty="0"/>
              <a:t>t15 = a * x</a:t>
            </a:r>
          </a:p>
          <a:p>
            <a:r>
              <a:rPr lang="fr-FR" altLang="zh-CN" sz="2000" dirty="0"/>
              <a:t>t16 = t15 + c</a:t>
            </a:r>
          </a:p>
          <a:p>
            <a:r>
              <a:rPr lang="fr-FR" altLang="zh-CN" sz="2000" dirty="0"/>
              <a:t>j = t16</a:t>
            </a:r>
          </a:p>
          <a:p>
            <a:r>
              <a:rPr lang="fr-FR" altLang="zh-CN" sz="2000" dirty="0"/>
              <a:t>t17 = x - 1</a:t>
            </a:r>
          </a:p>
          <a:p>
            <a:r>
              <a:rPr lang="fr-FR" altLang="zh-CN" sz="2000" dirty="0"/>
              <a:t>x = t17</a:t>
            </a:r>
          </a:p>
          <a:p>
            <a:r>
              <a:rPr lang="fr-FR" altLang="zh-CN" sz="2000" dirty="0"/>
              <a:t>goto L12</a:t>
            </a:r>
          </a:p>
          <a:p>
            <a:r>
              <a:rPr lang="en-US" altLang="zh-CN" sz="2000" dirty="0">
                <a:solidFill>
                  <a:srgbClr val="EE853E"/>
                </a:solidFill>
              </a:rPr>
              <a:t>[ </a:t>
            </a:r>
            <a:r>
              <a:rPr lang="en-US" altLang="zh-CN" sz="2000" dirty="0" err="1">
                <a:solidFill>
                  <a:srgbClr val="EE853E"/>
                </a:solidFill>
              </a:rPr>
              <a:t>B7</a:t>
            </a:r>
            <a:r>
              <a:rPr lang="en-US" altLang="zh-CN" sz="2000" dirty="0">
                <a:solidFill>
                  <a:srgbClr val="EE853E"/>
                </a:solidFill>
              </a:rPr>
              <a:t> ]</a:t>
            </a:r>
          </a:p>
          <a:p>
            <a:r>
              <a:rPr lang="en-US" altLang="zh-CN" sz="2000" dirty="0"/>
              <a:t>label </a:t>
            </a:r>
            <a:r>
              <a:rPr lang="en-US" altLang="zh-CN" sz="2000" dirty="0" err="1"/>
              <a:t>L13</a:t>
            </a:r>
            <a:endParaRPr lang="en-US" altLang="zh-CN" sz="2000" dirty="0"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44E59F6D-351E-4DCE-8B03-E9FA1A3C9E17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zh-CN" altLang="en-US" sz="2000" dirty="0"/>
              <a:t>循环不变运算：</a:t>
            </a:r>
            <a:endParaRPr lang="en-US" altLang="zh-CN" sz="2000" dirty="0"/>
          </a:p>
          <a:p>
            <a:r>
              <a:rPr lang="fr-FR" altLang="zh-CN" sz="2000" dirty="0"/>
              <a:t>t13 = a * b</a:t>
            </a:r>
          </a:p>
          <a:p>
            <a:r>
              <a:rPr lang="fr-FR" altLang="zh-CN" sz="2000" dirty="0"/>
              <a:t>t14 = t13 + c</a:t>
            </a:r>
          </a:p>
          <a:p>
            <a:r>
              <a:rPr lang="fr-FR" altLang="zh-CN" sz="2000" dirty="0"/>
              <a:t>i = t14</a:t>
            </a:r>
          </a:p>
          <a:p>
            <a:endParaRPr lang="en-US" altLang="zh-CN" sz="2000" dirty="0"/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17335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>
            <a:extLst>
              <a:ext uri="{FF2B5EF4-FFF2-40B4-BE49-F238E27FC236}">
                <a16:creationId xmlns:a16="http://schemas.microsoft.com/office/drawing/2014/main" id="{D91AB193-48EF-4983-BDA6-BF422E5BD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外提前：</a:t>
            </a: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B11483DD-CAAE-41D2-9557-328DE2FDD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步：代码外提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5F2B1EE6-8EFF-4967-B018-E7C1CE59761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外提后：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1A78BE5-8CBB-4FC5-A1E0-A4CDB83E9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143000"/>
            <a:ext cx="1967860" cy="494388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23E15E8-4B2E-4464-B14E-7D7EBF7A6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200" y="1143000"/>
            <a:ext cx="1967860" cy="494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48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9C45577-F9FF-4FE4-960C-3B1D0BFFD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>
                <a:solidFill>
                  <a:srgbClr val="EE853E"/>
                </a:solidFill>
              </a:rPr>
              <a:t>[ </a:t>
            </a:r>
            <a:r>
              <a:rPr lang="en-US" altLang="zh-CN" sz="2000" dirty="0" err="1">
                <a:solidFill>
                  <a:srgbClr val="EE853E"/>
                </a:solidFill>
              </a:rPr>
              <a:t>B6</a:t>
            </a:r>
            <a:r>
              <a:rPr lang="en-US" altLang="zh-CN" sz="2000" dirty="0">
                <a:solidFill>
                  <a:srgbClr val="EE853E"/>
                </a:solidFill>
              </a:rPr>
              <a:t>' ]</a:t>
            </a:r>
          </a:p>
          <a:p>
            <a:r>
              <a:rPr lang="fr-FR" altLang="zh-CN" sz="2000" dirty="0"/>
              <a:t>t13 = a * b</a:t>
            </a:r>
          </a:p>
          <a:p>
            <a:r>
              <a:rPr lang="fr-FR" altLang="zh-CN" sz="2000" dirty="0"/>
              <a:t>t14 = t13 + c</a:t>
            </a:r>
          </a:p>
          <a:p>
            <a:r>
              <a:rPr lang="fr-FR" altLang="zh-CN" sz="2000" dirty="0"/>
              <a:t>i = t14</a:t>
            </a:r>
          </a:p>
          <a:p>
            <a:endParaRPr lang="de-DE" altLang="zh-CN" sz="2000" dirty="0">
              <a:solidFill>
                <a:srgbClr val="EE853E"/>
              </a:solidFill>
            </a:endParaRPr>
          </a:p>
          <a:p>
            <a:r>
              <a:rPr lang="de-DE" altLang="zh-CN" sz="2000" dirty="0">
                <a:solidFill>
                  <a:srgbClr val="EE853E"/>
                </a:solidFill>
              </a:rPr>
              <a:t>[ B5 ]</a:t>
            </a:r>
          </a:p>
          <a:p>
            <a:r>
              <a:rPr lang="de-DE" altLang="zh-CN" sz="2000" dirty="0"/>
              <a:t>label L12</a:t>
            </a:r>
          </a:p>
          <a:p>
            <a:r>
              <a:rPr lang="de-DE" altLang="zh-CN" sz="2000" dirty="0"/>
              <a:t>t12 = (x &gt; 0)</a:t>
            </a:r>
          </a:p>
          <a:p>
            <a:r>
              <a:rPr lang="de-DE" altLang="zh-CN" sz="2000" dirty="0"/>
              <a:t>ifz t12 goto L13</a:t>
            </a:r>
          </a:p>
          <a:p>
            <a:endParaRPr lang="en-US" altLang="zh-CN" sz="2000" dirty="0">
              <a:solidFill>
                <a:srgbClr val="EE853E"/>
              </a:solidFill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2BAB2BC-0445-4A30-BE0A-31EDED7ED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步：强度削弱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9559FF2A-EB31-475D-94D7-337B1EA2A29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CN" sz="2000" dirty="0">
                <a:solidFill>
                  <a:srgbClr val="EE853E"/>
                </a:solidFill>
              </a:rPr>
              <a:t>[ </a:t>
            </a:r>
            <a:r>
              <a:rPr lang="en-US" altLang="zh-CN" sz="2000" dirty="0" err="1">
                <a:solidFill>
                  <a:srgbClr val="EE853E"/>
                </a:solidFill>
              </a:rPr>
              <a:t>B6</a:t>
            </a:r>
            <a:r>
              <a:rPr lang="en-US" altLang="zh-CN" sz="2000" dirty="0">
                <a:solidFill>
                  <a:srgbClr val="EE853E"/>
                </a:solidFill>
              </a:rPr>
              <a:t> ]</a:t>
            </a:r>
          </a:p>
          <a:p>
            <a:r>
              <a:rPr lang="fr-FR" altLang="zh-CN" sz="2000" dirty="0"/>
              <a:t>t15 = a * x</a:t>
            </a:r>
          </a:p>
          <a:p>
            <a:r>
              <a:rPr lang="fr-FR" altLang="zh-CN" sz="2000" dirty="0"/>
              <a:t>t16 = t15 + c</a:t>
            </a:r>
          </a:p>
          <a:p>
            <a:r>
              <a:rPr lang="fr-FR" altLang="zh-CN" sz="2000" dirty="0"/>
              <a:t>j = t16</a:t>
            </a:r>
          </a:p>
          <a:p>
            <a:r>
              <a:rPr lang="fr-FR" altLang="zh-CN" sz="2000" dirty="0"/>
              <a:t>t17 = x - 1</a:t>
            </a:r>
          </a:p>
          <a:p>
            <a:r>
              <a:rPr lang="fr-FR" altLang="zh-CN" sz="2000" dirty="0"/>
              <a:t>x = t17</a:t>
            </a:r>
          </a:p>
          <a:p>
            <a:r>
              <a:rPr lang="fr-FR" altLang="zh-CN" sz="2000" dirty="0"/>
              <a:t>goto L12</a:t>
            </a:r>
          </a:p>
          <a:p>
            <a:r>
              <a:rPr lang="en-US" altLang="zh-CN" sz="2000" dirty="0">
                <a:solidFill>
                  <a:srgbClr val="EE853E"/>
                </a:solidFill>
              </a:rPr>
              <a:t>[ </a:t>
            </a:r>
            <a:r>
              <a:rPr lang="en-US" altLang="zh-CN" sz="2000" dirty="0" err="1">
                <a:solidFill>
                  <a:srgbClr val="EE853E"/>
                </a:solidFill>
              </a:rPr>
              <a:t>B7</a:t>
            </a:r>
            <a:r>
              <a:rPr lang="en-US" altLang="zh-CN" sz="2000" dirty="0">
                <a:solidFill>
                  <a:srgbClr val="EE853E"/>
                </a:solidFill>
              </a:rPr>
              <a:t> ]</a:t>
            </a:r>
          </a:p>
          <a:p>
            <a:r>
              <a:rPr lang="en-US" altLang="zh-CN" sz="2000" dirty="0"/>
              <a:t>label </a:t>
            </a:r>
            <a:r>
              <a:rPr lang="en-US" altLang="zh-CN" sz="2000" dirty="0" err="1"/>
              <a:t>L13</a:t>
            </a:r>
            <a:endParaRPr lang="en-US" altLang="zh-CN" sz="2000" dirty="0"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44E59F6D-351E-4DCE-8B03-E9FA1A3C9E17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zh-CN" altLang="en-US" sz="2000" dirty="0"/>
              <a:t>基本归纳变量：</a:t>
            </a:r>
            <a:endParaRPr lang="en-US" altLang="zh-CN" sz="2000" dirty="0"/>
          </a:p>
          <a:p>
            <a:r>
              <a:rPr lang="en-US" altLang="zh-CN" sz="2000" dirty="0"/>
              <a:t>x</a:t>
            </a:r>
          </a:p>
          <a:p>
            <a:endParaRPr lang="en-US" altLang="zh-CN" sz="2000" dirty="0"/>
          </a:p>
          <a:p>
            <a:r>
              <a:rPr lang="zh-CN" altLang="en-US" sz="2000" dirty="0"/>
              <a:t>同族归纳变量：</a:t>
            </a:r>
            <a:endParaRPr lang="en-US" altLang="zh-CN" sz="2000" dirty="0"/>
          </a:p>
          <a:p>
            <a:r>
              <a:rPr lang="en-US" altLang="zh-CN" sz="2000" dirty="0" err="1"/>
              <a:t>t15</a:t>
            </a:r>
            <a:endParaRPr lang="en-US" altLang="zh-CN" sz="2000" dirty="0"/>
          </a:p>
          <a:p>
            <a:r>
              <a:rPr lang="en-US" altLang="zh-CN" sz="2000" dirty="0" err="1"/>
              <a:t>t16</a:t>
            </a:r>
            <a:endParaRPr lang="en-US" altLang="zh-CN" sz="2000" dirty="0"/>
          </a:p>
          <a:p>
            <a:r>
              <a:rPr lang="en-US" altLang="zh-CN" sz="2000" dirty="0"/>
              <a:t>j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3855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9C45577-F9FF-4FE4-960C-3B1D0BFFD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>
                <a:solidFill>
                  <a:srgbClr val="EE853E"/>
                </a:solidFill>
              </a:rPr>
              <a:t>[ </a:t>
            </a:r>
            <a:r>
              <a:rPr lang="en-US" altLang="zh-CN" sz="2000" dirty="0" err="1">
                <a:solidFill>
                  <a:srgbClr val="EE853E"/>
                </a:solidFill>
              </a:rPr>
              <a:t>B6</a:t>
            </a:r>
            <a:r>
              <a:rPr lang="en-US" altLang="zh-CN" sz="2000" dirty="0">
                <a:solidFill>
                  <a:srgbClr val="EE853E"/>
                </a:solidFill>
              </a:rPr>
              <a:t>' ]</a:t>
            </a:r>
          </a:p>
          <a:p>
            <a:r>
              <a:rPr lang="fr-FR" altLang="zh-CN" sz="2000" dirty="0"/>
              <a:t>t13 = a * b</a:t>
            </a:r>
          </a:p>
          <a:p>
            <a:r>
              <a:rPr lang="fr-FR" altLang="zh-CN" sz="2000" dirty="0"/>
              <a:t>t14 = t13 + c</a:t>
            </a:r>
          </a:p>
          <a:p>
            <a:r>
              <a:rPr lang="fr-FR" altLang="zh-CN" sz="2000" dirty="0"/>
              <a:t>i = t14</a:t>
            </a:r>
          </a:p>
          <a:p>
            <a:r>
              <a:rPr lang="fr-FR" altLang="zh-CN" sz="2000" dirty="0"/>
              <a:t>t15 = a * x</a:t>
            </a:r>
          </a:p>
          <a:p>
            <a:r>
              <a:rPr lang="fr-FR" altLang="zh-CN" sz="2000" dirty="0"/>
              <a:t>t16 = t15 + c</a:t>
            </a:r>
          </a:p>
          <a:p>
            <a:r>
              <a:rPr lang="fr-FR" altLang="zh-CN" sz="2000" dirty="0"/>
              <a:t>j = t16</a:t>
            </a:r>
          </a:p>
          <a:p>
            <a:r>
              <a:rPr lang="de-DE" altLang="zh-CN" sz="2000" dirty="0">
                <a:solidFill>
                  <a:srgbClr val="EE853E"/>
                </a:solidFill>
              </a:rPr>
              <a:t>[ B5 ]</a:t>
            </a:r>
          </a:p>
          <a:p>
            <a:r>
              <a:rPr lang="de-DE" altLang="zh-CN" sz="2000" dirty="0"/>
              <a:t>label L12</a:t>
            </a:r>
          </a:p>
          <a:p>
            <a:r>
              <a:rPr lang="de-DE" altLang="zh-CN" sz="2000" dirty="0"/>
              <a:t>t12 = (x &gt; 0)</a:t>
            </a:r>
          </a:p>
          <a:p>
            <a:r>
              <a:rPr lang="de-DE" altLang="zh-CN" sz="2000" dirty="0"/>
              <a:t>ifz t12 goto L13</a:t>
            </a:r>
          </a:p>
          <a:p>
            <a:endParaRPr lang="en-US" altLang="zh-CN" sz="2000" dirty="0">
              <a:solidFill>
                <a:srgbClr val="EE853E"/>
              </a:solidFill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2BAB2BC-0445-4A30-BE0A-31EDED7ED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步：强度削弱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9559FF2A-EB31-475D-94D7-337B1EA2A29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CN" sz="2000" dirty="0">
                <a:solidFill>
                  <a:srgbClr val="EE853E"/>
                </a:solidFill>
              </a:rPr>
              <a:t>[ </a:t>
            </a:r>
            <a:r>
              <a:rPr lang="en-US" altLang="zh-CN" sz="2000" dirty="0" err="1">
                <a:solidFill>
                  <a:srgbClr val="EE853E"/>
                </a:solidFill>
              </a:rPr>
              <a:t>B6</a:t>
            </a:r>
            <a:r>
              <a:rPr lang="en-US" altLang="zh-CN" sz="2000" dirty="0">
                <a:solidFill>
                  <a:srgbClr val="EE853E"/>
                </a:solidFill>
              </a:rPr>
              <a:t> ]</a:t>
            </a:r>
          </a:p>
          <a:p>
            <a:r>
              <a:rPr lang="fr-FR" altLang="zh-CN" sz="2000" dirty="0"/>
              <a:t>t15 = t15 - a</a:t>
            </a:r>
          </a:p>
          <a:p>
            <a:r>
              <a:rPr lang="fr-FR" altLang="zh-CN" sz="2000" dirty="0"/>
              <a:t>t16 = t16 - a</a:t>
            </a:r>
          </a:p>
          <a:p>
            <a:r>
              <a:rPr lang="fr-FR" altLang="zh-CN" sz="2000" dirty="0"/>
              <a:t>j = j - a</a:t>
            </a:r>
          </a:p>
          <a:p>
            <a:r>
              <a:rPr lang="fr-FR" altLang="zh-CN" sz="2000" dirty="0"/>
              <a:t>t17 = x - 1</a:t>
            </a:r>
          </a:p>
          <a:p>
            <a:r>
              <a:rPr lang="fr-FR" altLang="zh-CN" sz="2000" dirty="0"/>
              <a:t>x = t17</a:t>
            </a:r>
          </a:p>
          <a:p>
            <a:r>
              <a:rPr lang="fr-FR" altLang="zh-CN" sz="2000" dirty="0"/>
              <a:t>goto L12</a:t>
            </a:r>
            <a:endParaRPr lang="zh-CN" altLang="en-US" sz="2000" dirty="0"/>
          </a:p>
          <a:p>
            <a:r>
              <a:rPr lang="en-US" altLang="zh-CN" sz="2000" dirty="0">
                <a:solidFill>
                  <a:srgbClr val="EE853E"/>
                </a:solidFill>
              </a:rPr>
              <a:t>[ </a:t>
            </a:r>
            <a:r>
              <a:rPr lang="en-US" altLang="zh-CN" sz="2000" dirty="0" err="1">
                <a:solidFill>
                  <a:srgbClr val="EE853E"/>
                </a:solidFill>
              </a:rPr>
              <a:t>B7</a:t>
            </a:r>
            <a:r>
              <a:rPr lang="en-US" altLang="zh-CN" sz="2000" dirty="0">
                <a:solidFill>
                  <a:srgbClr val="EE853E"/>
                </a:solidFill>
              </a:rPr>
              <a:t> ]</a:t>
            </a:r>
          </a:p>
          <a:p>
            <a:r>
              <a:rPr lang="en-US" altLang="zh-CN" sz="2000" dirty="0"/>
              <a:t>label </a:t>
            </a:r>
            <a:r>
              <a:rPr lang="en-US" altLang="zh-CN" sz="2000" dirty="0" err="1"/>
              <a:t>L13</a:t>
            </a:r>
            <a:endParaRPr lang="en-US" altLang="zh-CN" sz="2000" dirty="0"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44E59F6D-351E-4DCE-8B03-E9FA1A3C9E17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zh-CN" altLang="en-US" sz="2000" dirty="0"/>
              <a:t>基本归纳变量：</a:t>
            </a:r>
            <a:endParaRPr lang="en-US" altLang="zh-CN" sz="2000" dirty="0"/>
          </a:p>
          <a:p>
            <a:r>
              <a:rPr lang="en-US" altLang="zh-CN" sz="2000" dirty="0"/>
              <a:t>x</a:t>
            </a:r>
          </a:p>
          <a:p>
            <a:endParaRPr lang="en-US" altLang="zh-CN" sz="2000" dirty="0"/>
          </a:p>
          <a:p>
            <a:r>
              <a:rPr lang="zh-CN" altLang="en-US" sz="2000" dirty="0"/>
              <a:t>同族归纳变量：</a:t>
            </a:r>
            <a:endParaRPr lang="en-US" altLang="zh-CN" sz="2000" dirty="0"/>
          </a:p>
          <a:p>
            <a:r>
              <a:rPr lang="en-US" altLang="zh-CN" sz="2000" dirty="0" err="1"/>
              <a:t>t15</a:t>
            </a:r>
            <a:endParaRPr lang="en-US" altLang="zh-CN" sz="2000" dirty="0"/>
          </a:p>
          <a:p>
            <a:r>
              <a:rPr lang="en-US" altLang="zh-CN" sz="2000" dirty="0" err="1"/>
              <a:t>t16</a:t>
            </a:r>
            <a:endParaRPr lang="en-US" altLang="zh-CN" sz="2000" dirty="0"/>
          </a:p>
          <a:p>
            <a:r>
              <a:rPr lang="en-US" altLang="zh-CN" sz="2000" dirty="0"/>
              <a:t>j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22266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9C45577-F9FF-4FE4-960C-3B1D0BFFD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>
                <a:solidFill>
                  <a:srgbClr val="EE853E"/>
                </a:solidFill>
              </a:rPr>
              <a:t>[ </a:t>
            </a:r>
            <a:r>
              <a:rPr lang="en-US" altLang="zh-CN" sz="2000" dirty="0" err="1">
                <a:solidFill>
                  <a:srgbClr val="EE853E"/>
                </a:solidFill>
              </a:rPr>
              <a:t>B6</a:t>
            </a:r>
            <a:r>
              <a:rPr lang="en-US" altLang="zh-CN" sz="2000" dirty="0">
                <a:solidFill>
                  <a:srgbClr val="EE853E"/>
                </a:solidFill>
              </a:rPr>
              <a:t>' ]</a:t>
            </a:r>
          </a:p>
          <a:p>
            <a:r>
              <a:rPr lang="fr-FR" altLang="zh-CN" sz="2000" dirty="0"/>
              <a:t>t13 = a * b</a:t>
            </a:r>
          </a:p>
          <a:p>
            <a:r>
              <a:rPr lang="fr-FR" altLang="zh-CN" sz="2000" dirty="0"/>
              <a:t>t14 = t13 + c</a:t>
            </a:r>
          </a:p>
          <a:p>
            <a:r>
              <a:rPr lang="fr-FR" altLang="zh-CN" sz="2000" dirty="0"/>
              <a:t>i = t14</a:t>
            </a:r>
          </a:p>
          <a:p>
            <a:r>
              <a:rPr lang="fr-FR" altLang="zh-CN" sz="2000" dirty="0"/>
              <a:t>t15 = a * x</a:t>
            </a:r>
          </a:p>
          <a:p>
            <a:r>
              <a:rPr lang="fr-FR" altLang="zh-CN" sz="2000" dirty="0"/>
              <a:t>t16 = t15 + c</a:t>
            </a:r>
          </a:p>
          <a:p>
            <a:r>
              <a:rPr lang="fr-FR" altLang="zh-CN" sz="2000" dirty="0"/>
              <a:t>j = t16</a:t>
            </a:r>
          </a:p>
          <a:p>
            <a:r>
              <a:rPr lang="de-DE" altLang="zh-CN" sz="2000" dirty="0">
                <a:solidFill>
                  <a:srgbClr val="EE853E"/>
                </a:solidFill>
              </a:rPr>
              <a:t>[ B5 ]</a:t>
            </a:r>
          </a:p>
          <a:p>
            <a:r>
              <a:rPr lang="de-DE" altLang="zh-CN" sz="2000" dirty="0"/>
              <a:t>label L12</a:t>
            </a:r>
          </a:p>
          <a:p>
            <a:r>
              <a:rPr lang="de-DE" altLang="zh-CN" sz="2000" dirty="0"/>
              <a:t>t12 = (x &gt; 0)</a:t>
            </a:r>
          </a:p>
          <a:p>
            <a:r>
              <a:rPr lang="de-DE" altLang="zh-CN" sz="2000" dirty="0"/>
              <a:t>ifz t12 goto L13</a:t>
            </a:r>
          </a:p>
          <a:p>
            <a:endParaRPr lang="en-US" altLang="zh-CN" sz="2000" dirty="0">
              <a:solidFill>
                <a:srgbClr val="EE853E"/>
              </a:solidFill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2BAB2BC-0445-4A30-BE0A-31EDED7ED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步：强度削弱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9559FF2A-EB31-475D-94D7-337B1EA2A29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CN" sz="2000" dirty="0">
                <a:solidFill>
                  <a:srgbClr val="EE853E"/>
                </a:solidFill>
              </a:rPr>
              <a:t>[ </a:t>
            </a:r>
            <a:r>
              <a:rPr lang="en-US" altLang="zh-CN" sz="2000" dirty="0" err="1">
                <a:solidFill>
                  <a:srgbClr val="EE853E"/>
                </a:solidFill>
              </a:rPr>
              <a:t>B6</a:t>
            </a:r>
            <a:r>
              <a:rPr lang="en-US" altLang="zh-CN" sz="2000" dirty="0">
                <a:solidFill>
                  <a:srgbClr val="EE853E"/>
                </a:solidFill>
              </a:rPr>
              <a:t> ]</a:t>
            </a:r>
          </a:p>
          <a:p>
            <a:r>
              <a:rPr lang="fr-FR" altLang="zh-CN" sz="2000" dirty="0"/>
              <a:t>j = j - a</a:t>
            </a:r>
          </a:p>
          <a:p>
            <a:r>
              <a:rPr lang="fr-FR" altLang="zh-CN" sz="2000" dirty="0"/>
              <a:t>t17 = x - 1</a:t>
            </a:r>
          </a:p>
          <a:p>
            <a:r>
              <a:rPr lang="fr-FR" altLang="zh-CN" sz="2000" dirty="0"/>
              <a:t>x = t17</a:t>
            </a:r>
          </a:p>
          <a:p>
            <a:r>
              <a:rPr lang="fr-FR" altLang="zh-CN" sz="2000" dirty="0"/>
              <a:t>goto L12</a:t>
            </a:r>
            <a:endParaRPr lang="zh-CN" altLang="en-US" sz="2000" dirty="0"/>
          </a:p>
          <a:p>
            <a:r>
              <a:rPr lang="en-US" altLang="zh-CN" sz="2000" dirty="0">
                <a:solidFill>
                  <a:srgbClr val="EE853E"/>
                </a:solidFill>
              </a:rPr>
              <a:t>[ </a:t>
            </a:r>
            <a:r>
              <a:rPr lang="en-US" altLang="zh-CN" sz="2000" dirty="0" err="1">
                <a:solidFill>
                  <a:srgbClr val="EE853E"/>
                </a:solidFill>
              </a:rPr>
              <a:t>B7</a:t>
            </a:r>
            <a:r>
              <a:rPr lang="en-US" altLang="zh-CN" sz="2000" dirty="0">
                <a:solidFill>
                  <a:srgbClr val="EE853E"/>
                </a:solidFill>
              </a:rPr>
              <a:t> ]</a:t>
            </a:r>
          </a:p>
          <a:p>
            <a:r>
              <a:rPr lang="en-US" altLang="zh-CN" sz="2000" dirty="0"/>
              <a:t>label </a:t>
            </a:r>
            <a:r>
              <a:rPr lang="en-US" altLang="zh-CN" sz="2000" dirty="0" err="1"/>
              <a:t>L13</a:t>
            </a:r>
            <a:endParaRPr lang="en-US" altLang="zh-CN" sz="2000" dirty="0"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44E59F6D-351E-4DCE-8B03-E9FA1A3C9E17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zh-CN" altLang="en-US" sz="2000" dirty="0"/>
              <a:t>基本归纳变量：</a:t>
            </a:r>
            <a:endParaRPr lang="en-US" altLang="zh-CN" sz="2000" dirty="0"/>
          </a:p>
          <a:p>
            <a:r>
              <a:rPr lang="en-US" altLang="zh-CN" sz="2000" dirty="0"/>
              <a:t>x</a:t>
            </a:r>
          </a:p>
          <a:p>
            <a:endParaRPr lang="en-US" altLang="zh-CN" sz="2000" dirty="0"/>
          </a:p>
          <a:p>
            <a:r>
              <a:rPr lang="zh-CN" altLang="en-US" sz="2000" dirty="0"/>
              <a:t>同族归纳变量：</a:t>
            </a:r>
            <a:endParaRPr lang="en-US" altLang="zh-CN" sz="2000" dirty="0"/>
          </a:p>
          <a:p>
            <a:r>
              <a:rPr lang="en-US" altLang="zh-CN" sz="2000" dirty="0" err="1"/>
              <a:t>t15</a:t>
            </a:r>
            <a:endParaRPr lang="en-US" altLang="zh-CN" sz="2000" dirty="0"/>
          </a:p>
          <a:p>
            <a:r>
              <a:rPr lang="en-US" altLang="zh-CN" sz="2000" dirty="0" err="1"/>
              <a:t>t16</a:t>
            </a:r>
            <a:endParaRPr lang="en-US" altLang="zh-CN" sz="2000" dirty="0"/>
          </a:p>
          <a:p>
            <a:r>
              <a:rPr lang="en-US" altLang="zh-CN" sz="2000" dirty="0"/>
              <a:t>j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851979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9C45577-F9FF-4FE4-960C-3B1D0BFFD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>
                <a:solidFill>
                  <a:srgbClr val="EE853E"/>
                </a:solidFill>
              </a:rPr>
              <a:t>[ </a:t>
            </a:r>
            <a:r>
              <a:rPr lang="en-US" altLang="zh-CN" sz="2000" dirty="0" err="1">
                <a:solidFill>
                  <a:srgbClr val="EE853E"/>
                </a:solidFill>
              </a:rPr>
              <a:t>B6</a:t>
            </a:r>
            <a:r>
              <a:rPr lang="en-US" altLang="zh-CN" sz="2000" dirty="0">
                <a:solidFill>
                  <a:srgbClr val="EE853E"/>
                </a:solidFill>
              </a:rPr>
              <a:t>' ]</a:t>
            </a:r>
          </a:p>
          <a:p>
            <a:r>
              <a:rPr lang="fr-FR" altLang="zh-CN" sz="2000" dirty="0"/>
              <a:t>t13 = a * b</a:t>
            </a:r>
          </a:p>
          <a:p>
            <a:r>
              <a:rPr lang="fr-FR" altLang="zh-CN" sz="2000" dirty="0"/>
              <a:t>t14 = t13 + c</a:t>
            </a:r>
          </a:p>
          <a:p>
            <a:r>
              <a:rPr lang="fr-FR" altLang="zh-CN" sz="2000" dirty="0"/>
              <a:t>i = t14</a:t>
            </a:r>
          </a:p>
          <a:p>
            <a:r>
              <a:rPr lang="fr-FR" altLang="zh-CN" sz="2000" dirty="0"/>
              <a:t>t15 = a * x</a:t>
            </a:r>
          </a:p>
          <a:p>
            <a:r>
              <a:rPr lang="fr-FR" altLang="zh-CN" sz="2000" dirty="0"/>
              <a:t>t16 = t15 + c</a:t>
            </a:r>
          </a:p>
          <a:p>
            <a:r>
              <a:rPr lang="fr-FR" altLang="zh-CN" sz="2000" dirty="0"/>
              <a:t>j = t16</a:t>
            </a:r>
          </a:p>
          <a:p>
            <a:r>
              <a:rPr lang="de-DE" altLang="zh-CN" sz="2000" dirty="0">
                <a:solidFill>
                  <a:srgbClr val="EE853E"/>
                </a:solidFill>
              </a:rPr>
              <a:t>[ B5 ]</a:t>
            </a:r>
          </a:p>
          <a:p>
            <a:r>
              <a:rPr lang="de-DE" altLang="zh-CN" sz="2000" dirty="0"/>
              <a:t>label L12</a:t>
            </a:r>
          </a:p>
          <a:p>
            <a:r>
              <a:rPr lang="de-DE" altLang="zh-CN" sz="2000" dirty="0"/>
              <a:t>t12 = (x &gt; 0)</a:t>
            </a:r>
          </a:p>
          <a:p>
            <a:r>
              <a:rPr lang="de-DE" altLang="zh-CN" sz="2000" dirty="0"/>
              <a:t>ifz t12 goto L13</a:t>
            </a:r>
          </a:p>
          <a:p>
            <a:endParaRPr lang="en-US" altLang="zh-CN" sz="2000" dirty="0">
              <a:solidFill>
                <a:srgbClr val="EE853E"/>
              </a:solidFill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2BAB2BC-0445-4A30-BE0A-31EDED7ED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步：删除归纳变量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9559FF2A-EB31-475D-94D7-337B1EA2A29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CN" sz="2000" dirty="0">
                <a:solidFill>
                  <a:srgbClr val="EE853E"/>
                </a:solidFill>
              </a:rPr>
              <a:t>[ </a:t>
            </a:r>
            <a:r>
              <a:rPr lang="en-US" altLang="zh-CN" sz="2000" dirty="0" err="1">
                <a:solidFill>
                  <a:srgbClr val="EE853E"/>
                </a:solidFill>
              </a:rPr>
              <a:t>B6</a:t>
            </a:r>
            <a:r>
              <a:rPr lang="en-US" altLang="zh-CN" sz="2000" dirty="0">
                <a:solidFill>
                  <a:srgbClr val="EE853E"/>
                </a:solidFill>
              </a:rPr>
              <a:t> ]</a:t>
            </a:r>
          </a:p>
          <a:p>
            <a:r>
              <a:rPr lang="fr-FR" altLang="zh-CN" sz="2000" dirty="0"/>
              <a:t>j = j - a</a:t>
            </a:r>
          </a:p>
          <a:p>
            <a:r>
              <a:rPr lang="fr-FR" altLang="zh-CN" sz="2000" dirty="0"/>
              <a:t>t17 = x - 1</a:t>
            </a:r>
          </a:p>
          <a:p>
            <a:r>
              <a:rPr lang="fr-FR" altLang="zh-CN" sz="2000" dirty="0"/>
              <a:t>x = t17</a:t>
            </a:r>
          </a:p>
          <a:p>
            <a:r>
              <a:rPr lang="fr-FR" altLang="zh-CN" sz="2000" dirty="0"/>
              <a:t>goto L12</a:t>
            </a:r>
            <a:endParaRPr lang="zh-CN" altLang="en-US" sz="2000" dirty="0"/>
          </a:p>
          <a:p>
            <a:r>
              <a:rPr lang="en-US" altLang="zh-CN" sz="2000" dirty="0">
                <a:solidFill>
                  <a:srgbClr val="EE853E"/>
                </a:solidFill>
              </a:rPr>
              <a:t>[ </a:t>
            </a:r>
            <a:r>
              <a:rPr lang="en-US" altLang="zh-CN" sz="2000" dirty="0" err="1">
                <a:solidFill>
                  <a:srgbClr val="EE853E"/>
                </a:solidFill>
              </a:rPr>
              <a:t>B7</a:t>
            </a:r>
            <a:r>
              <a:rPr lang="en-US" altLang="zh-CN" sz="2000" dirty="0">
                <a:solidFill>
                  <a:srgbClr val="EE853E"/>
                </a:solidFill>
              </a:rPr>
              <a:t> ]</a:t>
            </a:r>
          </a:p>
          <a:p>
            <a:r>
              <a:rPr lang="en-US" altLang="zh-CN" sz="2000" dirty="0"/>
              <a:t>label </a:t>
            </a:r>
            <a:r>
              <a:rPr lang="en-US" altLang="zh-CN" sz="2000" dirty="0" err="1"/>
              <a:t>L13</a:t>
            </a:r>
            <a:endParaRPr lang="en-US" altLang="zh-CN" sz="2000" dirty="0"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44E59F6D-351E-4DCE-8B03-E9FA1A3C9E17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zh-CN" altLang="en-US" sz="2000" dirty="0"/>
              <a:t>基本归纳变量：</a:t>
            </a:r>
            <a:endParaRPr lang="en-US" altLang="zh-CN" sz="2000" dirty="0"/>
          </a:p>
          <a:p>
            <a:r>
              <a:rPr lang="en-US" altLang="zh-CN" sz="2000" dirty="0"/>
              <a:t>x</a:t>
            </a:r>
          </a:p>
          <a:p>
            <a:endParaRPr lang="en-US" altLang="zh-CN" sz="2000" dirty="0"/>
          </a:p>
          <a:p>
            <a:r>
              <a:rPr lang="zh-CN" altLang="en-US" sz="2000" dirty="0"/>
              <a:t>同族归纳变量：</a:t>
            </a:r>
            <a:endParaRPr lang="en-US" altLang="zh-CN" sz="2000" dirty="0"/>
          </a:p>
          <a:p>
            <a:r>
              <a:rPr lang="en-US" altLang="zh-CN" sz="2000" dirty="0"/>
              <a:t>j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34555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9C45577-F9FF-4FE4-960C-3B1D0BFFD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>
                <a:solidFill>
                  <a:srgbClr val="EE853E"/>
                </a:solidFill>
              </a:rPr>
              <a:t>[ </a:t>
            </a:r>
            <a:r>
              <a:rPr lang="en-US" altLang="zh-CN" sz="2000" dirty="0" err="1">
                <a:solidFill>
                  <a:srgbClr val="EE853E"/>
                </a:solidFill>
              </a:rPr>
              <a:t>B6</a:t>
            </a:r>
            <a:r>
              <a:rPr lang="en-US" altLang="zh-CN" sz="2000" dirty="0">
                <a:solidFill>
                  <a:srgbClr val="EE853E"/>
                </a:solidFill>
              </a:rPr>
              <a:t>' ]</a:t>
            </a:r>
          </a:p>
          <a:p>
            <a:r>
              <a:rPr lang="fr-FR" altLang="zh-CN" sz="2000" dirty="0"/>
              <a:t>t13 = a * b</a:t>
            </a:r>
          </a:p>
          <a:p>
            <a:r>
              <a:rPr lang="fr-FR" altLang="zh-CN" sz="2000" dirty="0"/>
              <a:t>t14 = t13 + c</a:t>
            </a:r>
          </a:p>
          <a:p>
            <a:r>
              <a:rPr lang="fr-FR" altLang="zh-CN" sz="2000" dirty="0"/>
              <a:t>i = t14</a:t>
            </a:r>
          </a:p>
          <a:p>
            <a:r>
              <a:rPr lang="fr-FR" altLang="zh-CN" sz="2000" dirty="0"/>
              <a:t>t15 = a * x</a:t>
            </a:r>
          </a:p>
          <a:p>
            <a:r>
              <a:rPr lang="fr-FR" altLang="zh-CN" sz="2000" dirty="0"/>
              <a:t>t16 = t15 + c</a:t>
            </a:r>
          </a:p>
          <a:p>
            <a:r>
              <a:rPr lang="fr-FR" altLang="zh-CN" sz="2000" dirty="0"/>
              <a:t>j = t16</a:t>
            </a:r>
          </a:p>
          <a:p>
            <a:r>
              <a:rPr lang="de-DE" altLang="zh-CN" sz="2000" dirty="0">
                <a:solidFill>
                  <a:srgbClr val="EE853E"/>
                </a:solidFill>
              </a:rPr>
              <a:t>[ B5 ]</a:t>
            </a:r>
          </a:p>
          <a:p>
            <a:r>
              <a:rPr lang="de-DE" altLang="zh-CN" sz="2000" dirty="0"/>
              <a:t>label L12</a:t>
            </a:r>
          </a:p>
          <a:p>
            <a:r>
              <a:rPr lang="de-DE" altLang="zh-CN" sz="2000" dirty="0"/>
              <a:t>t12 = (j &gt; c)</a:t>
            </a:r>
          </a:p>
          <a:p>
            <a:r>
              <a:rPr lang="de-DE" altLang="zh-CN" sz="2000" dirty="0"/>
              <a:t>ifz t12 goto L13</a:t>
            </a:r>
            <a:endParaRPr lang="zh-CN" altLang="en-US" sz="2000" dirty="0"/>
          </a:p>
          <a:p>
            <a:endParaRPr lang="en-US" altLang="zh-CN" sz="2000" dirty="0">
              <a:solidFill>
                <a:srgbClr val="EE853E"/>
              </a:solidFill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2BAB2BC-0445-4A30-BE0A-31EDED7ED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步：删除归纳变量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9559FF2A-EB31-475D-94D7-337B1EA2A29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CN" sz="2000" dirty="0">
                <a:solidFill>
                  <a:srgbClr val="EE853E"/>
                </a:solidFill>
              </a:rPr>
              <a:t>[ </a:t>
            </a:r>
            <a:r>
              <a:rPr lang="en-US" altLang="zh-CN" sz="2000" dirty="0" err="1">
                <a:solidFill>
                  <a:srgbClr val="EE853E"/>
                </a:solidFill>
              </a:rPr>
              <a:t>B6</a:t>
            </a:r>
            <a:r>
              <a:rPr lang="en-US" altLang="zh-CN" sz="2000" dirty="0">
                <a:solidFill>
                  <a:srgbClr val="EE853E"/>
                </a:solidFill>
              </a:rPr>
              <a:t> ]</a:t>
            </a:r>
          </a:p>
          <a:p>
            <a:r>
              <a:rPr lang="fr-FR" altLang="zh-CN" sz="2000" dirty="0"/>
              <a:t>j = j - a</a:t>
            </a:r>
          </a:p>
          <a:p>
            <a:r>
              <a:rPr lang="fr-FR" altLang="zh-CN" sz="2000" dirty="0"/>
              <a:t>goto L12</a:t>
            </a:r>
          </a:p>
          <a:p>
            <a:endParaRPr lang="en-US" altLang="zh-CN" sz="2000" dirty="0">
              <a:solidFill>
                <a:srgbClr val="EE853E"/>
              </a:solidFill>
            </a:endParaRPr>
          </a:p>
          <a:p>
            <a:r>
              <a:rPr lang="en-US" altLang="zh-CN" sz="2000" dirty="0">
                <a:solidFill>
                  <a:srgbClr val="EE853E"/>
                </a:solidFill>
              </a:rPr>
              <a:t>[ </a:t>
            </a:r>
            <a:r>
              <a:rPr lang="en-US" altLang="zh-CN" sz="2000" dirty="0" err="1">
                <a:solidFill>
                  <a:srgbClr val="EE853E"/>
                </a:solidFill>
              </a:rPr>
              <a:t>B7</a:t>
            </a:r>
            <a:r>
              <a:rPr lang="en-US" altLang="zh-CN" sz="2000" dirty="0">
                <a:solidFill>
                  <a:srgbClr val="EE853E"/>
                </a:solidFill>
              </a:rPr>
              <a:t> ]</a:t>
            </a:r>
          </a:p>
          <a:p>
            <a:r>
              <a:rPr lang="en-US" altLang="zh-CN" sz="2000" dirty="0"/>
              <a:t>label </a:t>
            </a:r>
            <a:r>
              <a:rPr lang="en-US" altLang="zh-CN" sz="2000" dirty="0" err="1"/>
              <a:t>L13</a:t>
            </a:r>
            <a:endParaRPr lang="en-US" altLang="zh-CN" sz="2000" dirty="0"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44E59F6D-351E-4DCE-8B03-E9FA1A3C9E17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zh-CN" altLang="en-US" sz="2000" dirty="0"/>
              <a:t>基本归纳变量：</a:t>
            </a:r>
            <a:endParaRPr lang="en-US" altLang="zh-CN" sz="2000" dirty="0"/>
          </a:p>
          <a:p>
            <a:r>
              <a:rPr lang="en-US" altLang="zh-CN" sz="2000" dirty="0"/>
              <a:t>x</a:t>
            </a:r>
          </a:p>
          <a:p>
            <a:endParaRPr lang="en-US" altLang="zh-CN" sz="2000" dirty="0"/>
          </a:p>
          <a:p>
            <a:r>
              <a:rPr lang="zh-CN" altLang="en-US" sz="2000" dirty="0"/>
              <a:t>同族归纳变量：</a:t>
            </a:r>
            <a:endParaRPr lang="en-US" altLang="zh-CN" sz="2000" dirty="0"/>
          </a:p>
          <a:p>
            <a:r>
              <a:rPr lang="en-US" altLang="zh-CN" sz="2000" dirty="0"/>
              <a:t>j</a:t>
            </a:r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80089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>
            <a:extLst>
              <a:ext uri="{FF2B5EF4-FFF2-40B4-BE49-F238E27FC236}">
                <a16:creationId xmlns:a16="http://schemas.microsoft.com/office/drawing/2014/main" id="{D91AB193-48EF-4983-BDA6-BF422E5BD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优化前：</a:t>
            </a: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B11483DD-CAAE-41D2-9557-328DE2FDD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优化结果对比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5F2B1EE6-8EFF-4967-B018-E7C1CE59761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zh-CN" altLang="en-US" dirty="0"/>
              <a:t>优化后：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23E15E8-4B2E-4464-B14E-7D7EBF7A6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0" y="1143000"/>
            <a:ext cx="1967860" cy="494388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570AC9E-FA9C-4D47-AC5C-D0399CB6AC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0792" y="1120588"/>
            <a:ext cx="2819400" cy="497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589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9C45577-F9FF-4FE4-960C-3B1D0BFFD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[</a:t>
            </a:r>
            <a:r>
              <a:rPr lang="zh-CN" altLang="en-US" sz="2000" dirty="0"/>
              <a:t> </a:t>
            </a:r>
            <a:r>
              <a:rPr lang="en-US" altLang="zh-CN" sz="2000" dirty="0" err="1"/>
              <a:t>B1</a:t>
            </a:r>
            <a:r>
              <a:rPr lang="en-US" altLang="zh-CN" sz="2000" dirty="0"/>
              <a:t> ]</a:t>
            </a:r>
            <a:endParaRPr lang="fr-FR" altLang="zh-CN" sz="2000" dirty="0"/>
          </a:p>
          <a:p>
            <a:r>
              <a:rPr lang="fr-FR" altLang="zh-CN" sz="2000" dirty="0"/>
              <a:t>i = 1</a:t>
            </a:r>
          </a:p>
          <a:p>
            <a:r>
              <a:rPr lang="fr-FR" altLang="zh-CN" sz="2000" dirty="0"/>
              <a:t>t0 = i + 2</a:t>
            </a:r>
          </a:p>
          <a:p>
            <a:r>
              <a:rPr lang="fr-FR" altLang="zh-CN" sz="2000" dirty="0"/>
              <a:t>j = t0</a:t>
            </a:r>
          </a:p>
          <a:p>
            <a:r>
              <a:rPr lang="fr-FR" altLang="zh-CN" sz="2000" dirty="0"/>
              <a:t>x = j</a:t>
            </a:r>
          </a:p>
          <a:p>
            <a:r>
              <a:rPr lang="fr-FR" altLang="zh-CN" sz="2000" dirty="0"/>
              <a:t>t1 = a * b</a:t>
            </a:r>
          </a:p>
          <a:p>
            <a:r>
              <a:rPr lang="fr-FR" altLang="zh-CN" sz="2000" dirty="0"/>
              <a:t>t2 = a * b</a:t>
            </a:r>
          </a:p>
          <a:p>
            <a:r>
              <a:rPr lang="fr-FR" altLang="zh-CN" sz="2000" dirty="0"/>
              <a:t>t3 = t2 * c</a:t>
            </a:r>
          </a:p>
          <a:p>
            <a:r>
              <a:rPr lang="fr-FR" altLang="zh-CN" sz="2000" dirty="0"/>
              <a:t>t4 = t1 + t3</a:t>
            </a:r>
          </a:p>
          <a:p>
            <a:r>
              <a:rPr lang="fr-FR" altLang="zh-CN" sz="2000" dirty="0"/>
              <a:t>t5 = a * b</a:t>
            </a:r>
          </a:p>
          <a:p>
            <a:r>
              <a:rPr lang="fr-FR" altLang="zh-CN" sz="2000" dirty="0"/>
              <a:t>t6 = t5 * c</a:t>
            </a:r>
          </a:p>
          <a:p>
            <a:endParaRPr lang="fr-FR" altLang="zh-CN" sz="2000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2BAB2BC-0445-4A30-BE0A-31EDED7ED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优化前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9559FF2A-EB31-475D-94D7-337B1EA2A29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fr-FR" altLang="zh-CN" sz="2000" dirty="0"/>
              <a:t>t7 = t6 * x</a:t>
            </a:r>
          </a:p>
          <a:p>
            <a:r>
              <a:rPr lang="fr-FR" altLang="zh-CN" sz="2000" dirty="0"/>
              <a:t>t8 = t4 + t7</a:t>
            </a:r>
          </a:p>
          <a:p>
            <a:r>
              <a:rPr lang="fr-FR" altLang="zh-CN" sz="2000" dirty="0"/>
              <a:t>y = t8</a:t>
            </a:r>
          </a:p>
          <a:p>
            <a:r>
              <a:rPr lang="fr-FR" altLang="zh-CN" sz="2000" dirty="0"/>
              <a:t>x = 1</a:t>
            </a:r>
          </a:p>
          <a:p>
            <a:r>
              <a:rPr lang="fr-FR" altLang="zh-CN" sz="2000" dirty="0"/>
              <a:t>t9 = (x &gt; 0)</a:t>
            </a:r>
          </a:p>
          <a:p>
            <a:r>
              <a:rPr lang="fr-FR" altLang="zh-CN" sz="2000" dirty="0"/>
              <a:t>ifz t9 goto L10</a:t>
            </a:r>
          </a:p>
          <a:p>
            <a:endParaRPr lang="en-US" altLang="zh-CN" sz="2000" dirty="0"/>
          </a:p>
          <a:p>
            <a:r>
              <a:rPr lang="en-US" altLang="zh-CN" sz="2000" dirty="0"/>
              <a:t>[</a:t>
            </a:r>
            <a:r>
              <a:rPr lang="zh-CN" altLang="en-US" sz="2000" dirty="0"/>
              <a:t> </a:t>
            </a:r>
            <a:r>
              <a:rPr lang="en-US" altLang="zh-CN" sz="2000" dirty="0" err="1"/>
              <a:t>B2</a:t>
            </a:r>
            <a:r>
              <a:rPr lang="en-US" altLang="zh-CN" sz="2000" dirty="0"/>
              <a:t> ]</a:t>
            </a:r>
            <a:endParaRPr lang="fr-FR" altLang="zh-CN" sz="2000" dirty="0"/>
          </a:p>
          <a:p>
            <a:r>
              <a:rPr lang="fr-FR" altLang="zh-CN" sz="2000" dirty="0"/>
              <a:t>t10 = x + y</a:t>
            </a:r>
          </a:p>
          <a:p>
            <a:r>
              <a:rPr lang="fr-FR" altLang="zh-CN" sz="2000" dirty="0"/>
              <a:t>y = t10</a:t>
            </a:r>
          </a:p>
          <a:p>
            <a:r>
              <a:rPr lang="fr-FR" altLang="zh-CN" sz="2000" dirty="0"/>
              <a:t>goto L11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966C19E5-75D8-454D-83F6-7169AEEA13A0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fr-FR" altLang="zh-CN" sz="2000" dirty="0"/>
              <a:t>[ B3 ]</a:t>
            </a:r>
          </a:p>
          <a:p>
            <a:r>
              <a:rPr lang="en-US" altLang="zh-CN" sz="2000" dirty="0"/>
              <a:t>label </a:t>
            </a:r>
            <a:r>
              <a:rPr lang="en-US" altLang="zh-CN" sz="2000" dirty="0" err="1"/>
              <a:t>L10</a:t>
            </a:r>
            <a:endParaRPr lang="en-US" altLang="zh-CN" sz="2000" dirty="0"/>
          </a:p>
          <a:p>
            <a:r>
              <a:rPr lang="en-US" altLang="zh-CN" sz="2000" dirty="0" err="1"/>
              <a:t>t11</a:t>
            </a:r>
            <a:r>
              <a:rPr lang="en-US" altLang="zh-CN" sz="2000" dirty="0"/>
              <a:t> = x - y</a:t>
            </a:r>
          </a:p>
          <a:p>
            <a:r>
              <a:rPr lang="en-US" altLang="zh-CN" sz="2000" dirty="0"/>
              <a:t>y = </a:t>
            </a:r>
            <a:r>
              <a:rPr lang="en-US" altLang="zh-CN" sz="2000" dirty="0" err="1"/>
              <a:t>t11</a:t>
            </a:r>
            <a:endParaRPr lang="en-US" altLang="zh-CN" sz="2000" dirty="0"/>
          </a:p>
          <a:p>
            <a:r>
              <a:rPr lang="en-US" altLang="zh-CN" sz="2000" dirty="0"/>
              <a:t>[ </a:t>
            </a:r>
            <a:r>
              <a:rPr lang="en-US" altLang="zh-CN" sz="2000" dirty="0" err="1"/>
              <a:t>B4</a:t>
            </a:r>
            <a:r>
              <a:rPr lang="en-US" altLang="zh-CN" sz="2000" dirty="0"/>
              <a:t> ]</a:t>
            </a:r>
          </a:p>
          <a:p>
            <a:r>
              <a:rPr lang="de-DE" altLang="zh-CN" sz="2000" dirty="0"/>
              <a:t>label L11</a:t>
            </a:r>
          </a:p>
          <a:p>
            <a:r>
              <a:rPr lang="de-DE" altLang="zh-CN" sz="2000" dirty="0"/>
              <a:t>[ B5 ]</a:t>
            </a:r>
          </a:p>
          <a:p>
            <a:r>
              <a:rPr lang="de-DE" altLang="zh-CN" sz="2000" dirty="0"/>
              <a:t>label L12</a:t>
            </a:r>
          </a:p>
          <a:p>
            <a:r>
              <a:rPr lang="de-DE" altLang="zh-CN" sz="2000" dirty="0"/>
              <a:t>t12 = (x &gt; 0)</a:t>
            </a:r>
          </a:p>
          <a:p>
            <a:r>
              <a:rPr lang="de-DE" altLang="zh-CN" sz="2000" dirty="0"/>
              <a:t>ifz t12 goto L13</a:t>
            </a:r>
          </a:p>
          <a:p>
            <a:r>
              <a:rPr lang="en-US" altLang="zh-CN" sz="2000" dirty="0"/>
              <a:t>[ </a:t>
            </a:r>
            <a:r>
              <a:rPr lang="en-US" altLang="zh-CN" sz="2000" dirty="0" err="1"/>
              <a:t>B6</a:t>
            </a:r>
            <a:r>
              <a:rPr lang="en-US" altLang="zh-CN" sz="2000" dirty="0"/>
              <a:t> ]</a:t>
            </a:r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44E59F6D-351E-4DCE-8B03-E9FA1A3C9E17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r>
              <a:rPr lang="en-US" altLang="zh-CN" sz="2000" dirty="0" err="1"/>
              <a:t>t13</a:t>
            </a:r>
            <a:r>
              <a:rPr lang="en-US" altLang="zh-CN" sz="2000" dirty="0"/>
              <a:t> = a * b</a:t>
            </a:r>
          </a:p>
          <a:p>
            <a:r>
              <a:rPr lang="en-US" altLang="zh-CN" sz="2000" dirty="0" err="1"/>
              <a:t>t14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t13</a:t>
            </a:r>
            <a:r>
              <a:rPr lang="en-US" altLang="zh-CN" sz="2000" dirty="0"/>
              <a:t> + c</a:t>
            </a:r>
          </a:p>
          <a:p>
            <a:r>
              <a:rPr lang="en-US" altLang="zh-CN" sz="2000" dirty="0" err="1"/>
              <a:t>i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t14</a:t>
            </a:r>
            <a:endParaRPr lang="en-US" altLang="zh-CN" sz="2000" dirty="0"/>
          </a:p>
          <a:p>
            <a:r>
              <a:rPr lang="en-US" altLang="zh-CN" sz="2000" dirty="0" err="1"/>
              <a:t>t15</a:t>
            </a:r>
            <a:r>
              <a:rPr lang="en-US" altLang="zh-CN" sz="2000" dirty="0"/>
              <a:t> = a * x</a:t>
            </a:r>
          </a:p>
          <a:p>
            <a:r>
              <a:rPr lang="en-US" altLang="zh-CN" sz="2000" dirty="0" err="1"/>
              <a:t>t16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t15</a:t>
            </a:r>
            <a:r>
              <a:rPr lang="en-US" altLang="zh-CN" sz="2000" dirty="0"/>
              <a:t> + c</a:t>
            </a:r>
          </a:p>
          <a:p>
            <a:r>
              <a:rPr lang="en-US" altLang="zh-CN" sz="2000" dirty="0"/>
              <a:t>j = </a:t>
            </a:r>
            <a:r>
              <a:rPr lang="en-US" altLang="zh-CN" sz="2000" dirty="0" err="1"/>
              <a:t>t16</a:t>
            </a:r>
            <a:endParaRPr lang="en-US" altLang="zh-CN" sz="2000" dirty="0"/>
          </a:p>
          <a:p>
            <a:r>
              <a:rPr lang="en-US" altLang="zh-CN" sz="2000" dirty="0" err="1"/>
              <a:t>t17</a:t>
            </a:r>
            <a:r>
              <a:rPr lang="en-US" altLang="zh-CN" sz="2000" dirty="0"/>
              <a:t> = x - 1</a:t>
            </a:r>
          </a:p>
          <a:p>
            <a:r>
              <a:rPr lang="en-US" altLang="zh-CN" sz="2000" dirty="0"/>
              <a:t>x = </a:t>
            </a:r>
            <a:r>
              <a:rPr lang="en-US" altLang="zh-CN" sz="2000" dirty="0" err="1"/>
              <a:t>t17</a:t>
            </a:r>
            <a:endParaRPr lang="en-US" altLang="zh-CN" sz="2000" dirty="0"/>
          </a:p>
          <a:p>
            <a:r>
              <a:rPr lang="en-US" altLang="zh-CN" sz="2000" dirty="0" err="1"/>
              <a:t>goto</a:t>
            </a:r>
            <a:r>
              <a:rPr lang="en-US" altLang="zh-CN" sz="2000" dirty="0"/>
              <a:t> </a:t>
            </a:r>
            <a:r>
              <a:rPr lang="en-US" altLang="zh-CN" sz="2000" dirty="0" err="1"/>
              <a:t>L12</a:t>
            </a:r>
            <a:endParaRPr lang="en-US" altLang="zh-CN" sz="2000" dirty="0"/>
          </a:p>
          <a:p>
            <a:r>
              <a:rPr lang="en-US" altLang="zh-CN" sz="2000" dirty="0"/>
              <a:t>[ </a:t>
            </a:r>
            <a:r>
              <a:rPr lang="en-US" altLang="zh-CN" sz="2000" dirty="0" err="1"/>
              <a:t>B7</a:t>
            </a:r>
            <a:r>
              <a:rPr lang="en-US" altLang="zh-CN" sz="2000" dirty="0"/>
              <a:t> ]</a:t>
            </a:r>
          </a:p>
          <a:p>
            <a:r>
              <a:rPr lang="en-US" altLang="zh-CN" sz="2000" dirty="0"/>
              <a:t>label </a:t>
            </a:r>
            <a:r>
              <a:rPr lang="en-US" altLang="zh-CN" sz="2000" dirty="0" err="1"/>
              <a:t>L13</a:t>
            </a:r>
            <a:endParaRPr lang="en-US" altLang="zh-CN" sz="2000" dirty="0"/>
          </a:p>
          <a:p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96932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9C45577-F9FF-4FE4-960C-3B1D0BFFD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[</a:t>
            </a:r>
            <a:r>
              <a:rPr lang="zh-CN" altLang="en-US" sz="2000" dirty="0"/>
              <a:t> </a:t>
            </a:r>
            <a:r>
              <a:rPr lang="en-US" altLang="zh-CN" sz="2000" dirty="0" err="1"/>
              <a:t>B1</a:t>
            </a:r>
            <a:r>
              <a:rPr lang="en-US" altLang="zh-CN" sz="2000" dirty="0"/>
              <a:t> ]</a:t>
            </a:r>
            <a:endParaRPr lang="fr-FR" altLang="zh-CN" sz="2000" dirty="0"/>
          </a:p>
          <a:p>
            <a:r>
              <a:rPr lang="fr-FR" altLang="zh-CN" sz="2000" dirty="0"/>
              <a:t>i = 1</a:t>
            </a:r>
          </a:p>
          <a:p>
            <a:r>
              <a:rPr lang="fr-FR" altLang="zh-CN" sz="2000" dirty="0"/>
              <a:t>j = 3</a:t>
            </a:r>
          </a:p>
          <a:p>
            <a:r>
              <a:rPr lang="fr-FR" altLang="zh-CN" sz="2000" dirty="0"/>
              <a:t>t1 = a * b</a:t>
            </a:r>
          </a:p>
          <a:p>
            <a:r>
              <a:rPr lang="fr-FR" altLang="zh-CN" sz="2000" dirty="0"/>
              <a:t>t3 = t1 * c</a:t>
            </a:r>
          </a:p>
          <a:p>
            <a:r>
              <a:rPr lang="fr-FR" altLang="zh-CN" sz="2000" dirty="0"/>
              <a:t>t4 = t1 + t3</a:t>
            </a:r>
          </a:p>
          <a:p>
            <a:r>
              <a:rPr lang="fr-FR" altLang="zh-CN" sz="2000" dirty="0"/>
              <a:t>t7 = t3 * 3</a:t>
            </a:r>
          </a:p>
          <a:p>
            <a:r>
              <a:rPr lang="fr-FR" altLang="zh-CN" sz="2000" dirty="0"/>
              <a:t>t8 = t4 + t7</a:t>
            </a:r>
          </a:p>
          <a:p>
            <a:r>
              <a:rPr lang="fr-FR" altLang="zh-CN" sz="2000" dirty="0"/>
              <a:t>y = t8</a:t>
            </a:r>
          </a:p>
          <a:p>
            <a:r>
              <a:rPr lang="fr-FR" altLang="zh-CN" sz="2000" dirty="0"/>
              <a:t>x = 1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2BAB2BC-0445-4A30-BE0A-31EDED7ED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优化后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9559FF2A-EB31-475D-94D7-337B1EA2A29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fr-FR" altLang="zh-CN" sz="2000" dirty="0"/>
              <a:t>t10 = x + y</a:t>
            </a:r>
          </a:p>
          <a:p>
            <a:r>
              <a:rPr lang="fr-FR" altLang="zh-CN" sz="2000" dirty="0"/>
              <a:t>y = t10</a:t>
            </a:r>
          </a:p>
          <a:p>
            <a:endParaRPr lang="en-US" altLang="zh-CN" sz="2000" dirty="0"/>
          </a:p>
          <a:p>
            <a:r>
              <a:rPr lang="en-US" altLang="zh-CN" sz="2000" dirty="0"/>
              <a:t>[ </a:t>
            </a:r>
            <a:r>
              <a:rPr lang="en-US" altLang="zh-CN" sz="2000" dirty="0" err="1"/>
              <a:t>B6</a:t>
            </a:r>
            <a:r>
              <a:rPr lang="en-US" altLang="zh-CN" sz="2000" dirty="0"/>
              <a:t>’]</a:t>
            </a:r>
          </a:p>
          <a:p>
            <a:r>
              <a:rPr lang="fr-FR" altLang="zh-CN" sz="2000" dirty="0"/>
              <a:t>t13 = a * b</a:t>
            </a:r>
          </a:p>
          <a:p>
            <a:r>
              <a:rPr lang="fr-FR" altLang="zh-CN" sz="2000" dirty="0"/>
              <a:t>t14 = t13 + c</a:t>
            </a:r>
          </a:p>
          <a:p>
            <a:r>
              <a:rPr lang="fr-FR" altLang="zh-CN" sz="2000" dirty="0"/>
              <a:t>i = t14</a:t>
            </a:r>
          </a:p>
          <a:p>
            <a:r>
              <a:rPr lang="fr-FR" altLang="zh-CN" sz="2000" dirty="0"/>
              <a:t>t15 = a * x</a:t>
            </a:r>
          </a:p>
          <a:p>
            <a:r>
              <a:rPr lang="fr-FR" altLang="zh-CN" sz="2000" dirty="0"/>
              <a:t>t16 = t15 + c</a:t>
            </a:r>
          </a:p>
          <a:p>
            <a:r>
              <a:rPr lang="fr-FR" altLang="zh-CN" sz="2000" dirty="0"/>
              <a:t>j = t16</a:t>
            </a:r>
          </a:p>
          <a:p>
            <a:endParaRPr lang="en-US" altLang="zh-CN" sz="2000" dirty="0"/>
          </a:p>
          <a:p>
            <a:endParaRPr lang="fr-FR" altLang="zh-CN" sz="2000" dirty="0"/>
          </a:p>
          <a:p>
            <a:endParaRPr lang="fr-FR" altLang="zh-CN" sz="2000" dirty="0"/>
          </a:p>
          <a:p>
            <a:endParaRPr lang="zh-CN" altLang="en-US" sz="2000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966C19E5-75D8-454D-83F6-7169AEEA13A0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de-DE" altLang="zh-CN" sz="2000" dirty="0"/>
              <a:t>[ B5 ]</a:t>
            </a:r>
          </a:p>
          <a:p>
            <a:r>
              <a:rPr lang="en-US" altLang="zh-CN" sz="2000" dirty="0"/>
              <a:t>label </a:t>
            </a:r>
            <a:r>
              <a:rPr lang="en-US" altLang="zh-CN" sz="2000" dirty="0" err="1"/>
              <a:t>L12</a:t>
            </a:r>
            <a:endParaRPr lang="en-US" altLang="zh-CN" sz="2000" dirty="0"/>
          </a:p>
          <a:p>
            <a:r>
              <a:rPr lang="en-US" altLang="zh-CN" sz="2000" dirty="0" err="1"/>
              <a:t>t12</a:t>
            </a:r>
            <a:r>
              <a:rPr lang="en-US" altLang="zh-CN" sz="2000" dirty="0"/>
              <a:t> = (j &gt; c)</a:t>
            </a:r>
          </a:p>
          <a:p>
            <a:r>
              <a:rPr lang="en-US" altLang="zh-CN" sz="2000" dirty="0" err="1"/>
              <a:t>ifz</a:t>
            </a:r>
            <a:r>
              <a:rPr lang="en-US" altLang="zh-CN" sz="2000" dirty="0"/>
              <a:t> </a:t>
            </a:r>
            <a:r>
              <a:rPr lang="en-US" altLang="zh-CN" sz="2000" dirty="0" err="1"/>
              <a:t>t12</a:t>
            </a:r>
            <a:r>
              <a:rPr lang="en-US" altLang="zh-CN" sz="2000" dirty="0"/>
              <a:t> </a:t>
            </a:r>
            <a:r>
              <a:rPr lang="en-US" altLang="zh-CN" sz="2000" dirty="0" err="1"/>
              <a:t>goto</a:t>
            </a:r>
            <a:r>
              <a:rPr lang="en-US" altLang="zh-CN" sz="2000" dirty="0"/>
              <a:t> </a:t>
            </a:r>
            <a:r>
              <a:rPr lang="en-US" altLang="zh-CN" sz="2000" dirty="0" err="1"/>
              <a:t>L13</a:t>
            </a:r>
            <a:r>
              <a:rPr lang="en-US" altLang="zh-CN" sz="2000" dirty="0"/>
              <a:t> </a:t>
            </a:r>
          </a:p>
          <a:p>
            <a:r>
              <a:rPr lang="en-US" altLang="zh-CN" sz="2000" dirty="0"/>
              <a:t>[ </a:t>
            </a:r>
            <a:r>
              <a:rPr lang="en-US" altLang="zh-CN" sz="2000" dirty="0" err="1"/>
              <a:t>B6</a:t>
            </a:r>
            <a:r>
              <a:rPr lang="en-US" altLang="zh-CN" sz="2000" dirty="0"/>
              <a:t> ]</a:t>
            </a:r>
          </a:p>
          <a:p>
            <a:r>
              <a:rPr lang="en-US" altLang="zh-CN" sz="2000" dirty="0"/>
              <a:t>j = j - a</a:t>
            </a:r>
          </a:p>
          <a:p>
            <a:r>
              <a:rPr lang="en-US" altLang="zh-CN" sz="2000" dirty="0" err="1"/>
              <a:t>goto</a:t>
            </a:r>
            <a:r>
              <a:rPr lang="en-US" altLang="zh-CN" sz="2000" dirty="0"/>
              <a:t> </a:t>
            </a:r>
            <a:r>
              <a:rPr lang="en-US" altLang="zh-CN" sz="2000" dirty="0" err="1"/>
              <a:t>L12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[ </a:t>
            </a:r>
            <a:r>
              <a:rPr lang="en-US" altLang="zh-CN" sz="2000" dirty="0" err="1"/>
              <a:t>B7</a:t>
            </a:r>
            <a:r>
              <a:rPr lang="en-US" altLang="zh-CN" sz="2000" dirty="0"/>
              <a:t> ]</a:t>
            </a:r>
          </a:p>
          <a:p>
            <a:r>
              <a:rPr lang="en-US" altLang="zh-CN" sz="2000" dirty="0"/>
              <a:t>label </a:t>
            </a:r>
            <a:r>
              <a:rPr lang="en-US" altLang="zh-CN" sz="2000" dirty="0" err="1"/>
              <a:t>L13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967160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7138</TotalTime>
  <Words>1301</Words>
  <Application>Microsoft Office PowerPoint</Application>
  <PresentationFormat>宽屏</PresentationFormat>
  <Paragraphs>312</Paragraphs>
  <Slides>20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微软雅黑</vt:lpstr>
      <vt:lpstr>Arial</vt:lpstr>
      <vt:lpstr>Wingdings</vt:lpstr>
      <vt:lpstr>环保</vt:lpstr>
      <vt:lpstr>第九章 代码优化</vt:lpstr>
      <vt:lpstr>全局优化</vt:lpstr>
      <vt:lpstr>全局优化</vt:lpstr>
      <vt:lpstr>全局优化</vt:lpstr>
      <vt:lpstr>全局优化</vt:lpstr>
      <vt:lpstr>例子：程序流图</vt:lpstr>
      <vt:lpstr>第1步：删除死代码</vt:lpstr>
      <vt:lpstr>第1步：删除死代码</vt:lpstr>
      <vt:lpstr>第1步：删除死代码</vt:lpstr>
      <vt:lpstr>第2步：代码外提</vt:lpstr>
      <vt:lpstr>第2步：代码外提</vt:lpstr>
      <vt:lpstr>第2步：代码外提</vt:lpstr>
      <vt:lpstr>第3步：强度削弱</vt:lpstr>
      <vt:lpstr>第3步：强度削弱</vt:lpstr>
      <vt:lpstr>第3步：强度削弱</vt:lpstr>
      <vt:lpstr>第4步：删除归纳变量</vt:lpstr>
      <vt:lpstr>第4步：删除归纳变量</vt:lpstr>
      <vt:lpstr>优化结果对比</vt:lpstr>
      <vt:lpstr>优化前</vt:lpstr>
      <vt:lpstr>优化后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TEST</cp:lastModifiedBy>
  <cp:revision>1281</cp:revision>
  <cp:lastPrinted>1601-01-01T00:00:00Z</cp:lastPrinted>
  <dcterms:created xsi:type="dcterms:W3CDTF">1601-01-01T00:00:00Z</dcterms:created>
  <dcterms:modified xsi:type="dcterms:W3CDTF">2021-04-20T01:28:35Z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